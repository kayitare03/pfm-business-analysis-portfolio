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1649" r:id="rId2"/>
    <p:sldId id="1719" r:id="rId3"/>
    <p:sldId id="1738" r:id="rId4"/>
    <p:sldId id="1744" r:id="rId5"/>
    <p:sldId id="1736" r:id="rId6"/>
    <p:sldId id="1660" r:id="rId7"/>
    <p:sldId id="1737" r:id="rId8"/>
    <p:sldId id="1721" r:id="rId9"/>
    <p:sldId id="1727" r:id="rId10"/>
    <p:sldId id="1723" r:id="rId11"/>
    <p:sldId id="1734" r:id="rId12"/>
    <p:sldId id="1722" r:id="rId13"/>
    <p:sldId id="1735" r:id="rId14"/>
    <p:sldId id="1714" r:id="rId15"/>
    <p:sldId id="1671" r:id="rId16"/>
    <p:sldId id="1695" r:id="rId17"/>
    <p:sldId id="1703" r:id="rId18"/>
    <p:sldId id="1708" r:id="rId19"/>
    <p:sldId id="536" r:id="rId20"/>
    <p:sldId id="1697" r:id="rId21"/>
    <p:sldId id="1710" r:id="rId22"/>
    <p:sldId id="1699" r:id="rId23"/>
    <p:sldId id="1743" r:id="rId24"/>
    <p:sldId id="1742" r:id="rId25"/>
    <p:sldId id="1698" r:id="rId26"/>
    <p:sldId id="1696" r:id="rId27"/>
    <p:sldId id="1741" r:id="rId28"/>
    <p:sldId id="1740" r:id="rId29"/>
    <p:sldId id="1709" r:id="rId30"/>
    <p:sldId id="1701" r:id="rId31"/>
    <p:sldId id="1716" r:id="rId32"/>
    <p:sldId id="1728" r:id="rId33"/>
    <p:sldId id="1729" r:id="rId34"/>
    <p:sldId id="1713" r:id="rId35"/>
    <p:sldId id="1712" r:id="rId36"/>
    <p:sldId id="1730" r:id="rId37"/>
    <p:sldId id="1690" r:id="rId38"/>
    <p:sldId id="1691" r:id="rId39"/>
    <p:sldId id="1694" r:id="rId40"/>
    <p:sldId id="1689" r:id="rId41"/>
    <p:sldId id="1672" r:id="rId42"/>
    <p:sldId id="1732" r:id="rId43"/>
    <p:sldId id="1733" r:id="rId44"/>
    <p:sldId id="167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319"/>
    <a:srgbClr val="FF33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FE738D-3337-4406-9EC1-1D0239B0D6D2}" v="1" dt="2025-08-18T08:40:42.3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1" autoAdjust="0"/>
    <p:restoredTop sz="93810" autoAdjust="0"/>
  </p:normalViewPr>
  <p:slideViewPr>
    <p:cSldViewPr snapToGrid="0" showGuides="1">
      <p:cViewPr varScale="1">
        <p:scale>
          <a:sx n="64" d="100"/>
          <a:sy n="64" d="100"/>
        </p:scale>
        <p:origin x="600" y="49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0C1183-89FF-4B44-8017-38A737924314}"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65A7A8-BD42-405D-8E41-BCE98A51D3BE}" type="slidenum">
              <a:rPr lang="en-US" smtClean="0"/>
              <a:t>‹#›</a:t>
            </a:fld>
            <a:endParaRPr lang="en-US"/>
          </a:p>
        </p:txBody>
      </p:sp>
    </p:spTree>
    <p:extLst>
      <p:ext uri="{BB962C8B-B14F-4D97-AF65-F5344CB8AC3E}">
        <p14:creationId xmlns:p14="http://schemas.microsoft.com/office/powerpoint/2010/main" val="1641401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526951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1B4B8C3A-405B-749B-EF6D-A60F7028BB87}"/>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AFD01D65-917A-D4B4-3925-E6F2F30D32E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3F1947B8-0B05-3603-18A8-2351C018EE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5623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02E3F4FE-D3CB-3D48-B74A-BA22F37C1148}"/>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D7E88E36-F17C-4A55-1B8C-6B03EEA1182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4CD47240-305D-D1BD-A85C-A686C7D7AF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0940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2737ACE9-ED42-E6CF-A869-F65FE6095167}"/>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517CB786-09CD-036C-2CB0-317DFC5FB44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63D9D567-9287-36E3-C5A6-5002B2099C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7567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A844A1AF-006E-6B5E-6B54-8748DB44DE9E}"/>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AAF9A865-6FE5-6D81-D0CE-CE184FD7C7A5}"/>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BD1C4C1C-9915-0286-F649-BFA33C0371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447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B6DE2B0F-6367-0E83-EC63-C013BEC1FF85}"/>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7FDF6455-885B-FAFF-EEAB-502E8CDE068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EDD8FEFD-EBE5-2A12-1321-3CB6C4B773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9152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749A5A09-BBEA-660C-987E-A5466CF34BCC}"/>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BDD7D7B2-D143-2597-A09E-43130F97BB6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E2129806-E5AF-D264-4E4D-A0C5FF659B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9780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9CFFE1FD-F4C8-B819-ECE6-3F9B6238681D}"/>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DA005102-EE38-95BF-2033-21F45B2F4D4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BD3DEE2C-DF10-0F8C-F5A9-4A7D6C9EE6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0578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FEFF998C-5A0E-5512-6356-D1256B874AB6}"/>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64891700-670B-452A-DE1F-ECFF62B42A2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Applies to First-time Adopters Only</a:t>
            </a:r>
            <a:br>
              <a:rPr lang="en-GB" dirty="0"/>
            </a:br>
            <a:r>
              <a:rPr lang="en-GB" dirty="0"/>
              <a:t>– Specifically designed for entities moving from cash or modified cash basis to accrual IPSAS.</a:t>
            </a:r>
          </a:p>
          <a:p>
            <a:r>
              <a:rPr lang="en-GB" b="1" dirty="0"/>
              <a:t>Transitional Period of up to 3 Years</a:t>
            </a:r>
            <a:br>
              <a:rPr lang="en-GB" dirty="0"/>
            </a:br>
            <a:r>
              <a:rPr lang="en-GB" dirty="0"/>
              <a:t>– Maximum time allowed to achieve full compliance after adoption date.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Allows Certain Exemptions</a:t>
            </a:r>
            <a:br>
              <a:rPr lang="en-GB" dirty="0"/>
            </a:br>
            <a:r>
              <a:rPr lang="en-GB" dirty="0"/>
              <a:t>– Entities may defer full recognition and/or measurement of specified assets and liabilities during transition.</a:t>
            </a:r>
          </a:p>
          <a:p>
            <a:r>
              <a:rPr lang="en-GB" b="1" dirty="0"/>
              <a:t>Recognition &amp; Measurement Relief</a:t>
            </a:r>
            <a:br>
              <a:rPr lang="en-GB" dirty="0"/>
            </a:br>
            <a:r>
              <a:rPr lang="en-GB" dirty="0"/>
              <a:t>– Permits deemed cost (fair value or historical cost) for initial asset valuation.</a:t>
            </a:r>
          </a:p>
          <a:p>
            <a:r>
              <a:rPr lang="en-GB" b="1" dirty="0"/>
              <a:t>Consistent Application of Exemptions</a:t>
            </a:r>
            <a:br>
              <a:rPr lang="en-GB" dirty="0"/>
            </a:br>
            <a:r>
              <a:rPr lang="en-GB" dirty="0"/>
              <a:t>– Chosen exemptions must be applied consistently across reporting periods and asset classes.</a:t>
            </a:r>
          </a:p>
          <a:p>
            <a:r>
              <a:rPr lang="en-GB" b="1" dirty="0"/>
              <a:t>No Offsetting of Exemptions</a:t>
            </a:r>
            <a:br>
              <a:rPr lang="en-GB" dirty="0"/>
            </a:br>
            <a:r>
              <a:rPr lang="en-GB" dirty="0"/>
              <a:t>– Exemptions cannot be netted off or used to conceal non-compliance in other areas.</a:t>
            </a:r>
          </a:p>
          <a:p>
            <a:r>
              <a:rPr lang="en-GB" b="1" dirty="0"/>
              <a:t>Mandatory Disclosure Requirements</a:t>
            </a:r>
            <a:br>
              <a:rPr lang="en-GB" dirty="0"/>
            </a:br>
            <a:r>
              <a:rPr lang="en-GB" dirty="0"/>
              <a:t>– Entities must disclose items subject to exemption, reasons, and expected timeline for full recognition.</a:t>
            </a:r>
          </a:p>
          <a:p>
            <a:r>
              <a:rPr lang="en-GB" b="1" dirty="0"/>
              <a:t>Progressive Asset &amp; Liability Recognition</a:t>
            </a:r>
            <a:br>
              <a:rPr lang="en-GB" dirty="0"/>
            </a:br>
            <a:r>
              <a:rPr lang="en-GB" dirty="0"/>
              <a:t>– Allows phased-in recording of infrastructure, heritage assets, financial instruments, etc.</a:t>
            </a:r>
          </a:p>
          <a:p>
            <a:r>
              <a:rPr lang="en-GB" b="1" dirty="0"/>
              <a:t>Does Not Affect Comparative Information Before Adoption Date</a:t>
            </a:r>
            <a:br>
              <a:rPr lang="en-GB" dirty="0"/>
            </a:br>
            <a:r>
              <a:rPr lang="en-GB" dirty="0"/>
              <a:t>– Transitional adjustments are applied prospectively from adoption date.</a:t>
            </a:r>
          </a:p>
          <a:p>
            <a:r>
              <a:rPr lang="en-GB" b="1" dirty="0"/>
              <a:t>Linked to Other IPSAS Standards</a:t>
            </a:r>
            <a:br>
              <a:rPr lang="en-GB" dirty="0"/>
            </a:br>
            <a:r>
              <a:rPr lang="en-GB" dirty="0"/>
              <a:t>– Works alongside IPSAS 1, 17, 31, 41, and others for measurement, presentation, and disclosure rules.</a:t>
            </a:r>
          </a:p>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B1B32E8A-9FD8-9D09-18EA-AD5EDE5565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0082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C1C9837A-74C6-082E-4A6A-93EA30D4750D}"/>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41E933CC-27CE-084B-3003-34A8D57B27D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Applies to First-time Adopters Only</a:t>
            </a:r>
            <a:br>
              <a:rPr lang="en-GB" dirty="0"/>
            </a:br>
            <a:r>
              <a:rPr lang="en-GB" dirty="0"/>
              <a:t>– Specifically designed for entities moving from cash or modified cash basis to accrual IPSAS.</a:t>
            </a:r>
          </a:p>
          <a:p>
            <a:r>
              <a:rPr lang="en-GB" b="1" dirty="0"/>
              <a:t>Transitional Period of up to 3 Years</a:t>
            </a:r>
            <a:br>
              <a:rPr lang="en-GB" dirty="0"/>
            </a:br>
            <a:r>
              <a:rPr lang="en-GB" dirty="0"/>
              <a:t>– Maximum time allowed to achieve full compliance after adoption date.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Allows Certain Exemptions</a:t>
            </a:r>
            <a:br>
              <a:rPr lang="en-GB" dirty="0"/>
            </a:br>
            <a:r>
              <a:rPr lang="en-GB" dirty="0"/>
              <a:t>– Entities may defer full recognition and/or measurement of specified assets and liabilities during transition.</a:t>
            </a:r>
          </a:p>
          <a:p>
            <a:r>
              <a:rPr lang="en-GB" b="1" dirty="0"/>
              <a:t>Recognition &amp; Measurement Relief</a:t>
            </a:r>
            <a:br>
              <a:rPr lang="en-GB" dirty="0"/>
            </a:br>
            <a:r>
              <a:rPr lang="en-GB" dirty="0"/>
              <a:t>– Permits deemed cost (fair value or historical cost) for initial asset valuation.</a:t>
            </a:r>
          </a:p>
          <a:p>
            <a:r>
              <a:rPr lang="en-GB" b="1" dirty="0"/>
              <a:t>Consistent Application of Exemptions</a:t>
            </a:r>
            <a:br>
              <a:rPr lang="en-GB" dirty="0"/>
            </a:br>
            <a:r>
              <a:rPr lang="en-GB" dirty="0"/>
              <a:t>– Chosen exemptions must be applied consistently across reporting periods and asset classes.</a:t>
            </a:r>
          </a:p>
          <a:p>
            <a:r>
              <a:rPr lang="en-GB" b="1" dirty="0"/>
              <a:t>No Offsetting of Exemptions</a:t>
            </a:r>
            <a:br>
              <a:rPr lang="en-GB" dirty="0"/>
            </a:br>
            <a:r>
              <a:rPr lang="en-GB" dirty="0"/>
              <a:t>– Exemptions cannot be netted off or used to conceal non-compliance in other areas.</a:t>
            </a:r>
          </a:p>
          <a:p>
            <a:r>
              <a:rPr lang="en-GB" b="1" dirty="0"/>
              <a:t>Mandatory Disclosure Requirements</a:t>
            </a:r>
            <a:br>
              <a:rPr lang="en-GB" dirty="0"/>
            </a:br>
            <a:r>
              <a:rPr lang="en-GB" dirty="0"/>
              <a:t>– Entities must disclose items subject to exemption, reasons, and expected timeline for full recognition.</a:t>
            </a:r>
          </a:p>
          <a:p>
            <a:r>
              <a:rPr lang="en-GB" b="1" dirty="0"/>
              <a:t>Progressive Asset &amp; Liability Recognition</a:t>
            </a:r>
            <a:br>
              <a:rPr lang="en-GB" dirty="0"/>
            </a:br>
            <a:r>
              <a:rPr lang="en-GB" dirty="0"/>
              <a:t>– Allows phased-in recording of infrastructure, heritage assets, financial instruments, etc.</a:t>
            </a:r>
          </a:p>
          <a:p>
            <a:r>
              <a:rPr lang="en-GB" b="1" dirty="0"/>
              <a:t>Does Not Affect Comparative Information Before Adoption Date</a:t>
            </a:r>
            <a:br>
              <a:rPr lang="en-GB" dirty="0"/>
            </a:br>
            <a:r>
              <a:rPr lang="en-GB" dirty="0"/>
              <a:t>– Transitional adjustments are applied prospectively from adoption date.</a:t>
            </a:r>
          </a:p>
          <a:p>
            <a:r>
              <a:rPr lang="en-GB" b="1" dirty="0"/>
              <a:t>Linked to Other IPSAS Standards</a:t>
            </a:r>
            <a:br>
              <a:rPr lang="en-GB" dirty="0"/>
            </a:br>
            <a:r>
              <a:rPr lang="en-GB" dirty="0"/>
              <a:t>– Works alongside IPSAS 1, 17, 31, 41, and others for measurement, presentation, and disclosure rules.</a:t>
            </a:r>
          </a:p>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8190281C-CD12-1408-BCA4-1741F901AE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1030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F1D090E7-C8F1-D1FF-A93B-874DB9B46121}"/>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6422E5D4-CFEC-91B6-108A-BE83CC560A9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0C18A082-EDD6-9197-9775-DD8E4B4D1B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4950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97188CB6-F0C2-DA57-3B03-392F96FF5B84}"/>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2A03BEF1-A34B-6E9E-9348-24C5E720BFF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E47D6782-DCC6-3567-8521-7A05F07B9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2067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8B1940BE-8D11-D2F4-D5BC-D3115DBB1DCF}"/>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DA6B605C-9138-9306-14CA-A094B7260D30}"/>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D6099505-4019-625C-BB6E-BA23558F58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8609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109CD652-2057-0A77-A4E9-4E950485F670}"/>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BB7435A9-3911-D80D-A4D8-7581D96E7C2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5820DD28-0899-66E0-BA78-8ADDAB44BF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3097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30F782BB-7349-2AA0-55AA-825A419209FC}"/>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E48679EB-CD15-B2E8-9D9B-3879C54C353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B9077052-7793-799C-46BC-AA71CD7693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4911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1FBA506D-3EC6-426F-6995-5D1CF05A9EE7}"/>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2347A9A9-3186-3D71-8A06-FD60DCE35BA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7512C056-FD7B-120F-9675-2F6EBFA829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5358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26DA6CD8-47EE-9A02-65C9-27D053B0332E}"/>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C6E7EC49-55B7-6B4D-6521-2E7D9394C9C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C5790FBD-57D1-662D-CD48-8D60F4AF13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1518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03470E1B-A3AC-BF89-A3CB-C6A4985EC8D1}"/>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42756E61-6EE0-0E75-03B8-4F3C973DA65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300151BA-747B-CB23-DFAF-ACB4FE69A2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8736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BFF5BB35-32D2-C246-1432-2077D3C39803}"/>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7F190F03-11EF-AE3F-67BC-8EF3AC1001B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E7155B99-5B88-DAA3-391C-B54DDF2733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2574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792B6E0E-4BDF-24C4-4703-53C989C92E33}"/>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727F2A0A-C505-4C53-AF07-49D31819A59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86415566-E022-CDC9-4EA7-1AA61E7252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46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E066E51B-C8A6-6673-2D38-E34C63BC6F1D}"/>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4D440B07-2018-E856-5E06-D6E279C6C4C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3D07738C-EC2B-80AC-1FA1-6AAD54FF3C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9764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88D34CD0-A5E4-11DF-987E-4A6EBBA55937}"/>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B85B4853-5150-035B-3CA4-D6F502AB450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008248B3-765F-DA3B-F8C5-0998F11A1A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91303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DAE1C1B2-84AE-6ABB-8227-0E01C336C39C}"/>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ACDDEB23-C47C-0267-0758-BE8675C6CC50}"/>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BE7620C2-BB69-B05E-070E-F6C6295F5C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15526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D9DD3B41-0EBB-8BBE-53EB-20DDF64E5E9E}"/>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231F4A4C-B30B-EA59-FFED-5FBF7F646D9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DD6887DE-8BE3-0EDE-4B58-0C04369164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19416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0AFC4EE0-44CC-529B-14B2-A4EC9035259B}"/>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CA320E4B-51E5-930C-BE57-61120795C58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0E7A63BF-C5C9-423B-0D1E-78CD62E414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87138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1F6AAE85-EEA5-7B0B-3829-B04E9C59A761}"/>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1CBE366B-21FE-4FEE-33A0-8BF9EE0537A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68E7E18C-AF30-B311-42F4-81297FBC98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03396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BBF13CFF-D594-BB60-1C1C-1608AEFB1CEB}"/>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A9B13290-A9B0-4005-B33F-FF45978E983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C3CDE9C0-5426-BB11-7541-FCB44AD850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20085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208DC981-05F2-A8FF-C63B-9C9FAD44B64C}"/>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4DDD6EE1-4A25-39F9-D4E5-705DEA1D25E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1CE063A5-1561-66C4-DC9C-BB1C4ADBF1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2347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D206FAEF-5043-B53E-7F05-24AE324C5085}"/>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5286F9F2-17FB-D0B4-756B-44F3EB3FF60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1EB98E21-87E6-05AB-80CC-7A15C08081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5395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E8877081-F381-C9D6-EF93-80A6301858B4}"/>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ED2B8579-F6AC-79AB-CD53-5340C354C06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48BEDACD-DF02-D682-0F4E-9F705D3AEB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90660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83CBE2D4-757B-29A2-9F0D-DA8E9B65A4A3}"/>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1979CF8B-EB95-B029-221C-DDBEAA60DB3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A416F7C0-1B02-27E0-21F8-8C1FFB34CE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36089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16DE0542-2FBF-556A-601C-8B1679A96E23}"/>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9D7BBA69-8370-C33B-E467-80DAEBAE417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9C5C1A20-AD93-B1A2-0FB6-BA879B5186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48691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14BF1EE7-FA3A-E53D-8787-A95F8BA303DE}"/>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B33EC0A2-9352-AE27-8FE5-A8E0A2E1F32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49C659C6-32EE-F4DB-3189-B08B6287D7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97726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92B3DF5D-3954-03FF-5B0D-5003C6B7CBA0}"/>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65E5C2B6-D9D5-749C-8FF4-588091CE8CC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D5B3E385-2583-42F3-D1E3-04E92227D2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91464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21155A80-9AB6-2C99-2CB2-E7F200261C60}"/>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F68CA2A7-3A03-8CE4-832E-5805490F8DC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7E8FD1BA-18A9-BE62-1857-60388A2C43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08969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082CD4AF-CD43-74EA-9BED-D44EE34096FA}"/>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D2FD4BCB-0FE3-4933-BA24-B69D18FC23B0}"/>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CEBC0DA0-E239-B7C4-FA0C-3D8491EF2A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10934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4B8AFF46-D044-C0CF-85CC-60DEFCFAA5A1}"/>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48F52A5D-12D3-C9D9-0E9C-43225447FAF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DF3D65F2-6794-A504-78E0-D27183CC21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80634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AD6B49A8-E6C1-AA16-09E3-2EDD425A190D}"/>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FA726DAA-88C9-7951-7321-06036F54701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3179A6B5-057D-D1D3-FF4F-ACA7310B06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57588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A32CB4C3-A92B-8F0A-5D82-FF4EBB94E4CA}"/>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7CDC4707-7A2A-EA36-9FC9-36AA296E602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2FCEC062-C48A-D548-8B65-9BB0FC6185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54227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8337CAE5-BF99-72CF-5032-46825016C3B0}"/>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02FC8407-B9FA-ADAB-8EF0-2839BCF824B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71EC5F0A-45AB-DDC7-EA7A-C245CB75F7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20051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C99B3677-18D0-191D-C79E-106136E57F01}"/>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D8CD4BB0-7D1A-3E40-D0A0-98D206807B6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69143E72-3E0E-2532-D9CD-83D3E14846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63627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a:extLst>
            <a:ext uri="{FF2B5EF4-FFF2-40B4-BE49-F238E27FC236}">
              <a16:creationId xmlns:a16="http://schemas.microsoft.com/office/drawing/2014/main" id="{D851581C-0E7E-729E-26AE-99BE3CD30A14}"/>
            </a:ext>
          </a:extLst>
        </p:cNvPr>
        <p:cNvGrpSpPr/>
        <p:nvPr/>
      </p:nvGrpSpPr>
      <p:grpSpPr>
        <a:xfrm>
          <a:off x="0" y="0"/>
          <a:ext cx="0" cy="0"/>
          <a:chOff x="0" y="0"/>
          <a:chExt cx="0" cy="0"/>
        </a:xfrm>
      </p:grpSpPr>
      <p:sp>
        <p:nvSpPr>
          <p:cNvPr id="567" name="Google Shape;567;p36:notes">
            <a:extLst>
              <a:ext uri="{FF2B5EF4-FFF2-40B4-BE49-F238E27FC236}">
                <a16:creationId xmlns:a16="http://schemas.microsoft.com/office/drawing/2014/main" id="{4C7536D7-26EB-8C37-075F-12FEC3778E2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GB" dirty="0"/>
          </a:p>
        </p:txBody>
      </p:sp>
      <p:sp>
        <p:nvSpPr>
          <p:cNvPr id="568" name="Google Shape;568;p36:notes">
            <a:extLst>
              <a:ext uri="{FF2B5EF4-FFF2-40B4-BE49-F238E27FC236}">
                <a16:creationId xmlns:a16="http://schemas.microsoft.com/office/drawing/2014/main" id="{CA5C4A74-55FB-2889-F464-13876CA37F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62533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3" name="Picture Placeholder 22"/>
          <p:cNvSpPr>
            <a:spLocks noGrp="1"/>
          </p:cNvSpPr>
          <p:nvPr>
            <p:ph type="pic" sz="quarter" idx="13"/>
          </p:nvPr>
        </p:nvSpPr>
        <p:spPr>
          <a:xfrm>
            <a:off x="1080874" y="2567417"/>
            <a:ext cx="887606" cy="887606"/>
          </a:xfrm>
          <a:custGeom>
            <a:avLst/>
            <a:gdLst>
              <a:gd name="connsiteX0" fmla="*/ 443803 w 887606"/>
              <a:gd name="connsiteY0" fmla="*/ 0 h 887606"/>
              <a:gd name="connsiteX1" fmla="*/ 887606 w 887606"/>
              <a:gd name="connsiteY1" fmla="*/ 443803 h 887606"/>
              <a:gd name="connsiteX2" fmla="*/ 443803 w 887606"/>
              <a:gd name="connsiteY2" fmla="*/ 887606 h 887606"/>
              <a:gd name="connsiteX3" fmla="*/ 0 w 887606"/>
              <a:gd name="connsiteY3" fmla="*/ 443803 h 887606"/>
              <a:gd name="connsiteX4" fmla="*/ 443803 w 887606"/>
              <a:gd name="connsiteY4" fmla="*/ 0 h 8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606" h="887606">
                <a:moveTo>
                  <a:pt x="443803" y="0"/>
                </a:moveTo>
                <a:cubicBezTo>
                  <a:pt x="688909" y="0"/>
                  <a:pt x="887606" y="198697"/>
                  <a:pt x="887606" y="443803"/>
                </a:cubicBezTo>
                <a:cubicBezTo>
                  <a:pt x="887606" y="688909"/>
                  <a:pt x="688909" y="887606"/>
                  <a:pt x="443803" y="887606"/>
                </a:cubicBezTo>
                <a:cubicBezTo>
                  <a:pt x="198697" y="887606"/>
                  <a:pt x="0" y="688909"/>
                  <a:pt x="0" y="443803"/>
                </a:cubicBezTo>
                <a:cubicBezTo>
                  <a:pt x="0" y="198697"/>
                  <a:pt x="198697" y="0"/>
                  <a:pt x="443803" y="0"/>
                </a:cubicBezTo>
                <a:close/>
              </a:path>
            </a:pathLst>
          </a:custGeom>
        </p:spPr>
        <p:txBody>
          <a:bodyPr wrap="square">
            <a:noAutofit/>
          </a:bodyPr>
          <a:lstStyle>
            <a:lvl1pPr>
              <a:defRPr sz="1100"/>
            </a:lvl1pPr>
          </a:lstStyle>
          <a:p>
            <a:endParaRPr lang="en-IN"/>
          </a:p>
        </p:txBody>
      </p:sp>
      <p:sp>
        <p:nvSpPr>
          <p:cNvPr id="24" name="Picture Placeholder 23"/>
          <p:cNvSpPr>
            <a:spLocks noGrp="1"/>
          </p:cNvSpPr>
          <p:nvPr>
            <p:ph type="pic" sz="quarter" idx="14"/>
          </p:nvPr>
        </p:nvSpPr>
        <p:spPr>
          <a:xfrm>
            <a:off x="3194044" y="2563457"/>
            <a:ext cx="887606" cy="887606"/>
          </a:xfrm>
          <a:custGeom>
            <a:avLst/>
            <a:gdLst>
              <a:gd name="connsiteX0" fmla="*/ 443803 w 887606"/>
              <a:gd name="connsiteY0" fmla="*/ 0 h 887606"/>
              <a:gd name="connsiteX1" fmla="*/ 887606 w 887606"/>
              <a:gd name="connsiteY1" fmla="*/ 443803 h 887606"/>
              <a:gd name="connsiteX2" fmla="*/ 443803 w 887606"/>
              <a:gd name="connsiteY2" fmla="*/ 887606 h 887606"/>
              <a:gd name="connsiteX3" fmla="*/ 0 w 887606"/>
              <a:gd name="connsiteY3" fmla="*/ 443803 h 887606"/>
              <a:gd name="connsiteX4" fmla="*/ 443803 w 887606"/>
              <a:gd name="connsiteY4" fmla="*/ 0 h 8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606" h="887606">
                <a:moveTo>
                  <a:pt x="443803" y="0"/>
                </a:moveTo>
                <a:cubicBezTo>
                  <a:pt x="688909" y="0"/>
                  <a:pt x="887606" y="198697"/>
                  <a:pt x="887606" y="443803"/>
                </a:cubicBezTo>
                <a:cubicBezTo>
                  <a:pt x="887606" y="688909"/>
                  <a:pt x="688909" y="887606"/>
                  <a:pt x="443803" y="887606"/>
                </a:cubicBezTo>
                <a:cubicBezTo>
                  <a:pt x="198697" y="887606"/>
                  <a:pt x="0" y="688909"/>
                  <a:pt x="0" y="443803"/>
                </a:cubicBezTo>
                <a:cubicBezTo>
                  <a:pt x="0" y="198697"/>
                  <a:pt x="198697" y="0"/>
                  <a:pt x="443803" y="0"/>
                </a:cubicBezTo>
                <a:close/>
              </a:path>
            </a:pathLst>
          </a:custGeom>
        </p:spPr>
        <p:txBody>
          <a:bodyPr wrap="square">
            <a:noAutofit/>
          </a:bodyPr>
          <a:lstStyle>
            <a:lvl1pPr>
              <a:defRPr sz="1100"/>
            </a:lvl1pPr>
          </a:lstStyle>
          <a:p>
            <a:endParaRPr lang="en-IN"/>
          </a:p>
        </p:txBody>
      </p:sp>
      <p:sp>
        <p:nvSpPr>
          <p:cNvPr id="25" name="Picture Placeholder 24"/>
          <p:cNvSpPr>
            <a:spLocks noGrp="1"/>
          </p:cNvSpPr>
          <p:nvPr>
            <p:ph type="pic" sz="quarter" idx="15"/>
          </p:nvPr>
        </p:nvSpPr>
        <p:spPr>
          <a:xfrm>
            <a:off x="4738687" y="1080783"/>
            <a:ext cx="1246444" cy="1246444"/>
          </a:xfrm>
          <a:custGeom>
            <a:avLst/>
            <a:gdLst>
              <a:gd name="connsiteX0" fmla="*/ 623222 w 1246444"/>
              <a:gd name="connsiteY0" fmla="*/ 0 h 1246444"/>
              <a:gd name="connsiteX1" fmla="*/ 1246444 w 1246444"/>
              <a:gd name="connsiteY1" fmla="*/ 623222 h 1246444"/>
              <a:gd name="connsiteX2" fmla="*/ 623222 w 1246444"/>
              <a:gd name="connsiteY2" fmla="*/ 1246444 h 1246444"/>
              <a:gd name="connsiteX3" fmla="*/ 0 w 1246444"/>
              <a:gd name="connsiteY3" fmla="*/ 623222 h 1246444"/>
              <a:gd name="connsiteX4" fmla="*/ 623222 w 1246444"/>
              <a:gd name="connsiteY4" fmla="*/ 0 h 1246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444" h="1246444">
                <a:moveTo>
                  <a:pt x="623222" y="0"/>
                </a:moveTo>
                <a:cubicBezTo>
                  <a:pt x="967418" y="0"/>
                  <a:pt x="1246444" y="279026"/>
                  <a:pt x="1246444" y="623222"/>
                </a:cubicBezTo>
                <a:cubicBezTo>
                  <a:pt x="1246444" y="967418"/>
                  <a:pt x="967418" y="1246444"/>
                  <a:pt x="623222" y="1246444"/>
                </a:cubicBezTo>
                <a:cubicBezTo>
                  <a:pt x="279026" y="1246444"/>
                  <a:pt x="0" y="967418"/>
                  <a:pt x="0" y="623222"/>
                </a:cubicBezTo>
                <a:cubicBezTo>
                  <a:pt x="0" y="279026"/>
                  <a:pt x="279026" y="0"/>
                  <a:pt x="623222" y="0"/>
                </a:cubicBezTo>
                <a:close/>
              </a:path>
            </a:pathLst>
          </a:custGeom>
        </p:spPr>
        <p:txBody>
          <a:bodyPr wrap="square">
            <a:noAutofit/>
          </a:bodyPr>
          <a:lstStyle>
            <a:lvl1pPr>
              <a:defRPr sz="1100"/>
            </a:lvl1pPr>
          </a:lstStyle>
          <a:p>
            <a:endParaRPr lang="en-IN"/>
          </a:p>
        </p:txBody>
      </p:sp>
      <p:sp>
        <p:nvSpPr>
          <p:cNvPr id="26" name="Picture Placeholder 25"/>
          <p:cNvSpPr>
            <a:spLocks noGrp="1"/>
          </p:cNvSpPr>
          <p:nvPr>
            <p:ph type="pic" sz="quarter" idx="16"/>
          </p:nvPr>
        </p:nvSpPr>
        <p:spPr>
          <a:xfrm>
            <a:off x="8134936" y="2563612"/>
            <a:ext cx="887606" cy="887606"/>
          </a:xfrm>
          <a:custGeom>
            <a:avLst/>
            <a:gdLst>
              <a:gd name="connsiteX0" fmla="*/ 443803 w 887606"/>
              <a:gd name="connsiteY0" fmla="*/ 0 h 887606"/>
              <a:gd name="connsiteX1" fmla="*/ 887606 w 887606"/>
              <a:gd name="connsiteY1" fmla="*/ 443803 h 887606"/>
              <a:gd name="connsiteX2" fmla="*/ 443803 w 887606"/>
              <a:gd name="connsiteY2" fmla="*/ 887606 h 887606"/>
              <a:gd name="connsiteX3" fmla="*/ 0 w 887606"/>
              <a:gd name="connsiteY3" fmla="*/ 443803 h 887606"/>
              <a:gd name="connsiteX4" fmla="*/ 443803 w 887606"/>
              <a:gd name="connsiteY4" fmla="*/ 0 h 8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606" h="887606">
                <a:moveTo>
                  <a:pt x="443803" y="0"/>
                </a:moveTo>
                <a:cubicBezTo>
                  <a:pt x="688909" y="0"/>
                  <a:pt x="887606" y="198697"/>
                  <a:pt x="887606" y="443803"/>
                </a:cubicBezTo>
                <a:cubicBezTo>
                  <a:pt x="887606" y="688909"/>
                  <a:pt x="688909" y="887606"/>
                  <a:pt x="443803" y="887606"/>
                </a:cubicBezTo>
                <a:cubicBezTo>
                  <a:pt x="198697" y="887606"/>
                  <a:pt x="0" y="688909"/>
                  <a:pt x="0" y="443803"/>
                </a:cubicBezTo>
                <a:cubicBezTo>
                  <a:pt x="0" y="198697"/>
                  <a:pt x="198697" y="0"/>
                  <a:pt x="443803" y="0"/>
                </a:cubicBezTo>
                <a:close/>
              </a:path>
            </a:pathLst>
          </a:custGeom>
        </p:spPr>
        <p:txBody>
          <a:bodyPr wrap="square">
            <a:noAutofit/>
          </a:bodyPr>
          <a:lstStyle>
            <a:lvl1pPr>
              <a:defRPr sz="1100"/>
            </a:lvl1pPr>
          </a:lstStyle>
          <a:p>
            <a:endParaRPr lang="en-IN"/>
          </a:p>
        </p:txBody>
      </p:sp>
      <p:sp>
        <p:nvSpPr>
          <p:cNvPr id="27" name="Picture Placeholder 26"/>
          <p:cNvSpPr>
            <a:spLocks noGrp="1"/>
          </p:cNvSpPr>
          <p:nvPr>
            <p:ph type="pic" sz="quarter" idx="17"/>
          </p:nvPr>
        </p:nvSpPr>
        <p:spPr>
          <a:xfrm>
            <a:off x="10224082" y="2571557"/>
            <a:ext cx="887606" cy="887606"/>
          </a:xfrm>
          <a:custGeom>
            <a:avLst/>
            <a:gdLst>
              <a:gd name="connsiteX0" fmla="*/ 443803 w 887606"/>
              <a:gd name="connsiteY0" fmla="*/ 0 h 887606"/>
              <a:gd name="connsiteX1" fmla="*/ 887606 w 887606"/>
              <a:gd name="connsiteY1" fmla="*/ 443803 h 887606"/>
              <a:gd name="connsiteX2" fmla="*/ 443803 w 887606"/>
              <a:gd name="connsiteY2" fmla="*/ 887606 h 887606"/>
              <a:gd name="connsiteX3" fmla="*/ 0 w 887606"/>
              <a:gd name="connsiteY3" fmla="*/ 443803 h 887606"/>
              <a:gd name="connsiteX4" fmla="*/ 443803 w 887606"/>
              <a:gd name="connsiteY4" fmla="*/ 0 h 8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606" h="887606">
                <a:moveTo>
                  <a:pt x="443803" y="0"/>
                </a:moveTo>
                <a:cubicBezTo>
                  <a:pt x="688909" y="0"/>
                  <a:pt x="887606" y="198697"/>
                  <a:pt x="887606" y="443803"/>
                </a:cubicBezTo>
                <a:cubicBezTo>
                  <a:pt x="887606" y="688909"/>
                  <a:pt x="688909" y="887606"/>
                  <a:pt x="443803" y="887606"/>
                </a:cubicBezTo>
                <a:cubicBezTo>
                  <a:pt x="198697" y="887606"/>
                  <a:pt x="0" y="688909"/>
                  <a:pt x="0" y="443803"/>
                </a:cubicBezTo>
                <a:cubicBezTo>
                  <a:pt x="0" y="198697"/>
                  <a:pt x="198697" y="0"/>
                  <a:pt x="443803" y="0"/>
                </a:cubicBezTo>
                <a:close/>
              </a:path>
            </a:pathLst>
          </a:custGeom>
        </p:spPr>
        <p:txBody>
          <a:bodyPr wrap="square">
            <a:noAutofit/>
          </a:bodyPr>
          <a:lstStyle>
            <a:lvl1pPr>
              <a:defRPr sz="1100"/>
            </a:lvl1pPr>
          </a:lstStyle>
          <a:p>
            <a:endParaRPr lang="en-IN"/>
          </a:p>
        </p:txBody>
      </p:sp>
      <p:sp>
        <p:nvSpPr>
          <p:cNvPr id="30" name="Picture Placeholder 29"/>
          <p:cNvSpPr>
            <a:spLocks noGrp="1"/>
          </p:cNvSpPr>
          <p:nvPr>
            <p:ph type="pic" sz="quarter" idx="18"/>
          </p:nvPr>
        </p:nvSpPr>
        <p:spPr>
          <a:xfrm>
            <a:off x="8089931" y="5140084"/>
            <a:ext cx="887606" cy="887606"/>
          </a:xfrm>
          <a:custGeom>
            <a:avLst/>
            <a:gdLst>
              <a:gd name="connsiteX0" fmla="*/ 443803 w 887606"/>
              <a:gd name="connsiteY0" fmla="*/ 0 h 887606"/>
              <a:gd name="connsiteX1" fmla="*/ 887606 w 887606"/>
              <a:gd name="connsiteY1" fmla="*/ 443803 h 887606"/>
              <a:gd name="connsiteX2" fmla="*/ 443803 w 887606"/>
              <a:gd name="connsiteY2" fmla="*/ 887606 h 887606"/>
              <a:gd name="connsiteX3" fmla="*/ 0 w 887606"/>
              <a:gd name="connsiteY3" fmla="*/ 443803 h 887606"/>
              <a:gd name="connsiteX4" fmla="*/ 443803 w 887606"/>
              <a:gd name="connsiteY4" fmla="*/ 0 h 8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606" h="887606">
                <a:moveTo>
                  <a:pt x="443803" y="0"/>
                </a:moveTo>
                <a:cubicBezTo>
                  <a:pt x="688909" y="0"/>
                  <a:pt x="887606" y="198697"/>
                  <a:pt x="887606" y="443803"/>
                </a:cubicBezTo>
                <a:cubicBezTo>
                  <a:pt x="887606" y="688909"/>
                  <a:pt x="688909" y="887606"/>
                  <a:pt x="443803" y="887606"/>
                </a:cubicBezTo>
                <a:cubicBezTo>
                  <a:pt x="198697" y="887606"/>
                  <a:pt x="0" y="688909"/>
                  <a:pt x="0" y="443803"/>
                </a:cubicBezTo>
                <a:cubicBezTo>
                  <a:pt x="0" y="198697"/>
                  <a:pt x="198697" y="0"/>
                  <a:pt x="443803" y="0"/>
                </a:cubicBezTo>
                <a:close/>
              </a:path>
            </a:pathLst>
          </a:custGeom>
        </p:spPr>
        <p:txBody>
          <a:bodyPr wrap="square">
            <a:noAutofit/>
          </a:bodyPr>
          <a:lstStyle>
            <a:lvl1pPr>
              <a:defRPr sz="1100"/>
            </a:lvl1pPr>
          </a:lstStyle>
          <a:p>
            <a:endParaRPr lang="en-IN"/>
          </a:p>
        </p:txBody>
      </p:sp>
      <p:sp>
        <p:nvSpPr>
          <p:cNvPr id="31" name="Picture Placeholder 30"/>
          <p:cNvSpPr>
            <a:spLocks noGrp="1"/>
          </p:cNvSpPr>
          <p:nvPr>
            <p:ph type="pic" sz="quarter" idx="19"/>
          </p:nvPr>
        </p:nvSpPr>
        <p:spPr>
          <a:xfrm>
            <a:off x="4924426" y="3592969"/>
            <a:ext cx="1103014" cy="1103014"/>
          </a:xfrm>
          <a:custGeom>
            <a:avLst/>
            <a:gdLst>
              <a:gd name="connsiteX0" fmla="*/ 551507 w 1103014"/>
              <a:gd name="connsiteY0" fmla="*/ 0 h 1103014"/>
              <a:gd name="connsiteX1" fmla="*/ 1103014 w 1103014"/>
              <a:gd name="connsiteY1" fmla="*/ 551507 h 1103014"/>
              <a:gd name="connsiteX2" fmla="*/ 551507 w 1103014"/>
              <a:gd name="connsiteY2" fmla="*/ 1103014 h 1103014"/>
              <a:gd name="connsiteX3" fmla="*/ 0 w 1103014"/>
              <a:gd name="connsiteY3" fmla="*/ 551507 h 1103014"/>
              <a:gd name="connsiteX4" fmla="*/ 551507 w 1103014"/>
              <a:gd name="connsiteY4" fmla="*/ 0 h 1103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3014" h="1103014">
                <a:moveTo>
                  <a:pt x="551507" y="0"/>
                </a:moveTo>
                <a:cubicBezTo>
                  <a:pt x="856096" y="0"/>
                  <a:pt x="1103014" y="246918"/>
                  <a:pt x="1103014" y="551507"/>
                </a:cubicBezTo>
                <a:cubicBezTo>
                  <a:pt x="1103014" y="856096"/>
                  <a:pt x="856096" y="1103014"/>
                  <a:pt x="551507" y="1103014"/>
                </a:cubicBezTo>
                <a:cubicBezTo>
                  <a:pt x="246918" y="1103014"/>
                  <a:pt x="0" y="856096"/>
                  <a:pt x="0" y="551507"/>
                </a:cubicBezTo>
                <a:cubicBezTo>
                  <a:pt x="0" y="246918"/>
                  <a:pt x="246918" y="0"/>
                  <a:pt x="551507" y="0"/>
                </a:cubicBezTo>
                <a:close/>
              </a:path>
            </a:pathLst>
          </a:custGeom>
        </p:spPr>
        <p:txBody>
          <a:bodyPr wrap="square">
            <a:noAutofit/>
          </a:bodyPr>
          <a:lstStyle>
            <a:lvl1pPr>
              <a:defRPr sz="1100"/>
            </a:lvl1pPr>
          </a:lstStyle>
          <a:p>
            <a:endParaRPr lang="en-IN"/>
          </a:p>
        </p:txBody>
      </p:sp>
      <p:sp>
        <p:nvSpPr>
          <p:cNvPr id="29" name="Picture Placeholder 28"/>
          <p:cNvSpPr>
            <a:spLocks noGrp="1"/>
          </p:cNvSpPr>
          <p:nvPr>
            <p:ph type="pic" sz="quarter" idx="20"/>
          </p:nvPr>
        </p:nvSpPr>
        <p:spPr>
          <a:xfrm>
            <a:off x="3251033" y="5143994"/>
            <a:ext cx="887606" cy="887606"/>
          </a:xfrm>
          <a:custGeom>
            <a:avLst/>
            <a:gdLst>
              <a:gd name="connsiteX0" fmla="*/ 443803 w 887606"/>
              <a:gd name="connsiteY0" fmla="*/ 0 h 887606"/>
              <a:gd name="connsiteX1" fmla="*/ 887606 w 887606"/>
              <a:gd name="connsiteY1" fmla="*/ 443803 h 887606"/>
              <a:gd name="connsiteX2" fmla="*/ 443803 w 887606"/>
              <a:gd name="connsiteY2" fmla="*/ 887606 h 887606"/>
              <a:gd name="connsiteX3" fmla="*/ 0 w 887606"/>
              <a:gd name="connsiteY3" fmla="*/ 443803 h 887606"/>
              <a:gd name="connsiteX4" fmla="*/ 443803 w 887606"/>
              <a:gd name="connsiteY4" fmla="*/ 0 h 8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606" h="887606">
                <a:moveTo>
                  <a:pt x="443803" y="0"/>
                </a:moveTo>
                <a:cubicBezTo>
                  <a:pt x="688909" y="0"/>
                  <a:pt x="887606" y="198697"/>
                  <a:pt x="887606" y="443803"/>
                </a:cubicBezTo>
                <a:cubicBezTo>
                  <a:pt x="887606" y="688909"/>
                  <a:pt x="688909" y="887606"/>
                  <a:pt x="443803" y="887606"/>
                </a:cubicBezTo>
                <a:cubicBezTo>
                  <a:pt x="198697" y="887606"/>
                  <a:pt x="0" y="688909"/>
                  <a:pt x="0" y="443803"/>
                </a:cubicBezTo>
                <a:cubicBezTo>
                  <a:pt x="0" y="198697"/>
                  <a:pt x="198697" y="0"/>
                  <a:pt x="443803" y="0"/>
                </a:cubicBezTo>
                <a:close/>
              </a:path>
            </a:pathLst>
          </a:custGeom>
        </p:spPr>
        <p:txBody>
          <a:bodyPr wrap="square">
            <a:noAutofit/>
          </a:bodyPr>
          <a:lstStyle>
            <a:lvl1pPr>
              <a:defRPr sz="1100"/>
            </a:lvl1pPr>
          </a:lstStyle>
          <a:p>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6511D-2C70-4AC7-97D5-1F14B9776F20}"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F1A20C-7DC5-494D-B520-FA7BD522BECA}" type="slidenum">
              <a:rPr lang="en-US" smtClean="0"/>
              <a:pPr/>
              <a:t>‹#›</a:t>
            </a:fld>
            <a:endParaRPr lang="en-US"/>
          </a:p>
        </p:txBody>
      </p:sp>
      <p:pic>
        <p:nvPicPr>
          <p:cNvPr id="6" name="Picture 5" descr="MINECOFIN Logo (Landscape).pdf">
            <a:extLst>
              <a:ext uri="{FF2B5EF4-FFF2-40B4-BE49-F238E27FC236}">
                <a16:creationId xmlns:a16="http://schemas.microsoft.com/office/drawing/2014/main" id="{E303C7D2-F739-10C1-482F-3F2EB2B2AA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4173" y="5809208"/>
            <a:ext cx="2275030" cy="1094284"/>
          </a:xfrm>
          <a:prstGeom prst="rect">
            <a:avLst/>
          </a:prstGeom>
        </p:spPr>
      </p:pic>
    </p:spTree>
    <p:extLst>
      <p:ext uri="{BB962C8B-B14F-4D97-AF65-F5344CB8AC3E}">
        <p14:creationId xmlns:p14="http://schemas.microsoft.com/office/powerpoint/2010/main" val="1195052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17" name="Picture Placeholder 16"/>
          <p:cNvSpPr>
            <a:spLocks noGrp="1"/>
          </p:cNvSpPr>
          <p:nvPr>
            <p:ph type="pic" sz="quarter" idx="13"/>
          </p:nvPr>
        </p:nvSpPr>
        <p:spPr>
          <a:xfrm>
            <a:off x="874036" y="1333207"/>
            <a:ext cx="2525806" cy="2525806"/>
          </a:xfrm>
          <a:custGeom>
            <a:avLst/>
            <a:gdLst>
              <a:gd name="connsiteX0" fmla="*/ 1262903 w 2525806"/>
              <a:gd name="connsiteY0" fmla="*/ 0 h 2525806"/>
              <a:gd name="connsiteX1" fmla="*/ 2525806 w 2525806"/>
              <a:gd name="connsiteY1" fmla="*/ 1262903 h 2525806"/>
              <a:gd name="connsiteX2" fmla="*/ 1262903 w 2525806"/>
              <a:gd name="connsiteY2" fmla="*/ 2525806 h 2525806"/>
              <a:gd name="connsiteX3" fmla="*/ 0 w 2525806"/>
              <a:gd name="connsiteY3" fmla="*/ 1262903 h 2525806"/>
              <a:gd name="connsiteX4" fmla="*/ 1262903 w 2525806"/>
              <a:gd name="connsiteY4" fmla="*/ 0 h 2525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06" h="2525806">
                <a:moveTo>
                  <a:pt x="1262903" y="0"/>
                </a:moveTo>
                <a:cubicBezTo>
                  <a:pt x="1960385" y="0"/>
                  <a:pt x="2525806" y="565421"/>
                  <a:pt x="2525806" y="1262903"/>
                </a:cubicBezTo>
                <a:cubicBezTo>
                  <a:pt x="2525806" y="1960385"/>
                  <a:pt x="1960385" y="2525806"/>
                  <a:pt x="1262903" y="2525806"/>
                </a:cubicBezTo>
                <a:cubicBezTo>
                  <a:pt x="565421" y="2525806"/>
                  <a:pt x="0" y="1960385"/>
                  <a:pt x="0" y="1262903"/>
                </a:cubicBezTo>
                <a:cubicBezTo>
                  <a:pt x="0" y="565421"/>
                  <a:pt x="565421" y="0"/>
                  <a:pt x="1262903" y="0"/>
                </a:cubicBezTo>
                <a:close/>
              </a:path>
            </a:pathLst>
          </a:custGeom>
        </p:spPr>
        <p:txBody>
          <a:bodyPr wrap="square">
            <a:noAutofit/>
          </a:bodyPr>
          <a:lstStyle/>
          <a:p>
            <a:endParaRPr lang="en-IN"/>
          </a:p>
        </p:txBody>
      </p:sp>
      <p:sp>
        <p:nvSpPr>
          <p:cNvPr id="18" name="Picture Placeholder 17"/>
          <p:cNvSpPr>
            <a:spLocks noGrp="1"/>
          </p:cNvSpPr>
          <p:nvPr>
            <p:ph type="pic" sz="quarter" idx="14"/>
          </p:nvPr>
        </p:nvSpPr>
        <p:spPr>
          <a:xfrm>
            <a:off x="3496380" y="1333207"/>
            <a:ext cx="2525806" cy="2525806"/>
          </a:xfrm>
          <a:custGeom>
            <a:avLst/>
            <a:gdLst>
              <a:gd name="connsiteX0" fmla="*/ 1262903 w 2525806"/>
              <a:gd name="connsiteY0" fmla="*/ 0 h 2525806"/>
              <a:gd name="connsiteX1" fmla="*/ 2525806 w 2525806"/>
              <a:gd name="connsiteY1" fmla="*/ 1262903 h 2525806"/>
              <a:gd name="connsiteX2" fmla="*/ 1262903 w 2525806"/>
              <a:gd name="connsiteY2" fmla="*/ 2525806 h 2525806"/>
              <a:gd name="connsiteX3" fmla="*/ 0 w 2525806"/>
              <a:gd name="connsiteY3" fmla="*/ 1262903 h 2525806"/>
              <a:gd name="connsiteX4" fmla="*/ 1262903 w 2525806"/>
              <a:gd name="connsiteY4" fmla="*/ 0 h 2525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06" h="2525806">
                <a:moveTo>
                  <a:pt x="1262903" y="0"/>
                </a:moveTo>
                <a:cubicBezTo>
                  <a:pt x="1960385" y="0"/>
                  <a:pt x="2525806" y="565421"/>
                  <a:pt x="2525806" y="1262903"/>
                </a:cubicBezTo>
                <a:cubicBezTo>
                  <a:pt x="2525806" y="1960385"/>
                  <a:pt x="1960385" y="2525806"/>
                  <a:pt x="1262903" y="2525806"/>
                </a:cubicBezTo>
                <a:cubicBezTo>
                  <a:pt x="565421" y="2525806"/>
                  <a:pt x="0" y="1960385"/>
                  <a:pt x="0" y="1262903"/>
                </a:cubicBezTo>
                <a:cubicBezTo>
                  <a:pt x="0" y="565421"/>
                  <a:pt x="565421" y="0"/>
                  <a:pt x="1262903" y="0"/>
                </a:cubicBezTo>
                <a:close/>
              </a:path>
            </a:pathLst>
          </a:custGeom>
        </p:spPr>
        <p:txBody>
          <a:bodyPr wrap="square">
            <a:noAutofit/>
          </a:bodyPr>
          <a:lstStyle/>
          <a:p>
            <a:endParaRPr lang="en-IN"/>
          </a:p>
        </p:txBody>
      </p:sp>
      <p:sp>
        <p:nvSpPr>
          <p:cNvPr id="19" name="Picture Placeholder 18"/>
          <p:cNvSpPr>
            <a:spLocks noGrp="1"/>
          </p:cNvSpPr>
          <p:nvPr>
            <p:ph type="pic" sz="quarter" idx="15"/>
          </p:nvPr>
        </p:nvSpPr>
        <p:spPr>
          <a:xfrm>
            <a:off x="6118724" y="1333207"/>
            <a:ext cx="2525806" cy="2525806"/>
          </a:xfrm>
          <a:custGeom>
            <a:avLst/>
            <a:gdLst>
              <a:gd name="connsiteX0" fmla="*/ 1262903 w 2525806"/>
              <a:gd name="connsiteY0" fmla="*/ 0 h 2525806"/>
              <a:gd name="connsiteX1" fmla="*/ 2525806 w 2525806"/>
              <a:gd name="connsiteY1" fmla="*/ 1262903 h 2525806"/>
              <a:gd name="connsiteX2" fmla="*/ 1262903 w 2525806"/>
              <a:gd name="connsiteY2" fmla="*/ 2525806 h 2525806"/>
              <a:gd name="connsiteX3" fmla="*/ 0 w 2525806"/>
              <a:gd name="connsiteY3" fmla="*/ 1262903 h 2525806"/>
              <a:gd name="connsiteX4" fmla="*/ 1262903 w 2525806"/>
              <a:gd name="connsiteY4" fmla="*/ 0 h 2525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06" h="2525806">
                <a:moveTo>
                  <a:pt x="1262903" y="0"/>
                </a:moveTo>
                <a:cubicBezTo>
                  <a:pt x="1960385" y="0"/>
                  <a:pt x="2525806" y="565421"/>
                  <a:pt x="2525806" y="1262903"/>
                </a:cubicBezTo>
                <a:cubicBezTo>
                  <a:pt x="2525806" y="1960385"/>
                  <a:pt x="1960385" y="2525806"/>
                  <a:pt x="1262903" y="2525806"/>
                </a:cubicBezTo>
                <a:cubicBezTo>
                  <a:pt x="565421" y="2525806"/>
                  <a:pt x="0" y="1960385"/>
                  <a:pt x="0" y="1262903"/>
                </a:cubicBezTo>
                <a:cubicBezTo>
                  <a:pt x="0" y="565421"/>
                  <a:pt x="565421" y="0"/>
                  <a:pt x="1262903" y="0"/>
                </a:cubicBezTo>
                <a:close/>
              </a:path>
            </a:pathLst>
          </a:custGeom>
        </p:spPr>
        <p:txBody>
          <a:bodyPr wrap="square">
            <a:noAutofit/>
          </a:bodyPr>
          <a:lstStyle/>
          <a:p>
            <a:endParaRPr lang="en-IN"/>
          </a:p>
        </p:txBody>
      </p:sp>
      <p:sp>
        <p:nvSpPr>
          <p:cNvPr id="20" name="Picture Placeholder 19"/>
          <p:cNvSpPr>
            <a:spLocks noGrp="1"/>
          </p:cNvSpPr>
          <p:nvPr>
            <p:ph type="pic" sz="quarter" idx="16"/>
          </p:nvPr>
        </p:nvSpPr>
        <p:spPr>
          <a:xfrm>
            <a:off x="8741069" y="1333207"/>
            <a:ext cx="2525806" cy="2525806"/>
          </a:xfrm>
          <a:custGeom>
            <a:avLst/>
            <a:gdLst>
              <a:gd name="connsiteX0" fmla="*/ 1262903 w 2525806"/>
              <a:gd name="connsiteY0" fmla="*/ 0 h 2525806"/>
              <a:gd name="connsiteX1" fmla="*/ 2525806 w 2525806"/>
              <a:gd name="connsiteY1" fmla="*/ 1262903 h 2525806"/>
              <a:gd name="connsiteX2" fmla="*/ 1262903 w 2525806"/>
              <a:gd name="connsiteY2" fmla="*/ 2525806 h 2525806"/>
              <a:gd name="connsiteX3" fmla="*/ 0 w 2525806"/>
              <a:gd name="connsiteY3" fmla="*/ 1262903 h 2525806"/>
              <a:gd name="connsiteX4" fmla="*/ 1262903 w 2525806"/>
              <a:gd name="connsiteY4" fmla="*/ 0 h 2525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806" h="2525806">
                <a:moveTo>
                  <a:pt x="1262903" y="0"/>
                </a:moveTo>
                <a:cubicBezTo>
                  <a:pt x="1960385" y="0"/>
                  <a:pt x="2525806" y="565421"/>
                  <a:pt x="2525806" y="1262903"/>
                </a:cubicBezTo>
                <a:cubicBezTo>
                  <a:pt x="2525806" y="1960385"/>
                  <a:pt x="1960385" y="2525806"/>
                  <a:pt x="1262903" y="2525806"/>
                </a:cubicBezTo>
                <a:cubicBezTo>
                  <a:pt x="565421" y="2525806"/>
                  <a:pt x="0" y="1960385"/>
                  <a:pt x="0" y="1262903"/>
                </a:cubicBezTo>
                <a:cubicBezTo>
                  <a:pt x="0" y="565421"/>
                  <a:pt x="565421" y="0"/>
                  <a:pt x="1262903" y="0"/>
                </a:cubicBezTo>
                <a:close/>
              </a:path>
            </a:pathLst>
          </a:custGeom>
        </p:spPr>
        <p:txBody>
          <a:bodyPr wrap="square">
            <a:noAutofit/>
          </a:bodyPr>
          <a:lstStyle/>
          <a:p>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6511D-2C70-4AC7-97D5-1F14B9776F20}"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F1A20C-7DC5-494D-B520-FA7BD522BECA}" type="slidenum">
              <a:rPr lang="en-US" smtClean="0"/>
              <a:pPr/>
              <a:t>‹#›</a:t>
            </a:fld>
            <a:endParaRPr lang="en-US"/>
          </a:p>
        </p:txBody>
      </p:sp>
    </p:spTree>
    <p:extLst>
      <p:ext uri="{BB962C8B-B14F-4D97-AF65-F5344CB8AC3E}">
        <p14:creationId xmlns:p14="http://schemas.microsoft.com/office/powerpoint/2010/main" val="742782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15" name="Picture Placeholder 14"/>
          <p:cNvSpPr>
            <a:spLocks noGrp="1"/>
          </p:cNvSpPr>
          <p:nvPr>
            <p:ph type="pic" sz="quarter" idx="15"/>
          </p:nvPr>
        </p:nvSpPr>
        <p:spPr>
          <a:xfrm>
            <a:off x="8278922" y="1912240"/>
            <a:ext cx="3912524" cy="4139984"/>
          </a:xfrm>
          <a:custGeom>
            <a:avLst/>
            <a:gdLst>
              <a:gd name="connsiteX0" fmla="*/ 0 w 3912524"/>
              <a:gd name="connsiteY0" fmla="*/ 0 h 4139984"/>
              <a:gd name="connsiteX1" fmla="*/ 3912524 w 3912524"/>
              <a:gd name="connsiteY1" fmla="*/ 0 h 4139984"/>
              <a:gd name="connsiteX2" fmla="*/ 3912524 w 3912524"/>
              <a:gd name="connsiteY2" fmla="*/ 4139984 h 4139984"/>
              <a:gd name="connsiteX3" fmla="*/ 0 w 3912524"/>
              <a:gd name="connsiteY3" fmla="*/ 4139984 h 4139984"/>
            </a:gdLst>
            <a:ahLst/>
            <a:cxnLst>
              <a:cxn ang="0">
                <a:pos x="connsiteX0" y="connsiteY0"/>
              </a:cxn>
              <a:cxn ang="0">
                <a:pos x="connsiteX1" y="connsiteY1"/>
              </a:cxn>
              <a:cxn ang="0">
                <a:pos x="connsiteX2" y="connsiteY2"/>
              </a:cxn>
              <a:cxn ang="0">
                <a:pos x="connsiteX3" y="connsiteY3"/>
              </a:cxn>
            </a:cxnLst>
            <a:rect l="l" t="t" r="r" b="b"/>
            <a:pathLst>
              <a:path w="3912524" h="4139984">
                <a:moveTo>
                  <a:pt x="0" y="0"/>
                </a:moveTo>
                <a:lnTo>
                  <a:pt x="3912524" y="0"/>
                </a:lnTo>
                <a:lnTo>
                  <a:pt x="3912524" y="4139984"/>
                </a:lnTo>
                <a:lnTo>
                  <a:pt x="0" y="4139984"/>
                </a:lnTo>
                <a:close/>
              </a:path>
            </a:pathLst>
          </a:custGeom>
        </p:spPr>
        <p:txBody>
          <a:bodyPr wrap="square">
            <a:noAutofit/>
          </a:bodyPr>
          <a:lstStyle/>
          <a:p>
            <a:endParaRPr lang="en-IN" dirty="0"/>
          </a:p>
        </p:txBody>
      </p:sp>
      <p:sp>
        <p:nvSpPr>
          <p:cNvPr id="13" name="Picture Placeholder 12"/>
          <p:cNvSpPr>
            <a:spLocks noGrp="1"/>
          </p:cNvSpPr>
          <p:nvPr>
            <p:ph type="pic" sz="quarter" idx="13"/>
          </p:nvPr>
        </p:nvSpPr>
        <p:spPr>
          <a:xfrm>
            <a:off x="-554" y="1912240"/>
            <a:ext cx="3913632" cy="4139984"/>
          </a:xfrm>
          <a:custGeom>
            <a:avLst/>
            <a:gdLst>
              <a:gd name="connsiteX0" fmla="*/ 0 w 3913632"/>
              <a:gd name="connsiteY0" fmla="*/ 0 h 4139984"/>
              <a:gd name="connsiteX1" fmla="*/ 3913632 w 3913632"/>
              <a:gd name="connsiteY1" fmla="*/ 0 h 4139984"/>
              <a:gd name="connsiteX2" fmla="*/ 3913632 w 3913632"/>
              <a:gd name="connsiteY2" fmla="*/ 4139984 h 4139984"/>
              <a:gd name="connsiteX3" fmla="*/ 0 w 3913632"/>
              <a:gd name="connsiteY3" fmla="*/ 4139984 h 4139984"/>
            </a:gdLst>
            <a:ahLst/>
            <a:cxnLst>
              <a:cxn ang="0">
                <a:pos x="connsiteX0" y="connsiteY0"/>
              </a:cxn>
              <a:cxn ang="0">
                <a:pos x="connsiteX1" y="connsiteY1"/>
              </a:cxn>
              <a:cxn ang="0">
                <a:pos x="connsiteX2" y="connsiteY2"/>
              </a:cxn>
              <a:cxn ang="0">
                <a:pos x="connsiteX3" y="connsiteY3"/>
              </a:cxn>
            </a:cxnLst>
            <a:rect l="l" t="t" r="r" b="b"/>
            <a:pathLst>
              <a:path w="3913632" h="4139984">
                <a:moveTo>
                  <a:pt x="0" y="0"/>
                </a:moveTo>
                <a:lnTo>
                  <a:pt x="3913632" y="0"/>
                </a:lnTo>
                <a:lnTo>
                  <a:pt x="3913632" y="4139984"/>
                </a:lnTo>
                <a:lnTo>
                  <a:pt x="0" y="4139984"/>
                </a:lnTo>
                <a:close/>
              </a:path>
            </a:pathLst>
          </a:custGeom>
        </p:spPr>
        <p:txBody>
          <a:bodyPr wrap="square">
            <a:noAutofit/>
          </a:bodyPr>
          <a:lstStyle/>
          <a:p>
            <a:endParaRPr lang="en-IN"/>
          </a:p>
        </p:txBody>
      </p:sp>
      <p:sp>
        <p:nvSpPr>
          <p:cNvPr id="14" name="Picture Placeholder 13"/>
          <p:cNvSpPr>
            <a:spLocks noGrp="1"/>
          </p:cNvSpPr>
          <p:nvPr>
            <p:ph type="pic" sz="quarter" idx="14"/>
          </p:nvPr>
        </p:nvSpPr>
        <p:spPr>
          <a:xfrm>
            <a:off x="4129702" y="1912240"/>
            <a:ext cx="3912524" cy="4139984"/>
          </a:xfrm>
          <a:custGeom>
            <a:avLst/>
            <a:gdLst>
              <a:gd name="connsiteX0" fmla="*/ 0 w 3912524"/>
              <a:gd name="connsiteY0" fmla="*/ 0 h 4139984"/>
              <a:gd name="connsiteX1" fmla="*/ 3912524 w 3912524"/>
              <a:gd name="connsiteY1" fmla="*/ 0 h 4139984"/>
              <a:gd name="connsiteX2" fmla="*/ 3912524 w 3912524"/>
              <a:gd name="connsiteY2" fmla="*/ 4139984 h 4139984"/>
              <a:gd name="connsiteX3" fmla="*/ 0 w 3912524"/>
              <a:gd name="connsiteY3" fmla="*/ 4139984 h 4139984"/>
            </a:gdLst>
            <a:ahLst/>
            <a:cxnLst>
              <a:cxn ang="0">
                <a:pos x="connsiteX0" y="connsiteY0"/>
              </a:cxn>
              <a:cxn ang="0">
                <a:pos x="connsiteX1" y="connsiteY1"/>
              </a:cxn>
              <a:cxn ang="0">
                <a:pos x="connsiteX2" y="connsiteY2"/>
              </a:cxn>
              <a:cxn ang="0">
                <a:pos x="connsiteX3" y="connsiteY3"/>
              </a:cxn>
            </a:cxnLst>
            <a:rect l="l" t="t" r="r" b="b"/>
            <a:pathLst>
              <a:path w="3912524" h="4139984">
                <a:moveTo>
                  <a:pt x="0" y="0"/>
                </a:moveTo>
                <a:lnTo>
                  <a:pt x="3912524" y="0"/>
                </a:lnTo>
                <a:lnTo>
                  <a:pt x="3912524" y="4139984"/>
                </a:lnTo>
                <a:lnTo>
                  <a:pt x="0" y="4139984"/>
                </a:lnTo>
                <a:close/>
              </a:path>
            </a:pathLst>
          </a:custGeom>
        </p:spPr>
        <p:txBody>
          <a:bodyPr wrap="square">
            <a:noAutofit/>
          </a:bodyPr>
          <a:lstStyle/>
          <a:p>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6511D-2C70-4AC7-97D5-1F14B9776F20}"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F1A20C-7DC5-494D-B520-FA7BD522BECA}" type="slidenum">
              <a:rPr lang="en-US" smtClean="0"/>
              <a:pPr/>
              <a:t>‹#›</a:t>
            </a:fld>
            <a:endParaRPr lang="en-US"/>
          </a:p>
        </p:txBody>
      </p:sp>
    </p:spTree>
    <p:extLst>
      <p:ext uri="{BB962C8B-B14F-4D97-AF65-F5344CB8AC3E}">
        <p14:creationId xmlns:p14="http://schemas.microsoft.com/office/powerpoint/2010/main" val="2860924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16" name="Picture Placeholder 15"/>
          <p:cNvSpPr>
            <a:spLocks noGrp="1"/>
          </p:cNvSpPr>
          <p:nvPr>
            <p:ph type="pic" sz="quarter" idx="13"/>
          </p:nvPr>
        </p:nvSpPr>
        <p:spPr>
          <a:xfrm>
            <a:off x="720451" y="1345064"/>
            <a:ext cx="2468880" cy="2468880"/>
          </a:xfrm>
          <a:custGeom>
            <a:avLst/>
            <a:gdLst>
              <a:gd name="connsiteX0" fmla="*/ 1234440 w 2468880"/>
              <a:gd name="connsiteY0" fmla="*/ 0 h 2468880"/>
              <a:gd name="connsiteX1" fmla="*/ 2468880 w 2468880"/>
              <a:gd name="connsiteY1" fmla="*/ 1234440 h 2468880"/>
              <a:gd name="connsiteX2" fmla="*/ 1234440 w 2468880"/>
              <a:gd name="connsiteY2" fmla="*/ 2468880 h 2468880"/>
              <a:gd name="connsiteX3" fmla="*/ 0 w 2468880"/>
              <a:gd name="connsiteY3" fmla="*/ 1234440 h 2468880"/>
              <a:gd name="connsiteX4" fmla="*/ 1234440 w 2468880"/>
              <a:gd name="connsiteY4" fmla="*/ 0 h 246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8880" h="2468880">
                <a:moveTo>
                  <a:pt x="1234440" y="0"/>
                </a:moveTo>
                <a:cubicBezTo>
                  <a:pt x="1916202" y="0"/>
                  <a:pt x="2468880" y="552678"/>
                  <a:pt x="2468880" y="1234440"/>
                </a:cubicBezTo>
                <a:cubicBezTo>
                  <a:pt x="2468880" y="1916202"/>
                  <a:pt x="1916202" y="2468880"/>
                  <a:pt x="1234440" y="2468880"/>
                </a:cubicBezTo>
                <a:cubicBezTo>
                  <a:pt x="552678" y="2468880"/>
                  <a:pt x="0" y="1916202"/>
                  <a:pt x="0" y="1234440"/>
                </a:cubicBezTo>
                <a:cubicBezTo>
                  <a:pt x="0" y="552678"/>
                  <a:pt x="552678" y="0"/>
                  <a:pt x="1234440" y="0"/>
                </a:cubicBezTo>
                <a:close/>
              </a:path>
            </a:pathLst>
          </a:custGeom>
        </p:spPr>
        <p:txBody>
          <a:bodyPr wrap="square">
            <a:noAutofit/>
          </a:bodyPr>
          <a:lstStyle/>
          <a:p>
            <a:endParaRPr lang="en-IN"/>
          </a:p>
        </p:txBody>
      </p:sp>
      <p:sp>
        <p:nvSpPr>
          <p:cNvPr id="17" name="Picture Placeholder 16"/>
          <p:cNvSpPr>
            <a:spLocks noGrp="1"/>
          </p:cNvSpPr>
          <p:nvPr>
            <p:ph type="pic" sz="quarter" idx="14"/>
          </p:nvPr>
        </p:nvSpPr>
        <p:spPr>
          <a:xfrm>
            <a:off x="3481190" y="1345064"/>
            <a:ext cx="2468880" cy="2468880"/>
          </a:xfrm>
          <a:custGeom>
            <a:avLst/>
            <a:gdLst>
              <a:gd name="connsiteX0" fmla="*/ 1234440 w 2468880"/>
              <a:gd name="connsiteY0" fmla="*/ 0 h 2468880"/>
              <a:gd name="connsiteX1" fmla="*/ 2468880 w 2468880"/>
              <a:gd name="connsiteY1" fmla="*/ 1234440 h 2468880"/>
              <a:gd name="connsiteX2" fmla="*/ 1234440 w 2468880"/>
              <a:gd name="connsiteY2" fmla="*/ 2468880 h 2468880"/>
              <a:gd name="connsiteX3" fmla="*/ 0 w 2468880"/>
              <a:gd name="connsiteY3" fmla="*/ 1234440 h 2468880"/>
              <a:gd name="connsiteX4" fmla="*/ 1234440 w 2468880"/>
              <a:gd name="connsiteY4" fmla="*/ 0 h 246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8880" h="2468880">
                <a:moveTo>
                  <a:pt x="1234440" y="0"/>
                </a:moveTo>
                <a:cubicBezTo>
                  <a:pt x="1916202" y="0"/>
                  <a:pt x="2468880" y="552678"/>
                  <a:pt x="2468880" y="1234440"/>
                </a:cubicBezTo>
                <a:cubicBezTo>
                  <a:pt x="2468880" y="1916202"/>
                  <a:pt x="1916202" y="2468880"/>
                  <a:pt x="1234440" y="2468880"/>
                </a:cubicBezTo>
                <a:cubicBezTo>
                  <a:pt x="552678" y="2468880"/>
                  <a:pt x="0" y="1916202"/>
                  <a:pt x="0" y="1234440"/>
                </a:cubicBezTo>
                <a:cubicBezTo>
                  <a:pt x="0" y="552678"/>
                  <a:pt x="552678" y="0"/>
                  <a:pt x="1234440" y="0"/>
                </a:cubicBezTo>
                <a:close/>
              </a:path>
            </a:pathLst>
          </a:custGeom>
        </p:spPr>
        <p:txBody>
          <a:bodyPr wrap="square">
            <a:noAutofit/>
          </a:bodyPr>
          <a:lstStyle/>
          <a:p>
            <a:endParaRPr lang="en-IN"/>
          </a:p>
        </p:txBody>
      </p:sp>
      <p:sp>
        <p:nvSpPr>
          <p:cNvPr id="19" name="Picture Placeholder 18"/>
          <p:cNvSpPr>
            <a:spLocks noGrp="1"/>
          </p:cNvSpPr>
          <p:nvPr>
            <p:ph type="pic" sz="quarter" idx="15"/>
          </p:nvPr>
        </p:nvSpPr>
        <p:spPr>
          <a:xfrm>
            <a:off x="6241929" y="1345064"/>
            <a:ext cx="2468880" cy="2468880"/>
          </a:xfrm>
          <a:custGeom>
            <a:avLst/>
            <a:gdLst>
              <a:gd name="connsiteX0" fmla="*/ 1234440 w 2468880"/>
              <a:gd name="connsiteY0" fmla="*/ 0 h 2468880"/>
              <a:gd name="connsiteX1" fmla="*/ 2468880 w 2468880"/>
              <a:gd name="connsiteY1" fmla="*/ 1234440 h 2468880"/>
              <a:gd name="connsiteX2" fmla="*/ 1234440 w 2468880"/>
              <a:gd name="connsiteY2" fmla="*/ 2468880 h 2468880"/>
              <a:gd name="connsiteX3" fmla="*/ 0 w 2468880"/>
              <a:gd name="connsiteY3" fmla="*/ 1234440 h 2468880"/>
              <a:gd name="connsiteX4" fmla="*/ 1234440 w 2468880"/>
              <a:gd name="connsiteY4" fmla="*/ 0 h 246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8880" h="2468880">
                <a:moveTo>
                  <a:pt x="1234440" y="0"/>
                </a:moveTo>
                <a:cubicBezTo>
                  <a:pt x="1916202" y="0"/>
                  <a:pt x="2468880" y="552678"/>
                  <a:pt x="2468880" y="1234440"/>
                </a:cubicBezTo>
                <a:cubicBezTo>
                  <a:pt x="2468880" y="1916202"/>
                  <a:pt x="1916202" y="2468880"/>
                  <a:pt x="1234440" y="2468880"/>
                </a:cubicBezTo>
                <a:cubicBezTo>
                  <a:pt x="552678" y="2468880"/>
                  <a:pt x="0" y="1916202"/>
                  <a:pt x="0" y="1234440"/>
                </a:cubicBezTo>
                <a:cubicBezTo>
                  <a:pt x="0" y="552678"/>
                  <a:pt x="552678" y="0"/>
                  <a:pt x="1234440" y="0"/>
                </a:cubicBezTo>
                <a:close/>
              </a:path>
            </a:pathLst>
          </a:custGeom>
        </p:spPr>
        <p:txBody>
          <a:bodyPr wrap="square">
            <a:noAutofit/>
          </a:bodyPr>
          <a:lstStyle/>
          <a:p>
            <a:endParaRPr lang="en-IN"/>
          </a:p>
        </p:txBody>
      </p:sp>
      <p:sp>
        <p:nvSpPr>
          <p:cNvPr id="21" name="Picture Placeholder 20"/>
          <p:cNvSpPr>
            <a:spLocks noGrp="1"/>
          </p:cNvSpPr>
          <p:nvPr>
            <p:ph type="pic" sz="quarter" idx="16"/>
          </p:nvPr>
        </p:nvSpPr>
        <p:spPr>
          <a:xfrm>
            <a:off x="9002669" y="1345064"/>
            <a:ext cx="2468880" cy="2468880"/>
          </a:xfrm>
          <a:custGeom>
            <a:avLst/>
            <a:gdLst>
              <a:gd name="connsiteX0" fmla="*/ 1234440 w 2468880"/>
              <a:gd name="connsiteY0" fmla="*/ 0 h 2468880"/>
              <a:gd name="connsiteX1" fmla="*/ 2468880 w 2468880"/>
              <a:gd name="connsiteY1" fmla="*/ 1234440 h 2468880"/>
              <a:gd name="connsiteX2" fmla="*/ 1234440 w 2468880"/>
              <a:gd name="connsiteY2" fmla="*/ 2468880 h 2468880"/>
              <a:gd name="connsiteX3" fmla="*/ 0 w 2468880"/>
              <a:gd name="connsiteY3" fmla="*/ 1234440 h 2468880"/>
              <a:gd name="connsiteX4" fmla="*/ 1234440 w 2468880"/>
              <a:gd name="connsiteY4" fmla="*/ 0 h 246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8880" h="2468880">
                <a:moveTo>
                  <a:pt x="1234440" y="0"/>
                </a:moveTo>
                <a:cubicBezTo>
                  <a:pt x="1916202" y="0"/>
                  <a:pt x="2468880" y="552678"/>
                  <a:pt x="2468880" y="1234440"/>
                </a:cubicBezTo>
                <a:cubicBezTo>
                  <a:pt x="2468880" y="1916202"/>
                  <a:pt x="1916202" y="2468880"/>
                  <a:pt x="1234440" y="2468880"/>
                </a:cubicBezTo>
                <a:cubicBezTo>
                  <a:pt x="552678" y="2468880"/>
                  <a:pt x="0" y="1916202"/>
                  <a:pt x="0" y="1234440"/>
                </a:cubicBezTo>
                <a:cubicBezTo>
                  <a:pt x="0" y="552678"/>
                  <a:pt x="552678" y="0"/>
                  <a:pt x="1234440" y="0"/>
                </a:cubicBezTo>
                <a:close/>
              </a:path>
            </a:pathLst>
          </a:custGeom>
        </p:spPr>
        <p:txBody>
          <a:bodyPr wrap="square">
            <a:noAutofit/>
          </a:bodyPr>
          <a:lstStyle/>
          <a:p>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6511D-2C70-4AC7-97D5-1F14B9776F20}"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F1A20C-7DC5-494D-B520-FA7BD522BECA}" type="slidenum">
              <a:rPr lang="en-US" smtClean="0"/>
              <a:pPr/>
              <a:t>‹#›</a:t>
            </a:fld>
            <a:endParaRPr lang="en-US"/>
          </a:p>
        </p:txBody>
      </p:sp>
    </p:spTree>
    <p:extLst>
      <p:ext uri="{BB962C8B-B14F-4D97-AF65-F5344CB8AC3E}">
        <p14:creationId xmlns:p14="http://schemas.microsoft.com/office/powerpoint/2010/main" val="122678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7167268" y="1404249"/>
            <a:ext cx="3491772" cy="4049502"/>
          </a:xfrm>
          <a:custGeom>
            <a:avLst/>
            <a:gdLst>
              <a:gd name="connsiteX0" fmla="*/ 0 w 3491772"/>
              <a:gd name="connsiteY0" fmla="*/ 0 h 4049502"/>
              <a:gd name="connsiteX1" fmla="*/ 3491772 w 3491772"/>
              <a:gd name="connsiteY1" fmla="*/ 0 h 4049502"/>
              <a:gd name="connsiteX2" fmla="*/ 3491772 w 3491772"/>
              <a:gd name="connsiteY2" fmla="*/ 1041302 h 4049502"/>
              <a:gd name="connsiteX3" fmla="*/ 3085338 w 3491772"/>
              <a:gd name="connsiteY3" fmla="*/ 1041302 h 4049502"/>
              <a:gd name="connsiteX4" fmla="*/ 2996339 w 3491772"/>
              <a:gd name="connsiteY4" fmla="*/ 744633 h 4049502"/>
              <a:gd name="connsiteX5" fmla="*/ 2923656 w 3491772"/>
              <a:gd name="connsiteY5" fmla="*/ 582951 h 4049502"/>
              <a:gd name="connsiteX6" fmla="*/ 2839105 w 3491772"/>
              <a:gd name="connsiteY6" fmla="*/ 471701 h 4049502"/>
              <a:gd name="connsiteX7" fmla="*/ 2744172 w 3491772"/>
              <a:gd name="connsiteY7" fmla="*/ 400500 h 4049502"/>
              <a:gd name="connsiteX8" fmla="*/ 2618088 w 3491772"/>
              <a:gd name="connsiteY8" fmla="*/ 360451 h 4049502"/>
              <a:gd name="connsiteX9" fmla="*/ 2420804 w 3491772"/>
              <a:gd name="connsiteY9" fmla="*/ 347102 h 4049502"/>
              <a:gd name="connsiteX10" fmla="*/ 2207203 w 3491772"/>
              <a:gd name="connsiteY10" fmla="*/ 347102 h 4049502"/>
              <a:gd name="connsiteX11" fmla="*/ 2207203 w 3491772"/>
              <a:gd name="connsiteY11" fmla="*/ 3304869 h 4049502"/>
              <a:gd name="connsiteX12" fmla="*/ 2216104 w 3491772"/>
              <a:gd name="connsiteY12" fmla="*/ 3543686 h 4049502"/>
              <a:gd name="connsiteX13" fmla="*/ 2248737 w 3491772"/>
              <a:gd name="connsiteY13" fmla="*/ 3675702 h 4049502"/>
              <a:gd name="connsiteX14" fmla="*/ 2306586 w 3491772"/>
              <a:gd name="connsiteY14" fmla="*/ 3757287 h 4049502"/>
              <a:gd name="connsiteX15" fmla="*/ 2401521 w 3491772"/>
              <a:gd name="connsiteY15" fmla="*/ 3813653 h 4049502"/>
              <a:gd name="connsiteX16" fmla="*/ 2566172 w 3491772"/>
              <a:gd name="connsiteY16" fmla="*/ 3853702 h 4049502"/>
              <a:gd name="connsiteX17" fmla="*/ 2566172 w 3491772"/>
              <a:gd name="connsiteY17" fmla="*/ 4049502 h 4049502"/>
              <a:gd name="connsiteX18" fmla="*/ 928568 w 3491772"/>
              <a:gd name="connsiteY18" fmla="*/ 4049502 h 4049502"/>
              <a:gd name="connsiteX19" fmla="*/ 928568 w 3491772"/>
              <a:gd name="connsiteY19" fmla="*/ 3853702 h 4049502"/>
              <a:gd name="connsiteX20" fmla="*/ 1125852 w 3491772"/>
              <a:gd name="connsiteY20" fmla="*/ 3798818 h 4049502"/>
              <a:gd name="connsiteX21" fmla="*/ 1234136 w 3491772"/>
              <a:gd name="connsiteY21" fmla="*/ 3702403 h 4049502"/>
              <a:gd name="connsiteX22" fmla="*/ 1278635 w 3491772"/>
              <a:gd name="connsiteY22" fmla="*/ 3543686 h 4049502"/>
              <a:gd name="connsiteX23" fmla="*/ 1287534 w 3491772"/>
              <a:gd name="connsiteY23" fmla="*/ 3304869 h 4049502"/>
              <a:gd name="connsiteX24" fmla="*/ 1287534 w 3491772"/>
              <a:gd name="connsiteY24" fmla="*/ 347102 h 4049502"/>
              <a:gd name="connsiteX25" fmla="*/ 1047234 w 3491772"/>
              <a:gd name="connsiteY25" fmla="*/ 347102 h 4049502"/>
              <a:gd name="connsiteX26" fmla="*/ 774302 w 3491772"/>
              <a:gd name="connsiteY26" fmla="*/ 388633 h 4049502"/>
              <a:gd name="connsiteX27" fmla="*/ 609651 w 3491772"/>
              <a:gd name="connsiteY27" fmla="*/ 519168 h 4049502"/>
              <a:gd name="connsiteX28" fmla="*/ 489502 w 3491772"/>
              <a:gd name="connsiteY28" fmla="*/ 757983 h 4049502"/>
              <a:gd name="connsiteX29" fmla="*/ 406434 w 3491772"/>
              <a:gd name="connsiteY29" fmla="*/ 1041302 h 4049502"/>
              <a:gd name="connsiteX30" fmla="*/ 0 w 3491772"/>
              <a:gd name="connsiteY30" fmla="*/ 1041302 h 4049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491772" h="4049502">
                <a:moveTo>
                  <a:pt x="0" y="0"/>
                </a:moveTo>
                <a:lnTo>
                  <a:pt x="3491772" y="0"/>
                </a:lnTo>
                <a:lnTo>
                  <a:pt x="3491772" y="1041302"/>
                </a:lnTo>
                <a:lnTo>
                  <a:pt x="3085338" y="1041302"/>
                </a:lnTo>
                <a:cubicBezTo>
                  <a:pt x="3047762" y="906812"/>
                  <a:pt x="3018094" y="807922"/>
                  <a:pt x="2996339" y="744633"/>
                </a:cubicBezTo>
                <a:cubicBezTo>
                  <a:pt x="2974582" y="681344"/>
                  <a:pt x="2950355" y="627450"/>
                  <a:pt x="2923656" y="582951"/>
                </a:cubicBezTo>
                <a:cubicBezTo>
                  <a:pt x="2896954" y="538451"/>
                  <a:pt x="2868772" y="501368"/>
                  <a:pt x="2839105" y="471701"/>
                </a:cubicBezTo>
                <a:cubicBezTo>
                  <a:pt x="2809438" y="442034"/>
                  <a:pt x="2777794" y="418300"/>
                  <a:pt x="2744172" y="400500"/>
                </a:cubicBezTo>
                <a:cubicBezTo>
                  <a:pt x="2710548" y="382700"/>
                  <a:pt x="2668520" y="369350"/>
                  <a:pt x="2618088" y="360451"/>
                </a:cubicBezTo>
                <a:cubicBezTo>
                  <a:pt x="2567655" y="351550"/>
                  <a:pt x="2501894" y="347102"/>
                  <a:pt x="2420804" y="347102"/>
                </a:cubicBezTo>
                <a:lnTo>
                  <a:pt x="2207203" y="347102"/>
                </a:lnTo>
                <a:lnTo>
                  <a:pt x="2207203" y="3304869"/>
                </a:lnTo>
                <a:cubicBezTo>
                  <a:pt x="2207203" y="3409692"/>
                  <a:pt x="2210171" y="3489296"/>
                  <a:pt x="2216104" y="3543686"/>
                </a:cubicBezTo>
                <a:cubicBezTo>
                  <a:pt x="2222036" y="3598074"/>
                  <a:pt x="2232916" y="3642080"/>
                  <a:pt x="2248737" y="3675702"/>
                </a:cubicBezTo>
                <a:cubicBezTo>
                  <a:pt x="2264559" y="3709323"/>
                  <a:pt x="2283842" y="3736518"/>
                  <a:pt x="2306586" y="3757287"/>
                </a:cubicBezTo>
                <a:cubicBezTo>
                  <a:pt x="2329331" y="3778052"/>
                  <a:pt x="2360976" y="3796842"/>
                  <a:pt x="2401521" y="3813653"/>
                </a:cubicBezTo>
                <a:cubicBezTo>
                  <a:pt x="2442066" y="3830464"/>
                  <a:pt x="2496950" y="3843813"/>
                  <a:pt x="2566172" y="3853702"/>
                </a:cubicBezTo>
                <a:lnTo>
                  <a:pt x="2566172" y="4049502"/>
                </a:lnTo>
                <a:lnTo>
                  <a:pt x="928568" y="4049502"/>
                </a:lnTo>
                <a:lnTo>
                  <a:pt x="928568" y="3853702"/>
                </a:lnTo>
                <a:cubicBezTo>
                  <a:pt x="1011636" y="3839859"/>
                  <a:pt x="1077397" y="3821563"/>
                  <a:pt x="1125852" y="3798818"/>
                </a:cubicBezTo>
                <a:cubicBezTo>
                  <a:pt x="1174308" y="3776074"/>
                  <a:pt x="1210402" y="3743935"/>
                  <a:pt x="1234136" y="3702403"/>
                </a:cubicBezTo>
                <a:cubicBezTo>
                  <a:pt x="1257870" y="3660869"/>
                  <a:pt x="1272702" y="3607964"/>
                  <a:pt x="1278635" y="3543686"/>
                </a:cubicBezTo>
                <a:cubicBezTo>
                  <a:pt x="1284569" y="3479408"/>
                  <a:pt x="1287534" y="3399801"/>
                  <a:pt x="1287534" y="3304869"/>
                </a:cubicBezTo>
                <a:lnTo>
                  <a:pt x="1287534" y="347102"/>
                </a:lnTo>
                <a:lnTo>
                  <a:pt x="1047234" y="347102"/>
                </a:lnTo>
                <a:cubicBezTo>
                  <a:pt x="928568" y="347102"/>
                  <a:pt x="837591" y="360945"/>
                  <a:pt x="774302" y="388633"/>
                </a:cubicBezTo>
                <a:cubicBezTo>
                  <a:pt x="711012" y="416322"/>
                  <a:pt x="656129" y="459834"/>
                  <a:pt x="609651" y="519168"/>
                </a:cubicBezTo>
                <a:cubicBezTo>
                  <a:pt x="563173" y="578500"/>
                  <a:pt x="523124" y="658107"/>
                  <a:pt x="489502" y="757983"/>
                </a:cubicBezTo>
                <a:cubicBezTo>
                  <a:pt x="455878" y="857862"/>
                  <a:pt x="428189" y="952301"/>
                  <a:pt x="406434" y="1041302"/>
                </a:cubicBezTo>
                <a:lnTo>
                  <a:pt x="0" y="1041302"/>
                </a:lnTo>
                <a:close/>
              </a:path>
            </a:pathLst>
          </a:custGeom>
        </p:spPr>
        <p:txBody>
          <a:bodyPr wrap="square">
            <a:noAutofit/>
          </a:bodyPr>
          <a:lstStyle/>
          <a:p>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6511D-2C70-4AC7-97D5-1F14B9776F20}"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F1A20C-7DC5-494D-B520-FA7BD522BECA}" type="slidenum">
              <a:rPr lang="en-US" smtClean="0"/>
              <a:pPr/>
              <a:t>‹#›</a:t>
            </a:fld>
            <a:endParaRPr lang="en-US"/>
          </a:p>
        </p:txBody>
      </p:sp>
    </p:spTree>
    <p:extLst>
      <p:ext uri="{BB962C8B-B14F-4D97-AF65-F5344CB8AC3E}">
        <p14:creationId xmlns:p14="http://schemas.microsoft.com/office/powerpoint/2010/main" val="348458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7167268" y="1387599"/>
            <a:ext cx="3542134" cy="4082802"/>
          </a:xfrm>
          <a:custGeom>
            <a:avLst/>
            <a:gdLst>
              <a:gd name="connsiteX0" fmla="*/ 1765222 w 3542134"/>
              <a:gd name="connsiteY0" fmla="*/ 341940 h 4082802"/>
              <a:gd name="connsiteX1" fmla="*/ 1135412 w 3542134"/>
              <a:gd name="connsiteY1" fmla="*/ 746713 h 4082802"/>
              <a:gd name="connsiteX2" fmla="*/ 929373 w 3542134"/>
              <a:gd name="connsiteY2" fmla="*/ 1996102 h 4082802"/>
              <a:gd name="connsiteX3" fmla="*/ 1141258 w 3542134"/>
              <a:gd name="connsiteY3" fmla="*/ 3309787 h 4082802"/>
              <a:gd name="connsiteX4" fmla="*/ 1788602 w 3542134"/>
              <a:gd name="connsiteY4" fmla="*/ 3740863 h 4082802"/>
              <a:gd name="connsiteX5" fmla="*/ 2171456 w 3542134"/>
              <a:gd name="connsiteY5" fmla="*/ 3619577 h 4082802"/>
              <a:gd name="connsiteX6" fmla="*/ 2427179 w 3542134"/>
              <a:gd name="connsiteY6" fmla="*/ 3280561 h 4082802"/>
              <a:gd name="connsiteX7" fmla="*/ 2567463 w 3542134"/>
              <a:gd name="connsiteY7" fmla="*/ 2764732 h 4082802"/>
              <a:gd name="connsiteX8" fmla="*/ 2609840 w 3542134"/>
              <a:gd name="connsiteY8" fmla="*/ 2110081 h 4082802"/>
              <a:gd name="connsiteX9" fmla="*/ 2517778 w 3542134"/>
              <a:gd name="connsiteY9" fmla="*/ 1135411 h 4082802"/>
              <a:gd name="connsiteX10" fmla="*/ 2240138 w 3542134"/>
              <a:gd name="connsiteY10" fmla="*/ 542134 h 4082802"/>
              <a:gd name="connsiteX11" fmla="*/ 1765222 w 3542134"/>
              <a:gd name="connsiteY11" fmla="*/ 341940 h 4082802"/>
              <a:gd name="connsiteX12" fmla="*/ 1791524 w 3542134"/>
              <a:gd name="connsiteY12" fmla="*/ 0 h 4082802"/>
              <a:gd name="connsiteX13" fmla="*/ 3103750 w 3542134"/>
              <a:gd name="connsiteY13" fmla="*/ 501218 h 4082802"/>
              <a:gd name="connsiteX14" fmla="*/ 3542134 w 3542134"/>
              <a:gd name="connsiteY14" fmla="*/ 1990256 h 4082802"/>
              <a:gd name="connsiteX15" fmla="*/ 3412079 w 3542134"/>
              <a:gd name="connsiteY15" fmla="*/ 2938624 h 4082802"/>
              <a:gd name="connsiteX16" fmla="*/ 3042377 w 3542134"/>
              <a:gd name="connsiteY16" fmla="*/ 3588890 h 4082802"/>
              <a:gd name="connsiteX17" fmla="*/ 2468095 w 3542134"/>
              <a:gd name="connsiteY17" fmla="*/ 3962977 h 4082802"/>
              <a:gd name="connsiteX18" fmla="*/ 1721384 w 3542134"/>
              <a:gd name="connsiteY18" fmla="*/ 4082802 h 4082802"/>
              <a:gd name="connsiteX19" fmla="*/ 431078 w 3542134"/>
              <a:gd name="connsiteY19" fmla="*/ 3580124 h 4082802"/>
              <a:gd name="connsiteX20" fmla="*/ 0 w 3542134"/>
              <a:gd name="connsiteY20" fmla="*/ 2075010 h 4082802"/>
              <a:gd name="connsiteX21" fmla="*/ 208964 w 3542134"/>
              <a:gd name="connsiteY21" fmla="*/ 951292 h 4082802"/>
              <a:gd name="connsiteX22" fmla="*/ 824162 w 3542134"/>
              <a:gd name="connsiteY22" fmla="*/ 242571 h 4082802"/>
              <a:gd name="connsiteX23" fmla="*/ 1791524 w 3542134"/>
              <a:gd name="connsiteY23" fmla="*/ 0 h 4082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42134" h="4082802">
                <a:moveTo>
                  <a:pt x="1765222" y="341940"/>
                </a:moveTo>
                <a:cubicBezTo>
                  <a:pt x="1482708" y="341940"/>
                  <a:pt x="1272773" y="476862"/>
                  <a:pt x="1135412" y="746713"/>
                </a:cubicBezTo>
                <a:cubicBezTo>
                  <a:pt x="998052" y="1016561"/>
                  <a:pt x="929373" y="1433025"/>
                  <a:pt x="929373" y="1996102"/>
                </a:cubicBezTo>
                <a:cubicBezTo>
                  <a:pt x="929373" y="2584508"/>
                  <a:pt x="1000001" y="3022404"/>
                  <a:pt x="1141258" y="3309787"/>
                </a:cubicBezTo>
                <a:cubicBezTo>
                  <a:pt x="1282514" y="3597171"/>
                  <a:pt x="1498295" y="3740863"/>
                  <a:pt x="1788602" y="3740863"/>
                </a:cubicBezTo>
                <a:cubicBezTo>
                  <a:pt x="1938626" y="3740863"/>
                  <a:pt x="2066245" y="3700435"/>
                  <a:pt x="2171456" y="3619577"/>
                </a:cubicBezTo>
                <a:cubicBezTo>
                  <a:pt x="2276670" y="3538721"/>
                  <a:pt x="2361910" y="3425716"/>
                  <a:pt x="2427179" y="3280561"/>
                </a:cubicBezTo>
                <a:cubicBezTo>
                  <a:pt x="2492450" y="3135409"/>
                  <a:pt x="2539212" y="2963466"/>
                  <a:pt x="2567463" y="2764732"/>
                </a:cubicBezTo>
                <a:cubicBezTo>
                  <a:pt x="2595714" y="2565998"/>
                  <a:pt x="2609840" y="2347782"/>
                  <a:pt x="2609840" y="2110081"/>
                </a:cubicBezTo>
                <a:cubicBezTo>
                  <a:pt x="2609840" y="1722358"/>
                  <a:pt x="2579154" y="1397468"/>
                  <a:pt x="2517778" y="1135411"/>
                </a:cubicBezTo>
                <a:cubicBezTo>
                  <a:pt x="2456405" y="873355"/>
                  <a:pt x="2363859" y="675596"/>
                  <a:pt x="2240138" y="542134"/>
                </a:cubicBezTo>
                <a:cubicBezTo>
                  <a:pt x="2116414" y="408672"/>
                  <a:pt x="1958110" y="341940"/>
                  <a:pt x="1765222" y="341940"/>
                </a:cubicBezTo>
                <a:close/>
                <a:moveTo>
                  <a:pt x="1791524" y="0"/>
                </a:moveTo>
                <a:cubicBezTo>
                  <a:pt x="2374086" y="0"/>
                  <a:pt x="2811496" y="167073"/>
                  <a:pt x="3103750" y="501218"/>
                </a:cubicBezTo>
                <a:cubicBezTo>
                  <a:pt x="3396007" y="835363"/>
                  <a:pt x="3542134" y="1331710"/>
                  <a:pt x="3542134" y="1990256"/>
                </a:cubicBezTo>
                <a:cubicBezTo>
                  <a:pt x="3542134" y="2358498"/>
                  <a:pt x="3498782" y="2674621"/>
                  <a:pt x="3412079" y="2938624"/>
                </a:cubicBezTo>
                <a:cubicBezTo>
                  <a:pt x="3325378" y="3202627"/>
                  <a:pt x="3202144" y="3419383"/>
                  <a:pt x="3042377" y="3588890"/>
                </a:cubicBezTo>
                <a:cubicBezTo>
                  <a:pt x="2882610" y="3758398"/>
                  <a:pt x="2691184" y="3883094"/>
                  <a:pt x="2468095" y="3962977"/>
                </a:cubicBezTo>
                <a:cubicBezTo>
                  <a:pt x="2245008" y="4042860"/>
                  <a:pt x="1996103" y="4082802"/>
                  <a:pt x="1721384" y="4082802"/>
                </a:cubicBezTo>
                <a:cubicBezTo>
                  <a:pt x="1148563" y="4082802"/>
                  <a:pt x="718462" y="3915241"/>
                  <a:pt x="431078" y="3580124"/>
                </a:cubicBezTo>
                <a:cubicBezTo>
                  <a:pt x="143695" y="3245004"/>
                  <a:pt x="0" y="2743300"/>
                  <a:pt x="0" y="2075010"/>
                </a:cubicBezTo>
                <a:cubicBezTo>
                  <a:pt x="0" y="1636629"/>
                  <a:pt x="69656" y="1262056"/>
                  <a:pt x="208964" y="951292"/>
                </a:cubicBezTo>
                <a:cubicBezTo>
                  <a:pt x="348271" y="640525"/>
                  <a:pt x="553339" y="404287"/>
                  <a:pt x="824162" y="242571"/>
                </a:cubicBezTo>
                <a:cubicBezTo>
                  <a:pt x="1094985" y="80858"/>
                  <a:pt x="1417439" y="0"/>
                  <a:pt x="1791524" y="0"/>
                </a:cubicBezTo>
                <a:close/>
              </a:path>
            </a:pathLst>
          </a:custGeom>
        </p:spPr>
        <p:txBody>
          <a:bodyPr wrap="square">
            <a:noAutofit/>
          </a:bodyPr>
          <a:lstStyle/>
          <a:p>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6511D-2C70-4AC7-97D5-1F14B9776F20}"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F1A20C-7DC5-494D-B520-FA7BD522BECA}" type="slidenum">
              <a:rPr lang="en-US" smtClean="0"/>
              <a:pPr/>
              <a:t>‹#›</a:t>
            </a:fld>
            <a:endParaRPr lang="en-US"/>
          </a:p>
        </p:txBody>
      </p:sp>
    </p:spTree>
    <p:extLst>
      <p:ext uri="{BB962C8B-B14F-4D97-AF65-F5344CB8AC3E}">
        <p14:creationId xmlns:p14="http://schemas.microsoft.com/office/powerpoint/2010/main" val="2085497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6132883" y="1450039"/>
            <a:ext cx="5610904" cy="3957922"/>
          </a:xfrm>
          <a:custGeom>
            <a:avLst/>
            <a:gdLst>
              <a:gd name="connsiteX0" fmla="*/ 0 w 5610904"/>
              <a:gd name="connsiteY0" fmla="*/ 0 h 3957922"/>
              <a:gd name="connsiteX1" fmla="*/ 1552014 w 5610904"/>
              <a:gd name="connsiteY1" fmla="*/ 0 h 3957922"/>
              <a:gd name="connsiteX2" fmla="*/ 1552014 w 5610904"/>
              <a:gd name="connsiteY2" fmla="*/ 190396 h 3957922"/>
              <a:gd name="connsiteX3" fmla="*/ 1329886 w 5610904"/>
              <a:gd name="connsiteY3" fmla="*/ 274055 h 3957922"/>
              <a:gd name="connsiteX4" fmla="*/ 1257767 w 5610904"/>
              <a:gd name="connsiteY4" fmla="*/ 461565 h 3957922"/>
              <a:gd name="connsiteX5" fmla="*/ 1341426 w 5610904"/>
              <a:gd name="connsiteY5" fmla="*/ 937555 h 3957922"/>
              <a:gd name="connsiteX6" fmla="*/ 1840492 w 5610904"/>
              <a:gd name="connsiteY6" fmla="*/ 2942481 h 3957922"/>
              <a:gd name="connsiteX7" fmla="*/ 2668426 w 5610904"/>
              <a:gd name="connsiteY7" fmla="*/ 0 h 3957922"/>
              <a:gd name="connsiteX8" fmla="*/ 3320387 w 5610904"/>
              <a:gd name="connsiteY8" fmla="*/ 0 h 3957922"/>
              <a:gd name="connsiteX9" fmla="*/ 3995426 w 5610904"/>
              <a:gd name="connsiteY9" fmla="*/ 2942481 h 3957922"/>
              <a:gd name="connsiteX10" fmla="*/ 4604115 w 5610904"/>
              <a:gd name="connsiteY10" fmla="*/ 989482 h 3957922"/>
              <a:gd name="connsiteX11" fmla="*/ 4673351 w 5610904"/>
              <a:gd name="connsiteY11" fmla="*/ 722639 h 3957922"/>
              <a:gd name="connsiteX12" fmla="*/ 4702197 w 5610904"/>
              <a:gd name="connsiteY12" fmla="*/ 493299 h 3957922"/>
              <a:gd name="connsiteX13" fmla="*/ 4628636 w 5610904"/>
              <a:gd name="connsiteY13" fmla="*/ 272613 h 3957922"/>
              <a:gd name="connsiteX14" fmla="*/ 4407950 w 5610904"/>
              <a:gd name="connsiteY14" fmla="*/ 190396 h 3957922"/>
              <a:gd name="connsiteX15" fmla="*/ 4407950 w 5610904"/>
              <a:gd name="connsiteY15" fmla="*/ 0 h 3957922"/>
              <a:gd name="connsiteX16" fmla="*/ 5610904 w 5610904"/>
              <a:gd name="connsiteY16" fmla="*/ 0 h 3957922"/>
              <a:gd name="connsiteX17" fmla="*/ 5610904 w 5610904"/>
              <a:gd name="connsiteY17" fmla="*/ 190396 h 3957922"/>
              <a:gd name="connsiteX18" fmla="*/ 5432049 w 5610904"/>
              <a:gd name="connsiteY18" fmla="*/ 272613 h 3957922"/>
              <a:gd name="connsiteX19" fmla="*/ 5302233 w 5610904"/>
              <a:gd name="connsiteY19" fmla="*/ 438486 h 3957922"/>
              <a:gd name="connsiteX20" fmla="*/ 5157995 w 5610904"/>
              <a:gd name="connsiteY20" fmla="*/ 796200 h 3957922"/>
              <a:gd name="connsiteX21" fmla="*/ 4076201 w 5610904"/>
              <a:gd name="connsiteY21" fmla="*/ 3957922 h 3957922"/>
              <a:gd name="connsiteX22" fmla="*/ 3389623 w 5610904"/>
              <a:gd name="connsiteY22" fmla="*/ 3957922 h 3957922"/>
              <a:gd name="connsiteX23" fmla="*/ 2737661 w 5610904"/>
              <a:gd name="connsiteY23" fmla="*/ 1249111 h 3957922"/>
              <a:gd name="connsiteX24" fmla="*/ 1964538 w 5610904"/>
              <a:gd name="connsiteY24" fmla="*/ 3957922 h 3957922"/>
              <a:gd name="connsiteX25" fmla="*/ 1243342 w 5610904"/>
              <a:gd name="connsiteY25" fmla="*/ 3957922 h 3957922"/>
              <a:gd name="connsiteX26" fmla="*/ 375023 w 5610904"/>
              <a:gd name="connsiteY26" fmla="*/ 726966 h 3957922"/>
              <a:gd name="connsiteX27" fmla="*/ 262516 w 5610904"/>
              <a:gd name="connsiteY27" fmla="*/ 398101 h 3957922"/>
              <a:gd name="connsiteX28" fmla="*/ 152895 w 5610904"/>
              <a:gd name="connsiteY28" fmla="*/ 259630 h 3957922"/>
              <a:gd name="connsiteX29" fmla="*/ 0 w 5610904"/>
              <a:gd name="connsiteY29" fmla="*/ 190396 h 395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10904" h="3957922">
                <a:moveTo>
                  <a:pt x="0" y="0"/>
                </a:moveTo>
                <a:lnTo>
                  <a:pt x="1552014" y="0"/>
                </a:lnTo>
                <a:lnTo>
                  <a:pt x="1552014" y="190396"/>
                </a:lnTo>
                <a:cubicBezTo>
                  <a:pt x="1452009" y="201935"/>
                  <a:pt x="1377965" y="229822"/>
                  <a:pt x="1329886" y="274055"/>
                </a:cubicBezTo>
                <a:cubicBezTo>
                  <a:pt x="1281805" y="318288"/>
                  <a:pt x="1257767" y="380792"/>
                  <a:pt x="1257767" y="461565"/>
                </a:cubicBezTo>
                <a:cubicBezTo>
                  <a:pt x="1257767" y="563495"/>
                  <a:pt x="1285653" y="722159"/>
                  <a:pt x="1341426" y="937555"/>
                </a:cubicBezTo>
                <a:lnTo>
                  <a:pt x="1840492" y="2942481"/>
                </a:lnTo>
                <a:lnTo>
                  <a:pt x="2668426" y="0"/>
                </a:lnTo>
                <a:lnTo>
                  <a:pt x="3320387" y="0"/>
                </a:lnTo>
                <a:lnTo>
                  <a:pt x="3995426" y="2942481"/>
                </a:lnTo>
                <a:lnTo>
                  <a:pt x="4604115" y="989482"/>
                </a:lnTo>
                <a:cubicBezTo>
                  <a:pt x="4631040" y="901015"/>
                  <a:pt x="4654119" y="812067"/>
                  <a:pt x="4673351" y="722639"/>
                </a:cubicBezTo>
                <a:cubicBezTo>
                  <a:pt x="4692582" y="633210"/>
                  <a:pt x="4702197" y="556763"/>
                  <a:pt x="4702197" y="493299"/>
                </a:cubicBezTo>
                <a:cubicBezTo>
                  <a:pt x="4702197" y="393293"/>
                  <a:pt x="4677677" y="319730"/>
                  <a:pt x="4628636" y="272613"/>
                </a:cubicBezTo>
                <a:cubicBezTo>
                  <a:pt x="4579595" y="225494"/>
                  <a:pt x="4506034" y="198087"/>
                  <a:pt x="4407950" y="190396"/>
                </a:cubicBezTo>
                <a:lnTo>
                  <a:pt x="4407950" y="0"/>
                </a:lnTo>
                <a:lnTo>
                  <a:pt x="5610904" y="0"/>
                </a:lnTo>
                <a:lnTo>
                  <a:pt x="5610904" y="190396"/>
                </a:lnTo>
                <a:cubicBezTo>
                  <a:pt x="5539747" y="205781"/>
                  <a:pt x="5480129" y="233187"/>
                  <a:pt x="5432049" y="272613"/>
                </a:cubicBezTo>
                <a:cubicBezTo>
                  <a:pt x="5383969" y="312039"/>
                  <a:pt x="5340697" y="367329"/>
                  <a:pt x="5302233" y="438486"/>
                </a:cubicBezTo>
                <a:cubicBezTo>
                  <a:pt x="5263770" y="509646"/>
                  <a:pt x="5215689" y="628882"/>
                  <a:pt x="5157995" y="796200"/>
                </a:cubicBezTo>
                <a:lnTo>
                  <a:pt x="4076201" y="3957922"/>
                </a:lnTo>
                <a:lnTo>
                  <a:pt x="3389623" y="3957922"/>
                </a:lnTo>
                <a:lnTo>
                  <a:pt x="2737661" y="1249111"/>
                </a:lnTo>
                <a:lnTo>
                  <a:pt x="1964538" y="3957922"/>
                </a:lnTo>
                <a:lnTo>
                  <a:pt x="1243342" y="3957922"/>
                </a:lnTo>
                <a:lnTo>
                  <a:pt x="375023" y="726966"/>
                </a:lnTo>
                <a:cubicBezTo>
                  <a:pt x="332713" y="569264"/>
                  <a:pt x="295210" y="459643"/>
                  <a:pt x="262516" y="398101"/>
                </a:cubicBezTo>
                <a:cubicBezTo>
                  <a:pt x="229822" y="336559"/>
                  <a:pt x="193282" y="290402"/>
                  <a:pt x="152895" y="259630"/>
                </a:cubicBezTo>
                <a:cubicBezTo>
                  <a:pt x="112507" y="228860"/>
                  <a:pt x="61542" y="205781"/>
                  <a:pt x="0" y="190396"/>
                </a:cubicBezTo>
                <a:close/>
              </a:path>
            </a:pathLst>
          </a:custGeom>
        </p:spPr>
        <p:txBody>
          <a:bodyPr wrap="square">
            <a:noAutofit/>
          </a:bodyPr>
          <a:lstStyle/>
          <a:p>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6511D-2C70-4AC7-97D5-1F14B9776F20}"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F1A20C-7DC5-494D-B520-FA7BD522BECA}" type="slidenum">
              <a:rPr lang="en-US" smtClean="0"/>
              <a:pPr/>
              <a:t>‹#›</a:t>
            </a:fld>
            <a:endParaRPr lang="en-US"/>
          </a:p>
        </p:txBody>
      </p:sp>
    </p:spTree>
    <p:extLst>
      <p:ext uri="{BB962C8B-B14F-4D97-AF65-F5344CB8AC3E}">
        <p14:creationId xmlns:p14="http://schemas.microsoft.com/office/powerpoint/2010/main" val="932754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Picture Placeholder 8"/>
          <p:cNvSpPr>
            <a:spLocks noGrp="1"/>
          </p:cNvSpPr>
          <p:nvPr>
            <p:ph type="pic" sz="quarter" idx="13"/>
          </p:nvPr>
        </p:nvSpPr>
        <p:spPr>
          <a:xfrm>
            <a:off x="7727390" y="1227877"/>
            <a:ext cx="3340378" cy="4402246"/>
          </a:xfrm>
          <a:custGeom>
            <a:avLst/>
            <a:gdLst>
              <a:gd name="connsiteX0" fmla="*/ 1900190 w 3340378"/>
              <a:gd name="connsiteY0" fmla="*/ 0 h 4402246"/>
              <a:gd name="connsiteX1" fmla="*/ 2514957 w 3340378"/>
              <a:gd name="connsiteY1" fmla="*/ 25795 h 4402246"/>
              <a:gd name="connsiteX2" fmla="*/ 3293089 w 3340378"/>
              <a:gd name="connsiteY2" fmla="*/ 137571 h 4402246"/>
              <a:gd name="connsiteX3" fmla="*/ 3293089 w 3340378"/>
              <a:gd name="connsiteY3" fmla="*/ 1139253 h 4402246"/>
              <a:gd name="connsiteX4" fmla="*/ 2725611 w 3340378"/>
              <a:gd name="connsiteY4" fmla="*/ 1139253 h 4402246"/>
              <a:gd name="connsiteX5" fmla="*/ 2508508 w 3340378"/>
              <a:gd name="connsiteY5" fmla="*/ 713646 h 4402246"/>
              <a:gd name="connsiteX6" fmla="*/ 2248415 w 3340378"/>
              <a:gd name="connsiteY6" fmla="*/ 505140 h 4402246"/>
              <a:gd name="connsiteX7" fmla="*/ 1908787 w 3340378"/>
              <a:gd name="connsiteY7" fmla="*/ 447103 h 4402246"/>
              <a:gd name="connsiteX8" fmla="*/ 1457385 w 3340378"/>
              <a:gd name="connsiteY8" fmla="*/ 576075 h 4402246"/>
              <a:gd name="connsiteX9" fmla="*/ 1289721 w 3340378"/>
              <a:gd name="connsiteY9" fmla="*/ 937198 h 4402246"/>
              <a:gd name="connsiteX10" fmla="*/ 1349908 w 3340378"/>
              <a:gd name="connsiteY10" fmla="*/ 1216637 h 4402246"/>
              <a:gd name="connsiteX11" fmla="*/ 1564862 w 3340378"/>
              <a:gd name="connsiteY11" fmla="*/ 1442338 h 4402246"/>
              <a:gd name="connsiteX12" fmla="*/ 2162433 w 3340378"/>
              <a:gd name="connsiteY12" fmla="*/ 1736824 h 4402246"/>
              <a:gd name="connsiteX13" fmla="*/ 2820190 w 3340378"/>
              <a:gd name="connsiteY13" fmla="*/ 2087197 h 4402246"/>
              <a:gd name="connsiteX14" fmla="*/ 3207107 w 3340378"/>
              <a:gd name="connsiteY14" fmla="*/ 2508506 h 4402246"/>
              <a:gd name="connsiteX15" fmla="*/ 3340378 w 3340378"/>
              <a:gd name="connsiteY15" fmla="*/ 3065236 h 4402246"/>
              <a:gd name="connsiteX16" fmla="*/ 3211406 w 3340378"/>
              <a:gd name="connsiteY16" fmla="*/ 3664955 h 4402246"/>
              <a:gd name="connsiteX17" fmla="*/ 2850284 w 3340378"/>
              <a:gd name="connsiteY17" fmla="*/ 4079816 h 4402246"/>
              <a:gd name="connsiteX18" fmla="*/ 2293554 w 3340378"/>
              <a:gd name="connsiteY18" fmla="*/ 4322714 h 4402246"/>
              <a:gd name="connsiteX19" fmla="*/ 1577760 w 3340378"/>
              <a:gd name="connsiteY19" fmla="*/ 4402246 h 4402246"/>
              <a:gd name="connsiteX20" fmla="*/ 0 w 3340378"/>
              <a:gd name="connsiteY20" fmla="*/ 4200190 h 4402246"/>
              <a:gd name="connsiteX21" fmla="*/ 0 w 3340378"/>
              <a:gd name="connsiteY21" fmla="*/ 3172713 h 4402246"/>
              <a:gd name="connsiteX22" fmla="*/ 576076 w 3340378"/>
              <a:gd name="connsiteY22" fmla="*/ 3172713 h 4402246"/>
              <a:gd name="connsiteX23" fmla="*/ 902804 w 3340378"/>
              <a:gd name="connsiteY23" fmla="*/ 3759535 h 4402246"/>
              <a:gd name="connsiteX24" fmla="*/ 1500376 w 3340378"/>
              <a:gd name="connsiteY24" fmla="*/ 3955143 h 4402246"/>
              <a:gd name="connsiteX25" fmla="*/ 1988321 w 3340378"/>
              <a:gd name="connsiteY25" fmla="*/ 3808975 h 4402246"/>
              <a:gd name="connsiteX26" fmla="*/ 2153835 w 3340378"/>
              <a:gd name="connsiteY26" fmla="*/ 3383367 h 4402246"/>
              <a:gd name="connsiteX27" fmla="*/ 2078602 w 3340378"/>
              <a:gd name="connsiteY27" fmla="*/ 3082432 h 4402246"/>
              <a:gd name="connsiteX28" fmla="*/ 1829255 w 3340378"/>
              <a:gd name="connsiteY28" fmla="*/ 2843834 h 4402246"/>
              <a:gd name="connsiteX29" fmla="*/ 1233833 w 3340378"/>
              <a:gd name="connsiteY29" fmla="*/ 2545049 h 4402246"/>
              <a:gd name="connsiteX30" fmla="*/ 788879 w 3340378"/>
              <a:gd name="connsiteY30" fmla="*/ 2317198 h 4402246"/>
              <a:gd name="connsiteX31" fmla="*/ 425609 w 3340378"/>
              <a:gd name="connsiteY31" fmla="*/ 2035610 h 4402246"/>
              <a:gd name="connsiteX32" fmla="*/ 180562 w 3340378"/>
              <a:gd name="connsiteY32" fmla="*/ 1685235 h 4402246"/>
              <a:gd name="connsiteX33" fmla="*/ 90281 w 3340378"/>
              <a:gd name="connsiteY33" fmla="*/ 1255329 h 4402246"/>
              <a:gd name="connsiteX34" fmla="*/ 313833 w 3340378"/>
              <a:gd name="connsiteY34" fmla="*/ 584674 h 4402246"/>
              <a:gd name="connsiteX35" fmla="*/ 952244 w 3340378"/>
              <a:gd name="connsiteY35" fmla="*/ 150467 h 4402246"/>
              <a:gd name="connsiteX36" fmla="*/ 1900190 w 3340378"/>
              <a:gd name="connsiteY36" fmla="*/ 0 h 440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40378" h="4402246">
                <a:moveTo>
                  <a:pt x="1900190" y="0"/>
                </a:moveTo>
                <a:cubicBezTo>
                  <a:pt x="2109412" y="0"/>
                  <a:pt x="2314334" y="8599"/>
                  <a:pt x="2514957" y="25795"/>
                </a:cubicBezTo>
                <a:cubicBezTo>
                  <a:pt x="2715580" y="42992"/>
                  <a:pt x="2974958" y="80250"/>
                  <a:pt x="3293089" y="137571"/>
                </a:cubicBezTo>
                <a:lnTo>
                  <a:pt x="3293089" y="1139253"/>
                </a:lnTo>
                <a:lnTo>
                  <a:pt x="2725611" y="1139253"/>
                </a:lnTo>
                <a:cubicBezTo>
                  <a:pt x="2659692" y="955826"/>
                  <a:pt x="2587324" y="813958"/>
                  <a:pt x="2508508" y="713646"/>
                </a:cubicBezTo>
                <a:cubicBezTo>
                  <a:pt x="2429692" y="613335"/>
                  <a:pt x="2342994" y="543832"/>
                  <a:pt x="2248415" y="505140"/>
                </a:cubicBezTo>
                <a:cubicBezTo>
                  <a:pt x="2153835" y="466449"/>
                  <a:pt x="2040626" y="447103"/>
                  <a:pt x="1908787" y="447103"/>
                </a:cubicBezTo>
                <a:cubicBezTo>
                  <a:pt x="1719628" y="447103"/>
                  <a:pt x="1569161" y="490095"/>
                  <a:pt x="1457385" y="576075"/>
                </a:cubicBezTo>
                <a:cubicBezTo>
                  <a:pt x="1345609" y="662057"/>
                  <a:pt x="1289721" y="782430"/>
                  <a:pt x="1289721" y="937198"/>
                </a:cubicBezTo>
                <a:cubicBezTo>
                  <a:pt x="1289721" y="1046107"/>
                  <a:pt x="1309784" y="1139253"/>
                  <a:pt x="1349908" y="1216637"/>
                </a:cubicBezTo>
                <a:cubicBezTo>
                  <a:pt x="1390033" y="1294020"/>
                  <a:pt x="1461684" y="1369254"/>
                  <a:pt x="1564862" y="1442338"/>
                </a:cubicBezTo>
                <a:cubicBezTo>
                  <a:pt x="1668040" y="1515422"/>
                  <a:pt x="1867230" y="1613584"/>
                  <a:pt x="2162433" y="1736824"/>
                </a:cubicBezTo>
                <a:cubicBezTo>
                  <a:pt x="2431842" y="1848600"/>
                  <a:pt x="2651094" y="1965391"/>
                  <a:pt x="2820190" y="2087197"/>
                </a:cubicBezTo>
                <a:cubicBezTo>
                  <a:pt x="2989288" y="2209005"/>
                  <a:pt x="3118260" y="2349442"/>
                  <a:pt x="3207107" y="2508506"/>
                </a:cubicBezTo>
                <a:cubicBezTo>
                  <a:pt x="3295954" y="2667573"/>
                  <a:pt x="3340378" y="2853149"/>
                  <a:pt x="3340378" y="3065236"/>
                </a:cubicBezTo>
                <a:cubicBezTo>
                  <a:pt x="3340378" y="3297385"/>
                  <a:pt x="3297388" y="3497292"/>
                  <a:pt x="3211406" y="3664955"/>
                </a:cubicBezTo>
                <a:cubicBezTo>
                  <a:pt x="3125425" y="3832619"/>
                  <a:pt x="3005050" y="3970906"/>
                  <a:pt x="2850284" y="4079816"/>
                </a:cubicBezTo>
                <a:cubicBezTo>
                  <a:pt x="2695518" y="4188725"/>
                  <a:pt x="2509940" y="4269691"/>
                  <a:pt x="2293554" y="4322714"/>
                </a:cubicBezTo>
                <a:cubicBezTo>
                  <a:pt x="2077168" y="4375735"/>
                  <a:pt x="1838570" y="4402246"/>
                  <a:pt x="1577760" y="4402246"/>
                </a:cubicBezTo>
                <a:cubicBezTo>
                  <a:pt x="1104861" y="4402246"/>
                  <a:pt x="578941" y="4334894"/>
                  <a:pt x="0" y="4200190"/>
                </a:cubicBezTo>
                <a:lnTo>
                  <a:pt x="0" y="3172713"/>
                </a:lnTo>
                <a:lnTo>
                  <a:pt x="576076" y="3172713"/>
                </a:lnTo>
                <a:cubicBezTo>
                  <a:pt x="644861" y="3433524"/>
                  <a:pt x="753770" y="3629131"/>
                  <a:pt x="902804" y="3759535"/>
                </a:cubicBezTo>
                <a:cubicBezTo>
                  <a:pt x="1051840" y="3889940"/>
                  <a:pt x="1251030" y="3955143"/>
                  <a:pt x="1500376" y="3955143"/>
                </a:cubicBezTo>
                <a:cubicBezTo>
                  <a:pt x="1715329" y="3955143"/>
                  <a:pt x="1877977" y="3906419"/>
                  <a:pt x="1988321" y="3808975"/>
                </a:cubicBezTo>
                <a:cubicBezTo>
                  <a:pt x="2098663" y="3711530"/>
                  <a:pt x="2153835" y="3569660"/>
                  <a:pt x="2153835" y="3383367"/>
                </a:cubicBezTo>
                <a:cubicBezTo>
                  <a:pt x="2153835" y="3265860"/>
                  <a:pt x="2128758" y="3165547"/>
                  <a:pt x="2078602" y="3082432"/>
                </a:cubicBezTo>
                <a:cubicBezTo>
                  <a:pt x="2028444" y="2999317"/>
                  <a:pt x="1945329" y="2919783"/>
                  <a:pt x="1829255" y="2843834"/>
                </a:cubicBezTo>
                <a:cubicBezTo>
                  <a:pt x="1713180" y="2767884"/>
                  <a:pt x="1514706" y="2668289"/>
                  <a:pt x="1233833" y="2545049"/>
                </a:cubicBezTo>
                <a:cubicBezTo>
                  <a:pt x="1076200" y="2476263"/>
                  <a:pt x="927882" y="2400313"/>
                  <a:pt x="788879" y="2317198"/>
                </a:cubicBezTo>
                <a:cubicBezTo>
                  <a:pt x="649876" y="2234083"/>
                  <a:pt x="528785" y="2140220"/>
                  <a:pt x="425609" y="2035610"/>
                </a:cubicBezTo>
                <a:cubicBezTo>
                  <a:pt x="322430" y="1930998"/>
                  <a:pt x="240748" y="1814207"/>
                  <a:pt x="180562" y="1685235"/>
                </a:cubicBezTo>
                <a:cubicBezTo>
                  <a:pt x="120374" y="1556263"/>
                  <a:pt x="90281" y="1412961"/>
                  <a:pt x="90281" y="1255329"/>
                </a:cubicBezTo>
                <a:cubicBezTo>
                  <a:pt x="90281" y="997384"/>
                  <a:pt x="164797" y="773833"/>
                  <a:pt x="313833" y="584674"/>
                </a:cubicBezTo>
                <a:cubicBezTo>
                  <a:pt x="462867" y="395514"/>
                  <a:pt x="675671" y="250779"/>
                  <a:pt x="952244" y="150467"/>
                </a:cubicBezTo>
                <a:cubicBezTo>
                  <a:pt x="1228818" y="50156"/>
                  <a:pt x="1544800" y="0"/>
                  <a:pt x="1900190" y="0"/>
                </a:cubicBezTo>
                <a:close/>
              </a:path>
            </a:pathLst>
          </a:custGeom>
        </p:spPr>
        <p:txBody>
          <a:bodyPr wrap="square">
            <a:noAutofit/>
          </a:bodyPr>
          <a:lstStyle/>
          <a:p>
            <a:endParaRPr lang="en-IN"/>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D6511D-2C70-4AC7-97D5-1F14B9776F20}"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F1A20C-7DC5-494D-B520-FA7BD522BECA}" type="slidenum">
              <a:rPr lang="en-US" smtClean="0"/>
              <a:pPr/>
              <a:t>‹#›</a:t>
            </a:fld>
            <a:endParaRPr lang="en-US"/>
          </a:p>
        </p:txBody>
      </p:sp>
    </p:spTree>
    <p:extLst>
      <p:ext uri="{BB962C8B-B14F-4D97-AF65-F5344CB8AC3E}">
        <p14:creationId xmlns:p14="http://schemas.microsoft.com/office/powerpoint/2010/main" val="1823048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8AB25C1-1C84-4102-BC10-9B451A2ED361}"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F1A20C-7DC5-494D-B520-FA7BD522BECA}" type="slidenum">
              <a:rPr lang="en-US" smtClean="0"/>
              <a:t>‹#›</a:t>
            </a:fld>
            <a:endParaRPr lang="en-US"/>
          </a:p>
        </p:txBody>
      </p:sp>
    </p:spTree>
    <p:extLst>
      <p:ext uri="{BB962C8B-B14F-4D97-AF65-F5344CB8AC3E}">
        <p14:creationId xmlns:p14="http://schemas.microsoft.com/office/powerpoint/2010/main" val="3469826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C204DFD-856F-47A0-807F-85F4DF24108D}"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F1A20C-7DC5-494D-B520-FA7BD522BECA}" type="slidenum">
              <a:rPr lang="en-US" smtClean="0"/>
              <a:t>‹#›</a:t>
            </a:fld>
            <a:endParaRPr lang="en-US"/>
          </a:p>
        </p:txBody>
      </p:sp>
    </p:spTree>
    <p:extLst>
      <p:ext uri="{BB962C8B-B14F-4D97-AF65-F5344CB8AC3E}">
        <p14:creationId xmlns:p14="http://schemas.microsoft.com/office/powerpoint/2010/main" val="1090236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A97212-5AC4-41AC-BAF2-A0A823E46F8C}" type="datetime1">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F1A20C-7DC5-494D-B520-FA7BD522BECA}" type="slidenum">
              <a:rPr lang="en-US" smtClean="0"/>
              <a:t>‹#›</a:t>
            </a:fld>
            <a:endParaRPr lang="en-US"/>
          </a:p>
        </p:txBody>
      </p:sp>
    </p:spTree>
    <p:extLst>
      <p:ext uri="{BB962C8B-B14F-4D97-AF65-F5344CB8AC3E}">
        <p14:creationId xmlns:p14="http://schemas.microsoft.com/office/powerpoint/2010/main" val="4236584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66800" y="1746250"/>
            <a:ext cx="10515600" cy="608613"/>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59FEDEA-0016-4381-B64A-2348FE5434A6}"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7157" y="277318"/>
            <a:ext cx="615653" cy="365125"/>
          </a:xfrm>
        </p:spPr>
        <p:txBody>
          <a:bodyPr/>
          <a:lstStyle/>
          <a:p>
            <a:fld id="{F4F1A20C-7DC5-494D-B520-FA7BD522BECA}" type="slidenum">
              <a:rPr lang="en-US" smtClean="0"/>
              <a:t>‹#›</a:t>
            </a:fld>
            <a:endParaRPr lang="en-US"/>
          </a:p>
        </p:txBody>
      </p:sp>
    </p:spTree>
    <p:extLst>
      <p:ext uri="{BB962C8B-B14F-4D97-AF65-F5344CB8AC3E}">
        <p14:creationId xmlns:p14="http://schemas.microsoft.com/office/powerpoint/2010/main" val="2536956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5035BF1-8AA2-4135-8B7D-5B143D7C832F}"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F1A20C-7DC5-494D-B520-FA7BD522BECA}" type="slidenum">
              <a:rPr lang="en-US" smtClean="0"/>
              <a:t>‹#›</a:t>
            </a:fld>
            <a:endParaRPr lang="en-US"/>
          </a:p>
        </p:txBody>
      </p:sp>
      <p:pic>
        <p:nvPicPr>
          <p:cNvPr id="8" name="Picture 7" descr="MINECOFIN Logo (Landscape).pdf">
            <a:extLst>
              <a:ext uri="{FF2B5EF4-FFF2-40B4-BE49-F238E27FC236}">
                <a16:creationId xmlns:a16="http://schemas.microsoft.com/office/drawing/2014/main" id="{30527BC4-FF91-AE01-AA1C-5387A97A2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31281" y="5809208"/>
            <a:ext cx="2275030" cy="1094284"/>
          </a:xfrm>
          <a:prstGeom prst="rect">
            <a:avLst/>
          </a:prstGeom>
        </p:spPr>
      </p:pic>
    </p:spTree>
    <p:extLst>
      <p:ext uri="{BB962C8B-B14F-4D97-AF65-F5344CB8AC3E}">
        <p14:creationId xmlns:p14="http://schemas.microsoft.com/office/powerpoint/2010/main" val="37709634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9C1DF4-EEDD-4128-9FC8-EB87026555A1}"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F1A20C-7DC5-494D-B520-FA7BD522BECA}" type="slidenum">
              <a:rPr lang="en-US" smtClean="0"/>
              <a:t>‹#›</a:t>
            </a:fld>
            <a:endParaRPr lang="en-US"/>
          </a:p>
        </p:txBody>
      </p:sp>
    </p:spTree>
    <p:extLst>
      <p:ext uri="{BB962C8B-B14F-4D97-AF65-F5344CB8AC3E}">
        <p14:creationId xmlns:p14="http://schemas.microsoft.com/office/powerpoint/2010/main" val="37709010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75D11A-73F5-4A97-80AA-1836E1ECB522}"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F1A20C-7DC5-494D-B520-FA7BD522BECA}" type="slidenum">
              <a:rPr lang="en-US" smtClean="0"/>
              <a:t>‹#›</a:t>
            </a:fld>
            <a:endParaRPr lang="en-US"/>
          </a:p>
        </p:txBody>
      </p:sp>
    </p:spTree>
    <p:extLst>
      <p:ext uri="{BB962C8B-B14F-4D97-AF65-F5344CB8AC3E}">
        <p14:creationId xmlns:p14="http://schemas.microsoft.com/office/powerpoint/2010/main" val="2924956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C6301F-E9CE-4014-9D77-1CA9D7D30285}"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F1A20C-7DC5-494D-B520-FA7BD522BECA}" type="slidenum">
              <a:rPr lang="en-US" smtClean="0"/>
              <a:t>‹#›</a:t>
            </a:fld>
            <a:endParaRPr lang="en-US"/>
          </a:p>
        </p:txBody>
      </p:sp>
    </p:spTree>
    <p:extLst>
      <p:ext uri="{BB962C8B-B14F-4D97-AF65-F5344CB8AC3E}">
        <p14:creationId xmlns:p14="http://schemas.microsoft.com/office/powerpoint/2010/main" val="287911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7"/>
        <p:cNvGrpSpPr/>
        <p:nvPr/>
      </p:nvGrpSpPr>
      <p:grpSpPr>
        <a:xfrm>
          <a:off x="0" y="0"/>
          <a:ext cx="0" cy="0"/>
          <a:chOff x="0" y="0"/>
          <a:chExt cx="0" cy="0"/>
        </a:xfrm>
      </p:grpSpPr>
      <p:sp>
        <p:nvSpPr>
          <p:cNvPr id="19" name="Google Shape;19;p2"/>
          <p:cNvSpPr txBox="1">
            <a:spLocks noGrp="1"/>
          </p:cNvSpPr>
          <p:nvPr>
            <p:ph type="ctrTitle"/>
          </p:nvPr>
        </p:nvSpPr>
        <p:spPr>
          <a:xfrm>
            <a:off x="1092201" y="1358899"/>
            <a:ext cx="10606616" cy="1470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accent1"/>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
          <p:cNvSpPr txBox="1">
            <a:spLocks noGrp="1"/>
          </p:cNvSpPr>
          <p:nvPr>
            <p:ph type="subTitle" idx="1"/>
          </p:nvPr>
        </p:nvSpPr>
        <p:spPr>
          <a:xfrm>
            <a:off x="1092200" y="2957511"/>
            <a:ext cx="10606617" cy="885828"/>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accent1"/>
              </a:buClr>
              <a:buSzPts val="3000"/>
              <a:buNone/>
              <a:defRPr sz="3000" b="1">
                <a:solidFill>
                  <a:schemeClr val="accent1"/>
                </a:solidFill>
              </a:defRPr>
            </a:lvl1pPr>
            <a:lvl2pPr lvl="1" algn="ctr">
              <a:spcBef>
                <a:spcPts val="800"/>
              </a:spcBef>
              <a:spcAft>
                <a:spcPts val="0"/>
              </a:spcAft>
              <a:buClr>
                <a:srgbClr val="949898"/>
              </a:buClr>
              <a:buSzPts val="2000"/>
              <a:buNone/>
              <a:defRPr>
                <a:solidFill>
                  <a:srgbClr val="949898"/>
                </a:solidFill>
              </a:defRPr>
            </a:lvl2pPr>
            <a:lvl3pPr lvl="2" algn="ctr">
              <a:spcBef>
                <a:spcPts val="600"/>
              </a:spcBef>
              <a:spcAft>
                <a:spcPts val="0"/>
              </a:spcAft>
              <a:buClr>
                <a:srgbClr val="949898"/>
              </a:buClr>
              <a:buSzPts val="1800"/>
              <a:buNone/>
              <a:defRPr>
                <a:solidFill>
                  <a:srgbClr val="949898"/>
                </a:solidFill>
              </a:defRPr>
            </a:lvl3pPr>
            <a:lvl4pPr lvl="3" algn="ctr">
              <a:spcBef>
                <a:spcPts val="600"/>
              </a:spcBef>
              <a:spcAft>
                <a:spcPts val="0"/>
              </a:spcAft>
              <a:buClr>
                <a:srgbClr val="949898"/>
              </a:buClr>
              <a:buSzPts val="1800"/>
              <a:buNone/>
              <a:defRPr>
                <a:solidFill>
                  <a:srgbClr val="949898"/>
                </a:solidFill>
              </a:defRPr>
            </a:lvl4pPr>
            <a:lvl5pPr lvl="4" algn="ctr">
              <a:spcBef>
                <a:spcPts val="600"/>
              </a:spcBef>
              <a:spcAft>
                <a:spcPts val="0"/>
              </a:spcAft>
              <a:buClr>
                <a:srgbClr val="949898"/>
              </a:buClr>
              <a:buSzPts val="1800"/>
              <a:buNone/>
              <a:defRPr>
                <a:solidFill>
                  <a:srgbClr val="949898"/>
                </a:solidFill>
              </a:defRPr>
            </a:lvl5pPr>
            <a:lvl6pPr lvl="5" algn="ctr">
              <a:spcBef>
                <a:spcPts val="400"/>
              </a:spcBef>
              <a:spcAft>
                <a:spcPts val="0"/>
              </a:spcAft>
              <a:buClr>
                <a:srgbClr val="949898"/>
              </a:buClr>
              <a:buSzPts val="2000"/>
              <a:buNone/>
              <a:defRPr>
                <a:solidFill>
                  <a:srgbClr val="949898"/>
                </a:solidFill>
              </a:defRPr>
            </a:lvl6pPr>
            <a:lvl7pPr lvl="6" algn="ctr">
              <a:spcBef>
                <a:spcPts val="400"/>
              </a:spcBef>
              <a:spcAft>
                <a:spcPts val="0"/>
              </a:spcAft>
              <a:buClr>
                <a:srgbClr val="949898"/>
              </a:buClr>
              <a:buSzPts val="2000"/>
              <a:buNone/>
              <a:defRPr>
                <a:solidFill>
                  <a:srgbClr val="949898"/>
                </a:solidFill>
              </a:defRPr>
            </a:lvl7pPr>
            <a:lvl8pPr lvl="7" algn="ctr">
              <a:spcBef>
                <a:spcPts val="400"/>
              </a:spcBef>
              <a:spcAft>
                <a:spcPts val="0"/>
              </a:spcAft>
              <a:buClr>
                <a:srgbClr val="949898"/>
              </a:buClr>
              <a:buSzPts val="2000"/>
              <a:buNone/>
              <a:defRPr>
                <a:solidFill>
                  <a:srgbClr val="949898"/>
                </a:solidFill>
              </a:defRPr>
            </a:lvl8pPr>
            <a:lvl9pPr lvl="8" algn="ctr">
              <a:spcBef>
                <a:spcPts val="400"/>
              </a:spcBef>
              <a:spcAft>
                <a:spcPts val="0"/>
              </a:spcAft>
              <a:buClr>
                <a:srgbClr val="949898"/>
              </a:buClr>
              <a:buSzPts val="2000"/>
              <a:buNone/>
              <a:defRPr>
                <a:solidFill>
                  <a:srgbClr val="949898"/>
                </a:solidFill>
              </a:defRPr>
            </a:lvl9pPr>
          </a:lstStyle>
          <a:p>
            <a:endParaRPr/>
          </a:p>
        </p:txBody>
      </p:sp>
      <p:sp>
        <p:nvSpPr>
          <p:cNvPr id="22" name="Google Shape;22;p2"/>
          <p:cNvSpPr txBox="1">
            <a:spLocks noGrp="1"/>
          </p:cNvSpPr>
          <p:nvPr>
            <p:ph type="body" idx="2"/>
          </p:nvPr>
        </p:nvSpPr>
        <p:spPr>
          <a:xfrm>
            <a:off x="1072102" y="4218531"/>
            <a:ext cx="3804697" cy="320040"/>
          </a:xfrm>
          <a:prstGeom prst="rect">
            <a:avLst/>
          </a:prstGeom>
          <a:noFill/>
          <a:ln>
            <a:noFill/>
          </a:ln>
        </p:spPr>
        <p:txBody>
          <a:bodyPr spcFirstLastPara="1" wrap="square" lIns="91425" tIns="45700" rIns="91425" bIns="45700" anchor="t" anchorCtr="0">
            <a:noAutofit/>
          </a:bodyPr>
          <a:lstStyle>
            <a:lvl1pPr marL="457200" lvl="0" indent="-228600" algn="l">
              <a:spcBef>
                <a:spcPts val="1000"/>
              </a:spcBef>
              <a:spcAft>
                <a:spcPts val="0"/>
              </a:spcAft>
              <a:buClr>
                <a:schemeClr val="dk1"/>
              </a:buClr>
              <a:buSzPts val="1400"/>
              <a:buNone/>
              <a:defRPr sz="1400"/>
            </a:lvl1pPr>
            <a:lvl2pPr marL="914400" lvl="1" indent="-228600" algn="l">
              <a:spcBef>
                <a:spcPts val="800"/>
              </a:spcBef>
              <a:spcAft>
                <a:spcPts val="0"/>
              </a:spcAft>
              <a:buClr>
                <a:schemeClr val="dk1"/>
              </a:buClr>
              <a:buSzPts val="2000"/>
              <a:buNone/>
              <a:defRPr/>
            </a:lvl2pPr>
            <a:lvl3pPr marL="1371600" lvl="2" indent="-342900" algn="l">
              <a:spcBef>
                <a:spcPts val="600"/>
              </a:spcBef>
              <a:spcAft>
                <a:spcPts val="0"/>
              </a:spcAft>
              <a:buClr>
                <a:schemeClr val="dk1"/>
              </a:buClr>
              <a:buSzPts val="1800"/>
              <a:buChar char="–"/>
              <a:defRPr/>
            </a:lvl3pPr>
            <a:lvl4pPr marL="1828800" lvl="3" indent="-342900" algn="l">
              <a:spcBef>
                <a:spcPts val="600"/>
              </a:spcBef>
              <a:spcAft>
                <a:spcPts val="0"/>
              </a:spcAft>
              <a:buClr>
                <a:schemeClr val="dk1"/>
              </a:buClr>
              <a:buSzPts val="1800"/>
              <a:buChar char="•"/>
              <a:defRPr/>
            </a:lvl4pPr>
            <a:lvl5pPr marL="2286000" lvl="4" indent="-342900" algn="l">
              <a:spcBef>
                <a:spcPts val="6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3" name="Picture 2">
            <a:extLst>
              <a:ext uri="{FF2B5EF4-FFF2-40B4-BE49-F238E27FC236}">
                <a16:creationId xmlns:a16="http://schemas.microsoft.com/office/drawing/2014/main" id="{B1FD5E12-DCC0-C36C-D2E6-D6D2CD12451D}"/>
              </a:ext>
            </a:extLst>
          </p:cNvPr>
          <p:cNvPicPr>
            <a:picLocks noChangeAspect="1"/>
          </p:cNvPicPr>
          <p:nvPr userDrawn="1"/>
        </p:nvPicPr>
        <p:blipFill>
          <a:blip r:embed="rId2">
            <a:alphaModFix amt="10000"/>
          </a:blip>
          <a:stretch>
            <a:fillRect/>
          </a:stretch>
        </p:blipFill>
        <p:spPr>
          <a:xfrm>
            <a:off x="9126939" y="-2813639"/>
            <a:ext cx="6130121" cy="5771150"/>
          </a:xfrm>
          <a:prstGeom prst="rect">
            <a:avLst/>
          </a:prstGeom>
        </p:spPr>
      </p:pic>
      <p:pic>
        <p:nvPicPr>
          <p:cNvPr id="4" name="Picture 3" descr="Minecofin logo (Kinyarwanda).pdf">
            <a:extLst>
              <a:ext uri="{FF2B5EF4-FFF2-40B4-BE49-F238E27FC236}">
                <a16:creationId xmlns:a16="http://schemas.microsoft.com/office/drawing/2014/main" id="{E2C47C18-D376-A21B-AC13-166D0BFB7F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44201" y="0"/>
            <a:ext cx="3346650" cy="3346650"/>
          </a:xfrm>
          <a:prstGeom prst="rect">
            <a:avLst/>
          </a:prstGeom>
        </p:spPr>
      </p:pic>
    </p:spTree>
    <p:extLst>
      <p:ext uri="{BB962C8B-B14F-4D97-AF65-F5344CB8AC3E}">
        <p14:creationId xmlns:p14="http://schemas.microsoft.com/office/powerpoint/2010/main" val="244801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basic">
    <p:spTree>
      <p:nvGrpSpPr>
        <p:cNvPr id="1" name=""/>
        <p:cNvGrpSpPr/>
        <p:nvPr/>
      </p:nvGrpSpPr>
      <p:grpSpPr>
        <a:xfrm>
          <a:off x="0" y="0"/>
          <a:ext cx="0" cy="0"/>
          <a:chOff x="0" y="0"/>
          <a:chExt cx="0" cy="0"/>
        </a:xfrm>
      </p:grpSpPr>
      <p:sp>
        <p:nvSpPr>
          <p:cNvPr id="2" name="Title 1"/>
          <p:cNvSpPr>
            <a:spLocks noGrp="1"/>
          </p:cNvSpPr>
          <p:nvPr>
            <p:ph type="title"/>
          </p:nvPr>
        </p:nvSpPr>
        <p:spPr>
          <a:xfrm>
            <a:off x="348442" y="513833"/>
            <a:ext cx="12104717" cy="967220"/>
          </a:xfrm>
        </p:spPr>
        <p:txBody>
          <a:bodyPr>
            <a:normAutofit/>
          </a:bodyPr>
          <a:lstStyle>
            <a:lvl1pPr algn="l">
              <a:defRPr sz="4800" b="1"/>
            </a:lvl1pPr>
          </a:lstStyle>
          <a:p>
            <a:r>
              <a:rPr lang="en-US" dirty="0"/>
              <a:t>Click to edit Master title style</a:t>
            </a:r>
            <a:endParaRPr lang="en-ID" dirty="0"/>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0BC3A62-4E1D-4F8A-9D54-C65E7A220E6B}" type="datetimeFigureOut">
              <a:rPr kumimoji="0" lang="en-ID" sz="9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t>08/10/2026</a:t>
            </a:fld>
            <a:endParaRPr kumimoji="0" lang="en-ID" sz="9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D" sz="9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A467C9E-68A1-4C0B-B8AD-D28FAE1240F0}" type="slidenum">
              <a:rPr kumimoji="0" lang="en-ID" sz="900" b="0" i="0" u="none" strike="noStrike" kern="1200" cap="none" spc="0" normalizeH="0" baseline="0" noProof="0" smtClean="0">
                <a:ln>
                  <a:noFill/>
                </a:ln>
                <a:solidFill>
                  <a:srgbClr val="5FCBEF"/>
                </a:solidFill>
                <a:effectLst/>
                <a:uLnTx/>
                <a:uFillTx/>
                <a:latin typeface="Trebuchet MS" panose="020B0603020202020204"/>
                <a:ea typeface="+mn-ea"/>
                <a:cs typeface="+mn-cs"/>
              </a:rPr>
              <a:t>‹#›</a:t>
            </a:fld>
            <a:endParaRPr kumimoji="0" lang="en-ID" sz="900" b="0" i="0" u="none" strike="noStrike" kern="1200" cap="none" spc="0" normalizeH="0" baseline="0" noProof="0">
              <a:ln>
                <a:noFill/>
              </a:ln>
              <a:solidFill>
                <a:srgbClr val="5FCBEF"/>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5049612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emf"/><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11742" y="1846432"/>
            <a:ext cx="10515600" cy="60861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973738"/>
            <a:ext cx="10972800" cy="53127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4488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35D6511D-2C70-4AC7-97D5-1F14B9776F20}" type="datetime1">
              <a:rPr lang="en-US" smtClean="0"/>
              <a:t>10/8/2026</a:t>
            </a:fld>
            <a:endParaRPr lang="en-US"/>
          </a:p>
        </p:txBody>
      </p:sp>
      <p:sp>
        <p:nvSpPr>
          <p:cNvPr id="5" name="Footer Placeholder 4"/>
          <p:cNvSpPr>
            <a:spLocks noGrp="1"/>
          </p:cNvSpPr>
          <p:nvPr>
            <p:ph type="ftr" sz="quarter" idx="3"/>
          </p:nvPr>
        </p:nvSpPr>
        <p:spPr>
          <a:xfrm>
            <a:off x="609600" y="6356350"/>
            <a:ext cx="3505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grpSp>
        <p:nvGrpSpPr>
          <p:cNvPr id="7" name="Group 6"/>
          <p:cNvGrpSpPr/>
          <p:nvPr userDrawn="1"/>
        </p:nvGrpSpPr>
        <p:grpSpPr>
          <a:xfrm>
            <a:off x="278451" y="-165848"/>
            <a:ext cx="845090" cy="1167192"/>
            <a:chOff x="4435826" y="-309241"/>
            <a:chExt cx="5095162" cy="7037177"/>
          </a:xfrm>
          <a:solidFill>
            <a:srgbClr val="00B0F0"/>
          </a:solidFill>
        </p:grpSpPr>
        <p:sp>
          <p:nvSpPr>
            <p:cNvPr id="8" name="Rectangle 7"/>
            <p:cNvSpPr/>
            <p:nvPr/>
          </p:nvSpPr>
          <p:spPr>
            <a:xfrm rot="2700000" flipV="1">
              <a:off x="4050824" y="3133380"/>
              <a:ext cx="7037177" cy="151935"/>
            </a:xfrm>
            <a:prstGeom prst="rect">
              <a:avLst/>
            </a:prstGeom>
            <a:solidFill>
              <a:srgbClr val="00B0F0"/>
            </a:solidFill>
            <a:ln w="12700">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 name="Rectangle 8"/>
            <p:cNvSpPr/>
            <p:nvPr/>
          </p:nvSpPr>
          <p:spPr>
            <a:xfrm rot="18900000">
              <a:off x="4435826" y="4568413"/>
              <a:ext cx="5095162" cy="79730"/>
            </a:xfrm>
            <a:prstGeom prst="rect">
              <a:avLst/>
            </a:prstGeom>
            <a:solidFill>
              <a:srgbClr val="00B0F0"/>
            </a:solidFill>
            <a:ln>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grpSp>
      <p:sp>
        <p:nvSpPr>
          <p:cNvPr id="10" name="Rectangle 9"/>
          <p:cNvSpPr/>
          <p:nvPr userDrawn="1"/>
        </p:nvSpPr>
        <p:spPr>
          <a:xfrm rot="2718670">
            <a:off x="167316" y="278991"/>
            <a:ext cx="435337" cy="435338"/>
          </a:xfrm>
          <a:prstGeom prst="rect">
            <a:avLst/>
          </a:prstGeom>
          <a:solidFill>
            <a:srgbClr val="FF6319"/>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85343" y="314097"/>
            <a:ext cx="615653" cy="365125"/>
          </a:xfrm>
          <a:prstGeom prst="rect">
            <a:avLst/>
          </a:prstGeom>
        </p:spPr>
        <p:txBody>
          <a:bodyPr vert="horz" lIns="91440" tIns="45720" rIns="91440" bIns="45720" rtlCol="0" anchor="ctr"/>
          <a:lstStyle>
            <a:lvl1pPr algn="ctr">
              <a:defRPr sz="1200">
                <a:solidFill>
                  <a:schemeClr val="bg1"/>
                </a:solidFill>
                <a:latin typeface="Arial" panose="020B0604020202020204" pitchFamily="34" charset="0"/>
                <a:cs typeface="Arial" panose="020B0604020202020204" pitchFamily="34" charset="0"/>
              </a:defRPr>
            </a:lvl1pPr>
          </a:lstStyle>
          <a:p>
            <a:fld id="{F4F1A20C-7DC5-494D-B520-FA7BD522BECA}" type="slidenum">
              <a:rPr lang="en-US" smtClean="0"/>
              <a:pPr/>
              <a:t>‹#›</a:t>
            </a:fld>
            <a:endParaRPr lang="en-US" dirty="0"/>
          </a:p>
        </p:txBody>
      </p:sp>
      <p:pic>
        <p:nvPicPr>
          <p:cNvPr id="17" name="Picture 16">
            <a:extLst>
              <a:ext uri="{FF2B5EF4-FFF2-40B4-BE49-F238E27FC236}">
                <a16:creationId xmlns:a16="http://schemas.microsoft.com/office/drawing/2014/main" id="{B27FBEFE-917B-C521-0AD5-45F6E58953AC}"/>
              </a:ext>
            </a:extLst>
          </p:cNvPr>
          <p:cNvPicPr>
            <a:picLocks noChangeAspect="1"/>
          </p:cNvPicPr>
          <p:nvPr userDrawn="1"/>
        </p:nvPicPr>
        <p:blipFill>
          <a:blip r:embed="rId20"/>
          <a:stretch>
            <a:fillRect/>
          </a:stretch>
        </p:blipFill>
        <p:spPr>
          <a:xfrm>
            <a:off x="1" y="6721475"/>
            <a:ext cx="12191999" cy="136524"/>
          </a:xfrm>
          <a:prstGeom prst="rect">
            <a:avLst/>
          </a:prstGeom>
        </p:spPr>
      </p:pic>
      <p:sp>
        <p:nvSpPr>
          <p:cNvPr id="24" name="Rectangle 23">
            <a:extLst>
              <a:ext uri="{FF2B5EF4-FFF2-40B4-BE49-F238E27FC236}">
                <a16:creationId xmlns:a16="http://schemas.microsoft.com/office/drawing/2014/main" id="{8A436596-90F6-AAAA-2192-051CCCC9D53E}"/>
              </a:ext>
            </a:extLst>
          </p:cNvPr>
          <p:cNvSpPr/>
          <p:nvPr userDrawn="1"/>
        </p:nvSpPr>
        <p:spPr>
          <a:xfrm>
            <a:off x="1204059" y="814011"/>
            <a:ext cx="10083066" cy="25200"/>
          </a:xfrm>
          <a:prstGeom prst="rect">
            <a:avLst/>
          </a:prstGeom>
          <a:solidFill>
            <a:srgbClr val="00B0F0"/>
          </a:solidFill>
          <a:ln>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11" name="object 16">
            <a:extLst>
              <a:ext uri="{FF2B5EF4-FFF2-40B4-BE49-F238E27FC236}">
                <a16:creationId xmlns:a16="http://schemas.microsoft.com/office/drawing/2014/main" id="{53046233-B4AF-BF54-C884-ECCC78093232}"/>
              </a:ext>
            </a:extLst>
          </p:cNvPr>
          <p:cNvPicPr/>
          <p:nvPr userDrawn="1"/>
        </p:nvPicPr>
        <p:blipFill>
          <a:blip r:embed="rId21" cstate="print"/>
          <a:stretch>
            <a:fillRect/>
          </a:stretch>
        </p:blipFill>
        <p:spPr>
          <a:xfrm>
            <a:off x="312367" y="198994"/>
            <a:ext cx="396814" cy="606920"/>
          </a:xfrm>
          <a:prstGeom prst="rect">
            <a:avLst/>
          </a:prstGeom>
        </p:spPr>
      </p:pic>
      <p:pic>
        <p:nvPicPr>
          <p:cNvPr id="13" name="Picture 12" descr="MINECOFIN Logo (Landscape).pdf">
            <a:extLst>
              <a:ext uri="{FF2B5EF4-FFF2-40B4-BE49-F238E27FC236}">
                <a16:creationId xmlns:a16="http://schemas.microsoft.com/office/drawing/2014/main" id="{0254FD17-9DA8-926F-0AA3-62377A96851F}"/>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071921" y="5809208"/>
            <a:ext cx="2275030" cy="1094284"/>
          </a:xfrm>
          <a:prstGeom prst="rect">
            <a:avLst/>
          </a:prstGeom>
        </p:spPr>
      </p:pic>
      <p:pic>
        <p:nvPicPr>
          <p:cNvPr id="14" name="Picture 13">
            <a:extLst>
              <a:ext uri="{FF2B5EF4-FFF2-40B4-BE49-F238E27FC236}">
                <a16:creationId xmlns:a16="http://schemas.microsoft.com/office/drawing/2014/main" id="{26A42DD4-6C41-C0FD-49A2-58019C3DD100}"/>
              </a:ext>
            </a:extLst>
          </p:cNvPr>
          <p:cNvPicPr>
            <a:picLocks noChangeAspect="1"/>
          </p:cNvPicPr>
          <p:nvPr userDrawn="1"/>
        </p:nvPicPr>
        <p:blipFill>
          <a:blip r:embed="rId23">
            <a:alphaModFix amt="10000"/>
          </a:blip>
          <a:stretch>
            <a:fillRect/>
          </a:stretch>
        </p:blipFill>
        <p:spPr>
          <a:xfrm>
            <a:off x="9041596" y="-2920436"/>
            <a:ext cx="6130121" cy="5771150"/>
          </a:xfrm>
          <a:prstGeom prst="rect">
            <a:avLst/>
          </a:prstGeom>
        </p:spPr>
      </p:pic>
    </p:spTree>
    <p:extLst>
      <p:ext uri="{BB962C8B-B14F-4D97-AF65-F5344CB8AC3E}">
        <p14:creationId xmlns:p14="http://schemas.microsoft.com/office/powerpoint/2010/main" val="3124395342"/>
      </p:ext>
    </p:extLst>
  </p:cSld>
  <p:clrMap bg1="lt1" tx1="dk1" bg2="lt2" tx2="dk2" accent1="accent1" accent2="accent2" accent3="accent3" accent4="accent4" accent5="accent5" accent6="accent6" hlink="hlink" folHlink="folHlink"/>
  <p:sldLayoutIdLst>
    <p:sldLayoutId id="2147483677" r:id="rId1"/>
    <p:sldLayoutId id="2147483673" r:id="rId2"/>
    <p:sldLayoutId id="2147483672" r:id="rId3"/>
    <p:sldLayoutId id="2147483670" r:id="rId4"/>
    <p:sldLayoutId id="2147483665" r:id="rId5"/>
    <p:sldLayoutId id="2147483664" r:id="rId6"/>
    <p:sldLayoutId id="2147483663" r:id="rId7"/>
    <p:sldLayoutId id="2147483662" r:id="rId8"/>
    <p:sldLayoutId id="2147483651" r:id="rId9"/>
    <p:sldLayoutId id="2147483652" r:id="rId10"/>
    <p:sldLayoutId id="2147483653" r:id="rId11"/>
    <p:sldLayoutId id="2147483654" r:id="rId12"/>
    <p:sldLayoutId id="2147483656" r:id="rId13"/>
    <p:sldLayoutId id="2147483657" r:id="rId14"/>
    <p:sldLayoutId id="2147483658" r:id="rId15"/>
    <p:sldLayoutId id="2147483659" r:id="rId16"/>
    <p:sldLayoutId id="2147483679" r:id="rId17"/>
    <p:sldLayoutId id="2147483681" r:id="rId18"/>
  </p:sldLayoutIdLst>
  <p:hf hdr="0" ftr="0" dt="0"/>
  <p:txStyles>
    <p:titleStyle>
      <a:lvl1pPr algn="l" defTabSz="914400" rtl="0" eaLnBrk="1" latinLnBrk="0" hangingPunct="1">
        <a:lnSpc>
          <a:spcPct val="90000"/>
        </a:lnSpc>
        <a:spcBef>
          <a:spcPct val="0"/>
        </a:spcBef>
        <a:buNone/>
        <a:defRPr sz="4400" kern="1200">
          <a:solidFill>
            <a:schemeClr val="bg2"/>
          </a:solidFill>
          <a:latin typeface="Cambria" panose="020405030504060302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84" userDrawn="1">
          <p15:clr>
            <a:srgbClr val="F26B43"/>
          </p15:clr>
        </p15:guide>
        <p15:guide id="4" pos="7296" userDrawn="1">
          <p15:clr>
            <a:srgbClr val="F26B43"/>
          </p15:clr>
        </p15:guide>
        <p15:guide id="5" orient="horz" pos="3960" userDrawn="1">
          <p15:clr>
            <a:srgbClr val="F26B43"/>
          </p15:clr>
        </p15:guide>
        <p15:guide id="6" orient="horz" pos="60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1.png"/><Relationship Id="rId12" Type="http://schemas.microsoft.com/office/2007/relationships/hdphoto" Target="../media/hdphoto5.wdp"/><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microsoft.com/office/2007/relationships/hdphoto" Target="../media/hdphoto2.wdp"/><Relationship Id="rId11" Type="http://schemas.openxmlformats.org/officeDocument/2006/relationships/image" Target="../media/image13.png"/><Relationship Id="rId5" Type="http://schemas.openxmlformats.org/officeDocument/2006/relationships/image" Target="../media/image10.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microsoft.com/office/2007/relationships/hdphoto" Target="../media/hdphoto7.wdp"/><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5.png"/><Relationship Id="rId5" Type="http://schemas.microsoft.com/office/2007/relationships/hdphoto" Target="../media/hdphoto6.wdp"/><Relationship Id="rId4" Type="http://schemas.openxmlformats.org/officeDocument/2006/relationships/image" Target="../media/image14.png"/><Relationship Id="rId9" Type="http://schemas.microsoft.com/office/2007/relationships/hdphoto" Target="../media/hdphoto8.wdp"/></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ctrTitle"/>
          </p:nvPr>
        </p:nvSpPr>
        <p:spPr>
          <a:xfrm>
            <a:off x="1321780" y="3186312"/>
            <a:ext cx="9336086" cy="2042342"/>
          </a:xfrm>
          <a:prstGeom prst="rect">
            <a:avLst/>
          </a:prstGeom>
          <a:noFill/>
          <a:ln>
            <a:noFill/>
          </a:ln>
        </p:spPr>
        <p:txBody>
          <a:bodyPr spcFirstLastPara="1" vert="horz" wrap="square" lIns="91425" tIns="45700" rIns="91425" bIns="45700" rtlCol="0" anchor="b" anchorCtr="0">
            <a:noAutofit/>
          </a:bodyPr>
          <a:lstStyle/>
          <a:p>
            <a:pPr algn="ctr"/>
            <a:br>
              <a:rPr lang="en-US" dirty="0">
                <a:solidFill>
                  <a:srgbClr val="FF0000"/>
                </a:solidFill>
              </a:rPr>
            </a:br>
            <a:r>
              <a:rPr lang="en-US" dirty="0">
                <a:solidFill>
                  <a:srgbClr val="FF0000"/>
                </a:solidFill>
              </a:rPr>
              <a:t>OAG training on</a:t>
            </a:r>
            <a:br>
              <a:rPr lang="en-US" dirty="0">
                <a:solidFill>
                  <a:srgbClr val="FF0000"/>
                </a:solidFill>
              </a:rPr>
            </a:br>
            <a:r>
              <a:rPr lang="en-US" dirty="0">
                <a:solidFill>
                  <a:srgbClr val="FF0000"/>
                </a:solidFill>
              </a:rPr>
              <a:t>Journey of IPSAS implementation for </a:t>
            </a:r>
            <a:r>
              <a:rPr lang="en-US" dirty="0" err="1">
                <a:solidFill>
                  <a:srgbClr val="FF0000"/>
                </a:solidFill>
              </a:rPr>
              <a:t>GoR</a:t>
            </a:r>
            <a:br>
              <a:rPr lang="en-US" dirty="0">
                <a:solidFill>
                  <a:srgbClr val="FF0000"/>
                </a:solidFill>
              </a:rPr>
            </a:br>
            <a:endParaRPr dirty="0">
              <a:solidFill>
                <a:srgbClr val="FF0000"/>
              </a:solidFill>
            </a:endParaRPr>
          </a:p>
        </p:txBody>
      </p:sp>
      <p:sp>
        <p:nvSpPr>
          <p:cNvPr id="4" name="Subtitle 9">
            <a:extLst>
              <a:ext uri="{FF2B5EF4-FFF2-40B4-BE49-F238E27FC236}">
                <a16:creationId xmlns:a16="http://schemas.microsoft.com/office/drawing/2014/main" id="{BF268B23-8056-75BC-C179-B5CD3DAE940C}"/>
              </a:ext>
            </a:extLst>
          </p:cNvPr>
          <p:cNvSpPr txBox="1">
            <a:spLocks/>
          </p:cNvSpPr>
          <p:nvPr/>
        </p:nvSpPr>
        <p:spPr>
          <a:xfrm>
            <a:off x="3953606" y="5858273"/>
            <a:ext cx="5721095" cy="862680"/>
          </a:xfrm>
          <a:prstGeom prst="rect">
            <a:avLst/>
          </a:prstGeom>
        </p:spPr>
        <p:txBody>
          <a:bodyPr vert="horz" lIns="91440" tIns="45720" rIns="91440" bIns="45720" rtlCol="0">
            <a:normAutofit/>
          </a:bodyPr>
          <a:lstStyle>
            <a:lvl1pPr marL="0" indent="0" algn="l" defTabSz="457200" rtl="0" eaLnBrk="1" latinLnBrk="0" hangingPunct="1">
              <a:spcBef>
                <a:spcPct val="20000"/>
              </a:spcBef>
              <a:buFont typeface="Arial"/>
              <a:buNone/>
              <a:defRPr sz="2100" b="1" kern="1200">
                <a:solidFill>
                  <a:schemeClr val="tx1">
                    <a:tint val="75000"/>
                  </a:schemeClr>
                </a:solidFill>
                <a:latin typeface="Arial"/>
                <a:ea typeface="+mn-ea"/>
                <a:cs typeface="Arial"/>
              </a:defRPr>
            </a:lvl1pPr>
            <a:lvl2pPr marL="457200" indent="0" algn="ctr" defTabSz="457200" rtl="0" eaLnBrk="1" latinLnBrk="0" hangingPunct="1">
              <a:spcBef>
                <a:spcPct val="20000"/>
              </a:spcBef>
              <a:buFont typeface="Arial"/>
              <a:buNone/>
              <a:defRPr sz="21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21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1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1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2000" b="0" dirty="0">
                <a:solidFill>
                  <a:schemeClr val="tx1"/>
                </a:solidFill>
              </a:rPr>
              <a:t>Facilitator: Accountant General Office</a:t>
            </a:r>
          </a:p>
        </p:txBody>
      </p:sp>
    </p:spTree>
    <p:extLst>
      <p:ext uri="{BB962C8B-B14F-4D97-AF65-F5344CB8AC3E}">
        <p14:creationId xmlns:p14="http://schemas.microsoft.com/office/powerpoint/2010/main" val="1466669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EA06880F-76C7-83AB-0965-5768FAEF36B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267C64-2B59-AE09-F691-78AB53F6264E}"/>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a:t>
            </a:fld>
            <a:endParaRPr lang="en-GB" dirty="0"/>
          </a:p>
        </p:txBody>
      </p:sp>
      <p:pic>
        <p:nvPicPr>
          <p:cNvPr id="3" name="Picture 2">
            <a:extLst>
              <a:ext uri="{FF2B5EF4-FFF2-40B4-BE49-F238E27FC236}">
                <a16:creationId xmlns:a16="http://schemas.microsoft.com/office/drawing/2014/main" id="{7787920D-26DC-A5A9-047F-FBC16BCF7188}"/>
              </a:ext>
            </a:extLst>
          </p:cNvPr>
          <p:cNvPicPr>
            <a:picLocks noChangeAspect="1"/>
          </p:cNvPicPr>
          <p:nvPr/>
        </p:nvPicPr>
        <p:blipFill>
          <a:blip r:embed="rId3"/>
          <a:srcRect r="26471"/>
          <a:stretch>
            <a:fillRect/>
          </a:stretch>
        </p:blipFill>
        <p:spPr>
          <a:xfrm flipH="1">
            <a:off x="-19771" y="4861379"/>
            <a:ext cx="970190" cy="1153140"/>
          </a:xfrm>
          <a:custGeom>
            <a:avLst/>
            <a:gdLst>
              <a:gd name="connsiteX0" fmla="*/ 0 w 2266950"/>
              <a:gd name="connsiteY0" fmla="*/ 0 h 1981200"/>
              <a:gd name="connsiteX1" fmla="*/ 2266950 w 2266950"/>
              <a:gd name="connsiteY1" fmla="*/ 0 h 1981200"/>
              <a:gd name="connsiteX2" fmla="*/ 2266950 w 2266950"/>
              <a:gd name="connsiteY2" fmla="*/ 1981200 h 1981200"/>
              <a:gd name="connsiteX3" fmla="*/ 0 w 2266950"/>
              <a:gd name="connsiteY3" fmla="*/ 1981200 h 1981200"/>
            </a:gdLst>
            <a:ahLst/>
            <a:cxnLst>
              <a:cxn ang="0">
                <a:pos x="connsiteX0" y="connsiteY0"/>
              </a:cxn>
              <a:cxn ang="0">
                <a:pos x="connsiteX1" y="connsiteY1"/>
              </a:cxn>
              <a:cxn ang="0">
                <a:pos x="connsiteX2" y="connsiteY2"/>
              </a:cxn>
              <a:cxn ang="0">
                <a:pos x="connsiteX3" y="connsiteY3"/>
              </a:cxn>
            </a:cxnLst>
            <a:rect l="l" t="t" r="r" b="b"/>
            <a:pathLst>
              <a:path w="2266950" h="1981200">
                <a:moveTo>
                  <a:pt x="0" y="0"/>
                </a:moveTo>
                <a:lnTo>
                  <a:pt x="2266950" y="0"/>
                </a:lnTo>
                <a:lnTo>
                  <a:pt x="2266950" y="1981200"/>
                </a:lnTo>
                <a:lnTo>
                  <a:pt x="0" y="1981200"/>
                </a:lnTo>
                <a:close/>
              </a:path>
            </a:pathLst>
          </a:custGeom>
        </p:spPr>
      </p:pic>
      <p:grpSp>
        <p:nvGrpSpPr>
          <p:cNvPr id="5" name="Group 4">
            <a:extLst>
              <a:ext uri="{FF2B5EF4-FFF2-40B4-BE49-F238E27FC236}">
                <a16:creationId xmlns:a16="http://schemas.microsoft.com/office/drawing/2014/main" id="{2DDCF501-5C47-3E27-63F3-99FFE590F5D8}"/>
              </a:ext>
            </a:extLst>
          </p:cNvPr>
          <p:cNvGrpSpPr/>
          <p:nvPr/>
        </p:nvGrpSpPr>
        <p:grpSpPr>
          <a:xfrm>
            <a:off x="722705" y="1612551"/>
            <a:ext cx="6177787" cy="4209420"/>
            <a:chOff x="868632" y="1467490"/>
            <a:chExt cx="6177787" cy="4209420"/>
          </a:xfrm>
        </p:grpSpPr>
        <p:sp>
          <p:nvSpPr>
            <p:cNvPr id="6" name="TextBox 5">
              <a:extLst>
                <a:ext uri="{FF2B5EF4-FFF2-40B4-BE49-F238E27FC236}">
                  <a16:creationId xmlns:a16="http://schemas.microsoft.com/office/drawing/2014/main" id="{4EF49F4F-2C86-6CF5-4DB3-6B33C67572DB}"/>
                </a:ext>
              </a:extLst>
            </p:cNvPr>
            <p:cNvSpPr txBox="1"/>
            <p:nvPr/>
          </p:nvSpPr>
          <p:spPr>
            <a:xfrm>
              <a:off x="950419" y="1467490"/>
              <a:ext cx="6096000" cy="707886"/>
            </a:xfrm>
            <a:prstGeom prst="rect">
              <a:avLst/>
            </a:prstGeom>
            <a:noFill/>
          </p:spPr>
          <p:txBody>
            <a:bodyPr wrap="square">
              <a:spAutoFit/>
            </a:bodyPr>
            <a:lstStyle/>
            <a:p>
              <a:r>
                <a:rPr lang="en-IN" sz="4000" dirty="0">
                  <a:solidFill>
                    <a:srgbClr val="FF6319"/>
                  </a:solidFill>
                  <a:latin typeface="Cambria" panose="02040503050406030204" pitchFamily="18" charset="0"/>
                  <a:ea typeface="+mj-ea"/>
                  <a:cs typeface="+mj-cs"/>
                </a:rPr>
                <a:t>What is IPSAS?</a:t>
              </a:r>
            </a:p>
          </p:txBody>
        </p:sp>
        <p:sp>
          <p:nvSpPr>
            <p:cNvPr id="7" name="TextBox 6">
              <a:extLst>
                <a:ext uri="{FF2B5EF4-FFF2-40B4-BE49-F238E27FC236}">
                  <a16:creationId xmlns:a16="http://schemas.microsoft.com/office/drawing/2014/main" id="{0935AE23-67B4-F6A7-2951-CBE76EE51F8A}"/>
                </a:ext>
              </a:extLst>
            </p:cNvPr>
            <p:cNvSpPr txBox="1"/>
            <p:nvPr/>
          </p:nvSpPr>
          <p:spPr>
            <a:xfrm>
              <a:off x="868632" y="2317849"/>
              <a:ext cx="5698859" cy="3359061"/>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GB" sz="2400" dirty="0"/>
                <a:t>Set of standards developed by IPSASB as best practice for the public sector organizations.</a:t>
              </a:r>
            </a:p>
            <a:p>
              <a:pPr marL="342900" indent="-342900">
                <a:lnSpc>
                  <a:spcPct val="150000"/>
                </a:lnSpc>
                <a:buFont typeface="Wingdings" panose="05000000000000000000" pitchFamily="2" charset="2"/>
                <a:buChar char="v"/>
              </a:pPr>
              <a:endParaRPr lang="en-GB" sz="2400" dirty="0"/>
            </a:p>
            <a:p>
              <a:pPr marL="342900" indent="-342900">
                <a:lnSpc>
                  <a:spcPct val="150000"/>
                </a:lnSpc>
                <a:buFont typeface="Wingdings" panose="05000000000000000000" pitchFamily="2" charset="2"/>
                <a:buChar char="v"/>
              </a:pPr>
              <a:r>
                <a:rPr lang="en-GB" sz="2400" dirty="0"/>
                <a:t>IPSAS Cash or IPSAS Accrual Basis</a:t>
              </a:r>
            </a:p>
            <a:p>
              <a:pPr>
                <a:lnSpc>
                  <a:spcPct val="150000"/>
                </a:lnSpc>
              </a:pPr>
              <a:endParaRPr lang="en-GB" sz="2400" dirty="0"/>
            </a:p>
          </p:txBody>
        </p:sp>
      </p:grpSp>
      <p:pic>
        <p:nvPicPr>
          <p:cNvPr id="8" name="Picture 7">
            <a:extLst>
              <a:ext uri="{FF2B5EF4-FFF2-40B4-BE49-F238E27FC236}">
                <a16:creationId xmlns:a16="http://schemas.microsoft.com/office/drawing/2014/main" id="{FF333FA0-7A17-ADA3-75FD-F8B8316E89D7}"/>
              </a:ext>
            </a:extLst>
          </p:cNvPr>
          <p:cNvPicPr>
            <a:picLocks noChangeAspect="1"/>
          </p:cNvPicPr>
          <p:nvPr/>
        </p:nvPicPr>
        <p:blipFill>
          <a:blip r:embed="rId4"/>
          <a:stretch>
            <a:fillRect/>
          </a:stretch>
        </p:blipFill>
        <p:spPr>
          <a:xfrm>
            <a:off x="6754564" y="1878496"/>
            <a:ext cx="5437435" cy="3559453"/>
          </a:xfrm>
          <a:prstGeom prst="rect">
            <a:avLst/>
          </a:prstGeom>
        </p:spPr>
      </p:pic>
      <p:sp>
        <p:nvSpPr>
          <p:cNvPr id="4" name="Google Shape;570;p59">
            <a:extLst>
              <a:ext uri="{FF2B5EF4-FFF2-40B4-BE49-F238E27FC236}">
                <a16:creationId xmlns:a16="http://schemas.microsoft.com/office/drawing/2014/main" id="{45FC7852-1649-28B7-6753-A6F35D3834DB}"/>
              </a:ext>
            </a:extLst>
          </p:cNvPr>
          <p:cNvSpPr txBox="1">
            <a:spLocks noGrp="1"/>
          </p:cNvSpPr>
          <p:nvPr>
            <p:ph type="title"/>
          </p:nvPr>
        </p:nvSpPr>
        <p:spPr>
          <a:xfrm>
            <a:off x="722705" y="38769"/>
            <a:ext cx="11084832" cy="868362"/>
          </a:xfrm>
          <a:prstGeom prst="rect">
            <a:avLst/>
          </a:prstGeom>
          <a:noFill/>
          <a:ln>
            <a:noFill/>
          </a:ln>
        </p:spPr>
        <p:txBody>
          <a:bodyPr spcFirstLastPara="1" vert="horz" wrap="square" lIns="91425" tIns="45700" rIns="91425" bIns="45700" rtlCol="0" anchor="b" anchorCtr="0">
            <a:noAutofit/>
          </a:bodyPr>
          <a:lstStyle/>
          <a:p>
            <a:pPr marL="538162" algn="just">
              <a:lnSpc>
                <a:spcPct val="170000"/>
              </a:lnSpc>
            </a:pPr>
            <a:r>
              <a:rPr lang="en-US" sz="3000" dirty="0">
                <a:solidFill>
                  <a:srgbClr val="FF6319"/>
                </a:solidFill>
              </a:rPr>
              <a:t>International Public Sector Accounting Standard (IPSAS) </a:t>
            </a:r>
          </a:p>
        </p:txBody>
      </p:sp>
    </p:spTree>
    <p:extLst>
      <p:ext uri="{BB962C8B-B14F-4D97-AF65-F5344CB8AC3E}">
        <p14:creationId xmlns:p14="http://schemas.microsoft.com/office/powerpoint/2010/main" val="219569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D31C2BD4-6501-731B-7B62-CA98139CA1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3CE245-254B-8DB4-F440-7A82A5788CA9}"/>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a:t>
            </a:fld>
            <a:endParaRPr lang="en-GB" dirty="0"/>
          </a:p>
        </p:txBody>
      </p:sp>
      <p:pic>
        <p:nvPicPr>
          <p:cNvPr id="3" name="Picture 2">
            <a:extLst>
              <a:ext uri="{FF2B5EF4-FFF2-40B4-BE49-F238E27FC236}">
                <a16:creationId xmlns:a16="http://schemas.microsoft.com/office/drawing/2014/main" id="{A60E5A68-B279-ABB0-990D-54021E1795DB}"/>
              </a:ext>
            </a:extLst>
          </p:cNvPr>
          <p:cNvPicPr>
            <a:picLocks noChangeAspect="1"/>
          </p:cNvPicPr>
          <p:nvPr/>
        </p:nvPicPr>
        <p:blipFill>
          <a:blip r:embed="rId3"/>
          <a:srcRect r="26471"/>
          <a:stretch>
            <a:fillRect/>
          </a:stretch>
        </p:blipFill>
        <p:spPr>
          <a:xfrm flipH="1">
            <a:off x="-19771" y="4861379"/>
            <a:ext cx="970190" cy="1153140"/>
          </a:xfrm>
          <a:custGeom>
            <a:avLst/>
            <a:gdLst>
              <a:gd name="connsiteX0" fmla="*/ 0 w 2266950"/>
              <a:gd name="connsiteY0" fmla="*/ 0 h 1981200"/>
              <a:gd name="connsiteX1" fmla="*/ 2266950 w 2266950"/>
              <a:gd name="connsiteY1" fmla="*/ 0 h 1981200"/>
              <a:gd name="connsiteX2" fmla="*/ 2266950 w 2266950"/>
              <a:gd name="connsiteY2" fmla="*/ 1981200 h 1981200"/>
              <a:gd name="connsiteX3" fmla="*/ 0 w 2266950"/>
              <a:gd name="connsiteY3" fmla="*/ 1981200 h 1981200"/>
            </a:gdLst>
            <a:ahLst/>
            <a:cxnLst>
              <a:cxn ang="0">
                <a:pos x="connsiteX0" y="connsiteY0"/>
              </a:cxn>
              <a:cxn ang="0">
                <a:pos x="connsiteX1" y="connsiteY1"/>
              </a:cxn>
              <a:cxn ang="0">
                <a:pos x="connsiteX2" y="connsiteY2"/>
              </a:cxn>
              <a:cxn ang="0">
                <a:pos x="connsiteX3" y="connsiteY3"/>
              </a:cxn>
            </a:cxnLst>
            <a:rect l="l" t="t" r="r" b="b"/>
            <a:pathLst>
              <a:path w="2266950" h="1981200">
                <a:moveTo>
                  <a:pt x="0" y="0"/>
                </a:moveTo>
                <a:lnTo>
                  <a:pt x="2266950" y="0"/>
                </a:lnTo>
                <a:lnTo>
                  <a:pt x="2266950" y="1981200"/>
                </a:lnTo>
                <a:lnTo>
                  <a:pt x="0" y="1981200"/>
                </a:lnTo>
                <a:close/>
              </a:path>
            </a:pathLst>
          </a:custGeom>
        </p:spPr>
      </p:pic>
      <p:sp>
        <p:nvSpPr>
          <p:cNvPr id="6" name="TextBox 5">
            <a:extLst>
              <a:ext uri="{FF2B5EF4-FFF2-40B4-BE49-F238E27FC236}">
                <a16:creationId xmlns:a16="http://schemas.microsoft.com/office/drawing/2014/main" id="{590BFC7F-E8F5-B12B-A765-759C0FFAB5E0}"/>
              </a:ext>
            </a:extLst>
          </p:cNvPr>
          <p:cNvSpPr txBox="1"/>
          <p:nvPr/>
        </p:nvSpPr>
        <p:spPr>
          <a:xfrm>
            <a:off x="1423754" y="119007"/>
            <a:ext cx="8258127" cy="707886"/>
          </a:xfrm>
          <a:prstGeom prst="rect">
            <a:avLst/>
          </a:prstGeom>
          <a:noFill/>
        </p:spPr>
        <p:txBody>
          <a:bodyPr wrap="square">
            <a:spAutoFit/>
          </a:bodyPr>
          <a:lstStyle/>
          <a:p>
            <a:r>
              <a:rPr lang="en-IN" sz="4000" dirty="0">
                <a:solidFill>
                  <a:srgbClr val="FF6319"/>
                </a:solidFill>
                <a:latin typeface="Cambria" panose="02040503050406030204" pitchFamily="18" charset="0"/>
                <a:ea typeface="+mj-ea"/>
                <a:cs typeface="+mj-cs"/>
              </a:rPr>
              <a:t>Number of IPSAS Issued to date</a:t>
            </a:r>
          </a:p>
        </p:txBody>
      </p:sp>
      <p:graphicFrame>
        <p:nvGraphicFramePr>
          <p:cNvPr id="7" name="Table 6">
            <a:extLst>
              <a:ext uri="{FF2B5EF4-FFF2-40B4-BE49-F238E27FC236}">
                <a16:creationId xmlns:a16="http://schemas.microsoft.com/office/drawing/2014/main" id="{78F4BA6A-854D-21AE-FC38-4D5C32CB1677}"/>
              </a:ext>
            </a:extLst>
          </p:cNvPr>
          <p:cNvGraphicFramePr>
            <a:graphicFrameLocks noGrp="1"/>
          </p:cNvGraphicFramePr>
          <p:nvPr>
            <p:extLst>
              <p:ext uri="{D42A27DB-BD31-4B8C-83A1-F6EECF244321}">
                <p14:modId xmlns:p14="http://schemas.microsoft.com/office/powerpoint/2010/main" val="430778023"/>
              </p:ext>
            </p:extLst>
          </p:nvPr>
        </p:nvGraphicFramePr>
        <p:xfrm>
          <a:off x="58313" y="865562"/>
          <a:ext cx="6421508" cy="5996231"/>
        </p:xfrm>
        <a:graphic>
          <a:graphicData uri="http://schemas.openxmlformats.org/drawingml/2006/table">
            <a:tbl>
              <a:tblPr firstRow="1" firstCol="1" bandRow="1">
                <a:tableStyleId>{F5AB1C69-6EDB-4FF4-983F-18BD219EF322}</a:tableStyleId>
              </a:tblPr>
              <a:tblGrid>
                <a:gridCol w="1815643">
                  <a:extLst>
                    <a:ext uri="{9D8B030D-6E8A-4147-A177-3AD203B41FA5}">
                      <a16:colId xmlns:a16="http://schemas.microsoft.com/office/drawing/2014/main" val="1812087370"/>
                    </a:ext>
                  </a:extLst>
                </a:gridCol>
                <a:gridCol w="711200">
                  <a:extLst>
                    <a:ext uri="{9D8B030D-6E8A-4147-A177-3AD203B41FA5}">
                      <a16:colId xmlns:a16="http://schemas.microsoft.com/office/drawing/2014/main" val="2657559362"/>
                    </a:ext>
                  </a:extLst>
                </a:gridCol>
                <a:gridCol w="2743200">
                  <a:extLst>
                    <a:ext uri="{9D8B030D-6E8A-4147-A177-3AD203B41FA5}">
                      <a16:colId xmlns:a16="http://schemas.microsoft.com/office/drawing/2014/main" val="3183147442"/>
                    </a:ext>
                  </a:extLst>
                </a:gridCol>
                <a:gridCol w="1151465">
                  <a:extLst>
                    <a:ext uri="{9D8B030D-6E8A-4147-A177-3AD203B41FA5}">
                      <a16:colId xmlns:a16="http://schemas.microsoft.com/office/drawing/2014/main" val="1981631850"/>
                    </a:ext>
                  </a:extLst>
                </a:gridCol>
              </a:tblGrid>
              <a:tr h="289609">
                <a:tc>
                  <a:txBody>
                    <a:bodyPr/>
                    <a:lstStyle/>
                    <a:p>
                      <a:pPr algn="ctr">
                        <a:lnSpc>
                          <a:spcPct val="107000"/>
                        </a:lnSpc>
                        <a:spcAft>
                          <a:spcPts val="800"/>
                        </a:spcAft>
                        <a:buNone/>
                      </a:pPr>
                      <a:r>
                        <a:rPr lang="en-GB" sz="1200" b="1" kern="0" dirty="0">
                          <a:effectLst/>
                        </a:rPr>
                        <a:t>Category</a:t>
                      </a:r>
                      <a:endParaRPr lang="en-GB" sz="1200" b="1"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200" kern="0" dirty="0">
                          <a:effectLst/>
                        </a:rPr>
                        <a:t>IPSAS</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200" kern="0" dirty="0">
                          <a:effectLst/>
                        </a:rPr>
                        <a:t>Title</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200" kern="0" dirty="0">
                          <a:effectLst/>
                        </a:rPr>
                        <a:t>Effective Date</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extLst>
                  <a:ext uri="{0D108BD9-81ED-4DB2-BD59-A6C34878D82A}">
                    <a16:rowId xmlns:a16="http://schemas.microsoft.com/office/drawing/2014/main" val="844076439"/>
                  </a:ext>
                </a:extLst>
              </a:tr>
              <a:tr h="289609">
                <a:tc rowSpan="5">
                  <a:txBody>
                    <a:bodyPr/>
                    <a:lstStyle/>
                    <a:p>
                      <a:pPr algn="ctr">
                        <a:lnSpc>
                          <a:spcPct val="107000"/>
                        </a:lnSpc>
                        <a:spcAft>
                          <a:spcPts val="800"/>
                        </a:spcAft>
                        <a:buNone/>
                      </a:pPr>
                      <a:r>
                        <a:rPr lang="en-GB" sz="1200" b="1" kern="0" dirty="0">
                          <a:effectLst/>
                        </a:rPr>
                        <a:t>General Purpose </a:t>
                      </a:r>
                    </a:p>
                    <a:p>
                      <a:pPr algn="ctr">
                        <a:lnSpc>
                          <a:spcPct val="107000"/>
                        </a:lnSpc>
                        <a:spcAft>
                          <a:spcPts val="800"/>
                        </a:spcAft>
                        <a:buNone/>
                      </a:pPr>
                      <a:r>
                        <a:rPr lang="en-GB" sz="1200" b="1" kern="0" dirty="0">
                          <a:effectLst/>
                        </a:rPr>
                        <a:t>Financial Statements </a:t>
                      </a:r>
                      <a:endParaRPr lang="en-GB" sz="1200" b="1" kern="100" dirty="0">
                        <a:effectLst/>
                        <a:latin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100" kern="0" dirty="0">
                          <a:effectLst/>
                        </a:rPr>
                        <a:t>IPSAS 1</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Presentation of Financial Statements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788937945"/>
                  </a:ext>
                </a:extLst>
              </a:tr>
              <a:tr h="289609">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2</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Cash Flow Statements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2428903"/>
                  </a:ext>
                </a:extLst>
              </a:tr>
              <a:tr h="373991">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3</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Accounting Policies, Changes in Estimates &amp; Errors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a:solidFill>
                            <a:srgbClr val="000000"/>
                          </a:solidFill>
                          <a:effectLst/>
                        </a:rPr>
                        <a:t>Jan 1, 2008</a:t>
                      </a:r>
                      <a:endParaRPr lang="en-GB"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153642317"/>
                  </a:ext>
                </a:extLst>
              </a:tr>
              <a:tr h="289609">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4</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Effects of Changes in Foreign Exchange Rates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129405006"/>
                  </a:ext>
                </a:extLst>
              </a:tr>
              <a:tr h="289609">
                <a:tc vMerge="1">
                  <a:txBody>
                    <a:bodyPr/>
                    <a:lstStyle/>
                    <a:p>
                      <a:endParaRPr dirty="0"/>
                    </a:p>
                  </a:txBody>
                  <a:tcPr marL="45284" marR="45284" marT="0" marB="0" anchor="ctr"/>
                </a:tc>
                <a:tc>
                  <a:txBody>
                    <a:bodyPr/>
                    <a:lstStyle/>
                    <a:p>
                      <a:pPr algn="ctr">
                        <a:lnSpc>
                          <a:spcPct val="107000"/>
                        </a:lnSpc>
                        <a:spcAft>
                          <a:spcPts val="800"/>
                        </a:spcAft>
                        <a:buNone/>
                      </a:pPr>
                      <a:r>
                        <a:rPr lang="en-GB" sz="1100" kern="0" dirty="0">
                          <a:effectLst/>
                        </a:rPr>
                        <a:t>IPSAS 5</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Borrowing Costs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5835256"/>
                  </a:ext>
                </a:extLst>
              </a:tr>
              <a:tr h="5128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kern="0" dirty="0">
                          <a:solidFill>
                            <a:schemeClr val="lt1"/>
                          </a:solidFill>
                          <a:effectLst/>
                          <a:latin typeface="+mn-lt"/>
                          <a:ea typeface="+mn-ea"/>
                          <a:cs typeface="+mn-cs"/>
                        </a:rPr>
                        <a:t>Revenue &amp; Non-Exchange Transactions </a:t>
                      </a:r>
                      <a:endParaRPr lang="en-GB" dirty="0"/>
                    </a:p>
                  </a:txBody>
                  <a:tcPr marL="45284" marR="45284" marT="0" marB="0" anchor="ctr"/>
                </a:tc>
                <a:tc>
                  <a:txBody>
                    <a:bodyPr/>
                    <a:lstStyle/>
                    <a:p>
                      <a:pPr algn="ctr">
                        <a:lnSpc>
                          <a:spcPct val="107000"/>
                        </a:lnSpc>
                        <a:spcAft>
                          <a:spcPts val="800"/>
                        </a:spcAft>
                        <a:buNone/>
                      </a:pPr>
                      <a:r>
                        <a:rPr lang="en-GB" sz="1100" kern="0" dirty="0">
                          <a:effectLst/>
                        </a:rPr>
                        <a:t>IPSAS 47</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Revenue</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097711794"/>
                  </a:ext>
                </a:extLst>
              </a:tr>
              <a:tr h="289609">
                <a:tc rowSpan="3">
                  <a:txBody>
                    <a:bodyPr/>
                    <a:lstStyle/>
                    <a:p>
                      <a:pPr algn="ctr">
                        <a:lnSpc>
                          <a:spcPct val="107000"/>
                        </a:lnSpc>
                        <a:spcAft>
                          <a:spcPts val="800"/>
                        </a:spcAft>
                        <a:buNone/>
                      </a:pPr>
                      <a:r>
                        <a:rPr lang="en-GB" sz="1200" b="1" kern="0" dirty="0">
                          <a:effectLst/>
                        </a:rPr>
                        <a:t>Financial Instruments </a:t>
                      </a:r>
                      <a:endParaRPr lang="en-GB" sz="1200" b="1" kern="100" dirty="0">
                        <a:effectLst/>
                        <a:latin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100" kern="0">
                          <a:effectLst/>
                        </a:rPr>
                        <a:t>IPSAS 28</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Financial Instruments: Presentation</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2013</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090026585"/>
                  </a:ext>
                </a:extLst>
              </a:tr>
              <a:tr h="289609">
                <a:tc vMerge="1">
                  <a:txBody>
                    <a:bodyPr/>
                    <a:lstStyle/>
                    <a:p>
                      <a:endParaRPr/>
                    </a:p>
                  </a:txBody>
                  <a:tcPr marL="45284" marR="45284" marT="0" marB="0" anchor="ctr"/>
                </a:tc>
                <a:tc>
                  <a:txBody>
                    <a:bodyPr/>
                    <a:lstStyle/>
                    <a:p>
                      <a:pPr algn="ctr">
                        <a:lnSpc>
                          <a:spcPct val="107000"/>
                        </a:lnSpc>
                        <a:spcAft>
                          <a:spcPts val="800"/>
                        </a:spcAft>
                        <a:buNone/>
                      </a:pPr>
                      <a:r>
                        <a:rPr lang="en-GB" sz="1100" kern="0">
                          <a:effectLst/>
                        </a:rPr>
                        <a:t>IPSAS 30</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Financial Instruments: Disclosures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2013</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688655453"/>
                  </a:ext>
                </a:extLst>
              </a:tr>
              <a:tr h="289609">
                <a:tc vMerge="1">
                  <a:txBody>
                    <a:bodyPr/>
                    <a:lstStyle/>
                    <a:p>
                      <a:endParaRPr dirty="0"/>
                    </a:p>
                  </a:txBody>
                  <a:tcPr marL="45284" marR="45284" marT="0" marB="0" anchor="ctr"/>
                </a:tc>
                <a:tc>
                  <a:txBody>
                    <a:bodyPr/>
                    <a:lstStyle/>
                    <a:p>
                      <a:pPr algn="ctr">
                        <a:lnSpc>
                          <a:spcPct val="107000"/>
                        </a:lnSpc>
                        <a:spcAft>
                          <a:spcPts val="800"/>
                        </a:spcAft>
                        <a:buNone/>
                      </a:pPr>
                      <a:r>
                        <a:rPr lang="en-GB" sz="1100" kern="0">
                          <a:effectLst/>
                        </a:rPr>
                        <a:t>IPSAS 41</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Financial Instruments (replaces 29)</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2023</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615828958"/>
                  </a:ext>
                </a:extLst>
              </a:tr>
              <a:tr h="289609">
                <a:tc rowSpan="6">
                  <a:txBody>
                    <a:bodyPr/>
                    <a:lstStyle/>
                    <a:p>
                      <a:pPr algn="ctr">
                        <a:lnSpc>
                          <a:spcPct val="107000"/>
                        </a:lnSpc>
                        <a:spcAft>
                          <a:spcPts val="800"/>
                        </a:spcAft>
                        <a:buNone/>
                      </a:pPr>
                      <a:r>
                        <a:rPr lang="en-GB" sz="1200" b="1" kern="0" dirty="0">
                          <a:effectLst/>
                        </a:rPr>
                        <a:t>Consolidation </a:t>
                      </a:r>
                    </a:p>
                    <a:p>
                      <a:pPr algn="ctr">
                        <a:lnSpc>
                          <a:spcPct val="107000"/>
                        </a:lnSpc>
                        <a:spcAft>
                          <a:spcPts val="800"/>
                        </a:spcAft>
                        <a:buNone/>
                      </a:pPr>
                      <a:r>
                        <a:rPr lang="en-GB" sz="1200" b="1" kern="0" dirty="0">
                          <a:effectLst/>
                        </a:rPr>
                        <a:t>&amp; Investments</a:t>
                      </a:r>
                    </a:p>
                    <a:p>
                      <a:pPr algn="ctr">
                        <a:lnSpc>
                          <a:spcPct val="107000"/>
                        </a:lnSpc>
                        <a:spcAft>
                          <a:spcPts val="800"/>
                        </a:spcAft>
                        <a:buNone/>
                      </a:pPr>
                      <a:r>
                        <a:rPr lang="en-GB" sz="1200" b="1" kern="0" dirty="0">
                          <a:effectLst/>
                        </a:rPr>
                        <a:t> </a:t>
                      </a:r>
                      <a:endParaRPr lang="en-GB" sz="1200" b="1" kern="100" dirty="0">
                        <a:effectLst/>
                        <a:latin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100" kern="0">
                          <a:effectLst/>
                        </a:rPr>
                        <a:t>IPSAS 34</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Separate Financial Statements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2017</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700777066"/>
                  </a:ext>
                </a:extLst>
              </a:tr>
              <a:tr h="289609">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35</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Consolidated Financial Statements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2017</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588309665"/>
                  </a:ext>
                </a:extLst>
              </a:tr>
              <a:tr h="289609">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36</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Investments in Associates &amp; Joint Ventures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2017</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505326993"/>
                  </a:ext>
                </a:extLst>
              </a:tr>
              <a:tr h="289609">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37</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Joint Arrangements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2017</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00203445"/>
                  </a:ext>
                </a:extLst>
              </a:tr>
              <a:tr h="289609">
                <a:tc vMerge="1">
                  <a:txBody>
                    <a:bodyPr/>
                    <a:lstStyle/>
                    <a:p>
                      <a:endParaRPr lang="en-GB"/>
                    </a:p>
                  </a:txBody>
                  <a:tcPr/>
                </a:tc>
                <a:tc>
                  <a:txBody>
                    <a:bodyPr/>
                    <a:lstStyle/>
                    <a:p>
                      <a:pPr algn="ctr">
                        <a:lnSpc>
                          <a:spcPct val="107000"/>
                        </a:lnSpc>
                        <a:spcAft>
                          <a:spcPts val="800"/>
                        </a:spcAft>
                        <a:buNone/>
                      </a:pPr>
                      <a:r>
                        <a:rPr lang="en-GB" sz="1100" kern="0" dirty="0">
                          <a:effectLst/>
                        </a:rPr>
                        <a:t>IPSAS 38</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Disclosure of Interests in Other Entities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2017</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30591125"/>
                  </a:ext>
                </a:extLst>
              </a:tr>
              <a:tr h="186085">
                <a:tc vMerge="1">
                  <a:txBody>
                    <a:bodyPr/>
                    <a:lstStyle/>
                    <a:p>
                      <a:endParaRPr dirty="0"/>
                    </a:p>
                  </a:txBody>
                  <a:tcPr marL="45284" marR="45284" marT="0" marB="0" anchor="ctr"/>
                </a:tc>
                <a:tc>
                  <a:txBody>
                    <a:bodyPr/>
                    <a:lstStyle/>
                    <a:p>
                      <a:pPr algn="ctr">
                        <a:lnSpc>
                          <a:spcPct val="107000"/>
                        </a:lnSpc>
                        <a:spcAft>
                          <a:spcPts val="800"/>
                        </a:spcAft>
                        <a:buNone/>
                      </a:pPr>
                      <a:r>
                        <a:rPr lang="en-GB" sz="1100" kern="0" dirty="0">
                          <a:effectLst/>
                        </a:rPr>
                        <a:t>IPSAS 40</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Public Sector Combinations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2019</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55687731"/>
                  </a:ext>
                </a:extLst>
              </a:tr>
              <a:tr h="289609">
                <a:tc rowSpan="4">
                  <a:txBody>
                    <a:bodyPr/>
                    <a:lstStyle/>
                    <a:p>
                      <a:pPr algn="ctr">
                        <a:lnSpc>
                          <a:spcPct val="107000"/>
                        </a:lnSpc>
                        <a:spcAft>
                          <a:spcPts val="800"/>
                        </a:spcAft>
                        <a:buNone/>
                      </a:pPr>
                      <a:r>
                        <a:rPr lang="en-GB" sz="1200" b="1" kern="0" dirty="0">
                          <a:effectLst/>
                        </a:rPr>
                        <a:t>Employee Benefits &amp; other expenses</a:t>
                      </a:r>
                      <a:endParaRPr lang="en-GB" sz="1200" b="1" kern="100" dirty="0">
                        <a:effectLst/>
                        <a:latin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100" kern="0" dirty="0">
                          <a:effectLst/>
                        </a:rPr>
                        <a:t>IPSAS 39</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Employee Benefits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099916"/>
                  </a:ext>
                </a:extLst>
              </a:tr>
              <a:tr h="289609">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42</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Social Benefits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2022</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035035727"/>
                  </a:ext>
                </a:extLst>
              </a:tr>
              <a:tr h="289609">
                <a:tc vMerge="1">
                  <a:txBody>
                    <a:bodyPr/>
                    <a:lstStyle/>
                    <a:p>
                      <a:endParaRPr dirty="0"/>
                    </a:p>
                  </a:txBody>
                  <a:tcPr marL="45284" marR="45284" marT="0" marB="0" anchor="ctr"/>
                </a:tc>
                <a:tc>
                  <a:txBody>
                    <a:bodyPr/>
                    <a:lstStyle/>
                    <a:p>
                      <a:pPr algn="ctr">
                        <a:lnSpc>
                          <a:spcPct val="107000"/>
                        </a:lnSpc>
                        <a:spcAft>
                          <a:spcPts val="800"/>
                        </a:spcAft>
                        <a:buNone/>
                      </a:pPr>
                      <a:r>
                        <a:rPr lang="en-GB" sz="1100" kern="0" dirty="0">
                          <a:effectLst/>
                        </a:rPr>
                        <a:t>IPSAS 49</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Retirement Benefit Plans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2026</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07418631"/>
                  </a:ext>
                </a:extLst>
              </a:tr>
              <a:tr h="289609">
                <a:tc vMerge="1">
                  <a:txBody>
                    <a:bodyPr/>
                    <a:lstStyle/>
                    <a:p>
                      <a:pPr algn="ctr">
                        <a:lnSpc>
                          <a:spcPct val="107000"/>
                        </a:lnSpc>
                        <a:spcAft>
                          <a:spcPts val="800"/>
                        </a:spcAft>
                        <a:buNone/>
                      </a:pPr>
                      <a:endParaRPr lang="en-GB" sz="1200" b="1" kern="100" dirty="0">
                        <a:effectLst/>
                        <a:latin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100" kern="0" dirty="0">
                          <a:effectLst/>
                        </a:rPr>
                        <a:t>IPSAS 48</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Transfer Expenses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2026</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277491047"/>
                  </a:ext>
                </a:extLst>
              </a:tr>
            </a:tbl>
          </a:graphicData>
        </a:graphic>
      </p:graphicFrame>
      <p:graphicFrame>
        <p:nvGraphicFramePr>
          <p:cNvPr id="8" name="Table 7">
            <a:extLst>
              <a:ext uri="{FF2B5EF4-FFF2-40B4-BE49-F238E27FC236}">
                <a16:creationId xmlns:a16="http://schemas.microsoft.com/office/drawing/2014/main" id="{3764066B-6B0F-9D66-CDF0-1E02F6DBDC93}"/>
              </a:ext>
            </a:extLst>
          </p:cNvPr>
          <p:cNvGraphicFramePr>
            <a:graphicFrameLocks noGrp="1"/>
          </p:cNvGraphicFramePr>
          <p:nvPr>
            <p:extLst>
              <p:ext uri="{D42A27DB-BD31-4B8C-83A1-F6EECF244321}">
                <p14:modId xmlns:p14="http://schemas.microsoft.com/office/powerpoint/2010/main" val="3307734833"/>
              </p:ext>
            </p:extLst>
          </p:nvPr>
        </p:nvGraphicFramePr>
        <p:xfrm>
          <a:off x="6502399" y="865030"/>
          <a:ext cx="5653865" cy="5992978"/>
        </p:xfrm>
        <a:graphic>
          <a:graphicData uri="http://schemas.openxmlformats.org/drawingml/2006/table">
            <a:tbl>
              <a:tblPr firstRow="1" firstCol="1" bandRow="1">
                <a:tableStyleId>{F5AB1C69-6EDB-4FF4-983F-18BD219EF322}</a:tableStyleId>
              </a:tblPr>
              <a:tblGrid>
                <a:gridCol w="1388534">
                  <a:extLst>
                    <a:ext uri="{9D8B030D-6E8A-4147-A177-3AD203B41FA5}">
                      <a16:colId xmlns:a16="http://schemas.microsoft.com/office/drawing/2014/main" val="1812087370"/>
                    </a:ext>
                  </a:extLst>
                </a:gridCol>
                <a:gridCol w="666045">
                  <a:extLst>
                    <a:ext uri="{9D8B030D-6E8A-4147-A177-3AD203B41FA5}">
                      <a16:colId xmlns:a16="http://schemas.microsoft.com/office/drawing/2014/main" val="2657559362"/>
                    </a:ext>
                  </a:extLst>
                </a:gridCol>
                <a:gridCol w="2573867">
                  <a:extLst>
                    <a:ext uri="{9D8B030D-6E8A-4147-A177-3AD203B41FA5}">
                      <a16:colId xmlns:a16="http://schemas.microsoft.com/office/drawing/2014/main" val="3183147442"/>
                    </a:ext>
                  </a:extLst>
                </a:gridCol>
                <a:gridCol w="1025419">
                  <a:extLst>
                    <a:ext uri="{9D8B030D-6E8A-4147-A177-3AD203B41FA5}">
                      <a16:colId xmlns:a16="http://schemas.microsoft.com/office/drawing/2014/main" val="1981631850"/>
                    </a:ext>
                  </a:extLst>
                </a:gridCol>
              </a:tblGrid>
              <a:tr h="282086">
                <a:tc>
                  <a:txBody>
                    <a:bodyPr/>
                    <a:lstStyle/>
                    <a:p>
                      <a:pPr algn="ctr">
                        <a:lnSpc>
                          <a:spcPct val="107000"/>
                        </a:lnSpc>
                        <a:spcAft>
                          <a:spcPts val="800"/>
                        </a:spcAft>
                        <a:buNone/>
                      </a:pPr>
                      <a:r>
                        <a:rPr lang="en-GB" sz="1200" kern="0" dirty="0">
                          <a:effectLst/>
                        </a:rPr>
                        <a:t>Category</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200" kern="0" dirty="0">
                          <a:effectLst/>
                        </a:rPr>
                        <a:t>IPSAS</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200" kern="0" dirty="0">
                          <a:effectLst/>
                        </a:rPr>
                        <a:t>Title</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200" kern="0" dirty="0">
                          <a:effectLst/>
                        </a:rPr>
                        <a:t>Effective Date</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extLst>
                  <a:ext uri="{0D108BD9-81ED-4DB2-BD59-A6C34878D82A}">
                    <a16:rowId xmlns:a16="http://schemas.microsoft.com/office/drawing/2014/main" val="844076439"/>
                  </a:ext>
                </a:extLst>
              </a:tr>
              <a:tr h="282086">
                <a:tc rowSpan="15">
                  <a:txBody>
                    <a:bodyPr/>
                    <a:lstStyle/>
                    <a:p>
                      <a:pPr algn="ctr">
                        <a:lnSpc>
                          <a:spcPct val="107000"/>
                        </a:lnSpc>
                        <a:spcAft>
                          <a:spcPts val="800"/>
                        </a:spcAft>
                        <a:buNone/>
                      </a:pPr>
                      <a:r>
                        <a:rPr lang="en-GB" sz="1200" kern="0" dirty="0">
                          <a:effectLst/>
                        </a:rPr>
                        <a:t>Assets</a:t>
                      </a:r>
                      <a:endParaRPr lang="en-GB" sz="1200" kern="100" dirty="0">
                        <a:effectLst/>
                        <a:latin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100" kern="0" dirty="0">
                          <a:effectLst/>
                        </a:rPr>
                        <a:t>IPSAS 12</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Inventories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a:solidFill>
                            <a:srgbClr val="000000"/>
                          </a:solidFill>
                          <a:effectLst/>
                        </a:rPr>
                        <a:t>Jan 1, 2008</a:t>
                      </a:r>
                      <a:endParaRPr lang="en-GB"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1426924"/>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14</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Events After Reporting Date</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a:solidFill>
                            <a:srgbClr val="000000"/>
                          </a:solidFill>
                          <a:effectLst/>
                        </a:rPr>
                        <a:t>Jan 1, 2008</a:t>
                      </a:r>
                      <a:endParaRPr lang="en-GB"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44441347"/>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16</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Investment Property</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a:solidFill>
                            <a:srgbClr val="000000"/>
                          </a:solidFill>
                          <a:effectLst/>
                        </a:rPr>
                        <a:t>Jan 1, 2008</a:t>
                      </a:r>
                      <a:endParaRPr lang="en-GB"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4305659"/>
                  </a:ext>
                </a:extLst>
              </a:tr>
              <a:tr h="399172">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19</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fr-FR" sz="1100" kern="0" dirty="0">
                          <a:effectLst/>
                        </a:rPr>
                        <a:t>Provisions, Contingent </a:t>
                      </a:r>
                      <a:r>
                        <a:rPr lang="fr-FR" sz="1100" kern="0" dirty="0" err="1">
                          <a:effectLst/>
                        </a:rPr>
                        <a:t>Liabilities</a:t>
                      </a:r>
                      <a:r>
                        <a:rPr lang="fr-FR" sz="1100" kern="0" dirty="0">
                          <a:effectLst/>
                        </a:rPr>
                        <a:t> &amp; Contingent Assets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84633571"/>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20</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Related Party Disclosures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a:solidFill>
                            <a:srgbClr val="000000"/>
                          </a:solidFill>
                          <a:effectLst/>
                        </a:rPr>
                        <a:t>Jan 1, 2008</a:t>
                      </a:r>
                      <a:endParaRPr lang="en-GB"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31161490"/>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a:effectLst/>
                        </a:rPr>
                        <a:t>IPSAS 21</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Impairment of Non-Cash-Generating Assets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a:solidFill>
                            <a:srgbClr val="000000"/>
                          </a:solidFill>
                          <a:effectLst/>
                        </a:rPr>
                        <a:t>Jan 1, 2008</a:t>
                      </a:r>
                      <a:endParaRPr lang="en-GB" sz="11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32400627"/>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26</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Impairment of Cash-Generating Assets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2009</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246918003"/>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27</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Agriculture</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2011</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941885092"/>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a:effectLst/>
                        </a:rPr>
                        <a:t>IPSAS 31</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Intangible Assets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2011</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890830432"/>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32</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Service Concession Arrangements: Grantor</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2014</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99001389"/>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43</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Leases (replaces 13)</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2025</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495619034"/>
                  </a:ext>
                </a:extLst>
              </a:tr>
              <a:tr h="399172">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44</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Non-current Assets Held for Sale &amp; Discontinued Ops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2025</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671760027"/>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45</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latin typeface="Aptos" panose="020B0004020202020204" pitchFamily="34" charset="0"/>
                          <a:ea typeface="Aptos" panose="020B0004020202020204" pitchFamily="34" charset="0"/>
                          <a:cs typeface="Arial" panose="020B0604020202020204" pitchFamily="34" charset="0"/>
                        </a:rPr>
                        <a:t>Property Plant and Equipment</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2025</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59827465"/>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46</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Measurement</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2025</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14619611"/>
                  </a:ext>
                </a:extLst>
              </a:tr>
              <a:tr h="399172">
                <a:tc vMerge="1">
                  <a:txBody>
                    <a:bodyPr/>
                    <a:lstStyle/>
                    <a:p>
                      <a:endParaRPr dirty="0"/>
                    </a:p>
                  </a:txBody>
                  <a:tcPr marL="45284" marR="45284" marT="0" marB="0" anchor="ctr"/>
                </a:tc>
                <a:tc>
                  <a:txBody>
                    <a:bodyPr/>
                    <a:lstStyle/>
                    <a:p>
                      <a:pPr algn="ctr">
                        <a:lnSpc>
                          <a:spcPct val="107000"/>
                        </a:lnSpc>
                        <a:spcAft>
                          <a:spcPts val="800"/>
                        </a:spcAft>
                        <a:buNone/>
                      </a:pPr>
                      <a:r>
                        <a:rPr lang="en-GB" sz="1100" kern="0" dirty="0">
                          <a:effectLst/>
                        </a:rPr>
                        <a:t>IPSAS 50</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Exploration &amp; Evaluation of Mineral Resources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2025</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97925419"/>
                  </a:ext>
                </a:extLst>
              </a:tr>
              <a:tr h="282086">
                <a:tc>
                  <a:txBody>
                    <a:bodyPr/>
                    <a:lstStyle/>
                    <a:p>
                      <a:pPr algn="ctr">
                        <a:lnSpc>
                          <a:spcPct val="107000"/>
                        </a:lnSpc>
                        <a:spcAft>
                          <a:spcPts val="800"/>
                        </a:spcAft>
                        <a:buNone/>
                      </a:pPr>
                      <a:r>
                        <a:rPr lang="en-GB" sz="1200" kern="0" dirty="0">
                          <a:effectLst/>
                        </a:rPr>
                        <a:t>First-time Adoption</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100" kern="0" dirty="0">
                          <a:effectLst/>
                        </a:rPr>
                        <a:t>IPSAS 33</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dirty="0">
                          <a:effectLst/>
                        </a:rPr>
                        <a:t>First-time Adoption of Accrual IPSAS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2017</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916419993"/>
                  </a:ext>
                </a:extLst>
              </a:tr>
              <a:tr h="282086">
                <a:tc rowSpan="3">
                  <a:txBody>
                    <a:bodyPr/>
                    <a:lstStyle/>
                    <a:p>
                      <a:pPr algn="ctr">
                        <a:lnSpc>
                          <a:spcPct val="107000"/>
                        </a:lnSpc>
                        <a:spcAft>
                          <a:spcPts val="800"/>
                        </a:spcAft>
                        <a:buNone/>
                      </a:pPr>
                      <a:r>
                        <a:rPr lang="en-GB" sz="1200" kern="0" dirty="0">
                          <a:effectLst/>
                        </a:rPr>
                        <a:t>Special Topics </a:t>
                      </a:r>
                      <a:endParaRPr lang="en-GB" sz="1200" kern="100" dirty="0">
                        <a:effectLst/>
                        <a:latin typeface="Aptos" panose="020B0004020202020204" pitchFamily="34" charset="0"/>
                        <a:cs typeface="Arial" panose="020B0604020202020204" pitchFamily="34" charset="0"/>
                      </a:endParaRPr>
                    </a:p>
                  </a:txBody>
                  <a:tcPr marL="45284" marR="45284" marT="0" marB="0" anchor="ctr"/>
                </a:tc>
                <a:tc>
                  <a:txBody>
                    <a:bodyPr/>
                    <a:lstStyle/>
                    <a:p>
                      <a:pPr algn="ctr">
                        <a:lnSpc>
                          <a:spcPct val="107000"/>
                        </a:lnSpc>
                        <a:spcAft>
                          <a:spcPts val="800"/>
                        </a:spcAft>
                        <a:buNone/>
                      </a:pPr>
                      <a:r>
                        <a:rPr lang="en-GB" sz="1100" kern="0" dirty="0">
                          <a:effectLst/>
                        </a:rPr>
                        <a:t>IPSAS 18</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Segment Reporting</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0800405"/>
                  </a:ext>
                </a:extLst>
              </a:tr>
              <a:tr h="282086">
                <a:tc vMerge="1">
                  <a:txBody>
                    <a:bodyPr/>
                    <a:lstStyle/>
                    <a:p>
                      <a:endParaRPr/>
                    </a:p>
                  </a:txBody>
                  <a:tcPr marL="45284" marR="45284" marT="0" marB="0" anchor="ctr"/>
                </a:tc>
                <a:tc>
                  <a:txBody>
                    <a:bodyPr/>
                    <a:lstStyle/>
                    <a:p>
                      <a:pPr algn="ctr">
                        <a:lnSpc>
                          <a:spcPct val="107000"/>
                        </a:lnSpc>
                        <a:spcAft>
                          <a:spcPts val="800"/>
                        </a:spcAft>
                        <a:buNone/>
                      </a:pPr>
                      <a:r>
                        <a:rPr lang="en-GB" sz="1100" kern="0" dirty="0">
                          <a:effectLst/>
                        </a:rPr>
                        <a:t>IPSAS 24</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Presentation of Budget Information in FS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673309117"/>
                  </a:ext>
                </a:extLst>
              </a:tr>
              <a:tr h="282086">
                <a:tc vMerge="1">
                  <a:txBody>
                    <a:bodyPr/>
                    <a:lstStyle/>
                    <a:p>
                      <a:endParaRPr dirty="0"/>
                    </a:p>
                  </a:txBody>
                  <a:tcPr marL="45284" marR="45284" marT="0" marB="0" anchor="ctr"/>
                </a:tc>
                <a:tc>
                  <a:txBody>
                    <a:bodyPr/>
                    <a:lstStyle/>
                    <a:p>
                      <a:pPr algn="ctr">
                        <a:lnSpc>
                          <a:spcPct val="107000"/>
                        </a:lnSpc>
                        <a:spcAft>
                          <a:spcPts val="800"/>
                        </a:spcAft>
                        <a:buNone/>
                      </a:pPr>
                      <a:r>
                        <a:rPr lang="en-GB" sz="1100" kern="0" dirty="0">
                          <a:effectLst/>
                        </a:rPr>
                        <a:t>IPSAS 22</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nSpc>
                          <a:spcPct val="107000"/>
                        </a:lnSpc>
                        <a:spcAft>
                          <a:spcPts val="800"/>
                        </a:spcAft>
                        <a:buNone/>
                      </a:pPr>
                      <a:r>
                        <a:rPr lang="en-GB" sz="1100" kern="0">
                          <a:effectLst/>
                        </a:rPr>
                        <a:t>Disclosure of Information about the GGS</a:t>
                      </a:r>
                      <a:endParaRPr lang="en-GB" sz="1100" kern="100">
                        <a:effectLst/>
                        <a:latin typeface="Aptos" panose="020B0004020202020204" pitchFamily="34" charset="0"/>
                        <a:ea typeface="Aptos" panose="020B0004020202020204" pitchFamily="34" charset="0"/>
                        <a:cs typeface="Arial" panose="020B0604020202020204" pitchFamily="34" charset="0"/>
                      </a:endParaRPr>
                    </a:p>
                  </a:txBody>
                  <a:tcPr marL="45284" marR="45284" marT="0" marB="0" anchor="ctr"/>
                </a:tc>
                <a:tc>
                  <a:txBody>
                    <a:bodyPr/>
                    <a:lstStyle/>
                    <a:p>
                      <a:pPr algn="ctr" fontAlgn="ctr">
                        <a:buNone/>
                      </a:pPr>
                      <a:r>
                        <a:rPr lang="en-GB" sz="1100" b="0" u="none" strike="noStrike" dirty="0">
                          <a:solidFill>
                            <a:srgbClr val="000000"/>
                          </a:solidFill>
                          <a:effectLst/>
                        </a:rPr>
                        <a:t>Jan 1, 2008</a:t>
                      </a:r>
                      <a:endParaRPr lang="en-GB" sz="11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849125491"/>
                  </a:ext>
                </a:extLst>
              </a:tr>
            </a:tbl>
          </a:graphicData>
        </a:graphic>
      </p:graphicFrame>
    </p:spTree>
    <p:extLst>
      <p:ext uri="{BB962C8B-B14F-4D97-AF65-F5344CB8AC3E}">
        <p14:creationId xmlns:p14="http://schemas.microsoft.com/office/powerpoint/2010/main" val="611754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5E29E7ED-F0C7-DAB4-56C9-B6467B82977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3C811D-393B-7451-A4AE-51AA5969DBA6}"/>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4</a:t>
            </a:fld>
            <a:endParaRPr lang="en-GB" dirty="0"/>
          </a:p>
        </p:txBody>
      </p:sp>
      <p:sp>
        <p:nvSpPr>
          <p:cNvPr id="6" name="TextBox 5">
            <a:extLst>
              <a:ext uri="{FF2B5EF4-FFF2-40B4-BE49-F238E27FC236}">
                <a16:creationId xmlns:a16="http://schemas.microsoft.com/office/drawing/2014/main" id="{F0DBE013-65B4-8A76-F714-99B21D88BA45}"/>
              </a:ext>
            </a:extLst>
          </p:cNvPr>
          <p:cNvSpPr txBox="1"/>
          <p:nvPr/>
        </p:nvSpPr>
        <p:spPr>
          <a:xfrm>
            <a:off x="1423754" y="119007"/>
            <a:ext cx="8806767" cy="707886"/>
          </a:xfrm>
          <a:prstGeom prst="rect">
            <a:avLst/>
          </a:prstGeom>
          <a:noFill/>
        </p:spPr>
        <p:txBody>
          <a:bodyPr wrap="square">
            <a:spAutoFit/>
          </a:bodyPr>
          <a:lstStyle/>
          <a:p>
            <a:r>
              <a:rPr lang="en-IN" sz="4000" dirty="0">
                <a:solidFill>
                  <a:srgbClr val="FF6319"/>
                </a:solidFill>
                <a:latin typeface="Cambria" panose="02040503050406030204" pitchFamily="18" charset="0"/>
                <a:ea typeface="+mj-ea"/>
                <a:cs typeface="+mj-cs"/>
              </a:rPr>
              <a:t>Accrual IPSAS adoption globally</a:t>
            </a:r>
          </a:p>
        </p:txBody>
      </p:sp>
      <p:pic>
        <p:nvPicPr>
          <p:cNvPr id="11" name="Picture 10">
            <a:extLst>
              <a:ext uri="{FF2B5EF4-FFF2-40B4-BE49-F238E27FC236}">
                <a16:creationId xmlns:a16="http://schemas.microsoft.com/office/drawing/2014/main" id="{DC3D4BEE-2AD3-5EE3-0BD1-2FD42A1EE6B9}"/>
              </a:ext>
            </a:extLst>
          </p:cNvPr>
          <p:cNvPicPr>
            <a:picLocks noChangeAspect="1"/>
          </p:cNvPicPr>
          <p:nvPr/>
        </p:nvPicPr>
        <p:blipFill>
          <a:blip r:embed="rId3"/>
          <a:stretch>
            <a:fillRect/>
          </a:stretch>
        </p:blipFill>
        <p:spPr>
          <a:xfrm>
            <a:off x="9736" y="936171"/>
            <a:ext cx="12182264" cy="5802822"/>
          </a:xfrm>
          <a:prstGeom prst="rect">
            <a:avLst/>
          </a:prstGeom>
        </p:spPr>
      </p:pic>
    </p:spTree>
    <p:extLst>
      <p:ext uri="{BB962C8B-B14F-4D97-AF65-F5344CB8AC3E}">
        <p14:creationId xmlns:p14="http://schemas.microsoft.com/office/powerpoint/2010/main" val="2181563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F8C8F6D6-C4BE-1C06-7779-D6A2A14E46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B3EB44-B298-B1C8-9E6D-D5BEEB74886B}"/>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5</a:t>
            </a:fld>
            <a:endParaRPr lang="en-GB" dirty="0"/>
          </a:p>
        </p:txBody>
      </p:sp>
      <p:sp>
        <p:nvSpPr>
          <p:cNvPr id="3" name="Google Shape;570;p59">
            <a:extLst>
              <a:ext uri="{FF2B5EF4-FFF2-40B4-BE49-F238E27FC236}">
                <a16:creationId xmlns:a16="http://schemas.microsoft.com/office/drawing/2014/main" id="{4ABBEF94-6FEB-5EEB-20E4-ECF800BDA41E}"/>
              </a:ext>
            </a:extLst>
          </p:cNvPr>
          <p:cNvSpPr txBox="1">
            <a:spLocks noGrp="1"/>
          </p:cNvSpPr>
          <p:nvPr>
            <p:ph type="title"/>
          </p:nvPr>
        </p:nvSpPr>
        <p:spPr>
          <a:xfrm>
            <a:off x="722705" y="38769"/>
            <a:ext cx="11084832" cy="868362"/>
          </a:xfrm>
          <a:prstGeom prst="rect">
            <a:avLst/>
          </a:prstGeom>
          <a:noFill/>
          <a:ln>
            <a:noFill/>
          </a:ln>
        </p:spPr>
        <p:txBody>
          <a:bodyPr spcFirstLastPara="1" vert="horz" wrap="square" lIns="91425" tIns="45700" rIns="91425" bIns="45700" rtlCol="0" anchor="b" anchorCtr="0">
            <a:noAutofit/>
          </a:bodyPr>
          <a:lstStyle/>
          <a:p>
            <a:pPr marL="538162" algn="just">
              <a:lnSpc>
                <a:spcPct val="170000"/>
              </a:lnSpc>
            </a:pPr>
            <a:r>
              <a:rPr lang="en-US" sz="4000" dirty="0">
                <a:solidFill>
                  <a:srgbClr val="FF6319"/>
                </a:solidFill>
              </a:rPr>
              <a:t>Journey of IPSAS implementation for </a:t>
            </a:r>
            <a:r>
              <a:rPr lang="en-US" sz="4000" dirty="0" err="1">
                <a:solidFill>
                  <a:srgbClr val="FF6319"/>
                </a:solidFill>
              </a:rPr>
              <a:t>GoR</a:t>
            </a:r>
            <a:endParaRPr lang="en-US" sz="4000" dirty="0">
              <a:solidFill>
                <a:srgbClr val="FF6319"/>
              </a:solidFill>
            </a:endParaRPr>
          </a:p>
        </p:txBody>
      </p:sp>
      <p:grpSp>
        <p:nvGrpSpPr>
          <p:cNvPr id="188" name="Group 187">
            <a:extLst>
              <a:ext uri="{FF2B5EF4-FFF2-40B4-BE49-F238E27FC236}">
                <a16:creationId xmlns:a16="http://schemas.microsoft.com/office/drawing/2014/main" id="{C9D1E585-3300-CDD2-0C82-0A5BD0476AE1}"/>
              </a:ext>
            </a:extLst>
          </p:cNvPr>
          <p:cNvGrpSpPr/>
          <p:nvPr/>
        </p:nvGrpSpPr>
        <p:grpSpPr>
          <a:xfrm>
            <a:off x="518395" y="1783380"/>
            <a:ext cx="11155209" cy="3954658"/>
            <a:chOff x="437903" y="2531053"/>
            <a:chExt cx="11155209" cy="3893873"/>
          </a:xfrm>
        </p:grpSpPr>
        <p:grpSp>
          <p:nvGrpSpPr>
            <p:cNvPr id="189" name="Graphic 6">
              <a:extLst>
                <a:ext uri="{FF2B5EF4-FFF2-40B4-BE49-F238E27FC236}">
                  <a16:creationId xmlns:a16="http://schemas.microsoft.com/office/drawing/2014/main" id="{9053B627-3197-6874-1125-57740978155B}"/>
                </a:ext>
              </a:extLst>
            </p:cNvPr>
            <p:cNvGrpSpPr/>
            <p:nvPr/>
          </p:nvGrpSpPr>
          <p:grpSpPr>
            <a:xfrm>
              <a:off x="589105" y="2565429"/>
              <a:ext cx="2004477" cy="1181088"/>
              <a:chOff x="589105" y="2565429"/>
              <a:chExt cx="2004477" cy="1181088"/>
            </a:xfrm>
            <a:solidFill>
              <a:srgbClr val="B7B7B7"/>
            </a:solidFill>
          </p:grpSpPr>
          <p:sp>
            <p:nvSpPr>
              <p:cNvPr id="342" name="Freeform: Shape 31">
                <a:extLst>
                  <a:ext uri="{FF2B5EF4-FFF2-40B4-BE49-F238E27FC236}">
                    <a16:creationId xmlns:a16="http://schemas.microsoft.com/office/drawing/2014/main" id="{13560E02-90F0-6837-9BE2-B474637B6CD1}"/>
                  </a:ext>
                </a:extLst>
              </p:cNvPr>
              <p:cNvSpPr/>
              <p:nvPr/>
            </p:nvSpPr>
            <p:spPr>
              <a:xfrm>
                <a:off x="653646" y="3739030"/>
                <a:ext cx="7190" cy="7487"/>
              </a:xfrm>
              <a:custGeom>
                <a:avLst/>
                <a:gdLst>
                  <a:gd name="connsiteX0" fmla="*/ 7190 w 7190"/>
                  <a:gd name="connsiteY0" fmla="*/ 7487 h 7487"/>
                  <a:gd name="connsiteX1" fmla="*/ 44 w 7190"/>
                  <a:gd name="connsiteY1" fmla="*/ 257 h 7487"/>
                  <a:gd name="connsiteX2" fmla="*/ 46 w 7190"/>
                  <a:gd name="connsiteY2" fmla="*/ 44 h 7487"/>
                  <a:gd name="connsiteX3" fmla="*/ 259 w 7190"/>
                  <a:gd name="connsiteY3" fmla="*/ 46 h 7487"/>
                  <a:gd name="connsiteX4" fmla="*/ 267 w 7190"/>
                  <a:gd name="connsiteY4" fmla="*/ 54 h 7487"/>
                  <a:gd name="connsiteX5" fmla="*/ 7190 w 7190"/>
                  <a:gd name="connsiteY5" fmla="*/ 7487 h 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0" h="7487">
                    <a:moveTo>
                      <a:pt x="7190" y="7487"/>
                    </a:moveTo>
                    <a:lnTo>
                      <a:pt x="44" y="257"/>
                    </a:lnTo>
                    <a:cubicBezTo>
                      <a:pt x="-15" y="198"/>
                      <a:pt x="-15" y="103"/>
                      <a:pt x="46" y="44"/>
                    </a:cubicBezTo>
                    <a:cubicBezTo>
                      <a:pt x="105" y="-15"/>
                      <a:pt x="200" y="-15"/>
                      <a:pt x="259" y="46"/>
                    </a:cubicBezTo>
                    <a:cubicBezTo>
                      <a:pt x="259" y="46"/>
                      <a:pt x="265" y="52"/>
                      <a:pt x="267" y="54"/>
                    </a:cubicBezTo>
                    <a:lnTo>
                      <a:pt x="7190" y="7487"/>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3" name="Freeform: Shape 32">
                <a:extLst>
                  <a:ext uri="{FF2B5EF4-FFF2-40B4-BE49-F238E27FC236}">
                    <a16:creationId xmlns:a16="http://schemas.microsoft.com/office/drawing/2014/main" id="{C724D71F-33FD-F631-6E80-9593B3A88785}"/>
                  </a:ext>
                </a:extLst>
              </p:cNvPr>
              <p:cNvSpPr/>
              <p:nvPr/>
            </p:nvSpPr>
            <p:spPr>
              <a:xfrm>
                <a:off x="597625" y="3640853"/>
                <a:ext cx="6466" cy="13186"/>
              </a:xfrm>
              <a:custGeom>
                <a:avLst/>
                <a:gdLst>
                  <a:gd name="connsiteX0" fmla="*/ 3253 w 6466"/>
                  <a:gd name="connsiteY0" fmla="*/ 12050 h 13186"/>
                  <a:gd name="connsiteX1" fmla="*/ 87 w 6466"/>
                  <a:gd name="connsiteY1" fmla="*/ 2321 h 13186"/>
                  <a:gd name="connsiteX2" fmla="*/ 1223 w 6466"/>
                  <a:gd name="connsiteY2" fmla="*/ 88 h 13186"/>
                  <a:gd name="connsiteX3" fmla="*/ 3457 w 6466"/>
                  <a:gd name="connsiteY3" fmla="*/ 1223 h 13186"/>
                  <a:gd name="connsiteX4" fmla="*/ 3467 w 6466"/>
                  <a:gd name="connsiteY4" fmla="*/ 1258 h 13186"/>
                  <a:gd name="connsiteX5" fmla="*/ 3491 w 6466"/>
                  <a:gd name="connsiteY5" fmla="*/ 1337 h 13186"/>
                  <a:gd name="connsiteX6" fmla="*/ 6377 w 6466"/>
                  <a:gd name="connsiteY6" fmla="*/ 11003 h 13186"/>
                  <a:gd name="connsiteX7" fmla="*/ 6397 w 6466"/>
                  <a:gd name="connsiteY7" fmla="*/ 11070 h 13186"/>
                  <a:gd name="connsiteX8" fmla="*/ 5291 w 6466"/>
                  <a:gd name="connsiteY8" fmla="*/ 13117 h 13186"/>
                  <a:gd name="connsiteX9" fmla="*/ 3253 w 6466"/>
                  <a:gd name="connsiteY9" fmla="*/ 12050 h 1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6" h="13186">
                    <a:moveTo>
                      <a:pt x="3253" y="12050"/>
                    </a:moveTo>
                    <a:lnTo>
                      <a:pt x="87" y="2321"/>
                    </a:lnTo>
                    <a:cubicBezTo>
                      <a:pt x="-215" y="1390"/>
                      <a:pt x="293" y="390"/>
                      <a:pt x="1223" y="88"/>
                    </a:cubicBezTo>
                    <a:cubicBezTo>
                      <a:pt x="2154" y="-215"/>
                      <a:pt x="3154" y="293"/>
                      <a:pt x="3457" y="1223"/>
                    </a:cubicBezTo>
                    <a:cubicBezTo>
                      <a:pt x="3461" y="1236"/>
                      <a:pt x="3465" y="1246"/>
                      <a:pt x="3467" y="1258"/>
                    </a:cubicBezTo>
                    <a:lnTo>
                      <a:pt x="3491" y="1337"/>
                    </a:lnTo>
                    <a:lnTo>
                      <a:pt x="6377" y="11003"/>
                    </a:lnTo>
                    <a:lnTo>
                      <a:pt x="6397" y="11070"/>
                    </a:lnTo>
                    <a:cubicBezTo>
                      <a:pt x="6657" y="11940"/>
                      <a:pt x="6161" y="12859"/>
                      <a:pt x="5291" y="13117"/>
                    </a:cubicBezTo>
                    <a:cubicBezTo>
                      <a:pt x="4430" y="13375"/>
                      <a:pt x="3528" y="12895"/>
                      <a:pt x="3253" y="1205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4" name="Freeform: Shape 33">
                <a:extLst>
                  <a:ext uri="{FF2B5EF4-FFF2-40B4-BE49-F238E27FC236}">
                    <a16:creationId xmlns:a16="http://schemas.microsoft.com/office/drawing/2014/main" id="{4B0E1670-1CCC-E13C-B248-D19E8520E815}"/>
                  </a:ext>
                </a:extLst>
              </p:cNvPr>
              <p:cNvSpPr/>
              <p:nvPr/>
            </p:nvSpPr>
            <p:spPr>
              <a:xfrm>
                <a:off x="589105" y="3528795"/>
                <a:ext cx="7779" cy="16325"/>
              </a:xfrm>
              <a:custGeom>
                <a:avLst/>
                <a:gdLst>
                  <a:gd name="connsiteX0" fmla="*/ 32 w 7779"/>
                  <a:gd name="connsiteY0" fmla="*/ 12866 h 16325"/>
                  <a:gd name="connsiteX1" fmla="*/ 1519 w 7779"/>
                  <a:gd name="connsiteY1" fmla="*/ 2691 h 16325"/>
                  <a:gd name="connsiteX2" fmla="*/ 5088 w 7779"/>
                  <a:gd name="connsiteY2" fmla="*/ 34 h 16325"/>
                  <a:gd name="connsiteX3" fmla="*/ 7745 w 7779"/>
                  <a:gd name="connsiteY3" fmla="*/ 3602 h 16325"/>
                  <a:gd name="connsiteX4" fmla="*/ 7735 w 7779"/>
                  <a:gd name="connsiteY4" fmla="*/ 3663 h 16325"/>
                  <a:gd name="connsiteX5" fmla="*/ 7711 w 7779"/>
                  <a:gd name="connsiteY5" fmla="*/ 3807 h 16325"/>
                  <a:gd name="connsiteX6" fmla="*/ 6018 w 7779"/>
                  <a:gd name="connsiteY6" fmla="*/ 13689 h 16325"/>
                  <a:gd name="connsiteX7" fmla="*/ 5996 w 7779"/>
                  <a:gd name="connsiteY7" fmla="*/ 13815 h 16325"/>
                  <a:gd name="connsiteX8" fmla="*/ 2509 w 7779"/>
                  <a:gd name="connsiteY8" fmla="*/ 16282 h 16325"/>
                  <a:gd name="connsiteX9" fmla="*/ 32 w 7779"/>
                  <a:gd name="connsiteY9" fmla="*/ 12866 h 1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9" h="16325">
                    <a:moveTo>
                      <a:pt x="32" y="12866"/>
                    </a:moveTo>
                    <a:lnTo>
                      <a:pt x="1519" y="2691"/>
                    </a:lnTo>
                    <a:cubicBezTo>
                      <a:pt x="1771" y="972"/>
                      <a:pt x="3368" y="-218"/>
                      <a:pt x="5088" y="34"/>
                    </a:cubicBezTo>
                    <a:cubicBezTo>
                      <a:pt x="6807" y="286"/>
                      <a:pt x="7997" y="1883"/>
                      <a:pt x="7745" y="3602"/>
                    </a:cubicBezTo>
                    <a:cubicBezTo>
                      <a:pt x="7743" y="3622"/>
                      <a:pt x="7739" y="3642"/>
                      <a:pt x="7735" y="3663"/>
                    </a:cubicBezTo>
                    <a:lnTo>
                      <a:pt x="7711" y="3807"/>
                    </a:lnTo>
                    <a:lnTo>
                      <a:pt x="6018" y="13689"/>
                    </a:lnTo>
                    <a:lnTo>
                      <a:pt x="5996" y="13815"/>
                    </a:lnTo>
                    <a:cubicBezTo>
                      <a:pt x="5715" y="15459"/>
                      <a:pt x="4153" y="16562"/>
                      <a:pt x="2509" y="16282"/>
                    </a:cubicBezTo>
                    <a:cubicBezTo>
                      <a:pt x="891" y="16001"/>
                      <a:pt x="-204" y="14481"/>
                      <a:pt x="32" y="1286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5" name="Freeform: Shape 34">
                <a:extLst>
                  <a:ext uri="{FF2B5EF4-FFF2-40B4-BE49-F238E27FC236}">
                    <a16:creationId xmlns:a16="http://schemas.microsoft.com/office/drawing/2014/main" id="{BBD52773-7FF3-D542-952B-53BCDF5E3F4C}"/>
                  </a:ext>
                </a:extLst>
              </p:cNvPr>
              <p:cNvSpPr/>
              <p:nvPr/>
            </p:nvSpPr>
            <p:spPr>
              <a:xfrm>
                <a:off x="627714" y="3426014"/>
                <a:ext cx="14492" cy="16892"/>
              </a:xfrm>
              <a:custGeom>
                <a:avLst/>
                <a:gdLst>
                  <a:gd name="connsiteX0" fmla="*/ 755 w 14492"/>
                  <a:gd name="connsiteY0" fmla="*/ 10302 h 16892"/>
                  <a:gd name="connsiteX1" fmla="*/ 6680 w 14492"/>
                  <a:gd name="connsiteY1" fmla="*/ 1833 h 16892"/>
                  <a:gd name="connsiteX2" fmla="*/ 12660 w 14492"/>
                  <a:gd name="connsiteY2" fmla="*/ 776 h 16892"/>
                  <a:gd name="connsiteX3" fmla="*/ 13717 w 14492"/>
                  <a:gd name="connsiteY3" fmla="*/ 6756 h 16892"/>
                  <a:gd name="connsiteX4" fmla="*/ 13678 w 14492"/>
                  <a:gd name="connsiteY4" fmla="*/ 6809 h 16892"/>
                  <a:gd name="connsiteX5" fmla="*/ 13560 w 14492"/>
                  <a:gd name="connsiteY5" fmla="*/ 6971 h 16892"/>
                  <a:gd name="connsiteX6" fmla="*/ 7674 w 14492"/>
                  <a:gd name="connsiteY6" fmla="*/ 15030 h 16892"/>
                  <a:gd name="connsiteX7" fmla="*/ 7568 w 14492"/>
                  <a:gd name="connsiteY7" fmla="*/ 15175 h 16892"/>
                  <a:gd name="connsiteX8" fmla="*/ 1716 w 14492"/>
                  <a:gd name="connsiteY8" fmla="*/ 16087 h 16892"/>
                  <a:gd name="connsiteX9" fmla="*/ 755 w 14492"/>
                  <a:gd name="connsiteY9" fmla="*/ 10302 h 1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92" h="16892">
                    <a:moveTo>
                      <a:pt x="755" y="10302"/>
                    </a:moveTo>
                    <a:lnTo>
                      <a:pt x="6680" y="1833"/>
                    </a:lnTo>
                    <a:cubicBezTo>
                      <a:pt x="8039" y="-110"/>
                      <a:pt x="10718" y="-584"/>
                      <a:pt x="12660" y="776"/>
                    </a:cubicBezTo>
                    <a:cubicBezTo>
                      <a:pt x="14603" y="2135"/>
                      <a:pt x="15076" y="4813"/>
                      <a:pt x="13717" y="6756"/>
                    </a:cubicBezTo>
                    <a:cubicBezTo>
                      <a:pt x="13705" y="6774"/>
                      <a:pt x="13692" y="6793"/>
                      <a:pt x="13678" y="6809"/>
                    </a:cubicBezTo>
                    <a:lnTo>
                      <a:pt x="13560" y="6971"/>
                    </a:lnTo>
                    <a:lnTo>
                      <a:pt x="7674" y="15030"/>
                    </a:lnTo>
                    <a:lnTo>
                      <a:pt x="7568" y="15175"/>
                    </a:lnTo>
                    <a:cubicBezTo>
                      <a:pt x="6202" y="17042"/>
                      <a:pt x="3583" y="17450"/>
                      <a:pt x="1716" y="16087"/>
                    </a:cubicBezTo>
                    <a:cubicBezTo>
                      <a:pt x="-127" y="14738"/>
                      <a:pt x="-546" y="12163"/>
                      <a:pt x="755" y="1030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6" name="Freeform: Shape 35">
                <a:extLst>
                  <a:ext uri="{FF2B5EF4-FFF2-40B4-BE49-F238E27FC236}">
                    <a16:creationId xmlns:a16="http://schemas.microsoft.com/office/drawing/2014/main" id="{05D66814-A921-A12B-8659-777F265BB846}"/>
                  </a:ext>
                </a:extLst>
              </p:cNvPr>
              <p:cNvSpPr/>
              <p:nvPr/>
            </p:nvSpPr>
            <p:spPr>
              <a:xfrm>
                <a:off x="702576" y="3344304"/>
                <a:ext cx="17809" cy="17810"/>
              </a:xfrm>
              <a:custGeom>
                <a:avLst/>
                <a:gdLst>
                  <a:gd name="connsiteX0" fmla="*/ 1514 w 17809"/>
                  <a:gd name="connsiteY0" fmla="*/ 8840 h 17810"/>
                  <a:gd name="connsiteX1" fmla="*/ 8640 w 17809"/>
                  <a:gd name="connsiteY1" fmla="*/ 1598 h 17810"/>
                  <a:gd name="connsiteX2" fmla="*/ 16211 w 17809"/>
                  <a:gd name="connsiteY2" fmla="*/ 1537 h 17810"/>
                  <a:gd name="connsiteX3" fmla="*/ 16272 w 17809"/>
                  <a:gd name="connsiteY3" fmla="*/ 9108 h 17810"/>
                  <a:gd name="connsiteX4" fmla="*/ 16211 w 17809"/>
                  <a:gd name="connsiteY4" fmla="*/ 9169 h 17810"/>
                  <a:gd name="connsiteX5" fmla="*/ 8969 w 17809"/>
                  <a:gd name="connsiteY5" fmla="*/ 16296 h 17810"/>
                  <a:gd name="connsiteX6" fmla="*/ 1512 w 17809"/>
                  <a:gd name="connsiteY6" fmla="*/ 16237 h 17810"/>
                  <a:gd name="connsiteX7" fmla="*/ 1514 w 17809"/>
                  <a:gd name="connsiteY7" fmla="*/ 8840 h 1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09" h="17810">
                    <a:moveTo>
                      <a:pt x="1514" y="8840"/>
                    </a:moveTo>
                    <a:lnTo>
                      <a:pt x="8640" y="1598"/>
                    </a:lnTo>
                    <a:cubicBezTo>
                      <a:pt x="10714" y="-509"/>
                      <a:pt x="14104" y="-536"/>
                      <a:pt x="16211" y="1537"/>
                    </a:cubicBezTo>
                    <a:cubicBezTo>
                      <a:pt x="18318" y="3612"/>
                      <a:pt x="18347" y="7001"/>
                      <a:pt x="16272" y="9108"/>
                    </a:cubicBezTo>
                    <a:cubicBezTo>
                      <a:pt x="16258" y="9123"/>
                      <a:pt x="16225" y="9155"/>
                      <a:pt x="16211" y="9169"/>
                    </a:cubicBezTo>
                    <a:lnTo>
                      <a:pt x="8969" y="16296"/>
                    </a:lnTo>
                    <a:cubicBezTo>
                      <a:pt x="6894" y="18338"/>
                      <a:pt x="3554" y="18311"/>
                      <a:pt x="1512" y="16237"/>
                    </a:cubicBezTo>
                    <a:cubicBezTo>
                      <a:pt x="-508" y="14184"/>
                      <a:pt x="-500" y="10888"/>
                      <a:pt x="1514" y="884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7" name="Freeform: Shape 36">
                <a:extLst>
                  <a:ext uri="{FF2B5EF4-FFF2-40B4-BE49-F238E27FC236}">
                    <a16:creationId xmlns:a16="http://schemas.microsoft.com/office/drawing/2014/main" id="{9641F749-4CC3-1D32-B687-B9F5BC01CCE8}"/>
                  </a:ext>
                </a:extLst>
              </p:cNvPr>
              <p:cNvSpPr/>
              <p:nvPr/>
            </p:nvSpPr>
            <p:spPr>
              <a:xfrm>
                <a:off x="780715" y="3264381"/>
                <a:ext cx="19593" cy="19594"/>
              </a:xfrm>
              <a:custGeom>
                <a:avLst/>
                <a:gdLst>
                  <a:gd name="connsiteX0" fmla="*/ 1769 w 19593"/>
                  <a:gd name="connsiteY0" fmla="*/ 9107 h 19594"/>
                  <a:gd name="connsiteX1" fmla="*/ 8895 w 19593"/>
                  <a:gd name="connsiteY1" fmla="*/ 1865 h 19594"/>
                  <a:gd name="connsiteX2" fmla="*/ 17728 w 19593"/>
                  <a:gd name="connsiteY2" fmla="*/ 1793 h 19594"/>
                  <a:gd name="connsiteX3" fmla="*/ 17799 w 19593"/>
                  <a:gd name="connsiteY3" fmla="*/ 10627 h 19594"/>
                  <a:gd name="connsiteX4" fmla="*/ 17728 w 19593"/>
                  <a:gd name="connsiteY4" fmla="*/ 10698 h 19594"/>
                  <a:gd name="connsiteX5" fmla="*/ 10486 w 19593"/>
                  <a:gd name="connsiteY5" fmla="*/ 17824 h 19594"/>
                  <a:gd name="connsiteX6" fmla="*/ 1769 w 19593"/>
                  <a:gd name="connsiteY6" fmla="*/ 17755 h 19594"/>
                  <a:gd name="connsiteX7" fmla="*/ 1769 w 19593"/>
                  <a:gd name="connsiteY7" fmla="*/ 9107 h 1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93" h="19594">
                    <a:moveTo>
                      <a:pt x="1769" y="9107"/>
                    </a:moveTo>
                    <a:lnTo>
                      <a:pt x="8895" y="1865"/>
                    </a:lnTo>
                    <a:cubicBezTo>
                      <a:pt x="11315" y="-594"/>
                      <a:pt x="15269" y="-625"/>
                      <a:pt x="17728" y="1793"/>
                    </a:cubicBezTo>
                    <a:cubicBezTo>
                      <a:pt x="20187" y="4214"/>
                      <a:pt x="20219" y="8168"/>
                      <a:pt x="17799" y="10627"/>
                    </a:cubicBezTo>
                    <a:cubicBezTo>
                      <a:pt x="17783" y="10643"/>
                      <a:pt x="17744" y="10681"/>
                      <a:pt x="17728" y="10698"/>
                    </a:cubicBezTo>
                    <a:lnTo>
                      <a:pt x="10486" y="17824"/>
                    </a:lnTo>
                    <a:cubicBezTo>
                      <a:pt x="8060" y="20211"/>
                      <a:pt x="4156" y="20181"/>
                      <a:pt x="1769" y="17755"/>
                    </a:cubicBezTo>
                    <a:cubicBezTo>
                      <a:pt x="-595" y="15353"/>
                      <a:pt x="-584" y="11500"/>
                      <a:pt x="1769" y="9107"/>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8" name="Freeform: Shape 37">
                <a:extLst>
                  <a:ext uri="{FF2B5EF4-FFF2-40B4-BE49-F238E27FC236}">
                    <a16:creationId xmlns:a16="http://schemas.microsoft.com/office/drawing/2014/main" id="{98EDE690-5D90-DF5B-585C-0496440749C9}"/>
                  </a:ext>
                </a:extLst>
              </p:cNvPr>
              <p:cNvSpPr/>
              <p:nvPr/>
            </p:nvSpPr>
            <p:spPr>
              <a:xfrm>
                <a:off x="858875" y="3184524"/>
                <a:ext cx="21292" cy="21292"/>
              </a:xfrm>
              <a:custGeom>
                <a:avLst/>
                <a:gdLst>
                  <a:gd name="connsiteX0" fmla="*/ 2028 w 21292"/>
                  <a:gd name="connsiteY0" fmla="*/ 9329 h 21292"/>
                  <a:gd name="connsiteX1" fmla="*/ 9171 w 21292"/>
                  <a:gd name="connsiteY1" fmla="*/ 2103 h 21292"/>
                  <a:gd name="connsiteX2" fmla="*/ 19189 w 21292"/>
                  <a:gd name="connsiteY2" fmla="*/ 2047 h 21292"/>
                  <a:gd name="connsiteX3" fmla="*/ 19246 w 21292"/>
                  <a:gd name="connsiteY3" fmla="*/ 12064 h 21292"/>
                  <a:gd name="connsiteX4" fmla="*/ 19189 w 21292"/>
                  <a:gd name="connsiteY4" fmla="*/ 12121 h 21292"/>
                  <a:gd name="connsiteX5" fmla="*/ 11963 w 21292"/>
                  <a:gd name="connsiteY5" fmla="*/ 19264 h 21292"/>
                  <a:gd name="connsiteX6" fmla="*/ 2028 w 21292"/>
                  <a:gd name="connsiteY6" fmla="*/ 19207 h 21292"/>
                  <a:gd name="connsiteX7" fmla="*/ 2028 w 21292"/>
                  <a:gd name="connsiteY7" fmla="*/ 9329 h 21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2" h="21292">
                    <a:moveTo>
                      <a:pt x="2028" y="9329"/>
                    </a:moveTo>
                    <a:lnTo>
                      <a:pt x="9171" y="2103"/>
                    </a:lnTo>
                    <a:cubicBezTo>
                      <a:pt x="11922" y="-678"/>
                      <a:pt x="16407" y="-705"/>
                      <a:pt x="19189" y="2047"/>
                    </a:cubicBezTo>
                    <a:cubicBezTo>
                      <a:pt x="21970" y="4798"/>
                      <a:pt x="21997" y="9283"/>
                      <a:pt x="19246" y="12064"/>
                    </a:cubicBezTo>
                    <a:cubicBezTo>
                      <a:pt x="19235" y="12075"/>
                      <a:pt x="19199" y="12111"/>
                      <a:pt x="19189" y="12121"/>
                    </a:cubicBezTo>
                    <a:lnTo>
                      <a:pt x="11963" y="19264"/>
                    </a:lnTo>
                    <a:cubicBezTo>
                      <a:pt x="9203" y="21991"/>
                      <a:pt x="4755" y="21966"/>
                      <a:pt x="2028" y="19207"/>
                    </a:cubicBezTo>
                    <a:cubicBezTo>
                      <a:pt x="-680" y="16468"/>
                      <a:pt x="-672" y="12062"/>
                      <a:pt x="2028" y="932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9" name="Freeform: Shape 38">
                <a:extLst>
                  <a:ext uri="{FF2B5EF4-FFF2-40B4-BE49-F238E27FC236}">
                    <a16:creationId xmlns:a16="http://schemas.microsoft.com/office/drawing/2014/main" id="{27C91B98-4C87-6416-0A91-2E32FEDBC521}"/>
                  </a:ext>
                </a:extLst>
              </p:cNvPr>
              <p:cNvSpPr/>
              <p:nvPr/>
            </p:nvSpPr>
            <p:spPr>
              <a:xfrm>
                <a:off x="937262" y="3104854"/>
                <a:ext cx="22575" cy="22577"/>
              </a:xfrm>
              <a:custGeom>
                <a:avLst/>
                <a:gdLst>
                  <a:gd name="connsiteX0" fmla="*/ 2213 w 22575"/>
                  <a:gd name="connsiteY0" fmla="*/ 9520 h 22577"/>
                  <a:gd name="connsiteX1" fmla="*/ 9355 w 22575"/>
                  <a:gd name="connsiteY1" fmla="*/ 2294 h 22577"/>
                  <a:gd name="connsiteX2" fmla="*/ 20281 w 22575"/>
                  <a:gd name="connsiteY2" fmla="*/ 2231 h 22577"/>
                  <a:gd name="connsiteX3" fmla="*/ 20344 w 22575"/>
                  <a:gd name="connsiteY3" fmla="*/ 13157 h 22577"/>
                  <a:gd name="connsiteX4" fmla="*/ 20281 w 22575"/>
                  <a:gd name="connsiteY4" fmla="*/ 13220 h 22577"/>
                  <a:gd name="connsiteX5" fmla="*/ 13056 w 22575"/>
                  <a:gd name="connsiteY5" fmla="*/ 20363 h 22577"/>
                  <a:gd name="connsiteX6" fmla="*/ 2213 w 22575"/>
                  <a:gd name="connsiteY6" fmla="*/ 20300 h 22577"/>
                  <a:gd name="connsiteX7" fmla="*/ 2213 w 22575"/>
                  <a:gd name="connsiteY7" fmla="*/ 9520 h 2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5" h="22577">
                    <a:moveTo>
                      <a:pt x="2213" y="9520"/>
                    </a:moveTo>
                    <a:lnTo>
                      <a:pt x="9355" y="2294"/>
                    </a:lnTo>
                    <a:cubicBezTo>
                      <a:pt x="12355" y="-740"/>
                      <a:pt x="17248" y="-768"/>
                      <a:pt x="20281" y="2231"/>
                    </a:cubicBezTo>
                    <a:cubicBezTo>
                      <a:pt x="23315" y="5230"/>
                      <a:pt x="23344" y="10123"/>
                      <a:pt x="20344" y="13157"/>
                    </a:cubicBezTo>
                    <a:cubicBezTo>
                      <a:pt x="20334" y="13167"/>
                      <a:pt x="20292" y="13210"/>
                      <a:pt x="20281" y="13220"/>
                    </a:cubicBezTo>
                    <a:lnTo>
                      <a:pt x="13056" y="20363"/>
                    </a:lnTo>
                    <a:cubicBezTo>
                      <a:pt x="10044" y="23339"/>
                      <a:pt x="5190" y="23313"/>
                      <a:pt x="2213" y="20300"/>
                    </a:cubicBezTo>
                    <a:cubicBezTo>
                      <a:pt x="-742" y="17310"/>
                      <a:pt x="-734" y="12501"/>
                      <a:pt x="2213" y="952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0" name="Freeform: Shape 39">
                <a:extLst>
                  <a:ext uri="{FF2B5EF4-FFF2-40B4-BE49-F238E27FC236}">
                    <a16:creationId xmlns:a16="http://schemas.microsoft.com/office/drawing/2014/main" id="{CEE61DEF-C7C3-4784-1446-9ABAD6C32F81}"/>
                  </a:ext>
                </a:extLst>
              </p:cNvPr>
              <p:cNvSpPr/>
              <p:nvPr/>
            </p:nvSpPr>
            <p:spPr>
              <a:xfrm>
                <a:off x="1015647" y="3025181"/>
                <a:ext cx="23860" cy="23860"/>
              </a:xfrm>
              <a:custGeom>
                <a:avLst/>
                <a:gdLst>
                  <a:gd name="connsiteX0" fmla="*/ 2398 w 23860"/>
                  <a:gd name="connsiteY0" fmla="*/ 9711 h 23860"/>
                  <a:gd name="connsiteX1" fmla="*/ 9541 w 23860"/>
                  <a:gd name="connsiteY1" fmla="*/ 2485 h 23860"/>
                  <a:gd name="connsiteX2" fmla="*/ 21375 w 23860"/>
                  <a:gd name="connsiteY2" fmla="*/ 2416 h 23860"/>
                  <a:gd name="connsiteX3" fmla="*/ 21442 w 23860"/>
                  <a:gd name="connsiteY3" fmla="*/ 14251 h 23860"/>
                  <a:gd name="connsiteX4" fmla="*/ 21375 w 23860"/>
                  <a:gd name="connsiteY4" fmla="*/ 14318 h 23860"/>
                  <a:gd name="connsiteX5" fmla="*/ 14149 w 23860"/>
                  <a:gd name="connsiteY5" fmla="*/ 21460 h 23860"/>
                  <a:gd name="connsiteX6" fmla="*/ 2396 w 23860"/>
                  <a:gd name="connsiteY6" fmla="*/ 21393 h 23860"/>
                  <a:gd name="connsiteX7" fmla="*/ 2398 w 23860"/>
                  <a:gd name="connsiteY7" fmla="*/ 9711 h 2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60" h="23860">
                    <a:moveTo>
                      <a:pt x="2398" y="9711"/>
                    </a:moveTo>
                    <a:lnTo>
                      <a:pt x="9541" y="2485"/>
                    </a:lnTo>
                    <a:cubicBezTo>
                      <a:pt x="12790" y="-800"/>
                      <a:pt x="18089" y="-833"/>
                      <a:pt x="21375" y="2416"/>
                    </a:cubicBezTo>
                    <a:cubicBezTo>
                      <a:pt x="24661" y="5665"/>
                      <a:pt x="24693" y="10965"/>
                      <a:pt x="21442" y="14251"/>
                    </a:cubicBezTo>
                    <a:cubicBezTo>
                      <a:pt x="21430" y="14263"/>
                      <a:pt x="21385" y="14307"/>
                      <a:pt x="21375" y="14318"/>
                    </a:cubicBezTo>
                    <a:lnTo>
                      <a:pt x="14149" y="21460"/>
                    </a:lnTo>
                    <a:cubicBezTo>
                      <a:pt x="10886" y="24687"/>
                      <a:pt x="5623" y="24656"/>
                      <a:pt x="2396" y="21393"/>
                    </a:cubicBezTo>
                    <a:cubicBezTo>
                      <a:pt x="-804" y="18156"/>
                      <a:pt x="-794" y="12944"/>
                      <a:pt x="2398" y="971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1" name="Freeform: Shape 40">
                <a:extLst>
                  <a:ext uri="{FF2B5EF4-FFF2-40B4-BE49-F238E27FC236}">
                    <a16:creationId xmlns:a16="http://schemas.microsoft.com/office/drawing/2014/main" id="{3FF3F82F-6ABD-2B93-7AEE-F10431875652}"/>
                  </a:ext>
                </a:extLst>
              </p:cNvPr>
              <p:cNvSpPr/>
              <p:nvPr/>
            </p:nvSpPr>
            <p:spPr>
              <a:xfrm>
                <a:off x="1094170" y="2945699"/>
                <a:ext cx="24820" cy="24822"/>
              </a:xfrm>
              <a:custGeom>
                <a:avLst/>
                <a:gdLst>
                  <a:gd name="connsiteX0" fmla="*/ 2555 w 24820"/>
                  <a:gd name="connsiteY0" fmla="*/ 9819 h 24822"/>
                  <a:gd name="connsiteX1" fmla="*/ 9714 w 24820"/>
                  <a:gd name="connsiteY1" fmla="*/ 2610 h 24822"/>
                  <a:gd name="connsiteX2" fmla="*/ 22211 w 24820"/>
                  <a:gd name="connsiteY2" fmla="*/ 2567 h 24822"/>
                  <a:gd name="connsiteX3" fmla="*/ 22253 w 24820"/>
                  <a:gd name="connsiteY3" fmla="*/ 15064 h 24822"/>
                  <a:gd name="connsiteX4" fmla="*/ 22211 w 24820"/>
                  <a:gd name="connsiteY4" fmla="*/ 15107 h 24822"/>
                  <a:gd name="connsiteX5" fmla="*/ 15001 w 24820"/>
                  <a:gd name="connsiteY5" fmla="*/ 22265 h 24822"/>
                  <a:gd name="connsiteX6" fmla="*/ 2553 w 24820"/>
                  <a:gd name="connsiteY6" fmla="*/ 22223 h 24822"/>
                  <a:gd name="connsiteX7" fmla="*/ 2555 w 24820"/>
                  <a:gd name="connsiteY7" fmla="*/ 9819 h 24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0" h="24822">
                    <a:moveTo>
                      <a:pt x="2555" y="9819"/>
                    </a:moveTo>
                    <a:lnTo>
                      <a:pt x="9714" y="2610"/>
                    </a:lnTo>
                    <a:cubicBezTo>
                      <a:pt x="13152" y="-853"/>
                      <a:pt x="18748" y="-873"/>
                      <a:pt x="22211" y="2567"/>
                    </a:cubicBezTo>
                    <a:cubicBezTo>
                      <a:pt x="25673" y="6007"/>
                      <a:pt x="25694" y="11602"/>
                      <a:pt x="22253" y="15064"/>
                    </a:cubicBezTo>
                    <a:lnTo>
                      <a:pt x="22211" y="15107"/>
                    </a:lnTo>
                    <a:lnTo>
                      <a:pt x="15001" y="22265"/>
                    </a:lnTo>
                    <a:cubicBezTo>
                      <a:pt x="11551" y="25691"/>
                      <a:pt x="5979" y="25671"/>
                      <a:pt x="2553" y="22223"/>
                    </a:cubicBezTo>
                    <a:cubicBezTo>
                      <a:pt x="-854" y="18791"/>
                      <a:pt x="-848" y="13249"/>
                      <a:pt x="2555" y="981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2" name="Freeform: Shape 41">
                <a:extLst>
                  <a:ext uri="{FF2B5EF4-FFF2-40B4-BE49-F238E27FC236}">
                    <a16:creationId xmlns:a16="http://schemas.microsoft.com/office/drawing/2014/main" id="{18E56EC5-BFCF-928D-2BD7-29B6F5751D18}"/>
                  </a:ext>
                </a:extLst>
              </p:cNvPr>
              <p:cNvSpPr/>
              <p:nvPr/>
            </p:nvSpPr>
            <p:spPr>
              <a:xfrm>
                <a:off x="1172809" y="2866284"/>
                <a:ext cx="25596" cy="25599"/>
              </a:xfrm>
              <a:custGeom>
                <a:avLst/>
                <a:gdLst>
                  <a:gd name="connsiteX0" fmla="*/ 2668 w 25596"/>
                  <a:gd name="connsiteY0" fmla="*/ 9934 h 25599"/>
                  <a:gd name="connsiteX1" fmla="*/ 9827 w 25596"/>
                  <a:gd name="connsiteY1" fmla="*/ 2724 h 25599"/>
                  <a:gd name="connsiteX2" fmla="*/ 22872 w 25596"/>
                  <a:gd name="connsiteY2" fmla="*/ 2680 h 25599"/>
                  <a:gd name="connsiteX3" fmla="*/ 22917 w 25596"/>
                  <a:gd name="connsiteY3" fmla="*/ 15727 h 25599"/>
                  <a:gd name="connsiteX4" fmla="*/ 22872 w 25596"/>
                  <a:gd name="connsiteY4" fmla="*/ 15772 h 25599"/>
                  <a:gd name="connsiteX5" fmla="*/ 15663 w 25596"/>
                  <a:gd name="connsiteY5" fmla="*/ 22931 h 25599"/>
                  <a:gd name="connsiteX6" fmla="*/ 2666 w 25596"/>
                  <a:gd name="connsiteY6" fmla="*/ 22886 h 25599"/>
                  <a:gd name="connsiteX7" fmla="*/ 2668 w 25596"/>
                  <a:gd name="connsiteY7" fmla="*/ 9934 h 2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96" h="25599">
                    <a:moveTo>
                      <a:pt x="2668" y="9934"/>
                    </a:moveTo>
                    <a:lnTo>
                      <a:pt x="9827" y="2724"/>
                    </a:lnTo>
                    <a:cubicBezTo>
                      <a:pt x="13417" y="-890"/>
                      <a:pt x="19257" y="-911"/>
                      <a:pt x="22872" y="2680"/>
                    </a:cubicBezTo>
                    <a:cubicBezTo>
                      <a:pt x="26487" y="6270"/>
                      <a:pt x="26507" y="12110"/>
                      <a:pt x="22917" y="15727"/>
                    </a:cubicBezTo>
                    <a:lnTo>
                      <a:pt x="22872" y="15772"/>
                    </a:lnTo>
                    <a:lnTo>
                      <a:pt x="15663" y="22931"/>
                    </a:lnTo>
                    <a:cubicBezTo>
                      <a:pt x="12062" y="26507"/>
                      <a:pt x="6242" y="26487"/>
                      <a:pt x="2666" y="22886"/>
                    </a:cubicBezTo>
                    <a:cubicBezTo>
                      <a:pt x="-892" y="19299"/>
                      <a:pt x="-886" y="13514"/>
                      <a:pt x="2668" y="9934"/>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3" name="Freeform: Shape 42">
                <a:extLst>
                  <a:ext uri="{FF2B5EF4-FFF2-40B4-BE49-F238E27FC236}">
                    <a16:creationId xmlns:a16="http://schemas.microsoft.com/office/drawing/2014/main" id="{709A4829-0C8B-E407-F242-972276D5BA30}"/>
                  </a:ext>
                </a:extLst>
              </p:cNvPr>
              <p:cNvSpPr/>
              <p:nvPr/>
            </p:nvSpPr>
            <p:spPr>
              <a:xfrm>
                <a:off x="1251448" y="2786868"/>
                <a:ext cx="26375" cy="26375"/>
              </a:xfrm>
              <a:custGeom>
                <a:avLst/>
                <a:gdLst>
                  <a:gd name="connsiteX0" fmla="*/ 2781 w 26375"/>
                  <a:gd name="connsiteY0" fmla="*/ 10049 h 26375"/>
                  <a:gd name="connsiteX1" fmla="*/ 9940 w 26375"/>
                  <a:gd name="connsiteY1" fmla="*/ 2839 h 26375"/>
                  <a:gd name="connsiteX2" fmla="*/ 23536 w 26375"/>
                  <a:gd name="connsiteY2" fmla="*/ 2792 h 26375"/>
                  <a:gd name="connsiteX3" fmla="*/ 23583 w 26375"/>
                  <a:gd name="connsiteY3" fmla="*/ 16388 h 26375"/>
                  <a:gd name="connsiteX4" fmla="*/ 23536 w 26375"/>
                  <a:gd name="connsiteY4" fmla="*/ 16435 h 26375"/>
                  <a:gd name="connsiteX5" fmla="*/ 16327 w 26375"/>
                  <a:gd name="connsiteY5" fmla="*/ 23594 h 26375"/>
                  <a:gd name="connsiteX6" fmla="*/ 2781 w 26375"/>
                  <a:gd name="connsiteY6" fmla="*/ 23547 h 26375"/>
                  <a:gd name="connsiteX7" fmla="*/ 2781 w 26375"/>
                  <a:gd name="connsiteY7" fmla="*/ 10049 h 2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75" h="26375">
                    <a:moveTo>
                      <a:pt x="2781" y="10049"/>
                    </a:moveTo>
                    <a:lnTo>
                      <a:pt x="9940" y="2839"/>
                    </a:lnTo>
                    <a:cubicBezTo>
                      <a:pt x="13681" y="-928"/>
                      <a:pt x="19769" y="-949"/>
                      <a:pt x="23536" y="2792"/>
                    </a:cubicBezTo>
                    <a:cubicBezTo>
                      <a:pt x="27303" y="6533"/>
                      <a:pt x="27324" y="12621"/>
                      <a:pt x="23583" y="16388"/>
                    </a:cubicBezTo>
                    <a:lnTo>
                      <a:pt x="23536" y="16435"/>
                    </a:lnTo>
                    <a:lnTo>
                      <a:pt x="16327" y="23594"/>
                    </a:lnTo>
                    <a:cubicBezTo>
                      <a:pt x="12573" y="27321"/>
                      <a:pt x="6508" y="27300"/>
                      <a:pt x="2781" y="23547"/>
                    </a:cubicBezTo>
                    <a:cubicBezTo>
                      <a:pt x="-931" y="19810"/>
                      <a:pt x="-923" y="13781"/>
                      <a:pt x="2781" y="1004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4" name="Freeform: Shape 43">
                <a:extLst>
                  <a:ext uri="{FF2B5EF4-FFF2-40B4-BE49-F238E27FC236}">
                    <a16:creationId xmlns:a16="http://schemas.microsoft.com/office/drawing/2014/main" id="{624F9980-49BA-A922-AF4B-48341ECFB687}"/>
                  </a:ext>
                </a:extLst>
              </p:cNvPr>
              <p:cNvSpPr/>
              <p:nvPr/>
            </p:nvSpPr>
            <p:spPr>
              <a:xfrm>
                <a:off x="1330224" y="2707655"/>
                <a:ext cx="26810" cy="26801"/>
              </a:xfrm>
              <a:custGeom>
                <a:avLst/>
                <a:gdLst>
                  <a:gd name="connsiteX0" fmla="*/ 2872 w 26810"/>
                  <a:gd name="connsiteY0" fmla="*/ 10076 h 26801"/>
                  <a:gd name="connsiteX1" fmla="*/ 10046 w 26810"/>
                  <a:gd name="connsiteY1" fmla="*/ 2883 h 26801"/>
                  <a:gd name="connsiteX2" fmla="*/ 23927 w 26810"/>
                  <a:gd name="connsiteY2" fmla="*/ 2867 h 26801"/>
                  <a:gd name="connsiteX3" fmla="*/ 23943 w 26810"/>
                  <a:gd name="connsiteY3" fmla="*/ 16747 h 26801"/>
                  <a:gd name="connsiteX4" fmla="*/ 23927 w 26810"/>
                  <a:gd name="connsiteY4" fmla="*/ 16764 h 26801"/>
                  <a:gd name="connsiteX5" fmla="*/ 16734 w 26810"/>
                  <a:gd name="connsiteY5" fmla="*/ 23939 h 26801"/>
                  <a:gd name="connsiteX6" fmla="*/ 2869 w 26810"/>
                  <a:gd name="connsiteY6" fmla="*/ 23922 h 26801"/>
                  <a:gd name="connsiteX7" fmla="*/ 2872 w 26810"/>
                  <a:gd name="connsiteY7" fmla="*/ 10076 h 2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10" h="26801">
                    <a:moveTo>
                      <a:pt x="2872" y="10076"/>
                    </a:moveTo>
                    <a:lnTo>
                      <a:pt x="10046" y="2883"/>
                    </a:lnTo>
                    <a:cubicBezTo>
                      <a:pt x="13875" y="-955"/>
                      <a:pt x="20091" y="-961"/>
                      <a:pt x="23927" y="2867"/>
                    </a:cubicBezTo>
                    <a:cubicBezTo>
                      <a:pt x="27766" y="6695"/>
                      <a:pt x="27772" y="12911"/>
                      <a:pt x="23943" y="16747"/>
                    </a:cubicBezTo>
                    <a:lnTo>
                      <a:pt x="23927" y="16764"/>
                    </a:lnTo>
                    <a:lnTo>
                      <a:pt x="16734" y="23939"/>
                    </a:lnTo>
                    <a:cubicBezTo>
                      <a:pt x="12901" y="27763"/>
                      <a:pt x="6694" y="27755"/>
                      <a:pt x="2869" y="23922"/>
                    </a:cubicBezTo>
                    <a:cubicBezTo>
                      <a:pt x="-953" y="20092"/>
                      <a:pt x="-961" y="13901"/>
                      <a:pt x="2872" y="1007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5" name="Freeform: Shape 44">
                <a:extLst>
                  <a:ext uri="{FF2B5EF4-FFF2-40B4-BE49-F238E27FC236}">
                    <a16:creationId xmlns:a16="http://schemas.microsoft.com/office/drawing/2014/main" id="{8564590F-D075-7CEB-F914-D00AEBFFAD0B}"/>
                  </a:ext>
                </a:extLst>
              </p:cNvPr>
              <p:cNvSpPr/>
              <p:nvPr/>
            </p:nvSpPr>
            <p:spPr>
              <a:xfrm>
                <a:off x="1409078" y="2628489"/>
                <a:ext cx="27339" cy="27127"/>
              </a:xfrm>
              <a:custGeom>
                <a:avLst/>
                <a:gdLst>
                  <a:gd name="connsiteX0" fmla="*/ 2952 w 27339"/>
                  <a:gd name="connsiteY0" fmla="*/ 10125 h 27127"/>
                  <a:gd name="connsiteX1" fmla="*/ 6683 w 27339"/>
                  <a:gd name="connsiteY1" fmla="*/ 6473 h 27127"/>
                  <a:gd name="connsiteX2" fmla="*/ 10483 w 27339"/>
                  <a:gd name="connsiteY2" fmla="*/ 2797 h 27127"/>
                  <a:gd name="connsiteX3" fmla="*/ 24542 w 27339"/>
                  <a:gd name="connsiteY3" fmla="*/ 3029 h 27127"/>
                  <a:gd name="connsiteX4" fmla="*/ 24311 w 27339"/>
                  <a:gd name="connsiteY4" fmla="*/ 17088 h 27127"/>
                  <a:gd name="connsiteX5" fmla="*/ 24298 w 27339"/>
                  <a:gd name="connsiteY5" fmla="*/ 17100 h 27127"/>
                  <a:gd name="connsiteX6" fmla="*/ 24051 w 27339"/>
                  <a:gd name="connsiteY6" fmla="*/ 17340 h 27127"/>
                  <a:gd name="connsiteX7" fmla="*/ 20541 w 27339"/>
                  <a:gd name="connsiteY7" fmla="*/ 20725 h 27127"/>
                  <a:gd name="connsiteX8" fmla="*/ 17001 w 27339"/>
                  <a:gd name="connsiteY8" fmla="*/ 24172 h 27127"/>
                  <a:gd name="connsiteX9" fmla="*/ 2956 w 27339"/>
                  <a:gd name="connsiteY9" fmla="*/ 24265 h 27127"/>
                  <a:gd name="connsiteX10" fmla="*/ 2863 w 27339"/>
                  <a:gd name="connsiteY10" fmla="*/ 10220 h 27127"/>
                  <a:gd name="connsiteX11" fmla="*/ 2952 w 27339"/>
                  <a:gd name="connsiteY11" fmla="*/ 10125 h 27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39" h="27127">
                    <a:moveTo>
                      <a:pt x="2952" y="10125"/>
                    </a:moveTo>
                    <a:cubicBezTo>
                      <a:pt x="4117" y="8938"/>
                      <a:pt x="5429" y="7694"/>
                      <a:pt x="6683" y="6473"/>
                    </a:cubicBezTo>
                    <a:lnTo>
                      <a:pt x="10483" y="2797"/>
                    </a:lnTo>
                    <a:cubicBezTo>
                      <a:pt x="14429" y="-1021"/>
                      <a:pt x="20724" y="-917"/>
                      <a:pt x="24542" y="3029"/>
                    </a:cubicBezTo>
                    <a:cubicBezTo>
                      <a:pt x="28360" y="6975"/>
                      <a:pt x="28257" y="13270"/>
                      <a:pt x="24311" y="17088"/>
                    </a:cubicBezTo>
                    <a:lnTo>
                      <a:pt x="24298" y="17100"/>
                    </a:lnTo>
                    <a:lnTo>
                      <a:pt x="24051" y="17340"/>
                    </a:lnTo>
                    <a:lnTo>
                      <a:pt x="20541" y="20725"/>
                    </a:lnTo>
                    <a:cubicBezTo>
                      <a:pt x="19367" y="21865"/>
                      <a:pt x="18215" y="22944"/>
                      <a:pt x="17001" y="24172"/>
                    </a:cubicBezTo>
                    <a:cubicBezTo>
                      <a:pt x="13149" y="28077"/>
                      <a:pt x="6860" y="28118"/>
                      <a:pt x="2956" y="24265"/>
                    </a:cubicBezTo>
                    <a:cubicBezTo>
                      <a:pt x="-949" y="20413"/>
                      <a:pt x="-990" y="14124"/>
                      <a:pt x="2863" y="10220"/>
                    </a:cubicBezTo>
                    <a:lnTo>
                      <a:pt x="2952" y="1012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6" name="Freeform: Shape 45">
                <a:extLst>
                  <a:ext uri="{FF2B5EF4-FFF2-40B4-BE49-F238E27FC236}">
                    <a16:creationId xmlns:a16="http://schemas.microsoft.com/office/drawing/2014/main" id="{6CF2EEBC-9F61-7940-2EEF-736019A3200F}"/>
                  </a:ext>
                </a:extLst>
              </p:cNvPr>
              <p:cNvSpPr/>
              <p:nvPr/>
            </p:nvSpPr>
            <p:spPr>
              <a:xfrm>
                <a:off x="1502553" y="2573393"/>
                <a:ext cx="30219" cy="23350"/>
              </a:xfrm>
              <a:custGeom>
                <a:avLst/>
                <a:gdLst>
                  <a:gd name="connsiteX0" fmla="*/ 6995 w 30219"/>
                  <a:gd name="connsiteY0" fmla="*/ 3712 h 23350"/>
                  <a:gd name="connsiteX1" fmla="*/ 17074 w 30219"/>
                  <a:gd name="connsiteY1" fmla="*/ 483 h 23350"/>
                  <a:gd name="connsiteX2" fmla="*/ 29737 w 30219"/>
                  <a:gd name="connsiteY2" fmla="*/ 7001 h 23350"/>
                  <a:gd name="connsiteX3" fmla="*/ 23218 w 30219"/>
                  <a:gd name="connsiteY3" fmla="*/ 19665 h 23350"/>
                  <a:gd name="connsiteX4" fmla="*/ 23196 w 30219"/>
                  <a:gd name="connsiteY4" fmla="*/ 19671 h 23350"/>
                  <a:gd name="connsiteX5" fmla="*/ 22794 w 30219"/>
                  <a:gd name="connsiteY5" fmla="*/ 19799 h 23350"/>
                  <a:gd name="connsiteX6" fmla="*/ 13515 w 30219"/>
                  <a:gd name="connsiteY6" fmla="*/ 22747 h 23350"/>
                  <a:gd name="connsiteX7" fmla="*/ 13111 w 30219"/>
                  <a:gd name="connsiteY7" fmla="*/ 22875 h 23350"/>
                  <a:gd name="connsiteX8" fmla="*/ 478 w 30219"/>
                  <a:gd name="connsiteY8" fmla="*/ 16336 h 23350"/>
                  <a:gd name="connsiteX9" fmla="*/ 6995 w 30219"/>
                  <a:gd name="connsiteY9" fmla="*/ 3712 h 2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219" h="23350">
                    <a:moveTo>
                      <a:pt x="6995" y="3712"/>
                    </a:moveTo>
                    <a:lnTo>
                      <a:pt x="17074" y="483"/>
                    </a:lnTo>
                    <a:cubicBezTo>
                      <a:pt x="22371" y="-1214"/>
                      <a:pt x="28040" y="1704"/>
                      <a:pt x="29737" y="7001"/>
                    </a:cubicBezTo>
                    <a:cubicBezTo>
                      <a:pt x="31434" y="12299"/>
                      <a:pt x="28516" y="17968"/>
                      <a:pt x="23218" y="19665"/>
                    </a:cubicBezTo>
                    <a:lnTo>
                      <a:pt x="23196" y="19671"/>
                    </a:lnTo>
                    <a:lnTo>
                      <a:pt x="22794" y="19799"/>
                    </a:lnTo>
                    <a:lnTo>
                      <a:pt x="13515" y="22747"/>
                    </a:lnTo>
                    <a:lnTo>
                      <a:pt x="13111" y="22875"/>
                    </a:lnTo>
                    <a:cubicBezTo>
                      <a:pt x="7816" y="24558"/>
                      <a:pt x="2161" y="21630"/>
                      <a:pt x="478" y="16336"/>
                    </a:cubicBezTo>
                    <a:cubicBezTo>
                      <a:pt x="-1206" y="11043"/>
                      <a:pt x="1699" y="5394"/>
                      <a:pt x="6995" y="371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7" name="Freeform: Shape 46">
                <a:extLst>
                  <a:ext uri="{FF2B5EF4-FFF2-40B4-BE49-F238E27FC236}">
                    <a16:creationId xmlns:a16="http://schemas.microsoft.com/office/drawing/2014/main" id="{2B709B51-FCB8-4853-4A2A-102F84C2579C}"/>
                  </a:ext>
                </a:extLst>
              </p:cNvPr>
              <p:cNvSpPr/>
              <p:nvPr/>
            </p:nvSpPr>
            <p:spPr>
              <a:xfrm>
                <a:off x="1612700" y="2565429"/>
                <a:ext cx="30700" cy="21832"/>
              </a:xfrm>
              <a:custGeom>
                <a:avLst/>
                <a:gdLst>
                  <a:gd name="connsiteX0" fmla="*/ 11658 w 30700"/>
                  <a:gd name="connsiteY0" fmla="*/ 118 h 21832"/>
                  <a:gd name="connsiteX1" fmla="*/ 22113 w 30700"/>
                  <a:gd name="connsiteY1" fmla="*/ 1718 h 21832"/>
                  <a:gd name="connsiteX2" fmla="*/ 30582 w 30700"/>
                  <a:gd name="connsiteY2" fmla="*/ 13245 h 21832"/>
                  <a:gd name="connsiteX3" fmla="*/ 19055 w 30700"/>
                  <a:gd name="connsiteY3" fmla="*/ 21715 h 21832"/>
                  <a:gd name="connsiteX4" fmla="*/ 18658 w 30700"/>
                  <a:gd name="connsiteY4" fmla="*/ 21656 h 21832"/>
                  <a:gd name="connsiteX5" fmla="*/ 9037 w 30700"/>
                  <a:gd name="connsiteY5" fmla="*/ 20207 h 21832"/>
                  <a:gd name="connsiteX6" fmla="*/ 8620 w 30700"/>
                  <a:gd name="connsiteY6" fmla="*/ 20144 h 21832"/>
                  <a:gd name="connsiteX7" fmla="*/ 114 w 30700"/>
                  <a:gd name="connsiteY7" fmla="*/ 8620 h 21832"/>
                  <a:gd name="connsiteX8" fmla="*/ 11638 w 30700"/>
                  <a:gd name="connsiteY8" fmla="*/ 114 h 21832"/>
                  <a:gd name="connsiteX9" fmla="*/ 11658 w 30700"/>
                  <a:gd name="connsiteY9" fmla="*/ 118 h 2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00" h="21832">
                    <a:moveTo>
                      <a:pt x="11658" y="118"/>
                    </a:moveTo>
                    <a:lnTo>
                      <a:pt x="22113" y="1718"/>
                    </a:lnTo>
                    <a:cubicBezTo>
                      <a:pt x="27636" y="2563"/>
                      <a:pt x="31427" y="7724"/>
                      <a:pt x="30582" y="13245"/>
                    </a:cubicBezTo>
                    <a:cubicBezTo>
                      <a:pt x="29737" y="18768"/>
                      <a:pt x="24576" y="22560"/>
                      <a:pt x="19055" y="21715"/>
                    </a:cubicBezTo>
                    <a:lnTo>
                      <a:pt x="18658" y="21656"/>
                    </a:lnTo>
                    <a:lnTo>
                      <a:pt x="9037" y="20207"/>
                    </a:lnTo>
                    <a:lnTo>
                      <a:pt x="8620" y="20144"/>
                    </a:lnTo>
                    <a:cubicBezTo>
                      <a:pt x="3089" y="19311"/>
                      <a:pt x="-719" y="14151"/>
                      <a:pt x="114" y="8620"/>
                    </a:cubicBezTo>
                    <a:cubicBezTo>
                      <a:pt x="947" y="3089"/>
                      <a:pt x="6107" y="-719"/>
                      <a:pt x="11638" y="114"/>
                    </a:cubicBezTo>
                    <a:lnTo>
                      <a:pt x="11658" y="118"/>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8" name="Freeform: Shape 47">
                <a:extLst>
                  <a:ext uri="{FF2B5EF4-FFF2-40B4-BE49-F238E27FC236}">
                    <a16:creationId xmlns:a16="http://schemas.microsoft.com/office/drawing/2014/main" id="{DA94BD4E-7189-3656-6445-423C2447799C}"/>
                  </a:ext>
                </a:extLst>
              </p:cNvPr>
              <p:cNvSpPr/>
              <p:nvPr/>
            </p:nvSpPr>
            <p:spPr>
              <a:xfrm>
                <a:off x="1716521" y="2604580"/>
                <a:ext cx="28631" cy="26080"/>
              </a:xfrm>
              <a:custGeom>
                <a:avLst/>
                <a:gdLst>
                  <a:gd name="connsiteX0" fmla="*/ 15766 w 28631"/>
                  <a:gd name="connsiteY0" fmla="*/ 1835 h 26080"/>
                  <a:gd name="connsiteX1" fmla="*/ 24406 w 28631"/>
                  <a:gd name="connsiteY1" fmla="*/ 7939 h 26080"/>
                  <a:gd name="connsiteX2" fmla="*/ 26800 w 28631"/>
                  <a:gd name="connsiteY2" fmla="*/ 21856 h 26080"/>
                  <a:gd name="connsiteX3" fmla="*/ 12883 w 28631"/>
                  <a:gd name="connsiteY3" fmla="*/ 24250 h 26080"/>
                  <a:gd name="connsiteX4" fmla="*/ 12558 w 28631"/>
                  <a:gd name="connsiteY4" fmla="*/ 24020 h 26080"/>
                  <a:gd name="connsiteX5" fmla="*/ 4592 w 28631"/>
                  <a:gd name="connsiteY5" fmla="*/ 18420 h 26080"/>
                  <a:gd name="connsiteX6" fmla="*/ 4249 w 28631"/>
                  <a:gd name="connsiteY6" fmla="*/ 18178 h 26080"/>
                  <a:gd name="connsiteX7" fmla="*/ 1819 w 28631"/>
                  <a:gd name="connsiteY7" fmla="*/ 4249 h 26080"/>
                  <a:gd name="connsiteX8" fmla="*/ 15748 w 28631"/>
                  <a:gd name="connsiteY8" fmla="*/ 1819 h 26080"/>
                  <a:gd name="connsiteX9" fmla="*/ 15766 w 28631"/>
                  <a:gd name="connsiteY9" fmla="*/ 1835 h 2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31" h="26080">
                    <a:moveTo>
                      <a:pt x="15766" y="1835"/>
                    </a:moveTo>
                    <a:lnTo>
                      <a:pt x="24406" y="7939"/>
                    </a:lnTo>
                    <a:cubicBezTo>
                      <a:pt x="28911" y="11121"/>
                      <a:pt x="29982" y="17351"/>
                      <a:pt x="26800" y="21856"/>
                    </a:cubicBezTo>
                    <a:cubicBezTo>
                      <a:pt x="23618" y="26361"/>
                      <a:pt x="17388" y="27432"/>
                      <a:pt x="12883" y="24250"/>
                    </a:cubicBezTo>
                    <a:lnTo>
                      <a:pt x="12558" y="24020"/>
                    </a:lnTo>
                    <a:lnTo>
                      <a:pt x="4592" y="18420"/>
                    </a:lnTo>
                    <a:lnTo>
                      <a:pt x="4249" y="18178"/>
                    </a:lnTo>
                    <a:cubicBezTo>
                      <a:pt x="-268" y="15002"/>
                      <a:pt x="-1355" y="8766"/>
                      <a:pt x="1819" y="4249"/>
                    </a:cubicBezTo>
                    <a:cubicBezTo>
                      <a:pt x="4995" y="-268"/>
                      <a:pt x="11231" y="-1355"/>
                      <a:pt x="15748" y="1819"/>
                    </a:cubicBezTo>
                    <a:lnTo>
                      <a:pt x="15766" y="183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59" name="Freeform: Shape 48">
                <a:extLst>
                  <a:ext uri="{FF2B5EF4-FFF2-40B4-BE49-F238E27FC236}">
                    <a16:creationId xmlns:a16="http://schemas.microsoft.com/office/drawing/2014/main" id="{18450C9D-8C29-679C-22D8-23C1AC659E34}"/>
                  </a:ext>
                </a:extLst>
              </p:cNvPr>
              <p:cNvSpPr/>
              <p:nvPr/>
            </p:nvSpPr>
            <p:spPr>
              <a:xfrm>
                <a:off x="1798818" y="2680490"/>
                <a:ext cx="26913" cy="26919"/>
              </a:xfrm>
              <a:custGeom>
                <a:avLst/>
                <a:gdLst>
                  <a:gd name="connsiteX0" fmla="*/ 16859 w 26913"/>
                  <a:gd name="connsiteY0" fmla="*/ 2897 h 26919"/>
                  <a:gd name="connsiteX1" fmla="*/ 24034 w 26913"/>
                  <a:gd name="connsiteY1" fmla="*/ 10090 h 26919"/>
                  <a:gd name="connsiteX2" fmla="*/ 24018 w 26913"/>
                  <a:gd name="connsiteY2" fmla="*/ 24032 h 26919"/>
                  <a:gd name="connsiteX3" fmla="*/ 10092 w 26913"/>
                  <a:gd name="connsiteY3" fmla="*/ 24032 h 26919"/>
                  <a:gd name="connsiteX4" fmla="*/ 2899 w 26913"/>
                  <a:gd name="connsiteY4" fmla="*/ 16857 h 26919"/>
                  <a:gd name="connsiteX5" fmla="*/ 2883 w 26913"/>
                  <a:gd name="connsiteY5" fmla="*/ 2899 h 26919"/>
                  <a:gd name="connsiteX6" fmla="*/ 16841 w 26913"/>
                  <a:gd name="connsiteY6" fmla="*/ 2883 h 26919"/>
                  <a:gd name="connsiteX7" fmla="*/ 16859 w 26913"/>
                  <a:gd name="connsiteY7" fmla="*/ 2897 h 26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3" h="26919">
                    <a:moveTo>
                      <a:pt x="16859" y="2897"/>
                    </a:moveTo>
                    <a:lnTo>
                      <a:pt x="24034" y="10090"/>
                    </a:lnTo>
                    <a:cubicBezTo>
                      <a:pt x="27879" y="13945"/>
                      <a:pt x="27872" y="20187"/>
                      <a:pt x="24018" y="24032"/>
                    </a:cubicBezTo>
                    <a:cubicBezTo>
                      <a:pt x="20163" y="27876"/>
                      <a:pt x="13937" y="27887"/>
                      <a:pt x="10092" y="24032"/>
                    </a:cubicBezTo>
                    <a:lnTo>
                      <a:pt x="2899" y="16857"/>
                    </a:lnTo>
                    <a:cubicBezTo>
                      <a:pt x="-960" y="13006"/>
                      <a:pt x="-968" y="6758"/>
                      <a:pt x="2883" y="2899"/>
                    </a:cubicBezTo>
                    <a:cubicBezTo>
                      <a:pt x="6734" y="-960"/>
                      <a:pt x="12982" y="-968"/>
                      <a:pt x="16841" y="2883"/>
                    </a:cubicBezTo>
                    <a:lnTo>
                      <a:pt x="16859" y="2897"/>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0" name="Freeform: Shape 49">
                <a:extLst>
                  <a:ext uri="{FF2B5EF4-FFF2-40B4-BE49-F238E27FC236}">
                    <a16:creationId xmlns:a16="http://schemas.microsoft.com/office/drawing/2014/main" id="{526B556F-DBB8-ABBF-54F0-4A0B36EEA41B}"/>
                  </a:ext>
                </a:extLst>
              </p:cNvPr>
              <p:cNvSpPr/>
              <p:nvPr/>
            </p:nvSpPr>
            <p:spPr>
              <a:xfrm>
                <a:off x="1877974" y="2759646"/>
                <a:ext cx="26654" cy="26660"/>
              </a:xfrm>
              <a:custGeom>
                <a:avLst/>
                <a:gdLst>
                  <a:gd name="connsiteX0" fmla="*/ 16638 w 26654"/>
                  <a:gd name="connsiteY0" fmla="*/ 2859 h 26660"/>
                  <a:gd name="connsiteX1" fmla="*/ 23813 w 26654"/>
                  <a:gd name="connsiteY1" fmla="*/ 10052 h 26660"/>
                  <a:gd name="connsiteX2" fmla="*/ 23797 w 26654"/>
                  <a:gd name="connsiteY2" fmla="*/ 23811 h 26660"/>
                  <a:gd name="connsiteX3" fmla="*/ 10054 w 26654"/>
                  <a:gd name="connsiteY3" fmla="*/ 23811 h 26660"/>
                  <a:gd name="connsiteX4" fmla="*/ 2861 w 26654"/>
                  <a:gd name="connsiteY4" fmla="*/ 16636 h 26660"/>
                  <a:gd name="connsiteX5" fmla="*/ 2845 w 26654"/>
                  <a:gd name="connsiteY5" fmla="*/ 2861 h 26660"/>
                  <a:gd name="connsiteX6" fmla="*/ 16620 w 26654"/>
                  <a:gd name="connsiteY6" fmla="*/ 2845 h 26660"/>
                  <a:gd name="connsiteX7" fmla="*/ 16638 w 26654"/>
                  <a:gd name="connsiteY7" fmla="*/ 2859 h 2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54" h="26660">
                    <a:moveTo>
                      <a:pt x="16638" y="2859"/>
                    </a:moveTo>
                    <a:lnTo>
                      <a:pt x="23813" y="10052"/>
                    </a:lnTo>
                    <a:cubicBezTo>
                      <a:pt x="27609" y="13856"/>
                      <a:pt x="27601" y="20015"/>
                      <a:pt x="23797" y="23811"/>
                    </a:cubicBezTo>
                    <a:cubicBezTo>
                      <a:pt x="19993" y="27605"/>
                      <a:pt x="13848" y="27615"/>
                      <a:pt x="10054" y="23811"/>
                    </a:cubicBezTo>
                    <a:lnTo>
                      <a:pt x="2861" y="16636"/>
                    </a:lnTo>
                    <a:cubicBezTo>
                      <a:pt x="-947" y="12836"/>
                      <a:pt x="-955" y="6669"/>
                      <a:pt x="2845" y="2861"/>
                    </a:cubicBezTo>
                    <a:cubicBezTo>
                      <a:pt x="6645" y="-947"/>
                      <a:pt x="12812" y="-955"/>
                      <a:pt x="16620" y="2845"/>
                    </a:cubicBezTo>
                    <a:lnTo>
                      <a:pt x="16638" y="2859"/>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1" name="Freeform: Shape 50">
                <a:extLst>
                  <a:ext uri="{FF2B5EF4-FFF2-40B4-BE49-F238E27FC236}">
                    <a16:creationId xmlns:a16="http://schemas.microsoft.com/office/drawing/2014/main" id="{77D2C269-1DEB-81EE-2C99-D6B74E4A931B}"/>
                  </a:ext>
                </a:extLst>
              </p:cNvPr>
              <p:cNvSpPr/>
              <p:nvPr/>
            </p:nvSpPr>
            <p:spPr>
              <a:xfrm>
                <a:off x="1957341" y="2839013"/>
                <a:ext cx="25918" cy="25915"/>
              </a:xfrm>
              <a:custGeom>
                <a:avLst/>
                <a:gdLst>
                  <a:gd name="connsiteX0" fmla="*/ 16045 w 25918"/>
                  <a:gd name="connsiteY0" fmla="*/ 2770 h 25915"/>
                  <a:gd name="connsiteX1" fmla="*/ 23204 w 25918"/>
                  <a:gd name="connsiteY1" fmla="*/ 9979 h 25915"/>
                  <a:gd name="connsiteX2" fmla="*/ 23157 w 25918"/>
                  <a:gd name="connsiteY2" fmla="*/ 23202 h 25915"/>
                  <a:gd name="connsiteX3" fmla="*/ 9982 w 25918"/>
                  <a:gd name="connsiteY3" fmla="*/ 23202 h 25915"/>
                  <a:gd name="connsiteX4" fmla="*/ 2772 w 25918"/>
                  <a:gd name="connsiteY4" fmla="*/ 16043 h 25915"/>
                  <a:gd name="connsiteX5" fmla="*/ 2725 w 25918"/>
                  <a:gd name="connsiteY5" fmla="*/ 2772 h 25915"/>
                  <a:gd name="connsiteX6" fmla="*/ 15996 w 25918"/>
                  <a:gd name="connsiteY6" fmla="*/ 2725 h 25915"/>
                  <a:gd name="connsiteX7" fmla="*/ 16045 w 25918"/>
                  <a:gd name="connsiteY7" fmla="*/ 2770 h 25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18" h="25915">
                    <a:moveTo>
                      <a:pt x="16045" y="2770"/>
                    </a:moveTo>
                    <a:lnTo>
                      <a:pt x="23204" y="9979"/>
                    </a:lnTo>
                    <a:cubicBezTo>
                      <a:pt x="26841" y="13643"/>
                      <a:pt x="26821" y="19562"/>
                      <a:pt x="23157" y="23202"/>
                    </a:cubicBezTo>
                    <a:cubicBezTo>
                      <a:pt x="19510" y="26825"/>
                      <a:pt x="13625" y="26817"/>
                      <a:pt x="9982" y="23202"/>
                    </a:cubicBezTo>
                    <a:lnTo>
                      <a:pt x="2772" y="16043"/>
                    </a:lnTo>
                    <a:cubicBezTo>
                      <a:pt x="-906" y="12391"/>
                      <a:pt x="-926" y="6450"/>
                      <a:pt x="2725" y="2772"/>
                    </a:cubicBezTo>
                    <a:cubicBezTo>
                      <a:pt x="6377" y="-906"/>
                      <a:pt x="12320" y="-926"/>
                      <a:pt x="15996" y="2725"/>
                    </a:cubicBezTo>
                    <a:lnTo>
                      <a:pt x="16045" y="2770"/>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2" name="Freeform: Shape 51">
                <a:extLst>
                  <a:ext uri="{FF2B5EF4-FFF2-40B4-BE49-F238E27FC236}">
                    <a16:creationId xmlns:a16="http://schemas.microsoft.com/office/drawing/2014/main" id="{294E6099-DB11-C2E0-56E6-969FBA4E3E24}"/>
                  </a:ext>
                </a:extLst>
              </p:cNvPr>
              <p:cNvSpPr/>
              <p:nvPr/>
            </p:nvSpPr>
            <p:spPr>
              <a:xfrm>
                <a:off x="2036759" y="2918431"/>
                <a:ext cx="25138" cy="25134"/>
              </a:xfrm>
              <a:custGeom>
                <a:avLst/>
                <a:gdLst>
                  <a:gd name="connsiteX0" fmla="*/ 15377 w 25138"/>
                  <a:gd name="connsiteY0" fmla="*/ 2655 h 25134"/>
                  <a:gd name="connsiteX1" fmla="*/ 22530 w 25138"/>
                  <a:gd name="connsiteY1" fmla="*/ 9864 h 25134"/>
                  <a:gd name="connsiteX2" fmla="*/ 22489 w 25138"/>
                  <a:gd name="connsiteY2" fmla="*/ 22534 h 25134"/>
                  <a:gd name="connsiteX3" fmla="*/ 9871 w 25138"/>
                  <a:gd name="connsiteY3" fmla="*/ 22534 h 25134"/>
                  <a:gd name="connsiteX4" fmla="*/ 2657 w 25138"/>
                  <a:gd name="connsiteY4" fmla="*/ 15375 h 25134"/>
                  <a:gd name="connsiteX5" fmla="*/ 2616 w 25138"/>
                  <a:gd name="connsiteY5" fmla="*/ 2657 h 25134"/>
                  <a:gd name="connsiteX6" fmla="*/ 15337 w 25138"/>
                  <a:gd name="connsiteY6" fmla="*/ 2612 h 25134"/>
                  <a:gd name="connsiteX7" fmla="*/ 15377 w 25138"/>
                  <a:gd name="connsiteY7" fmla="*/ 2655 h 2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38" h="25134">
                    <a:moveTo>
                      <a:pt x="15377" y="2655"/>
                    </a:moveTo>
                    <a:lnTo>
                      <a:pt x="22530" y="9864"/>
                    </a:lnTo>
                    <a:cubicBezTo>
                      <a:pt x="26025" y="13375"/>
                      <a:pt x="26005" y="19047"/>
                      <a:pt x="22489" y="22534"/>
                    </a:cubicBezTo>
                    <a:cubicBezTo>
                      <a:pt x="18994" y="26004"/>
                      <a:pt x="13366" y="25998"/>
                      <a:pt x="9871" y="22534"/>
                    </a:cubicBezTo>
                    <a:lnTo>
                      <a:pt x="2657" y="15375"/>
                    </a:lnTo>
                    <a:cubicBezTo>
                      <a:pt x="-879" y="11876"/>
                      <a:pt x="-879" y="6180"/>
                      <a:pt x="2616" y="2657"/>
                    </a:cubicBezTo>
                    <a:cubicBezTo>
                      <a:pt x="6111" y="-869"/>
                      <a:pt x="11801" y="-887"/>
                      <a:pt x="15337" y="2612"/>
                    </a:cubicBezTo>
                    <a:lnTo>
                      <a:pt x="15377" y="265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3" name="Freeform: Shape 52">
                <a:extLst>
                  <a:ext uri="{FF2B5EF4-FFF2-40B4-BE49-F238E27FC236}">
                    <a16:creationId xmlns:a16="http://schemas.microsoft.com/office/drawing/2014/main" id="{234FFC61-76E6-1A43-6BA6-D48838DFDF9D}"/>
                  </a:ext>
                </a:extLst>
              </p:cNvPr>
              <p:cNvSpPr/>
              <p:nvPr/>
            </p:nvSpPr>
            <p:spPr>
              <a:xfrm>
                <a:off x="2116180" y="2997846"/>
                <a:ext cx="24353" cy="24352"/>
              </a:xfrm>
              <a:custGeom>
                <a:avLst/>
                <a:gdLst>
                  <a:gd name="connsiteX0" fmla="*/ 14717 w 24353"/>
                  <a:gd name="connsiteY0" fmla="*/ 2543 h 24352"/>
                  <a:gd name="connsiteX1" fmla="*/ 21869 w 24353"/>
                  <a:gd name="connsiteY1" fmla="*/ 9755 h 24352"/>
                  <a:gd name="connsiteX2" fmla="*/ 21809 w 24353"/>
                  <a:gd name="connsiteY2" fmla="*/ 21868 h 24352"/>
                  <a:gd name="connsiteX3" fmla="*/ 9759 w 24353"/>
                  <a:gd name="connsiteY3" fmla="*/ 21868 h 24352"/>
                  <a:gd name="connsiteX4" fmla="*/ 2545 w 24353"/>
                  <a:gd name="connsiteY4" fmla="*/ 14711 h 24352"/>
                  <a:gd name="connsiteX5" fmla="*/ 2484 w 24353"/>
                  <a:gd name="connsiteY5" fmla="*/ 2543 h 24352"/>
                  <a:gd name="connsiteX6" fmla="*/ 14656 w 24353"/>
                  <a:gd name="connsiteY6" fmla="*/ 2497 h 24352"/>
                  <a:gd name="connsiteX7" fmla="*/ 14717 w 24353"/>
                  <a:gd name="connsiteY7" fmla="*/ 2543 h 2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53" h="24352">
                    <a:moveTo>
                      <a:pt x="14717" y="2543"/>
                    </a:moveTo>
                    <a:lnTo>
                      <a:pt x="21869" y="9755"/>
                    </a:lnTo>
                    <a:cubicBezTo>
                      <a:pt x="25202" y="13112"/>
                      <a:pt x="25182" y="18535"/>
                      <a:pt x="21809" y="21868"/>
                    </a:cubicBezTo>
                    <a:cubicBezTo>
                      <a:pt x="18476" y="25184"/>
                      <a:pt x="13091" y="25178"/>
                      <a:pt x="9759" y="21868"/>
                    </a:cubicBezTo>
                    <a:lnTo>
                      <a:pt x="2545" y="14711"/>
                    </a:lnTo>
                    <a:cubicBezTo>
                      <a:pt x="-828" y="11364"/>
                      <a:pt x="-848" y="5916"/>
                      <a:pt x="2484" y="2543"/>
                    </a:cubicBezTo>
                    <a:cubicBezTo>
                      <a:pt x="5837" y="-830"/>
                      <a:pt x="11283" y="-850"/>
                      <a:pt x="14656" y="2497"/>
                    </a:cubicBezTo>
                    <a:lnTo>
                      <a:pt x="14717" y="2543"/>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4" name="Freeform: Shape 53">
                <a:extLst>
                  <a:ext uri="{FF2B5EF4-FFF2-40B4-BE49-F238E27FC236}">
                    <a16:creationId xmlns:a16="http://schemas.microsoft.com/office/drawing/2014/main" id="{2D73313B-F068-1B6A-7161-D5D112875797}"/>
                  </a:ext>
                </a:extLst>
              </p:cNvPr>
              <p:cNvSpPr/>
              <p:nvPr/>
            </p:nvSpPr>
            <p:spPr>
              <a:xfrm>
                <a:off x="2195817" y="3077488"/>
                <a:ext cx="23083" cy="23078"/>
              </a:xfrm>
              <a:custGeom>
                <a:avLst/>
                <a:gdLst>
                  <a:gd name="connsiteX0" fmla="*/ 13658 w 23083"/>
                  <a:gd name="connsiteY0" fmla="*/ 2369 h 23078"/>
                  <a:gd name="connsiteX1" fmla="*/ 20790 w 23083"/>
                  <a:gd name="connsiteY1" fmla="*/ 9595 h 23078"/>
                  <a:gd name="connsiteX2" fmla="*/ 20729 w 23083"/>
                  <a:gd name="connsiteY2" fmla="*/ 20793 h 23078"/>
                  <a:gd name="connsiteX3" fmla="*/ 9594 w 23083"/>
                  <a:gd name="connsiteY3" fmla="*/ 20793 h 23078"/>
                  <a:gd name="connsiteX4" fmla="*/ 2380 w 23083"/>
                  <a:gd name="connsiteY4" fmla="*/ 13651 h 23078"/>
                  <a:gd name="connsiteX5" fmla="*/ 2299 w 23083"/>
                  <a:gd name="connsiteY5" fmla="*/ 2369 h 23078"/>
                  <a:gd name="connsiteX6" fmla="*/ 13597 w 23083"/>
                  <a:gd name="connsiteY6" fmla="*/ 2304 h 23078"/>
                  <a:gd name="connsiteX7" fmla="*/ 13658 w 23083"/>
                  <a:gd name="connsiteY7" fmla="*/ 2369 h 23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83" h="23078">
                    <a:moveTo>
                      <a:pt x="13658" y="2369"/>
                    </a:moveTo>
                    <a:lnTo>
                      <a:pt x="20790" y="9595"/>
                    </a:lnTo>
                    <a:cubicBezTo>
                      <a:pt x="23879" y="12706"/>
                      <a:pt x="23838" y="17719"/>
                      <a:pt x="20729" y="20793"/>
                    </a:cubicBezTo>
                    <a:cubicBezTo>
                      <a:pt x="17641" y="23845"/>
                      <a:pt x="12682" y="23835"/>
                      <a:pt x="9594" y="20793"/>
                    </a:cubicBezTo>
                    <a:lnTo>
                      <a:pt x="2380" y="13651"/>
                    </a:lnTo>
                    <a:cubicBezTo>
                      <a:pt x="-769" y="10554"/>
                      <a:pt x="-790" y="5502"/>
                      <a:pt x="2299" y="2369"/>
                    </a:cubicBezTo>
                    <a:cubicBezTo>
                      <a:pt x="5408" y="-764"/>
                      <a:pt x="10447" y="-793"/>
                      <a:pt x="13597" y="2304"/>
                    </a:cubicBezTo>
                    <a:cubicBezTo>
                      <a:pt x="13597" y="2316"/>
                      <a:pt x="13637" y="2359"/>
                      <a:pt x="13658" y="236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5" name="Freeform: Shape 54">
                <a:extLst>
                  <a:ext uri="{FF2B5EF4-FFF2-40B4-BE49-F238E27FC236}">
                    <a16:creationId xmlns:a16="http://schemas.microsoft.com/office/drawing/2014/main" id="{01C92784-BA12-1402-D302-91B796D3BD14}"/>
                  </a:ext>
                </a:extLst>
              </p:cNvPr>
              <p:cNvSpPr/>
              <p:nvPr/>
            </p:nvSpPr>
            <p:spPr>
              <a:xfrm>
                <a:off x="2275489" y="3157163"/>
                <a:ext cx="21798" cy="21785"/>
              </a:xfrm>
              <a:custGeom>
                <a:avLst/>
                <a:gdLst>
                  <a:gd name="connsiteX0" fmla="*/ 12543 w 21798"/>
                  <a:gd name="connsiteY0" fmla="*/ 2177 h 21785"/>
                  <a:gd name="connsiteX1" fmla="*/ 19695 w 21798"/>
                  <a:gd name="connsiteY1" fmla="*/ 9403 h 21785"/>
                  <a:gd name="connsiteX2" fmla="*/ 19634 w 21798"/>
                  <a:gd name="connsiteY2" fmla="*/ 19687 h 21785"/>
                  <a:gd name="connsiteX3" fmla="*/ 9413 w 21798"/>
                  <a:gd name="connsiteY3" fmla="*/ 19687 h 21785"/>
                  <a:gd name="connsiteX4" fmla="*/ 2180 w 21798"/>
                  <a:gd name="connsiteY4" fmla="*/ 12544 h 21785"/>
                  <a:gd name="connsiteX5" fmla="*/ 2118 w 21798"/>
                  <a:gd name="connsiteY5" fmla="*/ 2177 h 21785"/>
                  <a:gd name="connsiteX6" fmla="*/ 12482 w 21798"/>
                  <a:gd name="connsiteY6" fmla="*/ 2116 h 21785"/>
                  <a:gd name="connsiteX7" fmla="*/ 12543 w 21798"/>
                  <a:gd name="connsiteY7" fmla="*/ 2177 h 2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8" h="21785">
                    <a:moveTo>
                      <a:pt x="12543" y="2177"/>
                    </a:moveTo>
                    <a:lnTo>
                      <a:pt x="19695" y="9403"/>
                    </a:lnTo>
                    <a:cubicBezTo>
                      <a:pt x="22520" y="12260"/>
                      <a:pt x="22500" y="16864"/>
                      <a:pt x="19634" y="19687"/>
                    </a:cubicBezTo>
                    <a:cubicBezTo>
                      <a:pt x="16789" y="22489"/>
                      <a:pt x="12238" y="22481"/>
                      <a:pt x="9413" y="19687"/>
                    </a:cubicBezTo>
                    <a:lnTo>
                      <a:pt x="2180" y="12544"/>
                    </a:lnTo>
                    <a:cubicBezTo>
                      <a:pt x="-706" y="9698"/>
                      <a:pt x="-726" y="5057"/>
                      <a:pt x="2118" y="2177"/>
                    </a:cubicBezTo>
                    <a:cubicBezTo>
                      <a:pt x="4963" y="-702"/>
                      <a:pt x="9617" y="-729"/>
                      <a:pt x="12482" y="2116"/>
                    </a:cubicBezTo>
                    <a:cubicBezTo>
                      <a:pt x="12502" y="2128"/>
                      <a:pt x="12543" y="2167"/>
                      <a:pt x="12543" y="2177"/>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6" name="Freeform: Shape 55">
                <a:extLst>
                  <a:ext uri="{FF2B5EF4-FFF2-40B4-BE49-F238E27FC236}">
                    <a16:creationId xmlns:a16="http://schemas.microsoft.com/office/drawing/2014/main" id="{8F7CCC29-B3A9-05D4-264A-414D8B6782C3}"/>
                  </a:ext>
                </a:extLst>
              </p:cNvPr>
              <p:cNvSpPr/>
              <p:nvPr/>
            </p:nvSpPr>
            <p:spPr>
              <a:xfrm>
                <a:off x="2355263" y="3236929"/>
                <a:ext cx="20264" cy="20267"/>
              </a:xfrm>
              <a:custGeom>
                <a:avLst/>
                <a:gdLst>
                  <a:gd name="connsiteX0" fmla="*/ 11285 w 20264"/>
                  <a:gd name="connsiteY0" fmla="*/ 1966 h 20267"/>
                  <a:gd name="connsiteX1" fmla="*/ 18397 w 20264"/>
                  <a:gd name="connsiteY1" fmla="*/ 9208 h 20267"/>
                  <a:gd name="connsiteX2" fmla="*/ 18336 w 20264"/>
                  <a:gd name="connsiteY2" fmla="*/ 18403 h 20267"/>
                  <a:gd name="connsiteX3" fmla="*/ 9213 w 20264"/>
                  <a:gd name="connsiteY3" fmla="*/ 18403 h 20267"/>
                  <a:gd name="connsiteX4" fmla="*/ 1959 w 20264"/>
                  <a:gd name="connsiteY4" fmla="*/ 11276 h 20267"/>
                  <a:gd name="connsiteX5" fmla="*/ 1898 w 20264"/>
                  <a:gd name="connsiteY5" fmla="*/ 1966 h 20267"/>
                  <a:gd name="connsiteX6" fmla="*/ 11204 w 20264"/>
                  <a:gd name="connsiteY6" fmla="*/ 1890 h 20267"/>
                  <a:gd name="connsiteX7" fmla="*/ 11285 w 20264"/>
                  <a:gd name="connsiteY7" fmla="*/ 1966 h 20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264" h="20267">
                    <a:moveTo>
                      <a:pt x="11285" y="1966"/>
                    </a:moveTo>
                    <a:lnTo>
                      <a:pt x="18397" y="9208"/>
                    </a:lnTo>
                    <a:cubicBezTo>
                      <a:pt x="20917" y="11768"/>
                      <a:pt x="20876" y="15883"/>
                      <a:pt x="18336" y="18403"/>
                    </a:cubicBezTo>
                    <a:cubicBezTo>
                      <a:pt x="15796" y="20896"/>
                      <a:pt x="11732" y="20884"/>
                      <a:pt x="9213" y="18403"/>
                    </a:cubicBezTo>
                    <a:lnTo>
                      <a:pt x="1959" y="11276"/>
                    </a:lnTo>
                    <a:cubicBezTo>
                      <a:pt x="-622" y="8726"/>
                      <a:pt x="-663" y="4559"/>
                      <a:pt x="1898" y="1966"/>
                    </a:cubicBezTo>
                    <a:cubicBezTo>
                      <a:pt x="4438" y="-625"/>
                      <a:pt x="8603" y="-660"/>
                      <a:pt x="11204" y="1890"/>
                    </a:cubicBezTo>
                    <a:cubicBezTo>
                      <a:pt x="11224" y="1909"/>
                      <a:pt x="11265" y="1949"/>
                      <a:pt x="11285" y="196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7" name="Freeform: Shape 56">
                <a:extLst>
                  <a:ext uri="{FF2B5EF4-FFF2-40B4-BE49-F238E27FC236}">
                    <a16:creationId xmlns:a16="http://schemas.microsoft.com/office/drawing/2014/main" id="{9473D302-4E0F-45B8-16EB-0448CE9C2899}"/>
                  </a:ext>
                </a:extLst>
              </p:cNvPr>
              <p:cNvSpPr/>
              <p:nvPr/>
            </p:nvSpPr>
            <p:spPr>
              <a:xfrm>
                <a:off x="2435186" y="3316857"/>
                <a:ext cx="18476" cy="18473"/>
              </a:xfrm>
              <a:custGeom>
                <a:avLst/>
                <a:gdLst>
                  <a:gd name="connsiteX0" fmla="*/ 9736 w 18476"/>
                  <a:gd name="connsiteY0" fmla="*/ 1698 h 18473"/>
                  <a:gd name="connsiteX1" fmla="*/ 16868 w 18476"/>
                  <a:gd name="connsiteY1" fmla="*/ 8940 h 18473"/>
                  <a:gd name="connsiteX2" fmla="*/ 16807 w 18476"/>
                  <a:gd name="connsiteY2" fmla="*/ 16865 h 18473"/>
                  <a:gd name="connsiteX3" fmla="*/ 8943 w 18476"/>
                  <a:gd name="connsiteY3" fmla="*/ 16865 h 18473"/>
                  <a:gd name="connsiteX4" fmla="*/ 1710 w 18476"/>
                  <a:gd name="connsiteY4" fmla="*/ 9739 h 18473"/>
                  <a:gd name="connsiteX5" fmla="*/ 1628 w 18476"/>
                  <a:gd name="connsiteY5" fmla="*/ 1698 h 18473"/>
                  <a:gd name="connsiteX6" fmla="*/ 9675 w 18476"/>
                  <a:gd name="connsiteY6" fmla="*/ 1633 h 18473"/>
                  <a:gd name="connsiteX7" fmla="*/ 9736 w 18476"/>
                  <a:gd name="connsiteY7" fmla="*/ 1698 h 18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76" h="18473">
                    <a:moveTo>
                      <a:pt x="9736" y="1698"/>
                    </a:moveTo>
                    <a:lnTo>
                      <a:pt x="16868" y="8940"/>
                    </a:lnTo>
                    <a:cubicBezTo>
                      <a:pt x="19043" y="11147"/>
                      <a:pt x="19002" y="14695"/>
                      <a:pt x="16807" y="16865"/>
                    </a:cubicBezTo>
                    <a:cubicBezTo>
                      <a:pt x="14613" y="19013"/>
                      <a:pt x="11118" y="19005"/>
                      <a:pt x="8943" y="16865"/>
                    </a:cubicBezTo>
                    <a:lnTo>
                      <a:pt x="1710" y="9739"/>
                    </a:lnTo>
                    <a:cubicBezTo>
                      <a:pt x="-546" y="7536"/>
                      <a:pt x="-566" y="3936"/>
                      <a:pt x="1628" y="1698"/>
                    </a:cubicBezTo>
                    <a:cubicBezTo>
                      <a:pt x="3843" y="-541"/>
                      <a:pt x="7440" y="-569"/>
                      <a:pt x="9675" y="1633"/>
                    </a:cubicBezTo>
                    <a:cubicBezTo>
                      <a:pt x="9695" y="1650"/>
                      <a:pt x="9736" y="1684"/>
                      <a:pt x="9736" y="1698"/>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8" name="Freeform: Shape 57">
                <a:extLst>
                  <a:ext uri="{FF2B5EF4-FFF2-40B4-BE49-F238E27FC236}">
                    <a16:creationId xmlns:a16="http://schemas.microsoft.com/office/drawing/2014/main" id="{9E80FBED-55DB-79B3-5B9D-0ACD686C2C23}"/>
                  </a:ext>
                </a:extLst>
              </p:cNvPr>
              <p:cNvSpPr/>
              <p:nvPr/>
            </p:nvSpPr>
            <p:spPr>
              <a:xfrm>
                <a:off x="2515170" y="3396838"/>
                <a:ext cx="16504" cy="16641"/>
              </a:xfrm>
              <a:custGeom>
                <a:avLst/>
                <a:gdLst>
                  <a:gd name="connsiteX0" fmla="*/ 8086 w 16504"/>
                  <a:gd name="connsiteY0" fmla="*/ 1435 h 16641"/>
                  <a:gd name="connsiteX1" fmla="*/ 15218 w 16504"/>
                  <a:gd name="connsiteY1" fmla="*/ 8856 h 16641"/>
                  <a:gd name="connsiteX2" fmla="*/ 15076 w 16504"/>
                  <a:gd name="connsiteY2" fmla="*/ 15364 h 16641"/>
                  <a:gd name="connsiteX3" fmla="*/ 8655 w 16504"/>
                  <a:gd name="connsiteY3" fmla="*/ 15293 h 16641"/>
                  <a:gd name="connsiteX4" fmla="*/ 8533 w 16504"/>
                  <a:gd name="connsiteY4" fmla="*/ 15181 h 16641"/>
                  <a:gd name="connsiteX5" fmla="*/ 1441 w 16504"/>
                  <a:gd name="connsiteY5" fmla="*/ 8094 h 16641"/>
                  <a:gd name="connsiteX6" fmla="*/ 1319 w 16504"/>
                  <a:gd name="connsiteY6" fmla="*/ 1435 h 16641"/>
                  <a:gd name="connsiteX7" fmla="*/ 7984 w 16504"/>
                  <a:gd name="connsiteY7" fmla="*/ 1325 h 16641"/>
                  <a:gd name="connsiteX8" fmla="*/ 8025 w 16504"/>
                  <a:gd name="connsiteY8" fmla="*/ 1376 h 16641"/>
                  <a:gd name="connsiteX9" fmla="*/ 8086 w 16504"/>
                  <a:gd name="connsiteY9" fmla="*/ 1435 h 16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04" h="16641">
                    <a:moveTo>
                      <a:pt x="8086" y="1435"/>
                    </a:moveTo>
                    <a:cubicBezTo>
                      <a:pt x="10463" y="3818"/>
                      <a:pt x="12841" y="6370"/>
                      <a:pt x="15218" y="8856"/>
                    </a:cubicBezTo>
                    <a:cubicBezTo>
                      <a:pt x="16986" y="10693"/>
                      <a:pt x="16925" y="13606"/>
                      <a:pt x="15076" y="15364"/>
                    </a:cubicBezTo>
                    <a:cubicBezTo>
                      <a:pt x="13267" y="17097"/>
                      <a:pt x="10402" y="17059"/>
                      <a:pt x="8655" y="15293"/>
                    </a:cubicBezTo>
                    <a:lnTo>
                      <a:pt x="8533" y="15181"/>
                    </a:lnTo>
                    <a:cubicBezTo>
                      <a:pt x="6175" y="12820"/>
                      <a:pt x="3900" y="10469"/>
                      <a:pt x="1441" y="8094"/>
                    </a:cubicBezTo>
                    <a:cubicBezTo>
                      <a:pt x="-429" y="6285"/>
                      <a:pt x="-489" y="3304"/>
                      <a:pt x="1319" y="1435"/>
                    </a:cubicBezTo>
                    <a:cubicBezTo>
                      <a:pt x="3127" y="-435"/>
                      <a:pt x="6115" y="-483"/>
                      <a:pt x="7984" y="1325"/>
                    </a:cubicBezTo>
                    <a:cubicBezTo>
                      <a:pt x="8004" y="1341"/>
                      <a:pt x="8025" y="1360"/>
                      <a:pt x="8025" y="1376"/>
                    </a:cubicBezTo>
                    <a:lnTo>
                      <a:pt x="8086" y="143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69" name="Freeform: Shape 58">
                <a:extLst>
                  <a:ext uri="{FF2B5EF4-FFF2-40B4-BE49-F238E27FC236}">
                    <a16:creationId xmlns:a16="http://schemas.microsoft.com/office/drawing/2014/main" id="{8415C1BF-2B7E-CA04-74C6-C899B935623F}"/>
                  </a:ext>
                </a:extLst>
              </p:cNvPr>
              <p:cNvSpPr/>
              <p:nvPr/>
            </p:nvSpPr>
            <p:spPr>
              <a:xfrm>
                <a:off x="2575942" y="3491308"/>
                <a:ext cx="10240" cy="16825"/>
              </a:xfrm>
              <a:custGeom>
                <a:avLst/>
                <a:gdLst>
                  <a:gd name="connsiteX0" fmla="*/ 6974 w 10240"/>
                  <a:gd name="connsiteY0" fmla="*/ 2493 h 16825"/>
                  <a:gd name="connsiteX1" fmla="*/ 10083 w 10240"/>
                  <a:gd name="connsiteY1" fmla="*/ 12324 h 16825"/>
                  <a:gd name="connsiteX2" fmla="*/ 7827 w 10240"/>
                  <a:gd name="connsiteY2" fmla="*/ 16664 h 16825"/>
                  <a:gd name="connsiteX3" fmla="*/ 3499 w 10240"/>
                  <a:gd name="connsiteY3" fmla="*/ 14476 h 16825"/>
                  <a:gd name="connsiteX4" fmla="*/ 3458 w 10240"/>
                  <a:gd name="connsiteY4" fmla="*/ 14333 h 16825"/>
                  <a:gd name="connsiteX5" fmla="*/ 248 w 10240"/>
                  <a:gd name="connsiteY5" fmla="*/ 4848 h 16825"/>
                  <a:gd name="connsiteX6" fmla="*/ 187 w 10240"/>
                  <a:gd name="connsiteY6" fmla="*/ 4708 h 16825"/>
                  <a:gd name="connsiteX7" fmla="*/ 2442 w 10240"/>
                  <a:gd name="connsiteY7" fmla="*/ 189 h 16825"/>
                  <a:gd name="connsiteX8" fmla="*/ 6953 w 10240"/>
                  <a:gd name="connsiteY8" fmla="*/ 2426 h 16825"/>
                  <a:gd name="connsiteX9" fmla="*/ 6974 w 10240"/>
                  <a:gd name="connsiteY9" fmla="*/ 2493 h 1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40" h="16825">
                    <a:moveTo>
                      <a:pt x="6974" y="2493"/>
                    </a:moveTo>
                    <a:lnTo>
                      <a:pt x="10083" y="12324"/>
                    </a:lnTo>
                    <a:cubicBezTo>
                      <a:pt x="10652" y="14146"/>
                      <a:pt x="9636" y="16089"/>
                      <a:pt x="7827" y="16664"/>
                    </a:cubicBezTo>
                    <a:cubicBezTo>
                      <a:pt x="6019" y="17231"/>
                      <a:pt x="4108" y="16254"/>
                      <a:pt x="3499" y="14476"/>
                    </a:cubicBezTo>
                    <a:lnTo>
                      <a:pt x="3458" y="14333"/>
                    </a:lnTo>
                    <a:lnTo>
                      <a:pt x="248" y="4848"/>
                    </a:lnTo>
                    <a:lnTo>
                      <a:pt x="187" y="4708"/>
                    </a:lnTo>
                    <a:cubicBezTo>
                      <a:pt x="-443" y="2842"/>
                      <a:pt x="573" y="818"/>
                      <a:pt x="2442" y="189"/>
                    </a:cubicBezTo>
                    <a:cubicBezTo>
                      <a:pt x="4292" y="-441"/>
                      <a:pt x="6324" y="558"/>
                      <a:pt x="6953" y="2426"/>
                    </a:cubicBezTo>
                    <a:cubicBezTo>
                      <a:pt x="6953" y="2440"/>
                      <a:pt x="6974" y="2475"/>
                      <a:pt x="6974" y="2493"/>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70" name="Freeform: Shape 59">
                <a:extLst>
                  <a:ext uri="{FF2B5EF4-FFF2-40B4-BE49-F238E27FC236}">
                    <a16:creationId xmlns:a16="http://schemas.microsoft.com/office/drawing/2014/main" id="{E6921A45-19FF-7EC3-D2E8-7EC00085E62A}"/>
                  </a:ext>
                </a:extLst>
              </p:cNvPr>
              <p:cNvSpPr/>
              <p:nvPr/>
            </p:nvSpPr>
            <p:spPr>
              <a:xfrm>
                <a:off x="2587715" y="3602813"/>
                <a:ext cx="5867" cy="14525"/>
              </a:xfrm>
              <a:custGeom>
                <a:avLst/>
                <a:gdLst>
                  <a:gd name="connsiteX0" fmla="*/ 5828 w 5867"/>
                  <a:gd name="connsiteY0" fmla="*/ 2606 h 14525"/>
                  <a:gd name="connsiteX1" fmla="*/ 4243 w 5867"/>
                  <a:gd name="connsiteY1" fmla="*/ 12728 h 14525"/>
                  <a:gd name="connsiteX2" fmla="*/ 1805 w 5867"/>
                  <a:gd name="connsiteY2" fmla="*/ 14500 h 14525"/>
                  <a:gd name="connsiteX3" fmla="*/ 16 w 5867"/>
                  <a:gd name="connsiteY3" fmla="*/ 12120 h 14525"/>
                  <a:gd name="connsiteX4" fmla="*/ 37 w 5867"/>
                  <a:gd name="connsiteY4" fmla="*/ 12029 h 14525"/>
                  <a:gd name="connsiteX5" fmla="*/ 1358 w 5867"/>
                  <a:gd name="connsiteY5" fmla="*/ 2054 h 14525"/>
                  <a:gd name="connsiteX6" fmla="*/ 1358 w 5867"/>
                  <a:gd name="connsiteY6" fmla="*/ 1960 h 14525"/>
                  <a:gd name="connsiteX7" fmla="*/ 3898 w 5867"/>
                  <a:gd name="connsiteY7" fmla="*/ 20 h 14525"/>
                  <a:gd name="connsiteX8" fmla="*/ 5848 w 5867"/>
                  <a:gd name="connsiteY8" fmla="*/ 2552 h 14525"/>
                  <a:gd name="connsiteX9" fmla="*/ 5828 w 5867"/>
                  <a:gd name="connsiteY9" fmla="*/ 2606 h 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67" h="14525">
                    <a:moveTo>
                      <a:pt x="5828" y="2606"/>
                    </a:moveTo>
                    <a:lnTo>
                      <a:pt x="4243" y="12728"/>
                    </a:lnTo>
                    <a:cubicBezTo>
                      <a:pt x="4060" y="13890"/>
                      <a:pt x="2963" y="14683"/>
                      <a:pt x="1805" y="14500"/>
                    </a:cubicBezTo>
                    <a:cubicBezTo>
                      <a:pt x="667" y="14319"/>
                      <a:pt x="-126" y="13260"/>
                      <a:pt x="16" y="12120"/>
                    </a:cubicBezTo>
                    <a:lnTo>
                      <a:pt x="37" y="12029"/>
                    </a:lnTo>
                    <a:lnTo>
                      <a:pt x="1358" y="2054"/>
                    </a:lnTo>
                    <a:lnTo>
                      <a:pt x="1358" y="1960"/>
                    </a:lnTo>
                    <a:cubicBezTo>
                      <a:pt x="1520" y="725"/>
                      <a:pt x="2658" y="-143"/>
                      <a:pt x="3898" y="20"/>
                    </a:cubicBezTo>
                    <a:cubicBezTo>
                      <a:pt x="5137" y="182"/>
                      <a:pt x="6011" y="1316"/>
                      <a:pt x="5848" y="2552"/>
                    </a:cubicBezTo>
                    <a:cubicBezTo>
                      <a:pt x="5828" y="2566"/>
                      <a:pt x="5828" y="2592"/>
                      <a:pt x="5828" y="260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71" name="Freeform: Shape 60">
                <a:extLst>
                  <a:ext uri="{FF2B5EF4-FFF2-40B4-BE49-F238E27FC236}">
                    <a16:creationId xmlns:a16="http://schemas.microsoft.com/office/drawing/2014/main" id="{5607457A-9934-193F-D01C-29B2DF415002}"/>
                  </a:ext>
                </a:extLst>
              </p:cNvPr>
              <p:cNvSpPr/>
              <p:nvPr/>
            </p:nvSpPr>
            <p:spPr>
              <a:xfrm>
                <a:off x="2546498" y="3708301"/>
                <a:ext cx="7118" cy="9664"/>
              </a:xfrm>
              <a:custGeom>
                <a:avLst/>
                <a:gdLst>
                  <a:gd name="connsiteX0" fmla="*/ 6973 w 7118"/>
                  <a:gd name="connsiteY0" fmla="*/ 1148 h 9664"/>
                  <a:gd name="connsiteX1" fmla="*/ 1040 w 7118"/>
                  <a:gd name="connsiteY1" fmla="*/ 9424 h 9664"/>
                  <a:gd name="connsiteX2" fmla="*/ 247 w 7118"/>
                  <a:gd name="connsiteY2" fmla="*/ 9556 h 9664"/>
                  <a:gd name="connsiteX3" fmla="*/ 105 w 7118"/>
                  <a:gd name="connsiteY3" fmla="*/ 8772 h 9664"/>
                  <a:gd name="connsiteX4" fmla="*/ 125 w 7118"/>
                  <a:gd name="connsiteY4" fmla="*/ 8752 h 9664"/>
                  <a:gd name="connsiteX5" fmla="*/ 5774 w 7118"/>
                  <a:gd name="connsiteY5" fmla="*/ 345 h 9664"/>
                  <a:gd name="connsiteX6" fmla="*/ 5795 w 7118"/>
                  <a:gd name="connsiteY6" fmla="*/ 321 h 9664"/>
                  <a:gd name="connsiteX7" fmla="*/ 6790 w 7118"/>
                  <a:gd name="connsiteY7" fmla="*/ 124 h 9664"/>
                  <a:gd name="connsiteX8" fmla="*/ 6994 w 7118"/>
                  <a:gd name="connsiteY8" fmla="*/ 1130 h 9664"/>
                  <a:gd name="connsiteX9" fmla="*/ 6973 w 7118"/>
                  <a:gd name="connsiteY9" fmla="*/ 1148 h 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18" h="9664">
                    <a:moveTo>
                      <a:pt x="6973" y="1148"/>
                    </a:moveTo>
                    <a:lnTo>
                      <a:pt x="1040" y="9424"/>
                    </a:lnTo>
                    <a:cubicBezTo>
                      <a:pt x="857" y="9682"/>
                      <a:pt x="491" y="9741"/>
                      <a:pt x="247" y="9556"/>
                    </a:cubicBezTo>
                    <a:cubicBezTo>
                      <a:pt x="-17" y="9375"/>
                      <a:pt x="-78" y="9028"/>
                      <a:pt x="105" y="8772"/>
                    </a:cubicBezTo>
                    <a:lnTo>
                      <a:pt x="125" y="8752"/>
                    </a:lnTo>
                    <a:lnTo>
                      <a:pt x="5774" y="345"/>
                    </a:lnTo>
                    <a:lnTo>
                      <a:pt x="5795" y="321"/>
                    </a:lnTo>
                    <a:cubicBezTo>
                      <a:pt x="6018" y="-12"/>
                      <a:pt x="6465" y="-100"/>
                      <a:pt x="6790" y="124"/>
                    </a:cubicBezTo>
                    <a:cubicBezTo>
                      <a:pt x="7136" y="347"/>
                      <a:pt x="7217" y="798"/>
                      <a:pt x="6994" y="1130"/>
                    </a:cubicBezTo>
                    <a:cubicBezTo>
                      <a:pt x="6994" y="1136"/>
                      <a:pt x="6994" y="1144"/>
                      <a:pt x="6973" y="1148"/>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grpSp>
          <p:nvGrpSpPr>
            <p:cNvPr id="190" name="Graphic 6">
              <a:extLst>
                <a:ext uri="{FF2B5EF4-FFF2-40B4-BE49-F238E27FC236}">
                  <a16:creationId xmlns:a16="http://schemas.microsoft.com/office/drawing/2014/main" id="{7FD3B532-BE17-D362-5930-42B268440632}"/>
                </a:ext>
              </a:extLst>
            </p:cNvPr>
            <p:cNvGrpSpPr/>
            <p:nvPr/>
          </p:nvGrpSpPr>
          <p:grpSpPr>
            <a:xfrm>
              <a:off x="2828341" y="3403855"/>
              <a:ext cx="2004479" cy="1181086"/>
              <a:chOff x="2828341" y="3403855"/>
              <a:chExt cx="2004479" cy="1181086"/>
            </a:xfrm>
            <a:solidFill>
              <a:srgbClr val="B7B7B7"/>
            </a:solidFill>
          </p:grpSpPr>
          <p:sp>
            <p:nvSpPr>
              <p:cNvPr id="312" name="Freeform: Shape 62">
                <a:extLst>
                  <a:ext uri="{FF2B5EF4-FFF2-40B4-BE49-F238E27FC236}">
                    <a16:creationId xmlns:a16="http://schemas.microsoft.com/office/drawing/2014/main" id="{E69053DB-A97F-BA5F-6224-092C72A18A30}"/>
                  </a:ext>
                </a:extLst>
              </p:cNvPr>
              <p:cNvSpPr/>
              <p:nvPr/>
            </p:nvSpPr>
            <p:spPr>
              <a:xfrm>
                <a:off x="4761077" y="3403855"/>
                <a:ext cx="7198" cy="7487"/>
              </a:xfrm>
              <a:custGeom>
                <a:avLst/>
                <a:gdLst>
                  <a:gd name="connsiteX0" fmla="*/ 0 w 7198"/>
                  <a:gd name="connsiteY0" fmla="*/ 0 h 7487"/>
                  <a:gd name="connsiteX1" fmla="*/ 7153 w 7198"/>
                  <a:gd name="connsiteY1" fmla="*/ 7230 h 7487"/>
                  <a:gd name="connsiteX2" fmla="*/ 7153 w 7198"/>
                  <a:gd name="connsiteY2" fmla="*/ 7443 h 7487"/>
                  <a:gd name="connsiteX3" fmla="*/ 6949 w 7198"/>
                  <a:gd name="connsiteY3" fmla="*/ 7441 h 7487"/>
                  <a:gd name="connsiteX4" fmla="*/ 6929 w 7198"/>
                  <a:gd name="connsiteY4" fmla="*/ 7433 h 7487"/>
                  <a:gd name="connsiteX5" fmla="*/ 0 w 7198"/>
                  <a:gd name="connsiteY5" fmla="*/ 0 h 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8" h="7487">
                    <a:moveTo>
                      <a:pt x="0" y="0"/>
                    </a:moveTo>
                    <a:lnTo>
                      <a:pt x="7153" y="7230"/>
                    </a:lnTo>
                    <a:cubicBezTo>
                      <a:pt x="7214" y="7289"/>
                      <a:pt x="7214" y="7384"/>
                      <a:pt x="7153" y="7443"/>
                    </a:cubicBezTo>
                    <a:cubicBezTo>
                      <a:pt x="7092" y="7502"/>
                      <a:pt x="6990" y="7502"/>
                      <a:pt x="6949" y="7441"/>
                    </a:cubicBezTo>
                    <a:cubicBezTo>
                      <a:pt x="6949" y="7441"/>
                      <a:pt x="6929" y="7435"/>
                      <a:pt x="6929" y="7433"/>
                    </a:cubicBezTo>
                    <a:lnTo>
                      <a:pt x="0" y="0"/>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3" name="Freeform: Shape 63">
                <a:extLst>
                  <a:ext uri="{FF2B5EF4-FFF2-40B4-BE49-F238E27FC236}">
                    <a16:creationId xmlns:a16="http://schemas.microsoft.com/office/drawing/2014/main" id="{DEE417EA-E47A-8451-F6E2-E60AACA15F90}"/>
                  </a:ext>
                </a:extLst>
              </p:cNvPr>
              <p:cNvSpPr/>
              <p:nvPr/>
            </p:nvSpPr>
            <p:spPr>
              <a:xfrm>
                <a:off x="4817829" y="3496333"/>
                <a:ext cx="6470" cy="13185"/>
              </a:xfrm>
              <a:custGeom>
                <a:avLst/>
                <a:gdLst>
                  <a:gd name="connsiteX0" fmla="*/ 3212 w 6470"/>
                  <a:gd name="connsiteY0" fmla="*/ 1136 h 13185"/>
                  <a:gd name="connsiteX1" fmla="*/ 6383 w 6470"/>
                  <a:gd name="connsiteY1" fmla="*/ 10865 h 13185"/>
                  <a:gd name="connsiteX2" fmla="*/ 5244 w 6470"/>
                  <a:gd name="connsiteY2" fmla="*/ 13098 h 13185"/>
                  <a:gd name="connsiteX3" fmla="*/ 3009 w 6470"/>
                  <a:gd name="connsiteY3" fmla="*/ 11962 h 13185"/>
                  <a:gd name="connsiteX4" fmla="*/ 3009 w 6470"/>
                  <a:gd name="connsiteY4" fmla="*/ 11928 h 13185"/>
                  <a:gd name="connsiteX5" fmla="*/ 2968 w 6470"/>
                  <a:gd name="connsiteY5" fmla="*/ 11849 h 13185"/>
                  <a:gd name="connsiteX6" fmla="*/ 83 w 6470"/>
                  <a:gd name="connsiteY6" fmla="*/ 2182 h 13185"/>
                  <a:gd name="connsiteX7" fmla="*/ 63 w 6470"/>
                  <a:gd name="connsiteY7" fmla="*/ 2115 h 13185"/>
                  <a:gd name="connsiteX8" fmla="*/ 1180 w 6470"/>
                  <a:gd name="connsiteY8" fmla="*/ 69 h 13185"/>
                  <a:gd name="connsiteX9" fmla="*/ 3212 w 6470"/>
                  <a:gd name="connsiteY9" fmla="*/ 1136 h 1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0" h="13185">
                    <a:moveTo>
                      <a:pt x="3212" y="1136"/>
                    </a:moveTo>
                    <a:lnTo>
                      <a:pt x="6383" y="10865"/>
                    </a:lnTo>
                    <a:cubicBezTo>
                      <a:pt x="6687" y="11796"/>
                      <a:pt x="6179" y="12796"/>
                      <a:pt x="5244" y="13098"/>
                    </a:cubicBezTo>
                    <a:cubicBezTo>
                      <a:pt x="4310" y="13401"/>
                      <a:pt x="3314" y="12893"/>
                      <a:pt x="3009" y="11962"/>
                    </a:cubicBezTo>
                    <a:cubicBezTo>
                      <a:pt x="3009" y="11952"/>
                      <a:pt x="3009" y="11940"/>
                      <a:pt x="3009" y="11928"/>
                    </a:cubicBezTo>
                    <a:lnTo>
                      <a:pt x="2968" y="11849"/>
                    </a:lnTo>
                    <a:lnTo>
                      <a:pt x="83" y="2182"/>
                    </a:lnTo>
                    <a:lnTo>
                      <a:pt x="63" y="2115"/>
                    </a:lnTo>
                    <a:cubicBezTo>
                      <a:pt x="-181" y="1244"/>
                      <a:pt x="306" y="327"/>
                      <a:pt x="1180" y="69"/>
                    </a:cubicBezTo>
                    <a:cubicBezTo>
                      <a:pt x="2034" y="-187"/>
                      <a:pt x="2948" y="291"/>
                      <a:pt x="3212" y="113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4" name="Freeform: Shape 64">
                <a:extLst>
                  <a:ext uri="{FF2B5EF4-FFF2-40B4-BE49-F238E27FC236}">
                    <a16:creationId xmlns:a16="http://schemas.microsoft.com/office/drawing/2014/main" id="{6827AA41-04A1-9B48-FE73-C16D57F1F8C2}"/>
                  </a:ext>
                </a:extLst>
              </p:cNvPr>
              <p:cNvSpPr/>
              <p:nvPr/>
            </p:nvSpPr>
            <p:spPr>
              <a:xfrm>
                <a:off x="4825033" y="3605252"/>
                <a:ext cx="7787" cy="16325"/>
              </a:xfrm>
              <a:custGeom>
                <a:avLst/>
                <a:gdLst>
                  <a:gd name="connsiteX0" fmla="*/ 7754 w 7787"/>
                  <a:gd name="connsiteY0" fmla="*/ 3459 h 16325"/>
                  <a:gd name="connsiteX1" fmla="*/ 6270 w 7787"/>
                  <a:gd name="connsiteY1" fmla="*/ 13634 h 16325"/>
                  <a:gd name="connsiteX2" fmla="*/ 2694 w 7787"/>
                  <a:gd name="connsiteY2" fmla="*/ 16291 h 16325"/>
                  <a:gd name="connsiteX3" fmla="*/ 32 w 7787"/>
                  <a:gd name="connsiteY3" fmla="*/ 12723 h 16325"/>
                  <a:gd name="connsiteX4" fmla="*/ 52 w 7787"/>
                  <a:gd name="connsiteY4" fmla="*/ 12662 h 16325"/>
                  <a:gd name="connsiteX5" fmla="*/ 73 w 7787"/>
                  <a:gd name="connsiteY5" fmla="*/ 12518 h 16325"/>
                  <a:gd name="connsiteX6" fmla="*/ 1759 w 7787"/>
                  <a:gd name="connsiteY6" fmla="*/ 2636 h 16325"/>
                  <a:gd name="connsiteX7" fmla="*/ 1779 w 7787"/>
                  <a:gd name="connsiteY7" fmla="*/ 2510 h 16325"/>
                  <a:gd name="connsiteX8" fmla="*/ 5275 w 7787"/>
                  <a:gd name="connsiteY8" fmla="*/ 44 h 16325"/>
                  <a:gd name="connsiteX9" fmla="*/ 7754 w 7787"/>
                  <a:gd name="connsiteY9" fmla="*/ 3459 h 1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87" h="16325">
                    <a:moveTo>
                      <a:pt x="7754" y="3459"/>
                    </a:moveTo>
                    <a:lnTo>
                      <a:pt x="6270" y="13634"/>
                    </a:lnTo>
                    <a:cubicBezTo>
                      <a:pt x="6006" y="15353"/>
                      <a:pt x="4421" y="16543"/>
                      <a:pt x="2694" y="16291"/>
                    </a:cubicBezTo>
                    <a:cubicBezTo>
                      <a:pt x="967" y="16039"/>
                      <a:pt x="-212" y="14442"/>
                      <a:pt x="32" y="12723"/>
                    </a:cubicBezTo>
                    <a:cubicBezTo>
                      <a:pt x="32" y="12703"/>
                      <a:pt x="52" y="12683"/>
                      <a:pt x="52" y="12662"/>
                    </a:cubicBezTo>
                    <a:lnTo>
                      <a:pt x="73" y="12518"/>
                    </a:lnTo>
                    <a:lnTo>
                      <a:pt x="1759" y="2636"/>
                    </a:lnTo>
                    <a:lnTo>
                      <a:pt x="1779" y="2510"/>
                    </a:lnTo>
                    <a:cubicBezTo>
                      <a:pt x="2064" y="866"/>
                      <a:pt x="3629" y="-237"/>
                      <a:pt x="5275" y="44"/>
                    </a:cubicBezTo>
                    <a:cubicBezTo>
                      <a:pt x="6900" y="324"/>
                      <a:pt x="7997" y="1846"/>
                      <a:pt x="7754" y="345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5" name="Freeform: Shape 65">
                <a:extLst>
                  <a:ext uri="{FF2B5EF4-FFF2-40B4-BE49-F238E27FC236}">
                    <a16:creationId xmlns:a16="http://schemas.microsoft.com/office/drawing/2014/main" id="{9544CC00-1832-D661-6CCC-935947117524}"/>
                  </a:ext>
                </a:extLst>
              </p:cNvPr>
              <p:cNvSpPr/>
              <p:nvPr/>
            </p:nvSpPr>
            <p:spPr>
              <a:xfrm>
                <a:off x="4779718" y="3707467"/>
                <a:ext cx="14487" cy="16892"/>
              </a:xfrm>
              <a:custGeom>
                <a:avLst/>
                <a:gdLst>
                  <a:gd name="connsiteX0" fmla="*/ 13729 w 14487"/>
                  <a:gd name="connsiteY0" fmla="*/ 6591 h 16892"/>
                  <a:gd name="connsiteX1" fmla="*/ 7816 w 14487"/>
                  <a:gd name="connsiteY1" fmla="*/ 15060 h 16892"/>
                  <a:gd name="connsiteX2" fmla="*/ 1821 w 14487"/>
                  <a:gd name="connsiteY2" fmla="*/ 16117 h 16892"/>
                  <a:gd name="connsiteX3" fmla="*/ 765 w 14487"/>
                  <a:gd name="connsiteY3" fmla="*/ 10137 h 16892"/>
                  <a:gd name="connsiteX4" fmla="*/ 805 w 14487"/>
                  <a:gd name="connsiteY4" fmla="*/ 10084 h 16892"/>
                  <a:gd name="connsiteX5" fmla="*/ 927 w 14487"/>
                  <a:gd name="connsiteY5" fmla="*/ 9921 h 16892"/>
                  <a:gd name="connsiteX6" fmla="*/ 6820 w 14487"/>
                  <a:gd name="connsiteY6" fmla="*/ 1862 h 16892"/>
                  <a:gd name="connsiteX7" fmla="*/ 6921 w 14487"/>
                  <a:gd name="connsiteY7" fmla="*/ 1718 h 16892"/>
                  <a:gd name="connsiteX8" fmla="*/ 12774 w 14487"/>
                  <a:gd name="connsiteY8" fmla="*/ 806 h 16892"/>
                  <a:gd name="connsiteX9" fmla="*/ 13729 w 14487"/>
                  <a:gd name="connsiteY9" fmla="*/ 6591 h 1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87" h="16892">
                    <a:moveTo>
                      <a:pt x="13729" y="6591"/>
                    </a:moveTo>
                    <a:lnTo>
                      <a:pt x="7816" y="15060"/>
                    </a:lnTo>
                    <a:cubicBezTo>
                      <a:pt x="6454" y="17003"/>
                      <a:pt x="3772" y="17476"/>
                      <a:pt x="1821" y="16117"/>
                    </a:cubicBezTo>
                    <a:cubicBezTo>
                      <a:pt x="-109" y="14757"/>
                      <a:pt x="-577" y="12081"/>
                      <a:pt x="765" y="10137"/>
                    </a:cubicBezTo>
                    <a:cubicBezTo>
                      <a:pt x="785" y="10118"/>
                      <a:pt x="805" y="10100"/>
                      <a:pt x="805" y="10084"/>
                    </a:cubicBezTo>
                    <a:lnTo>
                      <a:pt x="927" y="9921"/>
                    </a:lnTo>
                    <a:lnTo>
                      <a:pt x="6820" y="1862"/>
                    </a:lnTo>
                    <a:lnTo>
                      <a:pt x="6921" y="1718"/>
                    </a:lnTo>
                    <a:cubicBezTo>
                      <a:pt x="8283" y="-149"/>
                      <a:pt x="10904" y="-558"/>
                      <a:pt x="12774" y="806"/>
                    </a:cubicBezTo>
                    <a:cubicBezTo>
                      <a:pt x="14623" y="2153"/>
                      <a:pt x="15029" y="4727"/>
                      <a:pt x="13729" y="659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6" name="Freeform: Shape 66">
                <a:extLst>
                  <a:ext uri="{FF2B5EF4-FFF2-40B4-BE49-F238E27FC236}">
                    <a16:creationId xmlns:a16="http://schemas.microsoft.com/office/drawing/2014/main" id="{1248CC85-66A3-5D1A-12FD-816F6CAF446B}"/>
                  </a:ext>
                </a:extLst>
              </p:cNvPr>
              <p:cNvSpPr/>
              <p:nvPr/>
            </p:nvSpPr>
            <p:spPr>
              <a:xfrm>
                <a:off x="4701532" y="3788258"/>
                <a:ext cx="17813" cy="17810"/>
              </a:xfrm>
              <a:custGeom>
                <a:avLst/>
                <a:gdLst>
                  <a:gd name="connsiteX0" fmla="*/ 16305 w 17813"/>
                  <a:gd name="connsiteY0" fmla="*/ 8970 h 17810"/>
                  <a:gd name="connsiteX1" fmla="*/ 9172 w 17813"/>
                  <a:gd name="connsiteY1" fmla="*/ 16212 h 17810"/>
                  <a:gd name="connsiteX2" fmla="*/ 1593 w 17813"/>
                  <a:gd name="connsiteY2" fmla="*/ 16273 h 17810"/>
                  <a:gd name="connsiteX3" fmla="*/ 1532 w 17813"/>
                  <a:gd name="connsiteY3" fmla="*/ 8702 h 17810"/>
                  <a:gd name="connsiteX4" fmla="*/ 1593 w 17813"/>
                  <a:gd name="connsiteY4" fmla="*/ 8641 h 17810"/>
                  <a:gd name="connsiteX5" fmla="*/ 8847 w 17813"/>
                  <a:gd name="connsiteY5" fmla="*/ 1515 h 17810"/>
                  <a:gd name="connsiteX6" fmla="*/ 16305 w 17813"/>
                  <a:gd name="connsiteY6" fmla="*/ 1573 h 17810"/>
                  <a:gd name="connsiteX7" fmla="*/ 16305 w 17813"/>
                  <a:gd name="connsiteY7" fmla="*/ 8970 h 1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13" h="17810">
                    <a:moveTo>
                      <a:pt x="16305" y="8970"/>
                    </a:moveTo>
                    <a:lnTo>
                      <a:pt x="9172" y="16212"/>
                    </a:lnTo>
                    <a:cubicBezTo>
                      <a:pt x="7100" y="18319"/>
                      <a:pt x="3706" y="18348"/>
                      <a:pt x="1593" y="16273"/>
                    </a:cubicBezTo>
                    <a:cubicBezTo>
                      <a:pt x="-500" y="14198"/>
                      <a:pt x="-541" y="10809"/>
                      <a:pt x="1532" y="8702"/>
                    </a:cubicBezTo>
                    <a:cubicBezTo>
                      <a:pt x="1552" y="8688"/>
                      <a:pt x="1593" y="8655"/>
                      <a:pt x="1593" y="8641"/>
                    </a:cubicBezTo>
                    <a:lnTo>
                      <a:pt x="8847" y="1515"/>
                    </a:lnTo>
                    <a:cubicBezTo>
                      <a:pt x="10920" y="-528"/>
                      <a:pt x="14252" y="-501"/>
                      <a:pt x="16305" y="1573"/>
                    </a:cubicBezTo>
                    <a:cubicBezTo>
                      <a:pt x="18316" y="3626"/>
                      <a:pt x="18316" y="6922"/>
                      <a:pt x="16305" y="897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7" name="Freeform: Shape 67">
                <a:extLst>
                  <a:ext uri="{FF2B5EF4-FFF2-40B4-BE49-F238E27FC236}">
                    <a16:creationId xmlns:a16="http://schemas.microsoft.com/office/drawing/2014/main" id="{61046C06-C0D7-E36C-0D6C-F3671B93E9CC}"/>
                  </a:ext>
                </a:extLst>
              </p:cNvPr>
              <p:cNvSpPr/>
              <p:nvPr/>
            </p:nvSpPr>
            <p:spPr>
              <a:xfrm>
                <a:off x="4621611" y="3866395"/>
                <a:ext cx="19591" cy="19596"/>
              </a:xfrm>
              <a:custGeom>
                <a:avLst/>
                <a:gdLst>
                  <a:gd name="connsiteX0" fmla="*/ 17831 w 19591"/>
                  <a:gd name="connsiteY0" fmla="*/ 10483 h 19596"/>
                  <a:gd name="connsiteX1" fmla="*/ 10698 w 19591"/>
                  <a:gd name="connsiteY1" fmla="*/ 17737 h 19596"/>
                  <a:gd name="connsiteX2" fmla="*/ 1859 w 19591"/>
                  <a:gd name="connsiteY2" fmla="*/ 17798 h 19596"/>
                  <a:gd name="connsiteX3" fmla="*/ 1798 w 19591"/>
                  <a:gd name="connsiteY3" fmla="*/ 8959 h 19596"/>
                  <a:gd name="connsiteX4" fmla="*/ 1859 w 19591"/>
                  <a:gd name="connsiteY4" fmla="*/ 8898 h 19596"/>
                  <a:gd name="connsiteX5" fmla="*/ 9113 w 19591"/>
                  <a:gd name="connsiteY5" fmla="*/ 1766 h 19596"/>
                  <a:gd name="connsiteX6" fmla="*/ 17831 w 19591"/>
                  <a:gd name="connsiteY6" fmla="*/ 1847 h 19596"/>
                  <a:gd name="connsiteX7" fmla="*/ 17831 w 19591"/>
                  <a:gd name="connsiteY7" fmla="*/ 10483 h 1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91" h="19596">
                    <a:moveTo>
                      <a:pt x="17831" y="10483"/>
                    </a:moveTo>
                    <a:lnTo>
                      <a:pt x="10698" y="17737"/>
                    </a:lnTo>
                    <a:cubicBezTo>
                      <a:pt x="8280" y="20196"/>
                      <a:pt x="4318" y="20216"/>
                      <a:pt x="1859" y="17798"/>
                    </a:cubicBezTo>
                    <a:cubicBezTo>
                      <a:pt x="-599" y="15380"/>
                      <a:pt x="-620" y="11438"/>
                      <a:pt x="1798" y="8959"/>
                    </a:cubicBezTo>
                    <a:cubicBezTo>
                      <a:pt x="1819" y="8959"/>
                      <a:pt x="1839" y="8918"/>
                      <a:pt x="1859" y="8898"/>
                    </a:cubicBezTo>
                    <a:lnTo>
                      <a:pt x="9113" y="1766"/>
                    </a:lnTo>
                    <a:cubicBezTo>
                      <a:pt x="11532" y="-612"/>
                      <a:pt x="15433" y="-592"/>
                      <a:pt x="17831" y="1847"/>
                    </a:cubicBezTo>
                    <a:cubicBezTo>
                      <a:pt x="20188" y="4244"/>
                      <a:pt x="20168" y="8085"/>
                      <a:pt x="17831" y="10483"/>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8" name="Freeform: Shape 68">
                <a:extLst>
                  <a:ext uri="{FF2B5EF4-FFF2-40B4-BE49-F238E27FC236}">
                    <a16:creationId xmlns:a16="http://schemas.microsoft.com/office/drawing/2014/main" id="{5F8EA1C1-4C74-C486-5B5F-2A5EB4406D5B}"/>
                  </a:ext>
                </a:extLst>
              </p:cNvPr>
              <p:cNvSpPr/>
              <p:nvPr/>
            </p:nvSpPr>
            <p:spPr>
              <a:xfrm>
                <a:off x="4541753" y="3944549"/>
                <a:ext cx="21292" cy="21300"/>
              </a:xfrm>
              <a:custGeom>
                <a:avLst/>
                <a:gdLst>
                  <a:gd name="connsiteX0" fmla="*/ 19274 w 21292"/>
                  <a:gd name="connsiteY0" fmla="*/ 11963 h 21300"/>
                  <a:gd name="connsiteX1" fmla="*/ 12121 w 21292"/>
                  <a:gd name="connsiteY1" fmla="*/ 19198 h 21300"/>
                  <a:gd name="connsiteX2" fmla="*/ 2103 w 21292"/>
                  <a:gd name="connsiteY2" fmla="*/ 19258 h 21300"/>
                  <a:gd name="connsiteX3" fmla="*/ 2042 w 21292"/>
                  <a:gd name="connsiteY3" fmla="*/ 9241 h 21300"/>
                  <a:gd name="connsiteX4" fmla="*/ 2103 w 21292"/>
                  <a:gd name="connsiteY4" fmla="*/ 9180 h 21300"/>
                  <a:gd name="connsiteX5" fmla="*/ 9337 w 21292"/>
                  <a:gd name="connsiteY5" fmla="*/ 2027 h 21300"/>
                  <a:gd name="connsiteX6" fmla="*/ 19274 w 21292"/>
                  <a:gd name="connsiteY6" fmla="*/ 2088 h 21300"/>
                  <a:gd name="connsiteX7" fmla="*/ 19274 w 21292"/>
                  <a:gd name="connsiteY7" fmla="*/ 11963 h 2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92" h="21300">
                    <a:moveTo>
                      <a:pt x="19274" y="11963"/>
                    </a:moveTo>
                    <a:lnTo>
                      <a:pt x="12121" y="19198"/>
                    </a:lnTo>
                    <a:cubicBezTo>
                      <a:pt x="9378" y="21981"/>
                      <a:pt x="4887" y="22002"/>
                      <a:pt x="2103" y="19258"/>
                    </a:cubicBezTo>
                    <a:cubicBezTo>
                      <a:pt x="-681" y="16495"/>
                      <a:pt x="-701" y="12024"/>
                      <a:pt x="2042" y="9241"/>
                    </a:cubicBezTo>
                    <a:cubicBezTo>
                      <a:pt x="2062" y="9220"/>
                      <a:pt x="2103" y="9180"/>
                      <a:pt x="2103" y="9180"/>
                    </a:cubicBezTo>
                    <a:lnTo>
                      <a:pt x="9337" y="2027"/>
                    </a:lnTo>
                    <a:cubicBezTo>
                      <a:pt x="12080" y="-696"/>
                      <a:pt x="16530" y="-676"/>
                      <a:pt x="19274" y="2088"/>
                    </a:cubicBezTo>
                    <a:cubicBezTo>
                      <a:pt x="21976" y="4831"/>
                      <a:pt x="21956" y="9241"/>
                      <a:pt x="19274" y="11963"/>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9" name="Freeform: Shape 69">
                <a:extLst>
                  <a:ext uri="{FF2B5EF4-FFF2-40B4-BE49-F238E27FC236}">
                    <a16:creationId xmlns:a16="http://schemas.microsoft.com/office/drawing/2014/main" id="{BD0C654F-D842-A744-3C77-8912463AB967}"/>
                  </a:ext>
                </a:extLst>
              </p:cNvPr>
              <p:cNvSpPr/>
              <p:nvPr/>
            </p:nvSpPr>
            <p:spPr>
              <a:xfrm>
                <a:off x="4462081" y="4022943"/>
                <a:ext cx="22577" cy="22575"/>
              </a:xfrm>
              <a:custGeom>
                <a:avLst/>
                <a:gdLst>
                  <a:gd name="connsiteX0" fmla="*/ 20368 w 22577"/>
                  <a:gd name="connsiteY0" fmla="*/ 13061 h 22575"/>
                  <a:gd name="connsiteX1" fmla="*/ 13216 w 22577"/>
                  <a:gd name="connsiteY1" fmla="*/ 20274 h 22575"/>
                  <a:gd name="connsiteX2" fmla="*/ 2304 w 22577"/>
                  <a:gd name="connsiteY2" fmla="*/ 20335 h 22575"/>
                  <a:gd name="connsiteX3" fmla="*/ 2223 w 22577"/>
                  <a:gd name="connsiteY3" fmla="*/ 9423 h 22575"/>
                  <a:gd name="connsiteX4" fmla="*/ 2304 w 22577"/>
                  <a:gd name="connsiteY4" fmla="*/ 9363 h 22575"/>
                  <a:gd name="connsiteX5" fmla="*/ 9518 w 22577"/>
                  <a:gd name="connsiteY5" fmla="*/ 2210 h 22575"/>
                  <a:gd name="connsiteX6" fmla="*/ 20368 w 22577"/>
                  <a:gd name="connsiteY6" fmla="*/ 2271 h 22575"/>
                  <a:gd name="connsiteX7" fmla="*/ 20368 w 22577"/>
                  <a:gd name="connsiteY7" fmla="*/ 13061 h 22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7" h="22575">
                    <a:moveTo>
                      <a:pt x="20368" y="13061"/>
                    </a:moveTo>
                    <a:lnTo>
                      <a:pt x="13216" y="20274"/>
                    </a:lnTo>
                    <a:cubicBezTo>
                      <a:pt x="10229" y="23322"/>
                      <a:pt x="5332" y="23343"/>
                      <a:pt x="2304" y="20335"/>
                    </a:cubicBezTo>
                    <a:cubicBezTo>
                      <a:pt x="-744" y="17348"/>
                      <a:pt x="-764" y="12451"/>
                      <a:pt x="2223" y="9423"/>
                    </a:cubicBezTo>
                    <a:cubicBezTo>
                      <a:pt x="2243" y="9403"/>
                      <a:pt x="2284" y="9363"/>
                      <a:pt x="2304" y="9363"/>
                    </a:cubicBezTo>
                    <a:lnTo>
                      <a:pt x="9518" y="2210"/>
                    </a:lnTo>
                    <a:cubicBezTo>
                      <a:pt x="12525" y="-757"/>
                      <a:pt x="17381" y="-737"/>
                      <a:pt x="20368" y="2271"/>
                    </a:cubicBezTo>
                    <a:cubicBezTo>
                      <a:pt x="23315" y="5258"/>
                      <a:pt x="23315" y="10074"/>
                      <a:pt x="20368" y="1306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0" name="Freeform: Shape 70">
                <a:extLst>
                  <a:ext uri="{FF2B5EF4-FFF2-40B4-BE49-F238E27FC236}">
                    <a16:creationId xmlns:a16="http://schemas.microsoft.com/office/drawing/2014/main" id="{F584A136-1E89-5808-C33B-A6F80F21B390}"/>
                  </a:ext>
                </a:extLst>
              </p:cNvPr>
              <p:cNvSpPr/>
              <p:nvPr/>
            </p:nvSpPr>
            <p:spPr>
              <a:xfrm>
                <a:off x="4382409" y="4101330"/>
                <a:ext cx="23863" cy="23863"/>
              </a:xfrm>
              <a:custGeom>
                <a:avLst/>
                <a:gdLst>
                  <a:gd name="connsiteX0" fmla="*/ 21463 w 23863"/>
                  <a:gd name="connsiteY0" fmla="*/ 14145 h 23863"/>
                  <a:gd name="connsiteX1" fmla="*/ 14331 w 23863"/>
                  <a:gd name="connsiteY1" fmla="*/ 21379 h 23863"/>
                  <a:gd name="connsiteX2" fmla="*/ 2484 w 23863"/>
                  <a:gd name="connsiteY2" fmla="*/ 21440 h 23863"/>
                  <a:gd name="connsiteX3" fmla="*/ 2423 w 23863"/>
                  <a:gd name="connsiteY3" fmla="*/ 9614 h 23863"/>
                  <a:gd name="connsiteX4" fmla="*/ 2484 w 23863"/>
                  <a:gd name="connsiteY4" fmla="*/ 9533 h 23863"/>
                  <a:gd name="connsiteX5" fmla="*/ 9718 w 23863"/>
                  <a:gd name="connsiteY5" fmla="*/ 2401 h 23863"/>
                  <a:gd name="connsiteX6" fmla="*/ 21463 w 23863"/>
                  <a:gd name="connsiteY6" fmla="*/ 2461 h 23863"/>
                  <a:gd name="connsiteX7" fmla="*/ 21463 w 23863"/>
                  <a:gd name="connsiteY7" fmla="*/ 14145 h 2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63" h="23863">
                    <a:moveTo>
                      <a:pt x="21463" y="14145"/>
                    </a:moveTo>
                    <a:lnTo>
                      <a:pt x="14331" y="21379"/>
                    </a:lnTo>
                    <a:cubicBezTo>
                      <a:pt x="11079" y="24671"/>
                      <a:pt x="5776" y="24692"/>
                      <a:pt x="2484" y="21440"/>
                    </a:cubicBezTo>
                    <a:cubicBezTo>
                      <a:pt x="-808" y="18189"/>
                      <a:pt x="-828" y="12886"/>
                      <a:pt x="2423" y="9614"/>
                    </a:cubicBezTo>
                    <a:cubicBezTo>
                      <a:pt x="2423" y="9594"/>
                      <a:pt x="2484" y="9553"/>
                      <a:pt x="2484" y="9533"/>
                    </a:cubicBezTo>
                    <a:lnTo>
                      <a:pt x="9718" y="2401"/>
                    </a:lnTo>
                    <a:cubicBezTo>
                      <a:pt x="12969" y="-830"/>
                      <a:pt x="18232" y="-790"/>
                      <a:pt x="21463" y="2461"/>
                    </a:cubicBezTo>
                    <a:cubicBezTo>
                      <a:pt x="24674" y="5713"/>
                      <a:pt x="24653" y="10915"/>
                      <a:pt x="21463" y="14145"/>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1" name="Freeform: Shape 71">
                <a:extLst>
                  <a:ext uri="{FF2B5EF4-FFF2-40B4-BE49-F238E27FC236}">
                    <a16:creationId xmlns:a16="http://schemas.microsoft.com/office/drawing/2014/main" id="{AAFFEA4B-B590-5E1A-9161-01E8FCA8B8D4}"/>
                  </a:ext>
                </a:extLst>
              </p:cNvPr>
              <p:cNvSpPr/>
              <p:nvPr/>
            </p:nvSpPr>
            <p:spPr>
              <a:xfrm>
                <a:off x="4302924" y="4179847"/>
                <a:ext cx="24828" cy="24831"/>
              </a:xfrm>
              <a:custGeom>
                <a:avLst/>
                <a:gdLst>
                  <a:gd name="connsiteX0" fmla="*/ 22268 w 24828"/>
                  <a:gd name="connsiteY0" fmla="*/ 14999 h 24831"/>
                  <a:gd name="connsiteX1" fmla="*/ 15116 w 24828"/>
                  <a:gd name="connsiteY1" fmla="*/ 22212 h 24831"/>
                  <a:gd name="connsiteX2" fmla="*/ 2619 w 24828"/>
                  <a:gd name="connsiteY2" fmla="*/ 22253 h 24831"/>
                  <a:gd name="connsiteX3" fmla="*/ 2578 w 24828"/>
                  <a:gd name="connsiteY3" fmla="*/ 9756 h 24831"/>
                  <a:gd name="connsiteX4" fmla="*/ 2619 w 24828"/>
                  <a:gd name="connsiteY4" fmla="*/ 9716 h 24831"/>
                  <a:gd name="connsiteX5" fmla="*/ 9832 w 24828"/>
                  <a:gd name="connsiteY5" fmla="*/ 2563 h 24831"/>
                  <a:gd name="connsiteX6" fmla="*/ 22268 w 24828"/>
                  <a:gd name="connsiteY6" fmla="*/ 2604 h 24831"/>
                  <a:gd name="connsiteX7" fmla="*/ 22268 w 24828"/>
                  <a:gd name="connsiteY7" fmla="*/ 14999 h 24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8" h="24831">
                    <a:moveTo>
                      <a:pt x="22268" y="14999"/>
                    </a:moveTo>
                    <a:lnTo>
                      <a:pt x="15116" y="22212"/>
                    </a:lnTo>
                    <a:cubicBezTo>
                      <a:pt x="11682" y="25687"/>
                      <a:pt x="6073" y="25708"/>
                      <a:pt x="2619" y="22253"/>
                    </a:cubicBezTo>
                    <a:cubicBezTo>
                      <a:pt x="-856" y="18819"/>
                      <a:pt x="-876" y="13231"/>
                      <a:pt x="2578" y="9756"/>
                    </a:cubicBezTo>
                    <a:lnTo>
                      <a:pt x="2619" y="9716"/>
                    </a:lnTo>
                    <a:lnTo>
                      <a:pt x="9832" y="2563"/>
                    </a:lnTo>
                    <a:cubicBezTo>
                      <a:pt x="13267" y="-871"/>
                      <a:pt x="18855" y="-851"/>
                      <a:pt x="22268" y="2604"/>
                    </a:cubicBezTo>
                    <a:cubicBezTo>
                      <a:pt x="25682" y="6038"/>
                      <a:pt x="25682" y="11585"/>
                      <a:pt x="22268" y="1499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2" name="Freeform: Shape 72">
                <a:extLst>
                  <a:ext uri="{FF2B5EF4-FFF2-40B4-BE49-F238E27FC236}">
                    <a16:creationId xmlns:a16="http://schemas.microsoft.com/office/drawing/2014/main" id="{3A198B6D-4A0E-2147-F1B0-88CDCA14CD1D}"/>
                  </a:ext>
                </a:extLst>
              </p:cNvPr>
              <p:cNvSpPr/>
              <p:nvPr/>
            </p:nvSpPr>
            <p:spPr>
              <a:xfrm>
                <a:off x="4223509" y="4258482"/>
                <a:ext cx="25600" cy="25610"/>
              </a:xfrm>
              <a:custGeom>
                <a:avLst/>
                <a:gdLst>
                  <a:gd name="connsiteX0" fmla="*/ 22923 w 25600"/>
                  <a:gd name="connsiteY0" fmla="*/ 15672 h 25610"/>
                  <a:gd name="connsiteX1" fmla="*/ 15771 w 25600"/>
                  <a:gd name="connsiteY1" fmla="*/ 22885 h 25610"/>
                  <a:gd name="connsiteX2" fmla="*/ 2726 w 25600"/>
                  <a:gd name="connsiteY2" fmla="*/ 22926 h 25610"/>
                  <a:gd name="connsiteX3" fmla="*/ 2685 w 25600"/>
                  <a:gd name="connsiteY3" fmla="*/ 9881 h 25610"/>
                  <a:gd name="connsiteX4" fmla="*/ 2726 w 25600"/>
                  <a:gd name="connsiteY4" fmla="*/ 9840 h 25610"/>
                  <a:gd name="connsiteX5" fmla="*/ 9939 w 25600"/>
                  <a:gd name="connsiteY5" fmla="*/ 2667 h 25610"/>
                  <a:gd name="connsiteX6" fmla="*/ 22944 w 25600"/>
                  <a:gd name="connsiteY6" fmla="*/ 2728 h 25610"/>
                  <a:gd name="connsiteX7" fmla="*/ 22923 w 25600"/>
                  <a:gd name="connsiteY7" fmla="*/ 15672 h 2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00" h="25610">
                    <a:moveTo>
                      <a:pt x="22923" y="15672"/>
                    </a:moveTo>
                    <a:lnTo>
                      <a:pt x="15771" y="22885"/>
                    </a:lnTo>
                    <a:cubicBezTo>
                      <a:pt x="12194" y="26502"/>
                      <a:pt x="6343" y="26523"/>
                      <a:pt x="2726" y="22926"/>
                    </a:cubicBezTo>
                    <a:cubicBezTo>
                      <a:pt x="-891" y="19329"/>
                      <a:pt x="-912" y="13498"/>
                      <a:pt x="2685" y="9881"/>
                    </a:cubicBezTo>
                    <a:lnTo>
                      <a:pt x="2726" y="9840"/>
                    </a:lnTo>
                    <a:lnTo>
                      <a:pt x="9939" y="2667"/>
                    </a:lnTo>
                    <a:cubicBezTo>
                      <a:pt x="13535" y="-909"/>
                      <a:pt x="19367" y="-889"/>
                      <a:pt x="22944" y="2728"/>
                    </a:cubicBezTo>
                    <a:cubicBezTo>
                      <a:pt x="26500" y="6304"/>
                      <a:pt x="26479" y="12096"/>
                      <a:pt x="22923" y="1567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3" name="Freeform: Shape 73">
                <a:extLst>
                  <a:ext uri="{FF2B5EF4-FFF2-40B4-BE49-F238E27FC236}">
                    <a16:creationId xmlns:a16="http://schemas.microsoft.com/office/drawing/2014/main" id="{244FD066-C692-4036-5D09-02E49AF6E22B}"/>
                  </a:ext>
                </a:extLst>
              </p:cNvPr>
              <p:cNvSpPr/>
              <p:nvPr/>
            </p:nvSpPr>
            <p:spPr>
              <a:xfrm>
                <a:off x="4144096" y="4337133"/>
                <a:ext cx="26378" cy="26372"/>
              </a:xfrm>
              <a:custGeom>
                <a:avLst/>
                <a:gdLst>
                  <a:gd name="connsiteX0" fmla="*/ 23597 w 26378"/>
                  <a:gd name="connsiteY0" fmla="*/ 16330 h 26372"/>
                  <a:gd name="connsiteX1" fmla="*/ 16444 w 26378"/>
                  <a:gd name="connsiteY1" fmla="*/ 23523 h 26372"/>
                  <a:gd name="connsiteX2" fmla="*/ 2850 w 26378"/>
                  <a:gd name="connsiteY2" fmla="*/ 23584 h 26372"/>
                  <a:gd name="connsiteX3" fmla="*/ 2789 w 26378"/>
                  <a:gd name="connsiteY3" fmla="*/ 9990 h 26372"/>
                  <a:gd name="connsiteX4" fmla="*/ 2850 w 26378"/>
                  <a:gd name="connsiteY4" fmla="*/ 9929 h 26372"/>
                  <a:gd name="connsiteX5" fmla="*/ 10043 w 26378"/>
                  <a:gd name="connsiteY5" fmla="*/ 2776 h 26372"/>
                  <a:gd name="connsiteX6" fmla="*/ 23597 w 26378"/>
                  <a:gd name="connsiteY6" fmla="*/ 2817 h 26372"/>
                  <a:gd name="connsiteX7" fmla="*/ 23597 w 26378"/>
                  <a:gd name="connsiteY7" fmla="*/ 16330 h 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78" h="26372">
                    <a:moveTo>
                      <a:pt x="23597" y="16330"/>
                    </a:moveTo>
                    <a:lnTo>
                      <a:pt x="16444" y="23523"/>
                    </a:lnTo>
                    <a:cubicBezTo>
                      <a:pt x="12705" y="27303"/>
                      <a:pt x="6609" y="27323"/>
                      <a:pt x="2850" y="23584"/>
                    </a:cubicBezTo>
                    <a:cubicBezTo>
                      <a:pt x="-930" y="19845"/>
                      <a:pt x="-950" y="13749"/>
                      <a:pt x="2789" y="9990"/>
                    </a:cubicBezTo>
                    <a:lnTo>
                      <a:pt x="2850" y="9929"/>
                    </a:lnTo>
                    <a:lnTo>
                      <a:pt x="10043" y="2776"/>
                    </a:lnTo>
                    <a:cubicBezTo>
                      <a:pt x="13802" y="-942"/>
                      <a:pt x="19878" y="-922"/>
                      <a:pt x="23597" y="2817"/>
                    </a:cubicBezTo>
                    <a:cubicBezTo>
                      <a:pt x="27316" y="6556"/>
                      <a:pt x="27295" y="12591"/>
                      <a:pt x="23597" y="1633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4" name="Freeform: Shape 74">
                <a:extLst>
                  <a:ext uri="{FF2B5EF4-FFF2-40B4-BE49-F238E27FC236}">
                    <a16:creationId xmlns:a16="http://schemas.microsoft.com/office/drawing/2014/main" id="{160341F0-C9EB-102E-BAE3-93E8C023B9C8}"/>
                  </a:ext>
                </a:extLst>
              </p:cNvPr>
              <p:cNvSpPr/>
              <p:nvPr/>
            </p:nvSpPr>
            <p:spPr>
              <a:xfrm>
                <a:off x="4064888" y="4415909"/>
                <a:ext cx="26807" cy="26804"/>
              </a:xfrm>
              <a:custGeom>
                <a:avLst/>
                <a:gdLst>
                  <a:gd name="connsiteX0" fmla="*/ 23942 w 26807"/>
                  <a:gd name="connsiteY0" fmla="*/ 16741 h 26804"/>
                  <a:gd name="connsiteX1" fmla="*/ 16769 w 26807"/>
                  <a:gd name="connsiteY1" fmla="*/ 23914 h 26804"/>
                  <a:gd name="connsiteX2" fmla="*/ 2891 w 26807"/>
                  <a:gd name="connsiteY2" fmla="*/ 23934 h 26804"/>
                  <a:gd name="connsiteX3" fmla="*/ 2870 w 26807"/>
                  <a:gd name="connsiteY3" fmla="*/ 10056 h 26804"/>
                  <a:gd name="connsiteX4" fmla="*/ 2891 w 26807"/>
                  <a:gd name="connsiteY4" fmla="*/ 10036 h 26804"/>
                  <a:gd name="connsiteX5" fmla="*/ 10084 w 26807"/>
                  <a:gd name="connsiteY5" fmla="*/ 2863 h 26804"/>
                  <a:gd name="connsiteX6" fmla="*/ 23942 w 26807"/>
                  <a:gd name="connsiteY6" fmla="*/ 2883 h 26804"/>
                  <a:gd name="connsiteX7" fmla="*/ 23942 w 26807"/>
                  <a:gd name="connsiteY7" fmla="*/ 16741 h 26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07" h="26804">
                    <a:moveTo>
                      <a:pt x="23942" y="16741"/>
                    </a:moveTo>
                    <a:lnTo>
                      <a:pt x="16769" y="23914"/>
                    </a:lnTo>
                    <a:cubicBezTo>
                      <a:pt x="12929" y="27755"/>
                      <a:pt x="6711" y="27775"/>
                      <a:pt x="2891" y="23934"/>
                    </a:cubicBezTo>
                    <a:cubicBezTo>
                      <a:pt x="-950" y="20114"/>
                      <a:pt x="-970" y="13896"/>
                      <a:pt x="2870" y="10056"/>
                    </a:cubicBezTo>
                    <a:lnTo>
                      <a:pt x="2891" y="10036"/>
                    </a:lnTo>
                    <a:lnTo>
                      <a:pt x="10084" y="2863"/>
                    </a:lnTo>
                    <a:cubicBezTo>
                      <a:pt x="13904" y="-958"/>
                      <a:pt x="20122" y="-958"/>
                      <a:pt x="23942" y="2883"/>
                    </a:cubicBezTo>
                    <a:cubicBezTo>
                      <a:pt x="27762" y="6723"/>
                      <a:pt x="27762" y="12901"/>
                      <a:pt x="23942" y="1674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5" name="Freeform: Shape 75">
                <a:extLst>
                  <a:ext uri="{FF2B5EF4-FFF2-40B4-BE49-F238E27FC236}">
                    <a16:creationId xmlns:a16="http://schemas.microsoft.com/office/drawing/2014/main" id="{65CC4F19-0BBC-3509-184E-7A516D11526F}"/>
                  </a:ext>
                </a:extLst>
              </p:cNvPr>
              <p:cNvSpPr/>
              <p:nvPr/>
            </p:nvSpPr>
            <p:spPr>
              <a:xfrm>
                <a:off x="3985507" y="4494761"/>
                <a:ext cx="27334" cy="27128"/>
              </a:xfrm>
              <a:custGeom>
                <a:avLst/>
                <a:gdLst>
                  <a:gd name="connsiteX0" fmla="*/ 24380 w 27334"/>
                  <a:gd name="connsiteY0" fmla="*/ 16995 h 27128"/>
                  <a:gd name="connsiteX1" fmla="*/ 20662 w 27334"/>
                  <a:gd name="connsiteY1" fmla="*/ 20653 h 27128"/>
                  <a:gd name="connsiteX2" fmla="*/ 16862 w 27334"/>
                  <a:gd name="connsiteY2" fmla="*/ 24331 h 27128"/>
                  <a:gd name="connsiteX3" fmla="*/ 2800 w 27334"/>
                  <a:gd name="connsiteY3" fmla="*/ 24087 h 27128"/>
                  <a:gd name="connsiteX4" fmla="*/ 3024 w 27334"/>
                  <a:gd name="connsiteY4" fmla="*/ 10026 h 27128"/>
                  <a:gd name="connsiteX5" fmla="*/ 3044 w 27334"/>
                  <a:gd name="connsiteY5" fmla="*/ 10026 h 27128"/>
                  <a:gd name="connsiteX6" fmla="*/ 3288 w 27334"/>
                  <a:gd name="connsiteY6" fmla="*/ 9782 h 27128"/>
                  <a:gd name="connsiteX7" fmla="*/ 6803 w 27334"/>
                  <a:gd name="connsiteY7" fmla="*/ 6388 h 27128"/>
                  <a:gd name="connsiteX8" fmla="*/ 10339 w 27334"/>
                  <a:gd name="connsiteY8" fmla="*/ 2954 h 27128"/>
                  <a:gd name="connsiteX9" fmla="*/ 24380 w 27334"/>
                  <a:gd name="connsiteY9" fmla="*/ 2853 h 27128"/>
                  <a:gd name="connsiteX10" fmla="*/ 24482 w 27334"/>
                  <a:gd name="connsiteY10" fmla="*/ 16894 h 27128"/>
                  <a:gd name="connsiteX11" fmla="*/ 24380 w 27334"/>
                  <a:gd name="connsiteY11" fmla="*/ 16995 h 2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34" h="27128">
                    <a:moveTo>
                      <a:pt x="24380" y="16995"/>
                    </a:moveTo>
                    <a:cubicBezTo>
                      <a:pt x="23222" y="18174"/>
                      <a:pt x="21901" y="19434"/>
                      <a:pt x="20662" y="20653"/>
                    </a:cubicBezTo>
                    <a:lnTo>
                      <a:pt x="16862" y="24331"/>
                    </a:lnTo>
                    <a:cubicBezTo>
                      <a:pt x="12899" y="28151"/>
                      <a:pt x="6600" y="28050"/>
                      <a:pt x="2800" y="24087"/>
                    </a:cubicBezTo>
                    <a:cubicBezTo>
                      <a:pt x="-1020" y="20145"/>
                      <a:pt x="-918" y="13846"/>
                      <a:pt x="3024" y="10026"/>
                    </a:cubicBezTo>
                    <a:lnTo>
                      <a:pt x="3044" y="10026"/>
                    </a:lnTo>
                    <a:lnTo>
                      <a:pt x="3288" y="9782"/>
                    </a:lnTo>
                    <a:lnTo>
                      <a:pt x="6803" y="6388"/>
                    </a:lnTo>
                    <a:cubicBezTo>
                      <a:pt x="7962" y="5250"/>
                      <a:pt x="9120" y="4174"/>
                      <a:pt x="10339" y="2954"/>
                    </a:cubicBezTo>
                    <a:cubicBezTo>
                      <a:pt x="14179" y="-947"/>
                      <a:pt x="20479" y="-988"/>
                      <a:pt x="24380" y="2853"/>
                    </a:cubicBezTo>
                    <a:cubicBezTo>
                      <a:pt x="28282" y="6714"/>
                      <a:pt x="28322" y="12992"/>
                      <a:pt x="24482" y="16894"/>
                    </a:cubicBezTo>
                    <a:lnTo>
                      <a:pt x="24380" y="1699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6" name="Freeform: Shape 76">
                <a:extLst>
                  <a:ext uri="{FF2B5EF4-FFF2-40B4-BE49-F238E27FC236}">
                    <a16:creationId xmlns:a16="http://schemas.microsoft.com/office/drawing/2014/main" id="{175E6F16-4ACA-40B3-9EC4-3AACB0D543D5}"/>
                  </a:ext>
                </a:extLst>
              </p:cNvPr>
              <p:cNvSpPr/>
              <p:nvPr/>
            </p:nvSpPr>
            <p:spPr>
              <a:xfrm>
                <a:off x="3889147" y="4553626"/>
                <a:ext cx="30226" cy="23356"/>
              </a:xfrm>
              <a:custGeom>
                <a:avLst/>
                <a:gdLst>
                  <a:gd name="connsiteX0" fmla="*/ 23225 w 30226"/>
                  <a:gd name="connsiteY0" fmla="*/ 19639 h 23356"/>
                  <a:gd name="connsiteX1" fmla="*/ 13146 w 30226"/>
                  <a:gd name="connsiteY1" fmla="*/ 22870 h 23356"/>
                  <a:gd name="connsiteX2" fmla="*/ 487 w 30226"/>
                  <a:gd name="connsiteY2" fmla="*/ 16347 h 23356"/>
                  <a:gd name="connsiteX3" fmla="*/ 7010 w 30226"/>
                  <a:gd name="connsiteY3" fmla="*/ 3688 h 23356"/>
                  <a:gd name="connsiteX4" fmla="*/ 7030 w 30226"/>
                  <a:gd name="connsiteY4" fmla="*/ 3688 h 23356"/>
                  <a:gd name="connsiteX5" fmla="*/ 7436 w 30226"/>
                  <a:gd name="connsiteY5" fmla="*/ 3545 h 23356"/>
                  <a:gd name="connsiteX6" fmla="*/ 16702 w 30226"/>
                  <a:gd name="connsiteY6" fmla="*/ 599 h 23356"/>
                  <a:gd name="connsiteX7" fmla="*/ 17109 w 30226"/>
                  <a:gd name="connsiteY7" fmla="*/ 477 h 23356"/>
                  <a:gd name="connsiteX8" fmla="*/ 29748 w 30226"/>
                  <a:gd name="connsiteY8" fmla="*/ 7020 h 23356"/>
                  <a:gd name="connsiteX9" fmla="*/ 23225 w 30226"/>
                  <a:gd name="connsiteY9" fmla="*/ 19639 h 2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226" h="23356">
                    <a:moveTo>
                      <a:pt x="23225" y="19639"/>
                    </a:moveTo>
                    <a:lnTo>
                      <a:pt x="13146" y="22870"/>
                    </a:lnTo>
                    <a:cubicBezTo>
                      <a:pt x="7843" y="24577"/>
                      <a:pt x="2173" y="21651"/>
                      <a:pt x="487" y="16347"/>
                    </a:cubicBezTo>
                    <a:cubicBezTo>
                      <a:pt x="-1220" y="11064"/>
                      <a:pt x="1706" y="5374"/>
                      <a:pt x="7010" y="3688"/>
                    </a:cubicBezTo>
                    <a:lnTo>
                      <a:pt x="7030" y="3688"/>
                    </a:lnTo>
                    <a:lnTo>
                      <a:pt x="7436" y="3545"/>
                    </a:lnTo>
                    <a:lnTo>
                      <a:pt x="16702" y="599"/>
                    </a:lnTo>
                    <a:lnTo>
                      <a:pt x="17109" y="477"/>
                    </a:lnTo>
                    <a:cubicBezTo>
                      <a:pt x="22412" y="-1209"/>
                      <a:pt x="28061" y="1717"/>
                      <a:pt x="29748" y="7020"/>
                    </a:cubicBezTo>
                    <a:cubicBezTo>
                      <a:pt x="31434" y="12303"/>
                      <a:pt x="28528" y="17953"/>
                      <a:pt x="23225" y="1963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7" name="Freeform: Shape 77">
                <a:extLst>
                  <a:ext uri="{FF2B5EF4-FFF2-40B4-BE49-F238E27FC236}">
                    <a16:creationId xmlns:a16="http://schemas.microsoft.com/office/drawing/2014/main" id="{C35D665A-5EE9-F760-35D2-9A13B47C6044}"/>
                  </a:ext>
                </a:extLst>
              </p:cNvPr>
              <p:cNvSpPr/>
              <p:nvPr/>
            </p:nvSpPr>
            <p:spPr>
              <a:xfrm>
                <a:off x="3778526" y="4563111"/>
                <a:ext cx="30694" cy="21829"/>
              </a:xfrm>
              <a:custGeom>
                <a:avLst/>
                <a:gdLst>
                  <a:gd name="connsiteX0" fmla="*/ 19038 w 30694"/>
                  <a:gd name="connsiteY0" fmla="*/ 21715 h 21829"/>
                  <a:gd name="connsiteX1" fmla="*/ 8573 w 30694"/>
                  <a:gd name="connsiteY1" fmla="*/ 20110 h 21829"/>
                  <a:gd name="connsiteX2" fmla="*/ 120 w 30694"/>
                  <a:gd name="connsiteY2" fmla="*/ 8589 h 21829"/>
                  <a:gd name="connsiteX3" fmla="*/ 11641 w 30694"/>
                  <a:gd name="connsiteY3" fmla="*/ 115 h 21829"/>
                  <a:gd name="connsiteX4" fmla="*/ 12027 w 30694"/>
                  <a:gd name="connsiteY4" fmla="*/ 176 h 21829"/>
                  <a:gd name="connsiteX5" fmla="*/ 21659 w 30694"/>
                  <a:gd name="connsiteY5" fmla="*/ 1619 h 21829"/>
                  <a:gd name="connsiteX6" fmla="*/ 22065 w 30694"/>
                  <a:gd name="connsiteY6" fmla="*/ 1680 h 21829"/>
                  <a:gd name="connsiteX7" fmla="*/ 30580 w 30694"/>
                  <a:gd name="connsiteY7" fmla="*/ 13222 h 21829"/>
                  <a:gd name="connsiteX8" fmla="*/ 19058 w 30694"/>
                  <a:gd name="connsiteY8" fmla="*/ 21715 h 21829"/>
                  <a:gd name="connsiteX9" fmla="*/ 19038 w 30694"/>
                  <a:gd name="connsiteY9" fmla="*/ 21715 h 21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94" h="21829">
                    <a:moveTo>
                      <a:pt x="19038" y="21715"/>
                    </a:moveTo>
                    <a:lnTo>
                      <a:pt x="8573" y="20110"/>
                    </a:lnTo>
                    <a:cubicBezTo>
                      <a:pt x="3066" y="19277"/>
                      <a:pt x="-734" y="14116"/>
                      <a:pt x="120" y="8589"/>
                    </a:cubicBezTo>
                    <a:cubicBezTo>
                      <a:pt x="953" y="3062"/>
                      <a:pt x="6114" y="-718"/>
                      <a:pt x="11641" y="115"/>
                    </a:cubicBezTo>
                    <a:lnTo>
                      <a:pt x="12027" y="176"/>
                    </a:lnTo>
                    <a:lnTo>
                      <a:pt x="21659" y="1619"/>
                    </a:lnTo>
                    <a:lnTo>
                      <a:pt x="22065" y="1680"/>
                    </a:lnTo>
                    <a:cubicBezTo>
                      <a:pt x="27613" y="2513"/>
                      <a:pt x="31413" y="7674"/>
                      <a:pt x="30580" y="13222"/>
                    </a:cubicBezTo>
                    <a:cubicBezTo>
                      <a:pt x="29746" y="18749"/>
                      <a:pt x="24585" y="22548"/>
                      <a:pt x="19058" y="21715"/>
                    </a:cubicBezTo>
                    <a:lnTo>
                      <a:pt x="19038" y="2171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8" name="Freeform: Shape 78">
                <a:extLst>
                  <a:ext uri="{FF2B5EF4-FFF2-40B4-BE49-F238E27FC236}">
                    <a16:creationId xmlns:a16="http://schemas.microsoft.com/office/drawing/2014/main" id="{F98BE62B-25FD-DA01-3BA1-7856709DE111}"/>
                  </a:ext>
                </a:extLst>
              </p:cNvPr>
              <p:cNvSpPr/>
              <p:nvPr/>
            </p:nvSpPr>
            <p:spPr>
              <a:xfrm>
                <a:off x="3676770" y="4519714"/>
                <a:ext cx="28632" cy="26077"/>
              </a:xfrm>
              <a:custGeom>
                <a:avLst/>
                <a:gdLst>
                  <a:gd name="connsiteX0" fmla="*/ 12875 w 28632"/>
                  <a:gd name="connsiteY0" fmla="*/ 24249 h 26077"/>
                  <a:gd name="connsiteX1" fmla="*/ 4218 w 28632"/>
                  <a:gd name="connsiteY1" fmla="*/ 18133 h 26077"/>
                  <a:gd name="connsiteX2" fmla="*/ 1820 w 28632"/>
                  <a:gd name="connsiteY2" fmla="*/ 4213 h 26077"/>
                  <a:gd name="connsiteX3" fmla="*/ 15740 w 28632"/>
                  <a:gd name="connsiteY3" fmla="*/ 1836 h 26077"/>
                  <a:gd name="connsiteX4" fmla="*/ 16065 w 28632"/>
                  <a:gd name="connsiteY4" fmla="*/ 2060 h 26077"/>
                  <a:gd name="connsiteX5" fmla="*/ 24030 w 28632"/>
                  <a:gd name="connsiteY5" fmla="*/ 7668 h 26077"/>
                  <a:gd name="connsiteX6" fmla="*/ 24376 w 28632"/>
                  <a:gd name="connsiteY6" fmla="*/ 7892 h 26077"/>
                  <a:gd name="connsiteX7" fmla="*/ 26814 w 28632"/>
                  <a:gd name="connsiteY7" fmla="*/ 21831 h 26077"/>
                  <a:gd name="connsiteX8" fmla="*/ 12875 w 28632"/>
                  <a:gd name="connsiteY8" fmla="*/ 24249 h 26077"/>
                  <a:gd name="connsiteX9" fmla="*/ 12875 w 28632"/>
                  <a:gd name="connsiteY9" fmla="*/ 24249 h 26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32" h="26077">
                    <a:moveTo>
                      <a:pt x="12875" y="24249"/>
                    </a:moveTo>
                    <a:lnTo>
                      <a:pt x="4218" y="18133"/>
                    </a:lnTo>
                    <a:cubicBezTo>
                      <a:pt x="-272" y="14963"/>
                      <a:pt x="-1349" y="8724"/>
                      <a:pt x="1820" y="4213"/>
                    </a:cubicBezTo>
                    <a:cubicBezTo>
                      <a:pt x="5011" y="-277"/>
                      <a:pt x="11249" y="-1354"/>
                      <a:pt x="15740" y="1836"/>
                    </a:cubicBezTo>
                    <a:lnTo>
                      <a:pt x="16065" y="2060"/>
                    </a:lnTo>
                    <a:lnTo>
                      <a:pt x="24030" y="7668"/>
                    </a:lnTo>
                    <a:lnTo>
                      <a:pt x="24376" y="7892"/>
                    </a:lnTo>
                    <a:cubicBezTo>
                      <a:pt x="28907" y="11082"/>
                      <a:pt x="29984" y="17320"/>
                      <a:pt x="26814" y="21831"/>
                    </a:cubicBezTo>
                    <a:cubicBezTo>
                      <a:pt x="23644" y="26342"/>
                      <a:pt x="17406" y="27439"/>
                      <a:pt x="12875" y="24249"/>
                    </a:cubicBezTo>
                    <a:lnTo>
                      <a:pt x="12875" y="24249"/>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29" name="Freeform: Shape 79">
                <a:extLst>
                  <a:ext uri="{FF2B5EF4-FFF2-40B4-BE49-F238E27FC236}">
                    <a16:creationId xmlns:a16="http://schemas.microsoft.com/office/drawing/2014/main" id="{10333C61-8FFE-E98D-B210-EFDF57AAC000}"/>
                  </a:ext>
                </a:extLst>
              </p:cNvPr>
              <p:cNvSpPr/>
              <p:nvPr/>
            </p:nvSpPr>
            <p:spPr>
              <a:xfrm>
                <a:off x="3596187" y="4442963"/>
                <a:ext cx="26911" cy="26916"/>
              </a:xfrm>
              <a:custGeom>
                <a:avLst/>
                <a:gdLst>
                  <a:gd name="connsiteX0" fmla="*/ 10063 w 26911"/>
                  <a:gd name="connsiteY0" fmla="*/ 24028 h 26916"/>
                  <a:gd name="connsiteX1" fmla="*/ 2870 w 26911"/>
                  <a:gd name="connsiteY1" fmla="*/ 16835 h 26916"/>
                  <a:gd name="connsiteX2" fmla="*/ 2890 w 26911"/>
                  <a:gd name="connsiteY2" fmla="*/ 2896 h 26916"/>
                  <a:gd name="connsiteX3" fmla="*/ 16830 w 26911"/>
                  <a:gd name="connsiteY3" fmla="*/ 2896 h 26916"/>
                  <a:gd name="connsiteX4" fmla="*/ 24023 w 26911"/>
                  <a:gd name="connsiteY4" fmla="*/ 10068 h 26916"/>
                  <a:gd name="connsiteX5" fmla="*/ 24023 w 26911"/>
                  <a:gd name="connsiteY5" fmla="*/ 24028 h 26916"/>
                  <a:gd name="connsiteX6" fmla="*/ 10063 w 26911"/>
                  <a:gd name="connsiteY6" fmla="*/ 24028 h 26916"/>
                  <a:gd name="connsiteX7" fmla="*/ 10063 w 26911"/>
                  <a:gd name="connsiteY7" fmla="*/ 24028 h 26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1" h="26916">
                    <a:moveTo>
                      <a:pt x="10063" y="24028"/>
                    </a:moveTo>
                    <a:lnTo>
                      <a:pt x="2870" y="16835"/>
                    </a:lnTo>
                    <a:cubicBezTo>
                      <a:pt x="-970" y="12974"/>
                      <a:pt x="-950" y="6736"/>
                      <a:pt x="2890" y="2896"/>
                    </a:cubicBezTo>
                    <a:cubicBezTo>
                      <a:pt x="6751" y="-965"/>
                      <a:pt x="12969" y="-965"/>
                      <a:pt x="16830" y="2896"/>
                    </a:cubicBezTo>
                    <a:lnTo>
                      <a:pt x="24023" y="10068"/>
                    </a:lnTo>
                    <a:cubicBezTo>
                      <a:pt x="27864" y="13909"/>
                      <a:pt x="27884" y="20168"/>
                      <a:pt x="24023" y="24028"/>
                    </a:cubicBezTo>
                    <a:cubicBezTo>
                      <a:pt x="20183" y="27869"/>
                      <a:pt x="13924" y="27889"/>
                      <a:pt x="10063" y="24028"/>
                    </a:cubicBezTo>
                    <a:lnTo>
                      <a:pt x="10063" y="24028"/>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0" name="Freeform: Shape 80">
                <a:extLst>
                  <a:ext uri="{FF2B5EF4-FFF2-40B4-BE49-F238E27FC236}">
                    <a16:creationId xmlns:a16="http://schemas.microsoft.com/office/drawing/2014/main" id="{4EA7A2F3-41FC-2D64-18EA-8D8D010BC5E6}"/>
                  </a:ext>
                </a:extLst>
              </p:cNvPr>
              <p:cNvSpPr/>
              <p:nvPr/>
            </p:nvSpPr>
            <p:spPr>
              <a:xfrm>
                <a:off x="3517287" y="4364065"/>
                <a:ext cx="26657" cy="26659"/>
              </a:xfrm>
              <a:custGeom>
                <a:avLst/>
                <a:gdLst>
                  <a:gd name="connsiteX0" fmla="*/ 10020 w 26657"/>
                  <a:gd name="connsiteY0" fmla="*/ 23800 h 26659"/>
                  <a:gd name="connsiteX1" fmla="*/ 2847 w 26657"/>
                  <a:gd name="connsiteY1" fmla="*/ 16607 h 26659"/>
                  <a:gd name="connsiteX2" fmla="*/ 2868 w 26657"/>
                  <a:gd name="connsiteY2" fmla="*/ 2850 h 26659"/>
                  <a:gd name="connsiteX3" fmla="*/ 16604 w 26657"/>
                  <a:gd name="connsiteY3" fmla="*/ 2850 h 26659"/>
                  <a:gd name="connsiteX4" fmla="*/ 23797 w 26657"/>
                  <a:gd name="connsiteY4" fmla="*/ 10023 h 26659"/>
                  <a:gd name="connsiteX5" fmla="*/ 23818 w 26657"/>
                  <a:gd name="connsiteY5" fmla="*/ 23800 h 26659"/>
                  <a:gd name="connsiteX6" fmla="*/ 10041 w 26657"/>
                  <a:gd name="connsiteY6" fmla="*/ 23820 h 26659"/>
                  <a:gd name="connsiteX7" fmla="*/ 10020 w 26657"/>
                  <a:gd name="connsiteY7" fmla="*/ 23800 h 26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57" h="26659">
                    <a:moveTo>
                      <a:pt x="10020" y="23800"/>
                    </a:moveTo>
                    <a:lnTo>
                      <a:pt x="2847" y="16607"/>
                    </a:lnTo>
                    <a:cubicBezTo>
                      <a:pt x="-952" y="12807"/>
                      <a:pt x="-952" y="6650"/>
                      <a:pt x="2868" y="2850"/>
                    </a:cubicBezTo>
                    <a:cubicBezTo>
                      <a:pt x="6668" y="-950"/>
                      <a:pt x="12804" y="-950"/>
                      <a:pt x="16604" y="2850"/>
                    </a:cubicBezTo>
                    <a:lnTo>
                      <a:pt x="23797" y="10023"/>
                    </a:lnTo>
                    <a:cubicBezTo>
                      <a:pt x="27597" y="13823"/>
                      <a:pt x="27618" y="20000"/>
                      <a:pt x="23818" y="23800"/>
                    </a:cubicBezTo>
                    <a:cubicBezTo>
                      <a:pt x="20018" y="27600"/>
                      <a:pt x="13841" y="27620"/>
                      <a:pt x="10041" y="23820"/>
                    </a:cubicBezTo>
                    <a:lnTo>
                      <a:pt x="10020" y="23800"/>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1" name="Freeform: Shape 81">
                <a:extLst>
                  <a:ext uri="{FF2B5EF4-FFF2-40B4-BE49-F238E27FC236}">
                    <a16:creationId xmlns:a16="http://schemas.microsoft.com/office/drawing/2014/main" id="{677B654B-1B3A-C8FC-D272-8046C402FAAC}"/>
                  </a:ext>
                </a:extLst>
              </p:cNvPr>
              <p:cNvSpPr/>
              <p:nvPr/>
            </p:nvSpPr>
            <p:spPr>
              <a:xfrm>
                <a:off x="3438659" y="4285442"/>
                <a:ext cx="25913" cy="25918"/>
              </a:xfrm>
              <a:custGeom>
                <a:avLst/>
                <a:gdLst>
                  <a:gd name="connsiteX0" fmla="*/ 9868 w 25913"/>
                  <a:gd name="connsiteY0" fmla="*/ 23155 h 25918"/>
                  <a:gd name="connsiteX1" fmla="*/ 2715 w 25913"/>
                  <a:gd name="connsiteY1" fmla="*/ 15941 h 25918"/>
                  <a:gd name="connsiteX2" fmla="*/ 2756 w 25913"/>
                  <a:gd name="connsiteY2" fmla="*/ 2713 h 25918"/>
                  <a:gd name="connsiteX3" fmla="*/ 15944 w 25913"/>
                  <a:gd name="connsiteY3" fmla="*/ 2713 h 25918"/>
                  <a:gd name="connsiteX4" fmla="*/ 23157 w 25913"/>
                  <a:gd name="connsiteY4" fmla="*/ 9865 h 25918"/>
                  <a:gd name="connsiteX5" fmla="*/ 23198 w 25913"/>
                  <a:gd name="connsiteY5" fmla="*/ 23155 h 25918"/>
                  <a:gd name="connsiteX6" fmla="*/ 9929 w 25913"/>
                  <a:gd name="connsiteY6" fmla="*/ 23195 h 25918"/>
                  <a:gd name="connsiteX7" fmla="*/ 9868 w 25913"/>
                  <a:gd name="connsiteY7" fmla="*/ 23155 h 2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13" h="25918">
                    <a:moveTo>
                      <a:pt x="9868" y="23155"/>
                    </a:moveTo>
                    <a:lnTo>
                      <a:pt x="2715" y="15941"/>
                    </a:lnTo>
                    <a:cubicBezTo>
                      <a:pt x="-922" y="12283"/>
                      <a:pt x="-902" y="6350"/>
                      <a:pt x="2756" y="2713"/>
                    </a:cubicBezTo>
                    <a:cubicBezTo>
                      <a:pt x="6414" y="-904"/>
                      <a:pt x="12306" y="-904"/>
                      <a:pt x="15944" y="2713"/>
                    </a:cubicBezTo>
                    <a:lnTo>
                      <a:pt x="23157" y="9865"/>
                    </a:lnTo>
                    <a:cubicBezTo>
                      <a:pt x="26815" y="13523"/>
                      <a:pt x="26835" y="19477"/>
                      <a:pt x="23198" y="23155"/>
                    </a:cubicBezTo>
                    <a:cubicBezTo>
                      <a:pt x="19540" y="26832"/>
                      <a:pt x="13607" y="26832"/>
                      <a:pt x="9929" y="23195"/>
                    </a:cubicBezTo>
                    <a:lnTo>
                      <a:pt x="9868" y="2315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2" name="Freeform: Shape 82">
                <a:extLst>
                  <a:ext uri="{FF2B5EF4-FFF2-40B4-BE49-F238E27FC236}">
                    <a16:creationId xmlns:a16="http://schemas.microsoft.com/office/drawing/2014/main" id="{86D2A5B0-89F9-19A9-BA9D-404CC36D8D15}"/>
                  </a:ext>
                </a:extLst>
              </p:cNvPr>
              <p:cNvSpPr/>
              <p:nvPr/>
            </p:nvSpPr>
            <p:spPr>
              <a:xfrm>
                <a:off x="3360023" y="4206809"/>
                <a:ext cx="25133" cy="25128"/>
              </a:xfrm>
              <a:custGeom>
                <a:avLst/>
                <a:gdLst>
                  <a:gd name="connsiteX0" fmla="*/ 9764 w 25133"/>
                  <a:gd name="connsiteY0" fmla="*/ 22479 h 25128"/>
                  <a:gd name="connsiteX1" fmla="*/ 2591 w 25133"/>
                  <a:gd name="connsiteY1" fmla="*/ 15266 h 25128"/>
                  <a:gd name="connsiteX2" fmla="*/ 2652 w 25133"/>
                  <a:gd name="connsiteY2" fmla="*/ 2606 h 25128"/>
                  <a:gd name="connsiteX3" fmla="*/ 15270 w 25133"/>
                  <a:gd name="connsiteY3" fmla="*/ 2606 h 25128"/>
                  <a:gd name="connsiteX4" fmla="*/ 22484 w 25133"/>
                  <a:gd name="connsiteY4" fmla="*/ 9759 h 25128"/>
                  <a:gd name="connsiteX5" fmla="*/ 22525 w 25133"/>
                  <a:gd name="connsiteY5" fmla="*/ 22479 h 25128"/>
                  <a:gd name="connsiteX6" fmla="*/ 9805 w 25133"/>
                  <a:gd name="connsiteY6" fmla="*/ 22520 h 25128"/>
                  <a:gd name="connsiteX7" fmla="*/ 9764 w 25133"/>
                  <a:gd name="connsiteY7" fmla="*/ 22479 h 2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33" h="25128">
                    <a:moveTo>
                      <a:pt x="9764" y="22479"/>
                    </a:moveTo>
                    <a:lnTo>
                      <a:pt x="2591" y="15266"/>
                    </a:lnTo>
                    <a:cubicBezTo>
                      <a:pt x="-884" y="11750"/>
                      <a:pt x="-863" y="6081"/>
                      <a:pt x="2652" y="2606"/>
                    </a:cubicBezTo>
                    <a:cubicBezTo>
                      <a:pt x="6147" y="-869"/>
                      <a:pt x="11775" y="-869"/>
                      <a:pt x="15270" y="2606"/>
                    </a:cubicBezTo>
                    <a:lnTo>
                      <a:pt x="22484" y="9759"/>
                    </a:lnTo>
                    <a:cubicBezTo>
                      <a:pt x="25999" y="13254"/>
                      <a:pt x="26020" y="18943"/>
                      <a:pt x="22525" y="22479"/>
                    </a:cubicBezTo>
                    <a:cubicBezTo>
                      <a:pt x="19030" y="25994"/>
                      <a:pt x="13320" y="26015"/>
                      <a:pt x="9805" y="22520"/>
                    </a:cubicBezTo>
                    <a:lnTo>
                      <a:pt x="9764" y="22479"/>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3" name="Freeform: Shape 83">
                <a:extLst>
                  <a:ext uri="{FF2B5EF4-FFF2-40B4-BE49-F238E27FC236}">
                    <a16:creationId xmlns:a16="http://schemas.microsoft.com/office/drawing/2014/main" id="{865BA602-63A7-6585-4609-3544F0CEC32A}"/>
                  </a:ext>
                </a:extLst>
              </p:cNvPr>
              <p:cNvSpPr/>
              <p:nvPr/>
            </p:nvSpPr>
            <p:spPr>
              <a:xfrm>
                <a:off x="3281387" y="4128170"/>
                <a:ext cx="24353" cy="24353"/>
              </a:xfrm>
              <a:custGeom>
                <a:avLst/>
                <a:gdLst>
                  <a:gd name="connsiteX0" fmla="*/ 9639 w 24353"/>
                  <a:gd name="connsiteY0" fmla="*/ 21808 h 24353"/>
                  <a:gd name="connsiteX1" fmla="*/ 2487 w 24353"/>
                  <a:gd name="connsiteY1" fmla="*/ 14595 h 24353"/>
                  <a:gd name="connsiteX2" fmla="*/ 2527 w 24353"/>
                  <a:gd name="connsiteY2" fmla="*/ 2484 h 24353"/>
                  <a:gd name="connsiteX3" fmla="*/ 14598 w 24353"/>
                  <a:gd name="connsiteY3" fmla="*/ 2484 h 24353"/>
                  <a:gd name="connsiteX4" fmla="*/ 21811 w 24353"/>
                  <a:gd name="connsiteY4" fmla="*/ 9637 h 24353"/>
                  <a:gd name="connsiteX5" fmla="*/ 21852 w 24353"/>
                  <a:gd name="connsiteY5" fmla="*/ 21808 h 24353"/>
                  <a:gd name="connsiteX6" fmla="*/ 9700 w 24353"/>
                  <a:gd name="connsiteY6" fmla="*/ 21869 h 24353"/>
                  <a:gd name="connsiteX7" fmla="*/ 9639 w 24353"/>
                  <a:gd name="connsiteY7" fmla="*/ 21808 h 24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53" h="24353">
                    <a:moveTo>
                      <a:pt x="9639" y="21808"/>
                    </a:moveTo>
                    <a:lnTo>
                      <a:pt x="2487" y="14595"/>
                    </a:lnTo>
                    <a:cubicBezTo>
                      <a:pt x="-846" y="11242"/>
                      <a:pt x="-825" y="5816"/>
                      <a:pt x="2527" y="2484"/>
                    </a:cubicBezTo>
                    <a:cubicBezTo>
                      <a:pt x="5880" y="-828"/>
                      <a:pt x="11265" y="-828"/>
                      <a:pt x="14598" y="2484"/>
                    </a:cubicBezTo>
                    <a:lnTo>
                      <a:pt x="21811" y="9637"/>
                    </a:lnTo>
                    <a:cubicBezTo>
                      <a:pt x="25184" y="12989"/>
                      <a:pt x="25205" y="18435"/>
                      <a:pt x="21852" y="21808"/>
                    </a:cubicBezTo>
                    <a:cubicBezTo>
                      <a:pt x="18519" y="25181"/>
                      <a:pt x="13074" y="25202"/>
                      <a:pt x="9700" y="21869"/>
                    </a:cubicBezTo>
                    <a:lnTo>
                      <a:pt x="9639" y="21808"/>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4" name="Freeform: Shape 84">
                <a:extLst>
                  <a:ext uri="{FF2B5EF4-FFF2-40B4-BE49-F238E27FC236}">
                    <a16:creationId xmlns:a16="http://schemas.microsoft.com/office/drawing/2014/main" id="{21334B8D-1A96-DFB2-54CE-B6D1F1FB82A4}"/>
                  </a:ext>
                </a:extLst>
              </p:cNvPr>
              <p:cNvSpPr/>
              <p:nvPr/>
            </p:nvSpPr>
            <p:spPr>
              <a:xfrm>
                <a:off x="3203023" y="4049811"/>
                <a:ext cx="23073" cy="23076"/>
              </a:xfrm>
              <a:custGeom>
                <a:avLst/>
                <a:gdLst>
                  <a:gd name="connsiteX0" fmla="*/ 9426 w 23073"/>
                  <a:gd name="connsiteY0" fmla="*/ 20696 h 23076"/>
                  <a:gd name="connsiteX1" fmla="*/ 2294 w 23073"/>
                  <a:gd name="connsiteY1" fmla="*/ 13482 h 23076"/>
                  <a:gd name="connsiteX2" fmla="*/ 2355 w 23073"/>
                  <a:gd name="connsiteY2" fmla="*/ 2286 h 23076"/>
                  <a:gd name="connsiteX3" fmla="*/ 13490 w 23073"/>
                  <a:gd name="connsiteY3" fmla="*/ 2286 h 23076"/>
                  <a:gd name="connsiteX4" fmla="*/ 20704 w 23073"/>
                  <a:gd name="connsiteY4" fmla="*/ 9418 h 23076"/>
                  <a:gd name="connsiteX5" fmla="*/ 20765 w 23073"/>
                  <a:gd name="connsiteY5" fmla="*/ 20696 h 23076"/>
                  <a:gd name="connsiteX6" fmla="*/ 9487 w 23073"/>
                  <a:gd name="connsiteY6" fmla="*/ 20777 h 23076"/>
                  <a:gd name="connsiteX7" fmla="*/ 9426 w 23073"/>
                  <a:gd name="connsiteY7" fmla="*/ 20696 h 23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73" h="23076">
                    <a:moveTo>
                      <a:pt x="9426" y="20696"/>
                    </a:moveTo>
                    <a:lnTo>
                      <a:pt x="2294" y="13482"/>
                    </a:lnTo>
                    <a:cubicBezTo>
                      <a:pt x="-795" y="10373"/>
                      <a:pt x="-754" y="5354"/>
                      <a:pt x="2355" y="2286"/>
                    </a:cubicBezTo>
                    <a:cubicBezTo>
                      <a:pt x="5443" y="-762"/>
                      <a:pt x="10401" y="-762"/>
                      <a:pt x="13490" y="2286"/>
                    </a:cubicBezTo>
                    <a:lnTo>
                      <a:pt x="20704" y="9418"/>
                    </a:lnTo>
                    <a:cubicBezTo>
                      <a:pt x="23833" y="12527"/>
                      <a:pt x="23874" y="17567"/>
                      <a:pt x="20765" y="20696"/>
                    </a:cubicBezTo>
                    <a:cubicBezTo>
                      <a:pt x="17676" y="23845"/>
                      <a:pt x="12616" y="23866"/>
                      <a:pt x="9487" y="20777"/>
                    </a:cubicBezTo>
                    <a:cubicBezTo>
                      <a:pt x="9487" y="20757"/>
                      <a:pt x="9446" y="20716"/>
                      <a:pt x="9426" y="2069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5" name="Freeform: Shape 85">
                <a:extLst>
                  <a:ext uri="{FF2B5EF4-FFF2-40B4-BE49-F238E27FC236}">
                    <a16:creationId xmlns:a16="http://schemas.microsoft.com/office/drawing/2014/main" id="{61A36BCA-832A-100A-1DC0-CAFFF8D4A221}"/>
                  </a:ext>
                </a:extLst>
              </p:cNvPr>
              <p:cNvSpPr/>
              <p:nvPr/>
            </p:nvSpPr>
            <p:spPr>
              <a:xfrm>
                <a:off x="3124636" y="3971424"/>
                <a:ext cx="21791" cy="21790"/>
              </a:xfrm>
              <a:custGeom>
                <a:avLst/>
                <a:gdLst>
                  <a:gd name="connsiteX0" fmla="*/ 9256 w 21791"/>
                  <a:gd name="connsiteY0" fmla="*/ 19611 h 21790"/>
                  <a:gd name="connsiteX1" fmla="*/ 2103 w 21791"/>
                  <a:gd name="connsiteY1" fmla="*/ 12378 h 21790"/>
                  <a:gd name="connsiteX2" fmla="*/ 2164 w 21791"/>
                  <a:gd name="connsiteY2" fmla="*/ 2096 h 21790"/>
                  <a:gd name="connsiteX3" fmla="*/ 12385 w 21791"/>
                  <a:gd name="connsiteY3" fmla="*/ 2096 h 21790"/>
                  <a:gd name="connsiteX4" fmla="*/ 19619 w 21791"/>
                  <a:gd name="connsiteY4" fmla="*/ 9248 h 21790"/>
                  <a:gd name="connsiteX5" fmla="*/ 19680 w 21791"/>
                  <a:gd name="connsiteY5" fmla="*/ 19611 h 21790"/>
                  <a:gd name="connsiteX6" fmla="*/ 9317 w 21791"/>
                  <a:gd name="connsiteY6" fmla="*/ 19672 h 21790"/>
                  <a:gd name="connsiteX7" fmla="*/ 9256 w 21791"/>
                  <a:gd name="connsiteY7" fmla="*/ 19611 h 2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1" h="21790">
                    <a:moveTo>
                      <a:pt x="9256" y="19611"/>
                    </a:moveTo>
                    <a:lnTo>
                      <a:pt x="2103" y="12378"/>
                    </a:lnTo>
                    <a:cubicBezTo>
                      <a:pt x="-721" y="9533"/>
                      <a:pt x="-701" y="4920"/>
                      <a:pt x="2164" y="2096"/>
                    </a:cubicBezTo>
                    <a:cubicBezTo>
                      <a:pt x="4989" y="-709"/>
                      <a:pt x="9561" y="-688"/>
                      <a:pt x="12385" y="2096"/>
                    </a:cubicBezTo>
                    <a:lnTo>
                      <a:pt x="19619" y="9248"/>
                    </a:lnTo>
                    <a:cubicBezTo>
                      <a:pt x="22484" y="12093"/>
                      <a:pt x="22525" y="16726"/>
                      <a:pt x="19680" y="19611"/>
                    </a:cubicBezTo>
                    <a:cubicBezTo>
                      <a:pt x="16835" y="22497"/>
                      <a:pt x="12182" y="22517"/>
                      <a:pt x="9317" y="19672"/>
                    </a:cubicBezTo>
                    <a:cubicBezTo>
                      <a:pt x="9297" y="19652"/>
                      <a:pt x="9256" y="19611"/>
                      <a:pt x="9256" y="1961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6" name="Freeform: Shape 86">
                <a:extLst>
                  <a:ext uri="{FF2B5EF4-FFF2-40B4-BE49-F238E27FC236}">
                    <a16:creationId xmlns:a16="http://schemas.microsoft.com/office/drawing/2014/main" id="{129DAC6B-695A-EA8F-3028-14D7402A54B9}"/>
                  </a:ext>
                </a:extLst>
              </p:cNvPr>
              <p:cNvSpPr/>
              <p:nvPr/>
            </p:nvSpPr>
            <p:spPr>
              <a:xfrm>
                <a:off x="3046389" y="3893177"/>
                <a:ext cx="20272" cy="20264"/>
              </a:xfrm>
              <a:custGeom>
                <a:avLst/>
                <a:gdLst>
                  <a:gd name="connsiteX0" fmla="*/ 8987 w 20272"/>
                  <a:gd name="connsiteY0" fmla="*/ 18306 h 20264"/>
                  <a:gd name="connsiteX1" fmla="*/ 1875 w 20272"/>
                  <a:gd name="connsiteY1" fmla="*/ 11052 h 20264"/>
                  <a:gd name="connsiteX2" fmla="*/ 1936 w 20272"/>
                  <a:gd name="connsiteY2" fmla="*/ 1867 h 20264"/>
                  <a:gd name="connsiteX3" fmla="*/ 11059 w 20272"/>
                  <a:gd name="connsiteY3" fmla="*/ 1867 h 20264"/>
                  <a:gd name="connsiteX4" fmla="*/ 18313 w 20272"/>
                  <a:gd name="connsiteY4" fmla="*/ 8979 h 20264"/>
                  <a:gd name="connsiteX5" fmla="*/ 18374 w 20272"/>
                  <a:gd name="connsiteY5" fmla="*/ 18306 h 20264"/>
                  <a:gd name="connsiteX6" fmla="*/ 9068 w 20272"/>
                  <a:gd name="connsiteY6" fmla="*/ 18367 h 20264"/>
                  <a:gd name="connsiteX7" fmla="*/ 8987 w 20272"/>
                  <a:gd name="connsiteY7" fmla="*/ 18306 h 20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272" h="20264">
                    <a:moveTo>
                      <a:pt x="8987" y="18306"/>
                    </a:moveTo>
                    <a:lnTo>
                      <a:pt x="1875" y="11052"/>
                    </a:lnTo>
                    <a:cubicBezTo>
                      <a:pt x="-645" y="8491"/>
                      <a:pt x="-625" y="4387"/>
                      <a:pt x="1936" y="1867"/>
                    </a:cubicBezTo>
                    <a:cubicBezTo>
                      <a:pt x="4476" y="-632"/>
                      <a:pt x="8540" y="-612"/>
                      <a:pt x="11059" y="1867"/>
                    </a:cubicBezTo>
                    <a:lnTo>
                      <a:pt x="18313" y="8979"/>
                    </a:lnTo>
                    <a:cubicBezTo>
                      <a:pt x="20894" y="11539"/>
                      <a:pt x="20935" y="15705"/>
                      <a:pt x="18374" y="18306"/>
                    </a:cubicBezTo>
                    <a:cubicBezTo>
                      <a:pt x="15834" y="20886"/>
                      <a:pt x="11669" y="20927"/>
                      <a:pt x="9068" y="18367"/>
                    </a:cubicBezTo>
                    <a:cubicBezTo>
                      <a:pt x="9048" y="18346"/>
                      <a:pt x="9007" y="18306"/>
                      <a:pt x="8987" y="1830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7" name="Freeform: Shape 87">
                <a:extLst>
                  <a:ext uri="{FF2B5EF4-FFF2-40B4-BE49-F238E27FC236}">
                    <a16:creationId xmlns:a16="http://schemas.microsoft.com/office/drawing/2014/main" id="{CE7B3C0B-729E-B422-267F-E12C6253EA9F}"/>
                  </a:ext>
                </a:extLst>
              </p:cNvPr>
              <p:cNvSpPr/>
              <p:nvPr/>
            </p:nvSpPr>
            <p:spPr>
              <a:xfrm>
                <a:off x="2968253" y="3815040"/>
                <a:ext cx="18473" cy="18472"/>
              </a:xfrm>
              <a:custGeom>
                <a:avLst/>
                <a:gdLst>
                  <a:gd name="connsiteX0" fmla="*/ 8748 w 18473"/>
                  <a:gd name="connsiteY0" fmla="*/ 16777 h 18472"/>
                  <a:gd name="connsiteX1" fmla="*/ 1616 w 18473"/>
                  <a:gd name="connsiteY1" fmla="*/ 9535 h 18472"/>
                  <a:gd name="connsiteX2" fmla="*/ 1676 w 18473"/>
                  <a:gd name="connsiteY2" fmla="*/ 1608 h 18472"/>
                  <a:gd name="connsiteX3" fmla="*/ 9540 w 18473"/>
                  <a:gd name="connsiteY3" fmla="*/ 1608 h 18472"/>
                  <a:gd name="connsiteX4" fmla="*/ 16774 w 18473"/>
                  <a:gd name="connsiteY4" fmla="*/ 8734 h 18472"/>
                  <a:gd name="connsiteX5" fmla="*/ 16835 w 18473"/>
                  <a:gd name="connsiteY5" fmla="*/ 16775 h 18472"/>
                  <a:gd name="connsiteX6" fmla="*/ 8809 w 18473"/>
                  <a:gd name="connsiteY6" fmla="*/ 16840 h 18472"/>
                  <a:gd name="connsiteX7" fmla="*/ 8748 w 18473"/>
                  <a:gd name="connsiteY7" fmla="*/ 16777 h 1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73" h="18472">
                    <a:moveTo>
                      <a:pt x="8748" y="16777"/>
                    </a:moveTo>
                    <a:lnTo>
                      <a:pt x="1616" y="9535"/>
                    </a:lnTo>
                    <a:cubicBezTo>
                      <a:pt x="-559" y="7328"/>
                      <a:pt x="-538" y="3780"/>
                      <a:pt x="1676" y="1608"/>
                    </a:cubicBezTo>
                    <a:cubicBezTo>
                      <a:pt x="3851" y="-540"/>
                      <a:pt x="7366" y="-532"/>
                      <a:pt x="9540" y="1608"/>
                    </a:cubicBezTo>
                    <a:lnTo>
                      <a:pt x="16774" y="8734"/>
                    </a:lnTo>
                    <a:cubicBezTo>
                      <a:pt x="19009" y="10937"/>
                      <a:pt x="19050" y="14538"/>
                      <a:pt x="16835" y="16775"/>
                    </a:cubicBezTo>
                    <a:cubicBezTo>
                      <a:pt x="14641" y="19012"/>
                      <a:pt x="11044" y="19042"/>
                      <a:pt x="8809" y="16840"/>
                    </a:cubicBezTo>
                    <a:cubicBezTo>
                      <a:pt x="8788" y="16825"/>
                      <a:pt x="8748" y="16791"/>
                      <a:pt x="8748" y="16777"/>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8" name="Freeform: Shape 88">
                <a:extLst>
                  <a:ext uri="{FF2B5EF4-FFF2-40B4-BE49-F238E27FC236}">
                    <a16:creationId xmlns:a16="http://schemas.microsoft.com/office/drawing/2014/main" id="{17482FDB-C3FA-2D6E-5766-27F48662FA13}"/>
                  </a:ext>
                </a:extLst>
              </p:cNvPr>
              <p:cNvSpPr/>
              <p:nvPr/>
            </p:nvSpPr>
            <p:spPr>
              <a:xfrm>
                <a:off x="2890244" y="3736893"/>
                <a:ext cx="16498" cy="16641"/>
              </a:xfrm>
              <a:custGeom>
                <a:avLst/>
                <a:gdLst>
                  <a:gd name="connsiteX0" fmla="*/ 8403 w 16498"/>
                  <a:gd name="connsiteY0" fmla="*/ 15206 h 16641"/>
                  <a:gd name="connsiteX1" fmla="*/ 1271 w 16498"/>
                  <a:gd name="connsiteY1" fmla="*/ 7785 h 16641"/>
                  <a:gd name="connsiteX2" fmla="*/ 1413 w 16498"/>
                  <a:gd name="connsiteY2" fmla="*/ 1277 h 16641"/>
                  <a:gd name="connsiteX3" fmla="*/ 7855 w 16498"/>
                  <a:gd name="connsiteY3" fmla="*/ 1348 h 16641"/>
                  <a:gd name="connsiteX4" fmla="*/ 7977 w 16498"/>
                  <a:gd name="connsiteY4" fmla="*/ 1460 h 16641"/>
                  <a:gd name="connsiteX5" fmla="*/ 15068 w 16498"/>
                  <a:gd name="connsiteY5" fmla="*/ 8547 h 16641"/>
                  <a:gd name="connsiteX6" fmla="*/ 15170 w 16498"/>
                  <a:gd name="connsiteY6" fmla="*/ 15206 h 16641"/>
                  <a:gd name="connsiteX7" fmla="*/ 8525 w 16498"/>
                  <a:gd name="connsiteY7" fmla="*/ 15316 h 16641"/>
                  <a:gd name="connsiteX8" fmla="*/ 8464 w 16498"/>
                  <a:gd name="connsiteY8" fmla="*/ 15265 h 16641"/>
                  <a:gd name="connsiteX9" fmla="*/ 8403 w 16498"/>
                  <a:gd name="connsiteY9" fmla="*/ 15206 h 16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98" h="16641">
                    <a:moveTo>
                      <a:pt x="8403" y="15206"/>
                    </a:moveTo>
                    <a:cubicBezTo>
                      <a:pt x="6046" y="12823"/>
                      <a:pt x="3649" y="10271"/>
                      <a:pt x="1271" y="7785"/>
                    </a:cubicBezTo>
                    <a:cubicBezTo>
                      <a:pt x="-476" y="5948"/>
                      <a:pt x="-415" y="3035"/>
                      <a:pt x="1413" y="1277"/>
                    </a:cubicBezTo>
                    <a:cubicBezTo>
                      <a:pt x="3242" y="-456"/>
                      <a:pt x="6087" y="-418"/>
                      <a:pt x="7855" y="1348"/>
                    </a:cubicBezTo>
                    <a:lnTo>
                      <a:pt x="7977" y="1460"/>
                    </a:lnTo>
                    <a:cubicBezTo>
                      <a:pt x="10334" y="3821"/>
                      <a:pt x="12609" y="6172"/>
                      <a:pt x="15068" y="8547"/>
                    </a:cubicBezTo>
                    <a:cubicBezTo>
                      <a:pt x="16938" y="10356"/>
                      <a:pt x="16978" y="13337"/>
                      <a:pt x="15170" y="15206"/>
                    </a:cubicBezTo>
                    <a:cubicBezTo>
                      <a:pt x="13361" y="17076"/>
                      <a:pt x="10395" y="17124"/>
                      <a:pt x="8525" y="15316"/>
                    </a:cubicBezTo>
                    <a:cubicBezTo>
                      <a:pt x="8505" y="15300"/>
                      <a:pt x="8485" y="15284"/>
                      <a:pt x="8464" y="15265"/>
                    </a:cubicBezTo>
                    <a:lnTo>
                      <a:pt x="8403" y="15206"/>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39" name="Freeform: Shape 89">
                <a:extLst>
                  <a:ext uri="{FF2B5EF4-FFF2-40B4-BE49-F238E27FC236}">
                    <a16:creationId xmlns:a16="http://schemas.microsoft.com/office/drawing/2014/main" id="{CDEA4994-55DA-BCD0-E4F6-405340D2BD60}"/>
                  </a:ext>
                </a:extLst>
              </p:cNvPr>
              <p:cNvSpPr/>
              <p:nvPr/>
            </p:nvSpPr>
            <p:spPr>
              <a:xfrm>
                <a:off x="2835741" y="3642240"/>
                <a:ext cx="10222" cy="16827"/>
              </a:xfrm>
              <a:custGeom>
                <a:avLst/>
                <a:gdLst>
                  <a:gd name="connsiteX0" fmla="*/ 3267 w 10222"/>
                  <a:gd name="connsiteY0" fmla="*/ 14332 h 16827"/>
                  <a:gd name="connsiteX1" fmla="*/ 158 w 10222"/>
                  <a:gd name="connsiteY1" fmla="*/ 4501 h 16827"/>
                  <a:gd name="connsiteX2" fmla="*/ 2414 w 10222"/>
                  <a:gd name="connsiteY2" fmla="*/ 161 h 16827"/>
                  <a:gd name="connsiteX3" fmla="*/ 6742 w 10222"/>
                  <a:gd name="connsiteY3" fmla="*/ 2349 h 16827"/>
                  <a:gd name="connsiteX4" fmla="*/ 6782 w 10222"/>
                  <a:gd name="connsiteY4" fmla="*/ 2492 h 16827"/>
                  <a:gd name="connsiteX5" fmla="*/ 9993 w 10222"/>
                  <a:gd name="connsiteY5" fmla="*/ 11977 h 16827"/>
                  <a:gd name="connsiteX6" fmla="*/ 10034 w 10222"/>
                  <a:gd name="connsiteY6" fmla="*/ 12119 h 16827"/>
                  <a:gd name="connsiteX7" fmla="*/ 7798 w 10222"/>
                  <a:gd name="connsiteY7" fmla="*/ 16639 h 16827"/>
                  <a:gd name="connsiteX8" fmla="*/ 3287 w 10222"/>
                  <a:gd name="connsiteY8" fmla="*/ 14403 h 16827"/>
                  <a:gd name="connsiteX9" fmla="*/ 3267 w 10222"/>
                  <a:gd name="connsiteY9" fmla="*/ 14332 h 1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2" h="16827">
                    <a:moveTo>
                      <a:pt x="3267" y="14332"/>
                    </a:moveTo>
                    <a:lnTo>
                      <a:pt x="158" y="4501"/>
                    </a:lnTo>
                    <a:cubicBezTo>
                      <a:pt x="-411" y="2679"/>
                      <a:pt x="605" y="736"/>
                      <a:pt x="2414" y="161"/>
                    </a:cubicBezTo>
                    <a:cubicBezTo>
                      <a:pt x="4222" y="-406"/>
                      <a:pt x="6132" y="571"/>
                      <a:pt x="6742" y="2349"/>
                    </a:cubicBezTo>
                    <a:lnTo>
                      <a:pt x="6782" y="2492"/>
                    </a:lnTo>
                    <a:lnTo>
                      <a:pt x="9993" y="11977"/>
                    </a:lnTo>
                    <a:lnTo>
                      <a:pt x="10034" y="12119"/>
                    </a:lnTo>
                    <a:cubicBezTo>
                      <a:pt x="10664" y="13985"/>
                      <a:pt x="9668" y="16009"/>
                      <a:pt x="7798" y="16639"/>
                    </a:cubicBezTo>
                    <a:cubicBezTo>
                      <a:pt x="5929" y="17268"/>
                      <a:pt x="3917" y="16269"/>
                      <a:pt x="3287" y="14403"/>
                    </a:cubicBezTo>
                    <a:cubicBezTo>
                      <a:pt x="3287" y="14383"/>
                      <a:pt x="3267" y="14348"/>
                      <a:pt x="3267" y="1433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0" name="Freeform: Shape 90">
                <a:extLst>
                  <a:ext uri="{FF2B5EF4-FFF2-40B4-BE49-F238E27FC236}">
                    <a16:creationId xmlns:a16="http://schemas.microsoft.com/office/drawing/2014/main" id="{FAC6D624-48F9-DE5F-4F43-8A107D843948}"/>
                  </a:ext>
                </a:extLst>
              </p:cNvPr>
              <p:cNvSpPr/>
              <p:nvPr/>
            </p:nvSpPr>
            <p:spPr>
              <a:xfrm>
                <a:off x="2828341" y="3533033"/>
                <a:ext cx="5867" cy="14526"/>
              </a:xfrm>
              <a:custGeom>
                <a:avLst/>
                <a:gdLst>
                  <a:gd name="connsiteX0" fmla="*/ 40 w 5867"/>
                  <a:gd name="connsiteY0" fmla="*/ 11919 h 14526"/>
                  <a:gd name="connsiteX1" fmla="*/ 1625 w 5867"/>
                  <a:gd name="connsiteY1" fmla="*/ 1798 h 14526"/>
                  <a:gd name="connsiteX2" fmla="*/ 4063 w 5867"/>
                  <a:gd name="connsiteY2" fmla="*/ 26 h 14526"/>
                  <a:gd name="connsiteX3" fmla="*/ 5851 w 5867"/>
                  <a:gd name="connsiteY3" fmla="*/ 2406 h 14526"/>
                  <a:gd name="connsiteX4" fmla="*/ 5831 w 5867"/>
                  <a:gd name="connsiteY4" fmla="*/ 2497 h 14526"/>
                  <a:gd name="connsiteX5" fmla="*/ 4510 w 5867"/>
                  <a:gd name="connsiteY5" fmla="*/ 12472 h 14526"/>
                  <a:gd name="connsiteX6" fmla="*/ 4490 w 5867"/>
                  <a:gd name="connsiteY6" fmla="*/ 12566 h 14526"/>
                  <a:gd name="connsiteX7" fmla="*/ 1970 w 5867"/>
                  <a:gd name="connsiteY7" fmla="*/ 14506 h 14526"/>
                  <a:gd name="connsiteX8" fmla="*/ 19 w 5867"/>
                  <a:gd name="connsiteY8" fmla="*/ 11972 h 14526"/>
                  <a:gd name="connsiteX9" fmla="*/ 40 w 5867"/>
                  <a:gd name="connsiteY9" fmla="*/ 11919 h 1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67" h="14526">
                    <a:moveTo>
                      <a:pt x="40" y="11919"/>
                    </a:moveTo>
                    <a:lnTo>
                      <a:pt x="1625" y="1798"/>
                    </a:lnTo>
                    <a:cubicBezTo>
                      <a:pt x="1808" y="636"/>
                      <a:pt x="2905" y="-157"/>
                      <a:pt x="4063" y="26"/>
                    </a:cubicBezTo>
                    <a:cubicBezTo>
                      <a:pt x="5201" y="207"/>
                      <a:pt x="5993" y="1266"/>
                      <a:pt x="5851" y="2406"/>
                    </a:cubicBezTo>
                    <a:lnTo>
                      <a:pt x="5831" y="2497"/>
                    </a:lnTo>
                    <a:lnTo>
                      <a:pt x="4510" y="12472"/>
                    </a:lnTo>
                    <a:lnTo>
                      <a:pt x="4490" y="12566"/>
                    </a:lnTo>
                    <a:cubicBezTo>
                      <a:pt x="4327" y="13801"/>
                      <a:pt x="3189" y="14671"/>
                      <a:pt x="1970" y="14506"/>
                    </a:cubicBezTo>
                    <a:cubicBezTo>
                      <a:pt x="731" y="14342"/>
                      <a:pt x="-143" y="13208"/>
                      <a:pt x="19" y="11972"/>
                    </a:cubicBezTo>
                    <a:cubicBezTo>
                      <a:pt x="19" y="11960"/>
                      <a:pt x="40" y="11934"/>
                      <a:pt x="40" y="1191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41" name="Freeform: Shape 91">
                <a:extLst>
                  <a:ext uri="{FF2B5EF4-FFF2-40B4-BE49-F238E27FC236}">
                    <a16:creationId xmlns:a16="http://schemas.microsoft.com/office/drawing/2014/main" id="{ECF9979D-0B4D-E91E-9D83-A505F8C55A76}"/>
                  </a:ext>
                </a:extLst>
              </p:cNvPr>
              <p:cNvSpPr/>
              <p:nvPr/>
            </p:nvSpPr>
            <p:spPr>
              <a:xfrm>
                <a:off x="2868307" y="3432407"/>
                <a:ext cx="7104" cy="9665"/>
              </a:xfrm>
              <a:custGeom>
                <a:avLst/>
                <a:gdLst>
                  <a:gd name="connsiteX0" fmla="*/ 145 w 7104"/>
                  <a:gd name="connsiteY0" fmla="*/ 8516 h 9665"/>
                  <a:gd name="connsiteX1" fmla="*/ 6079 w 7104"/>
                  <a:gd name="connsiteY1" fmla="*/ 239 h 9665"/>
                  <a:gd name="connsiteX2" fmla="*/ 6871 w 7104"/>
                  <a:gd name="connsiteY2" fmla="*/ 107 h 9665"/>
                  <a:gd name="connsiteX3" fmla="*/ 7013 w 7104"/>
                  <a:gd name="connsiteY3" fmla="*/ 891 h 9665"/>
                  <a:gd name="connsiteX4" fmla="*/ 6993 w 7104"/>
                  <a:gd name="connsiteY4" fmla="*/ 912 h 9665"/>
                  <a:gd name="connsiteX5" fmla="*/ 1344 w 7104"/>
                  <a:gd name="connsiteY5" fmla="*/ 9318 h 9665"/>
                  <a:gd name="connsiteX6" fmla="*/ 1324 w 7104"/>
                  <a:gd name="connsiteY6" fmla="*/ 9345 h 9665"/>
                  <a:gd name="connsiteX7" fmla="*/ 328 w 7104"/>
                  <a:gd name="connsiteY7" fmla="*/ 9542 h 9665"/>
                  <a:gd name="connsiteX8" fmla="*/ 125 w 7104"/>
                  <a:gd name="connsiteY8" fmla="*/ 8536 h 9665"/>
                  <a:gd name="connsiteX9" fmla="*/ 145 w 7104"/>
                  <a:gd name="connsiteY9" fmla="*/ 8516 h 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04" h="9665">
                    <a:moveTo>
                      <a:pt x="145" y="8516"/>
                    </a:moveTo>
                    <a:lnTo>
                      <a:pt x="6079" y="239"/>
                    </a:lnTo>
                    <a:cubicBezTo>
                      <a:pt x="6262" y="-17"/>
                      <a:pt x="6607" y="-78"/>
                      <a:pt x="6871" y="107"/>
                    </a:cubicBezTo>
                    <a:cubicBezTo>
                      <a:pt x="7115" y="288"/>
                      <a:pt x="7176" y="635"/>
                      <a:pt x="7013" y="891"/>
                    </a:cubicBezTo>
                    <a:lnTo>
                      <a:pt x="6993" y="912"/>
                    </a:lnTo>
                    <a:lnTo>
                      <a:pt x="1344" y="9318"/>
                    </a:lnTo>
                    <a:lnTo>
                      <a:pt x="1324" y="9345"/>
                    </a:lnTo>
                    <a:cubicBezTo>
                      <a:pt x="1100" y="9678"/>
                      <a:pt x="653" y="9765"/>
                      <a:pt x="328" y="9542"/>
                    </a:cubicBezTo>
                    <a:cubicBezTo>
                      <a:pt x="-17" y="9318"/>
                      <a:pt x="-99" y="8867"/>
                      <a:pt x="125" y="8536"/>
                    </a:cubicBezTo>
                    <a:cubicBezTo>
                      <a:pt x="125" y="8528"/>
                      <a:pt x="125" y="8520"/>
                      <a:pt x="145" y="851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grpSp>
          <p:nvGrpSpPr>
            <p:cNvPr id="191" name="Graphic 6">
              <a:extLst>
                <a:ext uri="{FF2B5EF4-FFF2-40B4-BE49-F238E27FC236}">
                  <a16:creationId xmlns:a16="http://schemas.microsoft.com/office/drawing/2014/main" id="{5374BFE3-D7DC-7789-93FD-D9AC994ADA23}"/>
                </a:ext>
              </a:extLst>
            </p:cNvPr>
            <p:cNvGrpSpPr/>
            <p:nvPr/>
          </p:nvGrpSpPr>
          <p:grpSpPr>
            <a:xfrm>
              <a:off x="5066900" y="2565429"/>
              <a:ext cx="2004479" cy="1181088"/>
              <a:chOff x="5066900" y="2565429"/>
              <a:chExt cx="2004479" cy="1181088"/>
            </a:xfrm>
            <a:solidFill>
              <a:srgbClr val="B7B7B7"/>
            </a:solidFill>
          </p:grpSpPr>
          <p:sp>
            <p:nvSpPr>
              <p:cNvPr id="282" name="Freeform: Shape 93">
                <a:extLst>
                  <a:ext uri="{FF2B5EF4-FFF2-40B4-BE49-F238E27FC236}">
                    <a16:creationId xmlns:a16="http://schemas.microsoft.com/office/drawing/2014/main" id="{8806B44B-9DE0-3690-4C39-EC8086F18D8A}"/>
                  </a:ext>
                </a:extLst>
              </p:cNvPr>
              <p:cNvSpPr/>
              <p:nvPr/>
            </p:nvSpPr>
            <p:spPr>
              <a:xfrm>
                <a:off x="5131445" y="3739030"/>
                <a:ext cx="7178" cy="7487"/>
              </a:xfrm>
              <a:custGeom>
                <a:avLst/>
                <a:gdLst>
                  <a:gd name="connsiteX0" fmla="*/ 7178 w 7178"/>
                  <a:gd name="connsiteY0" fmla="*/ 7487 h 7487"/>
                  <a:gd name="connsiteX1" fmla="*/ 46 w 7178"/>
                  <a:gd name="connsiteY1" fmla="*/ 257 h 7487"/>
                  <a:gd name="connsiteX2" fmla="*/ 46 w 7178"/>
                  <a:gd name="connsiteY2" fmla="*/ 44 h 7487"/>
                  <a:gd name="connsiteX3" fmla="*/ 249 w 7178"/>
                  <a:gd name="connsiteY3" fmla="*/ 46 h 7487"/>
                  <a:gd name="connsiteX4" fmla="*/ 269 w 7178"/>
                  <a:gd name="connsiteY4" fmla="*/ 54 h 7487"/>
                  <a:gd name="connsiteX5" fmla="*/ 7178 w 7178"/>
                  <a:gd name="connsiteY5" fmla="*/ 7487 h 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78" h="7487">
                    <a:moveTo>
                      <a:pt x="7178" y="7487"/>
                    </a:moveTo>
                    <a:lnTo>
                      <a:pt x="46" y="257"/>
                    </a:lnTo>
                    <a:cubicBezTo>
                      <a:pt x="-15" y="198"/>
                      <a:pt x="-15" y="103"/>
                      <a:pt x="46" y="44"/>
                    </a:cubicBezTo>
                    <a:cubicBezTo>
                      <a:pt x="107" y="-15"/>
                      <a:pt x="188" y="-15"/>
                      <a:pt x="249" y="46"/>
                    </a:cubicBezTo>
                    <a:cubicBezTo>
                      <a:pt x="249" y="46"/>
                      <a:pt x="269" y="52"/>
                      <a:pt x="269" y="54"/>
                    </a:cubicBezTo>
                    <a:lnTo>
                      <a:pt x="7178" y="7487"/>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3" name="Freeform: Shape 94">
                <a:extLst>
                  <a:ext uri="{FF2B5EF4-FFF2-40B4-BE49-F238E27FC236}">
                    <a16:creationId xmlns:a16="http://schemas.microsoft.com/office/drawing/2014/main" id="{AEA785E2-6702-F419-71C3-DEC4876436A9}"/>
                  </a:ext>
                </a:extLst>
              </p:cNvPr>
              <p:cNvSpPr/>
              <p:nvPr/>
            </p:nvSpPr>
            <p:spPr>
              <a:xfrm>
                <a:off x="5075420" y="3640853"/>
                <a:ext cx="6459" cy="13186"/>
              </a:xfrm>
              <a:custGeom>
                <a:avLst/>
                <a:gdLst>
                  <a:gd name="connsiteX0" fmla="*/ 3259 w 6459"/>
                  <a:gd name="connsiteY0" fmla="*/ 12050 h 13186"/>
                  <a:gd name="connsiteX1" fmla="*/ 89 w 6459"/>
                  <a:gd name="connsiteY1" fmla="*/ 2321 h 13186"/>
                  <a:gd name="connsiteX2" fmla="*/ 1227 w 6459"/>
                  <a:gd name="connsiteY2" fmla="*/ 88 h 13186"/>
                  <a:gd name="connsiteX3" fmla="*/ 3462 w 6459"/>
                  <a:gd name="connsiteY3" fmla="*/ 1223 h 13186"/>
                  <a:gd name="connsiteX4" fmla="*/ 3462 w 6459"/>
                  <a:gd name="connsiteY4" fmla="*/ 1258 h 13186"/>
                  <a:gd name="connsiteX5" fmla="*/ 3482 w 6459"/>
                  <a:gd name="connsiteY5" fmla="*/ 1337 h 13186"/>
                  <a:gd name="connsiteX6" fmla="*/ 6367 w 6459"/>
                  <a:gd name="connsiteY6" fmla="*/ 11003 h 13186"/>
                  <a:gd name="connsiteX7" fmla="*/ 6387 w 6459"/>
                  <a:gd name="connsiteY7" fmla="*/ 11070 h 13186"/>
                  <a:gd name="connsiteX8" fmla="*/ 5291 w 6459"/>
                  <a:gd name="connsiteY8" fmla="*/ 13117 h 13186"/>
                  <a:gd name="connsiteX9" fmla="*/ 3259 w 6459"/>
                  <a:gd name="connsiteY9" fmla="*/ 12050 h 1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9" h="13186">
                    <a:moveTo>
                      <a:pt x="3259" y="12050"/>
                    </a:moveTo>
                    <a:lnTo>
                      <a:pt x="89" y="2321"/>
                    </a:lnTo>
                    <a:cubicBezTo>
                      <a:pt x="-217" y="1390"/>
                      <a:pt x="291" y="390"/>
                      <a:pt x="1227" y="88"/>
                    </a:cubicBezTo>
                    <a:cubicBezTo>
                      <a:pt x="2161" y="-215"/>
                      <a:pt x="3157" y="293"/>
                      <a:pt x="3462" y="1223"/>
                    </a:cubicBezTo>
                    <a:cubicBezTo>
                      <a:pt x="3462" y="1236"/>
                      <a:pt x="3462" y="1246"/>
                      <a:pt x="3462" y="1258"/>
                    </a:cubicBezTo>
                    <a:lnTo>
                      <a:pt x="3482" y="1337"/>
                    </a:lnTo>
                    <a:lnTo>
                      <a:pt x="6367" y="11003"/>
                    </a:lnTo>
                    <a:lnTo>
                      <a:pt x="6387" y="11070"/>
                    </a:lnTo>
                    <a:cubicBezTo>
                      <a:pt x="6652" y="11940"/>
                      <a:pt x="6164" y="12859"/>
                      <a:pt x="5291" y="13117"/>
                    </a:cubicBezTo>
                    <a:cubicBezTo>
                      <a:pt x="4437" y="13375"/>
                      <a:pt x="3523" y="12895"/>
                      <a:pt x="3259" y="1205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4" name="Freeform: Shape 95">
                <a:extLst>
                  <a:ext uri="{FF2B5EF4-FFF2-40B4-BE49-F238E27FC236}">
                    <a16:creationId xmlns:a16="http://schemas.microsoft.com/office/drawing/2014/main" id="{08C57119-223C-A4F0-7BAB-51550C0D410B}"/>
                  </a:ext>
                </a:extLst>
              </p:cNvPr>
              <p:cNvSpPr/>
              <p:nvPr/>
            </p:nvSpPr>
            <p:spPr>
              <a:xfrm>
                <a:off x="5066900" y="3528795"/>
                <a:ext cx="7771" cy="16325"/>
              </a:xfrm>
              <a:custGeom>
                <a:avLst/>
                <a:gdLst>
                  <a:gd name="connsiteX0" fmla="*/ 34 w 7771"/>
                  <a:gd name="connsiteY0" fmla="*/ 12866 h 16325"/>
                  <a:gd name="connsiteX1" fmla="*/ 1517 w 7771"/>
                  <a:gd name="connsiteY1" fmla="*/ 2691 h 16325"/>
                  <a:gd name="connsiteX2" fmla="*/ 5094 w 7771"/>
                  <a:gd name="connsiteY2" fmla="*/ 34 h 16325"/>
                  <a:gd name="connsiteX3" fmla="*/ 7735 w 7771"/>
                  <a:gd name="connsiteY3" fmla="*/ 3602 h 16325"/>
                  <a:gd name="connsiteX4" fmla="*/ 7735 w 7771"/>
                  <a:gd name="connsiteY4" fmla="*/ 3663 h 16325"/>
                  <a:gd name="connsiteX5" fmla="*/ 7715 w 7771"/>
                  <a:gd name="connsiteY5" fmla="*/ 3807 h 16325"/>
                  <a:gd name="connsiteX6" fmla="*/ 6008 w 7771"/>
                  <a:gd name="connsiteY6" fmla="*/ 13689 h 16325"/>
                  <a:gd name="connsiteX7" fmla="*/ 5988 w 7771"/>
                  <a:gd name="connsiteY7" fmla="*/ 13815 h 16325"/>
                  <a:gd name="connsiteX8" fmla="*/ 2513 w 7771"/>
                  <a:gd name="connsiteY8" fmla="*/ 16282 h 16325"/>
                  <a:gd name="connsiteX9" fmla="*/ 34 w 7771"/>
                  <a:gd name="connsiteY9" fmla="*/ 12866 h 1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1" h="16325">
                    <a:moveTo>
                      <a:pt x="34" y="12866"/>
                    </a:moveTo>
                    <a:lnTo>
                      <a:pt x="1517" y="2691"/>
                    </a:lnTo>
                    <a:cubicBezTo>
                      <a:pt x="1781" y="972"/>
                      <a:pt x="3366" y="-218"/>
                      <a:pt x="5094" y="34"/>
                    </a:cubicBezTo>
                    <a:cubicBezTo>
                      <a:pt x="6800" y="286"/>
                      <a:pt x="7999" y="1883"/>
                      <a:pt x="7735" y="3602"/>
                    </a:cubicBezTo>
                    <a:cubicBezTo>
                      <a:pt x="7735" y="3622"/>
                      <a:pt x="7735" y="3642"/>
                      <a:pt x="7735" y="3663"/>
                    </a:cubicBezTo>
                    <a:lnTo>
                      <a:pt x="7715" y="3807"/>
                    </a:lnTo>
                    <a:lnTo>
                      <a:pt x="6008" y="13689"/>
                    </a:lnTo>
                    <a:lnTo>
                      <a:pt x="5988" y="13815"/>
                    </a:lnTo>
                    <a:cubicBezTo>
                      <a:pt x="5703" y="15459"/>
                      <a:pt x="4159" y="16562"/>
                      <a:pt x="2513" y="16282"/>
                    </a:cubicBezTo>
                    <a:cubicBezTo>
                      <a:pt x="887" y="16001"/>
                      <a:pt x="-210" y="14481"/>
                      <a:pt x="34" y="1286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5" name="Freeform: Shape 96">
                <a:extLst>
                  <a:ext uri="{FF2B5EF4-FFF2-40B4-BE49-F238E27FC236}">
                    <a16:creationId xmlns:a16="http://schemas.microsoft.com/office/drawing/2014/main" id="{1E230861-9466-CB7D-D605-D73D19ADB83F}"/>
                  </a:ext>
                </a:extLst>
              </p:cNvPr>
              <p:cNvSpPr/>
              <p:nvPr/>
            </p:nvSpPr>
            <p:spPr>
              <a:xfrm>
                <a:off x="5105506" y="3426014"/>
                <a:ext cx="14490" cy="16892"/>
              </a:xfrm>
              <a:custGeom>
                <a:avLst/>
                <a:gdLst>
                  <a:gd name="connsiteX0" fmla="*/ 767 w 14490"/>
                  <a:gd name="connsiteY0" fmla="*/ 10302 h 16892"/>
                  <a:gd name="connsiteX1" fmla="*/ 6681 w 14490"/>
                  <a:gd name="connsiteY1" fmla="*/ 1833 h 16892"/>
                  <a:gd name="connsiteX2" fmla="*/ 12655 w 14490"/>
                  <a:gd name="connsiteY2" fmla="*/ 776 h 16892"/>
                  <a:gd name="connsiteX3" fmla="*/ 13711 w 14490"/>
                  <a:gd name="connsiteY3" fmla="*/ 6756 h 16892"/>
                  <a:gd name="connsiteX4" fmla="*/ 13691 w 14490"/>
                  <a:gd name="connsiteY4" fmla="*/ 6809 h 16892"/>
                  <a:gd name="connsiteX5" fmla="*/ 13569 w 14490"/>
                  <a:gd name="connsiteY5" fmla="*/ 6971 h 16892"/>
                  <a:gd name="connsiteX6" fmla="*/ 7676 w 14490"/>
                  <a:gd name="connsiteY6" fmla="*/ 15030 h 16892"/>
                  <a:gd name="connsiteX7" fmla="*/ 7575 w 14490"/>
                  <a:gd name="connsiteY7" fmla="*/ 15175 h 16892"/>
                  <a:gd name="connsiteX8" fmla="*/ 1722 w 14490"/>
                  <a:gd name="connsiteY8" fmla="*/ 16087 h 16892"/>
                  <a:gd name="connsiteX9" fmla="*/ 767 w 14490"/>
                  <a:gd name="connsiteY9" fmla="*/ 10302 h 1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90" h="16892">
                    <a:moveTo>
                      <a:pt x="767" y="10302"/>
                    </a:moveTo>
                    <a:lnTo>
                      <a:pt x="6681" y="1833"/>
                    </a:lnTo>
                    <a:cubicBezTo>
                      <a:pt x="8042" y="-110"/>
                      <a:pt x="10724" y="-584"/>
                      <a:pt x="12655" y="776"/>
                    </a:cubicBezTo>
                    <a:cubicBezTo>
                      <a:pt x="14605" y="2135"/>
                      <a:pt x="15072" y="4813"/>
                      <a:pt x="13711" y="6756"/>
                    </a:cubicBezTo>
                    <a:cubicBezTo>
                      <a:pt x="13711" y="6774"/>
                      <a:pt x="13691" y="6793"/>
                      <a:pt x="13691" y="6809"/>
                    </a:cubicBezTo>
                    <a:lnTo>
                      <a:pt x="13569" y="6971"/>
                    </a:lnTo>
                    <a:lnTo>
                      <a:pt x="7676" y="15030"/>
                    </a:lnTo>
                    <a:lnTo>
                      <a:pt x="7575" y="15175"/>
                    </a:lnTo>
                    <a:cubicBezTo>
                      <a:pt x="6213" y="17042"/>
                      <a:pt x="3592" y="17450"/>
                      <a:pt x="1722" y="16087"/>
                    </a:cubicBezTo>
                    <a:cubicBezTo>
                      <a:pt x="-127" y="14738"/>
                      <a:pt x="-553" y="12163"/>
                      <a:pt x="767" y="1030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6" name="Freeform: Shape 97">
                <a:extLst>
                  <a:ext uri="{FF2B5EF4-FFF2-40B4-BE49-F238E27FC236}">
                    <a16:creationId xmlns:a16="http://schemas.microsoft.com/office/drawing/2014/main" id="{EE655C75-A1E6-D372-C9F9-ACCC4626C5A9}"/>
                  </a:ext>
                </a:extLst>
              </p:cNvPr>
              <p:cNvSpPr/>
              <p:nvPr/>
            </p:nvSpPr>
            <p:spPr>
              <a:xfrm>
                <a:off x="5180375" y="3344304"/>
                <a:ext cx="17800" cy="17810"/>
              </a:xfrm>
              <a:custGeom>
                <a:avLst/>
                <a:gdLst>
                  <a:gd name="connsiteX0" fmla="*/ 1509 w 17800"/>
                  <a:gd name="connsiteY0" fmla="*/ 8840 h 17810"/>
                  <a:gd name="connsiteX1" fmla="*/ 8641 w 17800"/>
                  <a:gd name="connsiteY1" fmla="*/ 1598 h 17810"/>
                  <a:gd name="connsiteX2" fmla="*/ 16201 w 17800"/>
                  <a:gd name="connsiteY2" fmla="*/ 1537 h 17810"/>
                  <a:gd name="connsiteX3" fmla="*/ 16261 w 17800"/>
                  <a:gd name="connsiteY3" fmla="*/ 9108 h 17810"/>
                  <a:gd name="connsiteX4" fmla="*/ 16201 w 17800"/>
                  <a:gd name="connsiteY4" fmla="*/ 9169 h 17810"/>
                  <a:gd name="connsiteX5" fmla="*/ 8967 w 17800"/>
                  <a:gd name="connsiteY5" fmla="*/ 16296 h 17810"/>
                  <a:gd name="connsiteX6" fmla="*/ 1509 w 17800"/>
                  <a:gd name="connsiteY6" fmla="*/ 16237 h 17810"/>
                  <a:gd name="connsiteX7" fmla="*/ 1509 w 17800"/>
                  <a:gd name="connsiteY7" fmla="*/ 8840 h 1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00" h="17810">
                    <a:moveTo>
                      <a:pt x="1509" y="8840"/>
                    </a:moveTo>
                    <a:lnTo>
                      <a:pt x="8641" y="1598"/>
                    </a:lnTo>
                    <a:cubicBezTo>
                      <a:pt x="10714" y="-509"/>
                      <a:pt x="14108" y="-536"/>
                      <a:pt x="16201" y="1537"/>
                    </a:cubicBezTo>
                    <a:cubicBezTo>
                      <a:pt x="18313" y="3612"/>
                      <a:pt x="18334" y="7001"/>
                      <a:pt x="16261" y="9108"/>
                    </a:cubicBezTo>
                    <a:cubicBezTo>
                      <a:pt x="16261" y="9123"/>
                      <a:pt x="16220" y="9155"/>
                      <a:pt x="16201" y="9169"/>
                    </a:cubicBezTo>
                    <a:lnTo>
                      <a:pt x="8967" y="16296"/>
                    </a:lnTo>
                    <a:cubicBezTo>
                      <a:pt x="6894" y="18338"/>
                      <a:pt x="3541" y="18311"/>
                      <a:pt x="1509" y="16237"/>
                    </a:cubicBezTo>
                    <a:cubicBezTo>
                      <a:pt x="-503" y="14184"/>
                      <a:pt x="-503" y="10888"/>
                      <a:pt x="1509" y="884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7" name="Freeform: Shape 98">
                <a:extLst>
                  <a:ext uri="{FF2B5EF4-FFF2-40B4-BE49-F238E27FC236}">
                    <a16:creationId xmlns:a16="http://schemas.microsoft.com/office/drawing/2014/main" id="{8CDD40C0-3960-25B3-410F-F9D7166313DB}"/>
                  </a:ext>
                </a:extLst>
              </p:cNvPr>
              <p:cNvSpPr/>
              <p:nvPr/>
            </p:nvSpPr>
            <p:spPr>
              <a:xfrm>
                <a:off x="5258511" y="3264381"/>
                <a:ext cx="19588" cy="19594"/>
              </a:xfrm>
              <a:custGeom>
                <a:avLst/>
                <a:gdLst>
                  <a:gd name="connsiteX0" fmla="*/ 1768 w 19588"/>
                  <a:gd name="connsiteY0" fmla="*/ 9107 h 19594"/>
                  <a:gd name="connsiteX1" fmla="*/ 8900 w 19588"/>
                  <a:gd name="connsiteY1" fmla="*/ 1865 h 19594"/>
                  <a:gd name="connsiteX2" fmla="*/ 17719 w 19588"/>
                  <a:gd name="connsiteY2" fmla="*/ 1793 h 19594"/>
                  <a:gd name="connsiteX3" fmla="*/ 17800 w 19588"/>
                  <a:gd name="connsiteY3" fmla="*/ 10627 h 19594"/>
                  <a:gd name="connsiteX4" fmla="*/ 17719 w 19588"/>
                  <a:gd name="connsiteY4" fmla="*/ 10698 h 19594"/>
                  <a:gd name="connsiteX5" fmla="*/ 10485 w 19588"/>
                  <a:gd name="connsiteY5" fmla="*/ 17824 h 19594"/>
                  <a:gd name="connsiteX6" fmla="*/ 1768 w 19588"/>
                  <a:gd name="connsiteY6" fmla="*/ 17755 h 19594"/>
                  <a:gd name="connsiteX7" fmla="*/ 1768 w 19588"/>
                  <a:gd name="connsiteY7" fmla="*/ 9107 h 1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88" h="19594">
                    <a:moveTo>
                      <a:pt x="1768" y="9107"/>
                    </a:moveTo>
                    <a:lnTo>
                      <a:pt x="8900" y="1865"/>
                    </a:lnTo>
                    <a:cubicBezTo>
                      <a:pt x="11318" y="-594"/>
                      <a:pt x="15260" y="-625"/>
                      <a:pt x="17719" y="1793"/>
                    </a:cubicBezTo>
                    <a:cubicBezTo>
                      <a:pt x="20178" y="4212"/>
                      <a:pt x="20218" y="8168"/>
                      <a:pt x="17800" y="10627"/>
                    </a:cubicBezTo>
                    <a:cubicBezTo>
                      <a:pt x="17780" y="10643"/>
                      <a:pt x="17739" y="10681"/>
                      <a:pt x="17719" y="10698"/>
                    </a:cubicBezTo>
                    <a:lnTo>
                      <a:pt x="10485" y="17824"/>
                    </a:lnTo>
                    <a:cubicBezTo>
                      <a:pt x="8067" y="20211"/>
                      <a:pt x="4165" y="20181"/>
                      <a:pt x="1768" y="17755"/>
                    </a:cubicBezTo>
                    <a:cubicBezTo>
                      <a:pt x="-589" y="15353"/>
                      <a:pt x="-589" y="11500"/>
                      <a:pt x="1768" y="9107"/>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8" name="Freeform: Shape 99">
                <a:extLst>
                  <a:ext uri="{FF2B5EF4-FFF2-40B4-BE49-F238E27FC236}">
                    <a16:creationId xmlns:a16="http://schemas.microsoft.com/office/drawing/2014/main" id="{8510918E-E866-770A-6B94-9F4C4E0844BE}"/>
                  </a:ext>
                </a:extLst>
              </p:cNvPr>
              <p:cNvSpPr/>
              <p:nvPr/>
            </p:nvSpPr>
            <p:spPr>
              <a:xfrm>
                <a:off x="5336667" y="3184524"/>
                <a:ext cx="21300" cy="21292"/>
              </a:xfrm>
              <a:custGeom>
                <a:avLst/>
                <a:gdLst>
                  <a:gd name="connsiteX0" fmla="*/ 2027 w 21300"/>
                  <a:gd name="connsiteY0" fmla="*/ 9329 h 21292"/>
                  <a:gd name="connsiteX1" fmla="*/ 9180 w 21300"/>
                  <a:gd name="connsiteY1" fmla="*/ 2103 h 21292"/>
                  <a:gd name="connsiteX2" fmla="*/ 19197 w 21300"/>
                  <a:gd name="connsiteY2" fmla="*/ 2047 h 21292"/>
                  <a:gd name="connsiteX3" fmla="*/ 19258 w 21300"/>
                  <a:gd name="connsiteY3" fmla="*/ 12064 h 21292"/>
                  <a:gd name="connsiteX4" fmla="*/ 19197 w 21300"/>
                  <a:gd name="connsiteY4" fmla="*/ 12121 h 21292"/>
                  <a:gd name="connsiteX5" fmla="*/ 11963 w 21300"/>
                  <a:gd name="connsiteY5" fmla="*/ 19264 h 21292"/>
                  <a:gd name="connsiteX6" fmla="*/ 2027 w 21300"/>
                  <a:gd name="connsiteY6" fmla="*/ 19207 h 21292"/>
                  <a:gd name="connsiteX7" fmla="*/ 2027 w 21300"/>
                  <a:gd name="connsiteY7" fmla="*/ 9329 h 21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00" h="21292">
                    <a:moveTo>
                      <a:pt x="2027" y="9329"/>
                    </a:moveTo>
                    <a:lnTo>
                      <a:pt x="9180" y="2103"/>
                    </a:lnTo>
                    <a:cubicBezTo>
                      <a:pt x="11923" y="-678"/>
                      <a:pt x="16413" y="-705"/>
                      <a:pt x="19197" y="2047"/>
                    </a:cubicBezTo>
                    <a:cubicBezTo>
                      <a:pt x="21981" y="4798"/>
                      <a:pt x="22001" y="9283"/>
                      <a:pt x="19258" y="12064"/>
                    </a:cubicBezTo>
                    <a:cubicBezTo>
                      <a:pt x="19238" y="12075"/>
                      <a:pt x="19197" y="12111"/>
                      <a:pt x="19197" y="12121"/>
                    </a:cubicBezTo>
                    <a:lnTo>
                      <a:pt x="11963" y="19264"/>
                    </a:lnTo>
                    <a:cubicBezTo>
                      <a:pt x="9200" y="21991"/>
                      <a:pt x="4770" y="21966"/>
                      <a:pt x="2027" y="19207"/>
                    </a:cubicBezTo>
                    <a:cubicBezTo>
                      <a:pt x="-676" y="16468"/>
                      <a:pt x="-676" y="12062"/>
                      <a:pt x="2027" y="932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9" name="Freeform: Shape 100">
                <a:extLst>
                  <a:ext uri="{FF2B5EF4-FFF2-40B4-BE49-F238E27FC236}">
                    <a16:creationId xmlns:a16="http://schemas.microsoft.com/office/drawing/2014/main" id="{DB59162F-8520-3469-BD09-30D0B8A35CB5}"/>
                  </a:ext>
                </a:extLst>
              </p:cNvPr>
              <p:cNvSpPr/>
              <p:nvPr/>
            </p:nvSpPr>
            <p:spPr>
              <a:xfrm>
                <a:off x="5415053" y="3104854"/>
                <a:ext cx="22575" cy="22577"/>
              </a:xfrm>
              <a:custGeom>
                <a:avLst/>
                <a:gdLst>
                  <a:gd name="connsiteX0" fmla="*/ 2217 w 22575"/>
                  <a:gd name="connsiteY0" fmla="*/ 9520 h 22577"/>
                  <a:gd name="connsiteX1" fmla="*/ 9370 w 22575"/>
                  <a:gd name="connsiteY1" fmla="*/ 2294 h 22577"/>
                  <a:gd name="connsiteX2" fmla="*/ 20282 w 22575"/>
                  <a:gd name="connsiteY2" fmla="*/ 2231 h 22577"/>
                  <a:gd name="connsiteX3" fmla="*/ 20343 w 22575"/>
                  <a:gd name="connsiteY3" fmla="*/ 13157 h 22577"/>
                  <a:gd name="connsiteX4" fmla="*/ 20282 w 22575"/>
                  <a:gd name="connsiteY4" fmla="*/ 13220 h 22577"/>
                  <a:gd name="connsiteX5" fmla="*/ 13068 w 22575"/>
                  <a:gd name="connsiteY5" fmla="*/ 20363 h 22577"/>
                  <a:gd name="connsiteX6" fmla="*/ 2217 w 22575"/>
                  <a:gd name="connsiteY6" fmla="*/ 20300 h 22577"/>
                  <a:gd name="connsiteX7" fmla="*/ 2217 w 22575"/>
                  <a:gd name="connsiteY7" fmla="*/ 9520 h 2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5" h="22577">
                    <a:moveTo>
                      <a:pt x="2217" y="9520"/>
                    </a:moveTo>
                    <a:lnTo>
                      <a:pt x="9370" y="2294"/>
                    </a:lnTo>
                    <a:cubicBezTo>
                      <a:pt x="12357" y="-740"/>
                      <a:pt x="17254" y="-768"/>
                      <a:pt x="20282" y="2231"/>
                    </a:cubicBezTo>
                    <a:cubicBezTo>
                      <a:pt x="23310" y="5230"/>
                      <a:pt x="23350" y="10123"/>
                      <a:pt x="20343" y="13157"/>
                    </a:cubicBezTo>
                    <a:cubicBezTo>
                      <a:pt x="20343" y="13167"/>
                      <a:pt x="20302" y="13210"/>
                      <a:pt x="20282" y="13220"/>
                    </a:cubicBezTo>
                    <a:lnTo>
                      <a:pt x="13068" y="20363"/>
                    </a:lnTo>
                    <a:cubicBezTo>
                      <a:pt x="10041" y="23339"/>
                      <a:pt x="5204" y="23313"/>
                      <a:pt x="2217" y="20300"/>
                    </a:cubicBezTo>
                    <a:cubicBezTo>
                      <a:pt x="-749" y="17310"/>
                      <a:pt x="-729" y="12501"/>
                      <a:pt x="2217" y="952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0" name="Freeform: Shape 101">
                <a:extLst>
                  <a:ext uri="{FF2B5EF4-FFF2-40B4-BE49-F238E27FC236}">
                    <a16:creationId xmlns:a16="http://schemas.microsoft.com/office/drawing/2014/main" id="{0455413E-A836-F60A-A726-842A6BC3922B}"/>
                  </a:ext>
                </a:extLst>
              </p:cNvPr>
              <p:cNvSpPr/>
              <p:nvPr/>
            </p:nvSpPr>
            <p:spPr>
              <a:xfrm>
                <a:off x="5493448" y="3025181"/>
                <a:ext cx="23855" cy="23860"/>
              </a:xfrm>
              <a:custGeom>
                <a:avLst/>
                <a:gdLst>
                  <a:gd name="connsiteX0" fmla="*/ 2400 w 23855"/>
                  <a:gd name="connsiteY0" fmla="*/ 9711 h 23860"/>
                  <a:gd name="connsiteX1" fmla="*/ 9532 w 23855"/>
                  <a:gd name="connsiteY1" fmla="*/ 2485 h 23860"/>
                  <a:gd name="connsiteX2" fmla="*/ 21379 w 23855"/>
                  <a:gd name="connsiteY2" fmla="*/ 2416 h 23860"/>
                  <a:gd name="connsiteX3" fmla="*/ 21440 w 23855"/>
                  <a:gd name="connsiteY3" fmla="*/ 14251 h 23860"/>
                  <a:gd name="connsiteX4" fmla="*/ 21379 w 23855"/>
                  <a:gd name="connsiteY4" fmla="*/ 14318 h 23860"/>
                  <a:gd name="connsiteX5" fmla="*/ 14145 w 23855"/>
                  <a:gd name="connsiteY5" fmla="*/ 21460 h 23860"/>
                  <a:gd name="connsiteX6" fmla="*/ 2400 w 23855"/>
                  <a:gd name="connsiteY6" fmla="*/ 21393 h 23860"/>
                  <a:gd name="connsiteX7" fmla="*/ 2400 w 23855"/>
                  <a:gd name="connsiteY7" fmla="*/ 9711 h 2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5" h="23860">
                    <a:moveTo>
                      <a:pt x="2400" y="9711"/>
                    </a:moveTo>
                    <a:lnTo>
                      <a:pt x="9532" y="2485"/>
                    </a:lnTo>
                    <a:cubicBezTo>
                      <a:pt x="12784" y="-800"/>
                      <a:pt x="18088" y="-833"/>
                      <a:pt x="21379" y="2416"/>
                    </a:cubicBezTo>
                    <a:cubicBezTo>
                      <a:pt x="24651" y="5665"/>
                      <a:pt x="24692" y="10965"/>
                      <a:pt x="21440" y="14251"/>
                    </a:cubicBezTo>
                    <a:cubicBezTo>
                      <a:pt x="21420" y="14263"/>
                      <a:pt x="21379" y="14307"/>
                      <a:pt x="21379" y="14318"/>
                    </a:cubicBezTo>
                    <a:lnTo>
                      <a:pt x="14145" y="21460"/>
                    </a:lnTo>
                    <a:cubicBezTo>
                      <a:pt x="10874" y="24687"/>
                      <a:pt x="5631" y="24656"/>
                      <a:pt x="2400" y="21393"/>
                    </a:cubicBezTo>
                    <a:cubicBezTo>
                      <a:pt x="-810" y="18156"/>
                      <a:pt x="-790" y="12944"/>
                      <a:pt x="2400" y="971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1" name="Freeform: Shape 102">
                <a:extLst>
                  <a:ext uri="{FF2B5EF4-FFF2-40B4-BE49-F238E27FC236}">
                    <a16:creationId xmlns:a16="http://schemas.microsoft.com/office/drawing/2014/main" id="{E2790C11-7BEB-EDEB-5FB7-F5E41982A6EA}"/>
                  </a:ext>
                </a:extLst>
              </p:cNvPr>
              <p:cNvSpPr/>
              <p:nvPr/>
            </p:nvSpPr>
            <p:spPr>
              <a:xfrm>
                <a:off x="5571967" y="2945699"/>
                <a:ext cx="24820" cy="24822"/>
              </a:xfrm>
              <a:custGeom>
                <a:avLst/>
                <a:gdLst>
                  <a:gd name="connsiteX0" fmla="*/ 2561 w 24820"/>
                  <a:gd name="connsiteY0" fmla="*/ 9819 h 24822"/>
                  <a:gd name="connsiteX1" fmla="*/ 9713 w 24820"/>
                  <a:gd name="connsiteY1" fmla="*/ 2610 h 24822"/>
                  <a:gd name="connsiteX2" fmla="*/ 22210 w 24820"/>
                  <a:gd name="connsiteY2" fmla="*/ 2567 h 24822"/>
                  <a:gd name="connsiteX3" fmla="*/ 22251 w 24820"/>
                  <a:gd name="connsiteY3" fmla="*/ 15064 h 24822"/>
                  <a:gd name="connsiteX4" fmla="*/ 22210 w 24820"/>
                  <a:gd name="connsiteY4" fmla="*/ 15107 h 24822"/>
                  <a:gd name="connsiteX5" fmla="*/ 14996 w 24820"/>
                  <a:gd name="connsiteY5" fmla="*/ 22265 h 24822"/>
                  <a:gd name="connsiteX6" fmla="*/ 2561 w 24820"/>
                  <a:gd name="connsiteY6" fmla="*/ 22223 h 24822"/>
                  <a:gd name="connsiteX7" fmla="*/ 2561 w 24820"/>
                  <a:gd name="connsiteY7" fmla="*/ 9819 h 24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0" h="24822">
                    <a:moveTo>
                      <a:pt x="2561" y="9819"/>
                    </a:moveTo>
                    <a:lnTo>
                      <a:pt x="9713" y="2610"/>
                    </a:lnTo>
                    <a:cubicBezTo>
                      <a:pt x="13147" y="-853"/>
                      <a:pt x="18756" y="-873"/>
                      <a:pt x="22210" y="2567"/>
                    </a:cubicBezTo>
                    <a:cubicBezTo>
                      <a:pt x="25685" y="6007"/>
                      <a:pt x="25685" y="11602"/>
                      <a:pt x="22251" y="15064"/>
                    </a:cubicBezTo>
                    <a:lnTo>
                      <a:pt x="22210" y="15107"/>
                    </a:lnTo>
                    <a:lnTo>
                      <a:pt x="14996" y="22265"/>
                    </a:lnTo>
                    <a:cubicBezTo>
                      <a:pt x="11542" y="25691"/>
                      <a:pt x="5974" y="25671"/>
                      <a:pt x="2561" y="22223"/>
                    </a:cubicBezTo>
                    <a:cubicBezTo>
                      <a:pt x="-854" y="18791"/>
                      <a:pt x="-854" y="13249"/>
                      <a:pt x="2561" y="981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2" name="Freeform: Shape 103">
                <a:extLst>
                  <a:ext uri="{FF2B5EF4-FFF2-40B4-BE49-F238E27FC236}">
                    <a16:creationId xmlns:a16="http://schemas.microsoft.com/office/drawing/2014/main" id="{D7E81E3F-A075-749A-4F7D-24FE51FD8E4D}"/>
                  </a:ext>
                </a:extLst>
              </p:cNvPr>
              <p:cNvSpPr/>
              <p:nvPr/>
            </p:nvSpPr>
            <p:spPr>
              <a:xfrm>
                <a:off x="5650601" y="2866284"/>
                <a:ext cx="25595" cy="25599"/>
              </a:xfrm>
              <a:custGeom>
                <a:avLst/>
                <a:gdLst>
                  <a:gd name="connsiteX0" fmla="*/ 2667 w 25595"/>
                  <a:gd name="connsiteY0" fmla="*/ 9934 h 25599"/>
                  <a:gd name="connsiteX1" fmla="*/ 9840 w 25595"/>
                  <a:gd name="connsiteY1" fmla="*/ 2724 h 25599"/>
                  <a:gd name="connsiteX2" fmla="*/ 22885 w 25595"/>
                  <a:gd name="connsiteY2" fmla="*/ 2680 h 25599"/>
                  <a:gd name="connsiteX3" fmla="*/ 22926 w 25595"/>
                  <a:gd name="connsiteY3" fmla="*/ 15727 h 25599"/>
                  <a:gd name="connsiteX4" fmla="*/ 22885 w 25595"/>
                  <a:gd name="connsiteY4" fmla="*/ 15772 h 25599"/>
                  <a:gd name="connsiteX5" fmla="*/ 15672 w 25595"/>
                  <a:gd name="connsiteY5" fmla="*/ 22931 h 25599"/>
                  <a:gd name="connsiteX6" fmla="*/ 2667 w 25595"/>
                  <a:gd name="connsiteY6" fmla="*/ 22886 h 25599"/>
                  <a:gd name="connsiteX7" fmla="*/ 2667 w 25595"/>
                  <a:gd name="connsiteY7" fmla="*/ 9934 h 2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95" h="25599">
                    <a:moveTo>
                      <a:pt x="2667" y="9934"/>
                    </a:moveTo>
                    <a:lnTo>
                      <a:pt x="9840" y="2724"/>
                    </a:lnTo>
                    <a:cubicBezTo>
                      <a:pt x="13416" y="-890"/>
                      <a:pt x="19268" y="-911"/>
                      <a:pt x="22885" y="2680"/>
                    </a:cubicBezTo>
                    <a:cubicBezTo>
                      <a:pt x="26482" y="6270"/>
                      <a:pt x="26502" y="12110"/>
                      <a:pt x="22926" y="15727"/>
                    </a:cubicBezTo>
                    <a:lnTo>
                      <a:pt x="22885" y="15772"/>
                    </a:lnTo>
                    <a:lnTo>
                      <a:pt x="15672" y="22931"/>
                    </a:lnTo>
                    <a:cubicBezTo>
                      <a:pt x="12075" y="26507"/>
                      <a:pt x="6243" y="26487"/>
                      <a:pt x="2667" y="22886"/>
                    </a:cubicBezTo>
                    <a:cubicBezTo>
                      <a:pt x="-889" y="19299"/>
                      <a:pt x="-889" y="13514"/>
                      <a:pt x="2667" y="9934"/>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3" name="Freeform: Shape 104">
                <a:extLst>
                  <a:ext uri="{FF2B5EF4-FFF2-40B4-BE49-F238E27FC236}">
                    <a16:creationId xmlns:a16="http://schemas.microsoft.com/office/drawing/2014/main" id="{15E35F4F-4603-B8C7-8D46-082D25BE656D}"/>
                  </a:ext>
                </a:extLst>
              </p:cNvPr>
              <p:cNvSpPr/>
              <p:nvPr/>
            </p:nvSpPr>
            <p:spPr>
              <a:xfrm>
                <a:off x="5729246" y="2786868"/>
                <a:ext cx="26375" cy="26375"/>
              </a:xfrm>
              <a:custGeom>
                <a:avLst/>
                <a:gdLst>
                  <a:gd name="connsiteX0" fmla="*/ 2781 w 26375"/>
                  <a:gd name="connsiteY0" fmla="*/ 10049 h 26375"/>
                  <a:gd name="connsiteX1" fmla="*/ 9934 w 26375"/>
                  <a:gd name="connsiteY1" fmla="*/ 2839 h 26375"/>
                  <a:gd name="connsiteX2" fmla="*/ 23528 w 26375"/>
                  <a:gd name="connsiteY2" fmla="*/ 2792 h 26375"/>
                  <a:gd name="connsiteX3" fmla="*/ 23569 w 26375"/>
                  <a:gd name="connsiteY3" fmla="*/ 16388 h 26375"/>
                  <a:gd name="connsiteX4" fmla="*/ 23528 w 26375"/>
                  <a:gd name="connsiteY4" fmla="*/ 16435 h 26375"/>
                  <a:gd name="connsiteX5" fmla="*/ 16314 w 26375"/>
                  <a:gd name="connsiteY5" fmla="*/ 23594 h 26375"/>
                  <a:gd name="connsiteX6" fmla="*/ 2781 w 26375"/>
                  <a:gd name="connsiteY6" fmla="*/ 23547 h 26375"/>
                  <a:gd name="connsiteX7" fmla="*/ 2781 w 26375"/>
                  <a:gd name="connsiteY7" fmla="*/ 10049 h 2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75" h="26375">
                    <a:moveTo>
                      <a:pt x="2781" y="10049"/>
                    </a:moveTo>
                    <a:lnTo>
                      <a:pt x="9934" y="2839"/>
                    </a:lnTo>
                    <a:cubicBezTo>
                      <a:pt x="13673" y="-928"/>
                      <a:pt x="19769" y="-949"/>
                      <a:pt x="23528" y="2792"/>
                    </a:cubicBezTo>
                    <a:cubicBezTo>
                      <a:pt x="27307" y="6533"/>
                      <a:pt x="27328" y="12621"/>
                      <a:pt x="23569" y="16388"/>
                    </a:cubicBezTo>
                    <a:lnTo>
                      <a:pt x="23528" y="16435"/>
                    </a:lnTo>
                    <a:lnTo>
                      <a:pt x="16314" y="23594"/>
                    </a:lnTo>
                    <a:cubicBezTo>
                      <a:pt x="12575" y="27321"/>
                      <a:pt x="6500" y="27300"/>
                      <a:pt x="2781" y="23547"/>
                    </a:cubicBezTo>
                    <a:cubicBezTo>
                      <a:pt x="-937" y="19810"/>
                      <a:pt x="-917" y="13781"/>
                      <a:pt x="2781" y="1004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4" name="Freeform: Shape 105">
                <a:extLst>
                  <a:ext uri="{FF2B5EF4-FFF2-40B4-BE49-F238E27FC236}">
                    <a16:creationId xmlns:a16="http://schemas.microsoft.com/office/drawing/2014/main" id="{068E237D-0056-C7A9-BB0D-113227D3F0A7}"/>
                  </a:ext>
                </a:extLst>
              </p:cNvPr>
              <p:cNvSpPr/>
              <p:nvPr/>
            </p:nvSpPr>
            <p:spPr>
              <a:xfrm>
                <a:off x="5808017" y="2707655"/>
                <a:ext cx="26814" cy="26801"/>
              </a:xfrm>
              <a:custGeom>
                <a:avLst/>
                <a:gdLst>
                  <a:gd name="connsiteX0" fmla="*/ 2873 w 26814"/>
                  <a:gd name="connsiteY0" fmla="*/ 10076 h 26801"/>
                  <a:gd name="connsiteX1" fmla="*/ 10046 w 26814"/>
                  <a:gd name="connsiteY1" fmla="*/ 2883 h 26801"/>
                  <a:gd name="connsiteX2" fmla="*/ 23924 w 26814"/>
                  <a:gd name="connsiteY2" fmla="*/ 2867 h 26801"/>
                  <a:gd name="connsiteX3" fmla="*/ 23945 w 26814"/>
                  <a:gd name="connsiteY3" fmla="*/ 16747 h 26801"/>
                  <a:gd name="connsiteX4" fmla="*/ 23924 w 26814"/>
                  <a:gd name="connsiteY4" fmla="*/ 16764 h 26801"/>
                  <a:gd name="connsiteX5" fmla="*/ 16731 w 26814"/>
                  <a:gd name="connsiteY5" fmla="*/ 23939 h 26801"/>
                  <a:gd name="connsiteX6" fmla="*/ 2873 w 26814"/>
                  <a:gd name="connsiteY6" fmla="*/ 23922 h 26801"/>
                  <a:gd name="connsiteX7" fmla="*/ 2873 w 26814"/>
                  <a:gd name="connsiteY7" fmla="*/ 10076 h 2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14" h="26801">
                    <a:moveTo>
                      <a:pt x="2873" y="10076"/>
                    </a:moveTo>
                    <a:lnTo>
                      <a:pt x="10046" y="2883"/>
                    </a:lnTo>
                    <a:cubicBezTo>
                      <a:pt x="13886" y="-955"/>
                      <a:pt x="20104" y="-961"/>
                      <a:pt x="23924" y="2867"/>
                    </a:cubicBezTo>
                    <a:cubicBezTo>
                      <a:pt x="27765" y="6695"/>
                      <a:pt x="27785" y="12911"/>
                      <a:pt x="23945" y="16747"/>
                    </a:cubicBezTo>
                    <a:lnTo>
                      <a:pt x="23924" y="16764"/>
                    </a:lnTo>
                    <a:lnTo>
                      <a:pt x="16731" y="23939"/>
                    </a:lnTo>
                    <a:cubicBezTo>
                      <a:pt x="12911" y="27763"/>
                      <a:pt x="6693" y="27755"/>
                      <a:pt x="2873" y="23922"/>
                    </a:cubicBezTo>
                    <a:cubicBezTo>
                      <a:pt x="-947" y="20092"/>
                      <a:pt x="-968" y="13901"/>
                      <a:pt x="2873" y="1007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5" name="Freeform: Shape 106">
                <a:extLst>
                  <a:ext uri="{FF2B5EF4-FFF2-40B4-BE49-F238E27FC236}">
                    <a16:creationId xmlns:a16="http://schemas.microsoft.com/office/drawing/2014/main" id="{C171B76B-4C4B-9BCE-626C-310CFECD7715}"/>
                  </a:ext>
                </a:extLst>
              </p:cNvPr>
              <p:cNvSpPr/>
              <p:nvPr/>
            </p:nvSpPr>
            <p:spPr>
              <a:xfrm>
                <a:off x="5886863" y="2628489"/>
                <a:ext cx="27349" cy="27127"/>
              </a:xfrm>
              <a:custGeom>
                <a:avLst/>
                <a:gdLst>
                  <a:gd name="connsiteX0" fmla="*/ 2969 w 27349"/>
                  <a:gd name="connsiteY0" fmla="*/ 10125 h 27127"/>
                  <a:gd name="connsiteX1" fmla="*/ 6688 w 27349"/>
                  <a:gd name="connsiteY1" fmla="*/ 6473 h 27127"/>
                  <a:gd name="connsiteX2" fmla="*/ 10488 w 27349"/>
                  <a:gd name="connsiteY2" fmla="*/ 2797 h 27127"/>
                  <a:gd name="connsiteX3" fmla="*/ 24549 w 27349"/>
                  <a:gd name="connsiteY3" fmla="*/ 3029 h 27127"/>
                  <a:gd name="connsiteX4" fmla="*/ 24326 w 27349"/>
                  <a:gd name="connsiteY4" fmla="*/ 17088 h 27127"/>
                  <a:gd name="connsiteX5" fmla="*/ 24305 w 27349"/>
                  <a:gd name="connsiteY5" fmla="*/ 17100 h 27127"/>
                  <a:gd name="connsiteX6" fmla="*/ 24061 w 27349"/>
                  <a:gd name="connsiteY6" fmla="*/ 17340 h 27127"/>
                  <a:gd name="connsiteX7" fmla="*/ 20546 w 27349"/>
                  <a:gd name="connsiteY7" fmla="*/ 20725 h 27127"/>
                  <a:gd name="connsiteX8" fmla="*/ 17010 w 27349"/>
                  <a:gd name="connsiteY8" fmla="*/ 24172 h 27127"/>
                  <a:gd name="connsiteX9" fmla="*/ 2969 w 27349"/>
                  <a:gd name="connsiteY9" fmla="*/ 24265 h 27127"/>
                  <a:gd name="connsiteX10" fmla="*/ 2868 w 27349"/>
                  <a:gd name="connsiteY10" fmla="*/ 10220 h 27127"/>
                  <a:gd name="connsiteX11" fmla="*/ 2969 w 27349"/>
                  <a:gd name="connsiteY11" fmla="*/ 10125 h 27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49" h="27127">
                    <a:moveTo>
                      <a:pt x="2969" y="10125"/>
                    </a:moveTo>
                    <a:cubicBezTo>
                      <a:pt x="4128" y="8938"/>
                      <a:pt x="5448" y="7694"/>
                      <a:pt x="6688" y="6473"/>
                    </a:cubicBezTo>
                    <a:lnTo>
                      <a:pt x="10488" y="2797"/>
                    </a:lnTo>
                    <a:cubicBezTo>
                      <a:pt x="14430" y="-1021"/>
                      <a:pt x="20729" y="-917"/>
                      <a:pt x="24549" y="3029"/>
                    </a:cubicBezTo>
                    <a:cubicBezTo>
                      <a:pt x="28369" y="6975"/>
                      <a:pt x="28268" y="13270"/>
                      <a:pt x="24326" y="17088"/>
                    </a:cubicBezTo>
                    <a:lnTo>
                      <a:pt x="24305" y="17100"/>
                    </a:lnTo>
                    <a:lnTo>
                      <a:pt x="24061" y="17340"/>
                    </a:lnTo>
                    <a:lnTo>
                      <a:pt x="20546" y="20725"/>
                    </a:lnTo>
                    <a:cubicBezTo>
                      <a:pt x="19368" y="21865"/>
                      <a:pt x="18209" y="22944"/>
                      <a:pt x="17010" y="24172"/>
                    </a:cubicBezTo>
                    <a:cubicBezTo>
                      <a:pt x="13150" y="28077"/>
                      <a:pt x="6871" y="28118"/>
                      <a:pt x="2969" y="24265"/>
                    </a:cubicBezTo>
                    <a:cubicBezTo>
                      <a:pt x="-952" y="20413"/>
                      <a:pt x="-993" y="14124"/>
                      <a:pt x="2868" y="10220"/>
                    </a:cubicBezTo>
                    <a:lnTo>
                      <a:pt x="2969" y="1012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6" name="Freeform: Shape 107">
                <a:extLst>
                  <a:ext uri="{FF2B5EF4-FFF2-40B4-BE49-F238E27FC236}">
                    <a16:creationId xmlns:a16="http://schemas.microsoft.com/office/drawing/2014/main" id="{D1F8EC5F-39FB-667D-60A0-0F469E4BA482}"/>
                  </a:ext>
                </a:extLst>
              </p:cNvPr>
              <p:cNvSpPr/>
              <p:nvPr/>
            </p:nvSpPr>
            <p:spPr>
              <a:xfrm>
                <a:off x="5980347" y="2573393"/>
                <a:ext cx="30219" cy="23350"/>
              </a:xfrm>
              <a:custGeom>
                <a:avLst/>
                <a:gdLst>
                  <a:gd name="connsiteX0" fmla="*/ 7002 w 30219"/>
                  <a:gd name="connsiteY0" fmla="*/ 3712 h 23350"/>
                  <a:gd name="connsiteX1" fmla="*/ 17080 w 30219"/>
                  <a:gd name="connsiteY1" fmla="*/ 483 h 23350"/>
                  <a:gd name="connsiteX2" fmla="*/ 29740 w 30219"/>
                  <a:gd name="connsiteY2" fmla="*/ 7001 h 23350"/>
                  <a:gd name="connsiteX3" fmla="*/ 23217 w 30219"/>
                  <a:gd name="connsiteY3" fmla="*/ 19665 h 23350"/>
                  <a:gd name="connsiteX4" fmla="*/ 23197 w 30219"/>
                  <a:gd name="connsiteY4" fmla="*/ 19671 h 23350"/>
                  <a:gd name="connsiteX5" fmla="*/ 22791 w 30219"/>
                  <a:gd name="connsiteY5" fmla="*/ 19799 h 23350"/>
                  <a:gd name="connsiteX6" fmla="*/ 13524 w 30219"/>
                  <a:gd name="connsiteY6" fmla="*/ 22747 h 23350"/>
                  <a:gd name="connsiteX7" fmla="*/ 13118 w 30219"/>
                  <a:gd name="connsiteY7" fmla="*/ 22875 h 23350"/>
                  <a:gd name="connsiteX8" fmla="*/ 479 w 30219"/>
                  <a:gd name="connsiteY8" fmla="*/ 16336 h 23350"/>
                  <a:gd name="connsiteX9" fmla="*/ 7002 w 30219"/>
                  <a:gd name="connsiteY9" fmla="*/ 3712 h 2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219" h="23350">
                    <a:moveTo>
                      <a:pt x="7002" y="3712"/>
                    </a:moveTo>
                    <a:lnTo>
                      <a:pt x="17080" y="483"/>
                    </a:lnTo>
                    <a:cubicBezTo>
                      <a:pt x="22364" y="-1214"/>
                      <a:pt x="28053" y="1704"/>
                      <a:pt x="29740" y="7001"/>
                    </a:cubicBezTo>
                    <a:cubicBezTo>
                      <a:pt x="31427" y="12299"/>
                      <a:pt x="28521" y="17968"/>
                      <a:pt x="23217" y="19665"/>
                    </a:cubicBezTo>
                    <a:lnTo>
                      <a:pt x="23197" y="19671"/>
                    </a:lnTo>
                    <a:lnTo>
                      <a:pt x="22791" y="19799"/>
                    </a:lnTo>
                    <a:lnTo>
                      <a:pt x="13524" y="22747"/>
                    </a:lnTo>
                    <a:lnTo>
                      <a:pt x="13118" y="22875"/>
                    </a:lnTo>
                    <a:cubicBezTo>
                      <a:pt x="7814" y="24558"/>
                      <a:pt x="2165" y="21630"/>
                      <a:pt x="479" y="16336"/>
                    </a:cubicBezTo>
                    <a:cubicBezTo>
                      <a:pt x="-1208" y="11043"/>
                      <a:pt x="1698" y="5394"/>
                      <a:pt x="7002" y="371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7" name="Freeform: Shape 108">
                <a:extLst>
                  <a:ext uri="{FF2B5EF4-FFF2-40B4-BE49-F238E27FC236}">
                    <a16:creationId xmlns:a16="http://schemas.microsoft.com/office/drawing/2014/main" id="{BD2B1CA6-AA83-9A80-1015-93196F0195CA}"/>
                  </a:ext>
                </a:extLst>
              </p:cNvPr>
              <p:cNvSpPr/>
              <p:nvPr/>
            </p:nvSpPr>
            <p:spPr>
              <a:xfrm>
                <a:off x="6090500" y="2565429"/>
                <a:ext cx="30694" cy="21832"/>
              </a:xfrm>
              <a:custGeom>
                <a:avLst/>
                <a:gdLst>
                  <a:gd name="connsiteX0" fmla="*/ 11656 w 30694"/>
                  <a:gd name="connsiteY0" fmla="*/ 118 h 21832"/>
                  <a:gd name="connsiteX1" fmla="*/ 22101 w 30694"/>
                  <a:gd name="connsiteY1" fmla="*/ 1718 h 21832"/>
                  <a:gd name="connsiteX2" fmla="*/ 30574 w 30694"/>
                  <a:gd name="connsiteY2" fmla="*/ 13245 h 21832"/>
                  <a:gd name="connsiteX3" fmla="*/ 19053 w 30694"/>
                  <a:gd name="connsiteY3" fmla="*/ 21715 h 21832"/>
                  <a:gd name="connsiteX4" fmla="*/ 18646 w 30694"/>
                  <a:gd name="connsiteY4" fmla="*/ 21656 h 21832"/>
                  <a:gd name="connsiteX5" fmla="*/ 9035 w 30694"/>
                  <a:gd name="connsiteY5" fmla="*/ 20207 h 21832"/>
                  <a:gd name="connsiteX6" fmla="*/ 8608 w 30694"/>
                  <a:gd name="connsiteY6" fmla="*/ 20144 h 21832"/>
                  <a:gd name="connsiteX7" fmla="*/ 115 w 30694"/>
                  <a:gd name="connsiteY7" fmla="*/ 8620 h 21832"/>
                  <a:gd name="connsiteX8" fmla="*/ 11636 w 30694"/>
                  <a:gd name="connsiteY8" fmla="*/ 114 h 21832"/>
                  <a:gd name="connsiteX9" fmla="*/ 11656 w 30694"/>
                  <a:gd name="connsiteY9" fmla="*/ 118 h 2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94" h="21832">
                    <a:moveTo>
                      <a:pt x="11656" y="118"/>
                    </a:moveTo>
                    <a:lnTo>
                      <a:pt x="22101" y="1718"/>
                    </a:lnTo>
                    <a:cubicBezTo>
                      <a:pt x="27628" y="2563"/>
                      <a:pt x="31428" y="7724"/>
                      <a:pt x="30574" y="13245"/>
                    </a:cubicBezTo>
                    <a:cubicBezTo>
                      <a:pt x="29741" y="18768"/>
                      <a:pt x="24580" y="22560"/>
                      <a:pt x="19053" y="21715"/>
                    </a:cubicBezTo>
                    <a:lnTo>
                      <a:pt x="18646" y="21656"/>
                    </a:lnTo>
                    <a:lnTo>
                      <a:pt x="9035" y="20207"/>
                    </a:lnTo>
                    <a:lnTo>
                      <a:pt x="8608" y="20144"/>
                    </a:lnTo>
                    <a:cubicBezTo>
                      <a:pt x="3081" y="19311"/>
                      <a:pt x="-719" y="14151"/>
                      <a:pt x="115" y="8620"/>
                    </a:cubicBezTo>
                    <a:cubicBezTo>
                      <a:pt x="948" y="3089"/>
                      <a:pt x="6089" y="-719"/>
                      <a:pt x="11636" y="114"/>
                    </a:cubicBezTo>
                    <a:lnTo>
                      <a:pt x="11656" y="118"/>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8" name="Freeform: Shape 109">
                <a:extLst>
                  <a:ext uri="{FF2B5EF4-FFF2-40B4-BE49-F238E27FC236}">
                    <a16:creationId xmlns:a16="http://schemas.microsoft.com/office/drawing/2014/main" id="{360DC582-51F8-D45F-541A-09F5C1F8E582}"/>
                  </a:ext>
                </a:extLst>
              </p:cNvPr>
              <p:cNvSpPr/>
              <p:nvPr/>
            </p:nvSpPr>
            <p:spPr>
              <a:xfrm>
                <a:off x="6194318" y="2604580"/>
                <a:ext cx="28627" cy="26080"/>
              </a:xfrm>
              <a:custGeom>
                <a:avLst/>
                <a:gdLst>
                  <a:gd name="connsiteX0" fmla="*/ 15757 w 28627"/>
                  <a:gd name="connsiteY0" fmla="*/ 1835 h 26080"/>
                  <a:gd name="connsiteX1" fmla="*/ 24414 w 28627"/>
                  <a:gd name="connsiteY1" fmla="*/ 7939 h 26080"/>
                  <a:gd name="connsiteX2" fmla="*/ 26791 w 28627"/>
                  <a:gd name="connsiteY2" fmla="*/ 21856 h 26080"/>
                  <a:gd name="connsiteX3" fmla="*/ 12892 w 28627"/>
                  <a:gd name="connsiteY3" fmla="*/ 24250 h 26080"/>
                  <a:gd name="connsiteX4" fmla="*/ 12547 w 28627"/>
                  <a:gd name="connsiteY4" fmla="*/ 24020 h 26080"/>
                  <a:gd name="connsiteX5" fmla="*/ 4602 w 28627"/>
                  <a:gd name="connsiteY5" fmla="*/ 18420 h 26080"/>
                  <a:gd name="connsiteX6" fmla="*/ 4256 w 28627"/>
                  <a:gd name="connsiteY6" fmla="*/ 18178 h 26080"/>
                  <a:gd name="connsiteX7" fmla="*/ 1818 w 28627"/>
                  <a:gd name="connsiteY7" fmla="*/ 4249 h 26080"/>
                  <a:gd name="connsiteX8" fmla="*/ 15757 w 28627"/>
                  <a:gd name="connsiteY8" fmla="*/ 1819 h 26080"/>
                  <a:gd name="connsiteX9" fmla="*/ 15757 w 28627"/>
                  <a:gd name="connsiteY9" fmla="*/ 1835 h 2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27" h="26080">
                    <a:moveTo>
                      <a:pt x="15757" y="1835"/>
                    </a:moveTo>
                    <a:lnTo>
                      <a:pt x="24414" y="7939"/>
                    </a:lnTo>
                    <a:cubicBezTo>
                      <a:pt x="28905" y="11121"/>
                      <a:pt x="29981" y="17351"/>
                      <a:pt x="26791" y="21856"/>
                    </a:cubicBezTo>
                    <a:cubicBezTo>
                      <a:pt x="23621" y="26361"/>
                      <a:pt x="17383" y="27432"/>
                      <a:pt x="12892" y="24250"/>
                    </a:cubicBezTo>
                    <a:lnTo>
                      <a:pt x="12547" y="24020"/>
                    </a:lnTo>
                    <a:lnTo>
                      <a:pt x="4602" y="18420"/>
                    </a:lnTo>
                    <a:lnTo>
                      <a:pt x="4256" y="18178"/>
                    </a:lnTo>
                    <a:cubicBezTo>
                      <a:pt x="-275" y="15002"/>
                      <a:pt x="-1352" y="8766"/>
                      <a:pt x="1818" y="4249"/>
                    </a:cubicBezTo>
                    <a:cubicBezTo>
                      <a:pt x="4988" y="-268"/>
                      <a:pt x="11226" y="-1355"/>
                      <a:pt x="15757" y="1819"/>
                    </a:cubicBezTo>
                    <a:lnTo>
                      <a:pt x="15757" y="183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99" name="Freeform: Shape 110">
                <a:extLst>
                  <a:ext uri="{FF2B5EF4-FFF2-40B4-BE49-F238E27FC236}">
                    <a16:creationId xmlns:a16="http://schemas.microsoft.com/office/drawing/2014/main" id="{D6C994D2-BAC2-BF5E-6EFA-264456136EC4}"/>
                  </a:ext>
                </a:extLst>
              </p:cNvPr>
              <p:cNvSpPr/>
              <p:nvPr/>
            </p:nvSpPr>
            <p:spPr>
              <a:xfrm>
                <a:off x="6276611" y="2680490"/>
                <a:ext cx="26919" cy="26919"/>
              </a:xfrm>
              <a:custGeom>
                <a:avLst/>
                <a:gdLst>
                  <a:gd name="connsiteX0" fmla="*/ 16858 w 26919"/>
                  <a:gd name="connsiteY0" fmla="*/ 2897 h 26919"/>
                  <a:gd name="connsiteX1" fmla="*/ 24031 w 26919"/>
                  <a:gd name="connsiteY1" fmla="*/ 10090 h 26919"/>
                  <a:gd name="connsiteX2" fmla="*/ 24031 w 26919"/>
                  <a:gd name="connsiteY2" fmla="*/ 24032 h 26919"/>
                  <a:gd name="connsiteX3" fmla="*/ 10092 w 26919"/>
                  <a:gd name="connsiteY3" fmla="*/ 24032 h 26919"/>
                  <a:gd name="connsiteX4" fmla="*/ 2898 w 26919"/>
                  <a:gd name="connsiteY4" fmla="*/ 16857 h 26919"/>
                  <a:gd name="connsiteX5" fmla="*/ 2878 w 26919"/>
                  <a:gd name="connsiteY5" fmla="*/ 2899 h 26919"/>
                  <a:gd name="connsiteX6" fmla="*/ 16838 w 26919"/>
                  <a:gd name="connsiteY6" fmla="*/ 2883 h 26919"/>
                  <a:gd name="connsiteX7" fmla="*/ 16858 w 26919"/>
                  <a:gd name="connsiteY7" fmla="*/ 2897 h 26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9" h="26919">
                    <a:moveTo>
                      <a:pt x="16858" y="2897"/>
                    </a:moveTo>
                    <a:lnTo>
                      <a:pt x="24031" y="10090"/>
                    </a:lnTo>
                    <a:cubicBezTo>
                      <a:pt x="27892" y="13945"/>
                      <a:pt x="27872" y="20187"/>
                      <a:pt x="24031" y="24032"/>
                    </a:cubicBezTo>
                    <a:cubicBezTo>
                      <a:pt x="20170" y="27876"/>
                      <a:pt x="13932" y="27887"/>
                      <a:pt x="10092" y="24032"/>
                    </a:cubicBezTo>
                    <a:lnTo>
                      <a:pt x="2898" y="16857"/>
                    </a:lnTo>
                    <a:cubicBezTo>
                      <a:pt x="-963" y="13006"/>
                      <a:pt x="-963" y="6758"/>
                      <a:pt x="2878" y="2899"/>
                    </a:cubicBezTo>
                    <a:cubicBezTo>
                      <a:pt x="6739" y="-960"/>
                      <a:pt x="12977" y="-968"/>
                      <a:pt x="16838" y="2883"/>
                    </a:cubicBezTo>
                    <a:lnTo>
                      <a:pt x="16858" y="2897"/>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0" name="Freeform: Shape 111">
                <a:extLst>
                  <a:ext uri="{FF2B5EF4-FFF2-40B4-BE49-F238E27FC236}">
                    <a16:creationId xmlns:a16="http://schemas.microsoft.com/office/drawing/2014/main" id="{6F9904B1-E826-D1F4-D22E-244AFB24983C}"/>
                  </a:ext>
                </a:extLst>
              </p:cNvPr>
              <p:cNvSpPr/>
              <p:nvPr/>
            </p:nvSpPr>
            <p:spPr>
              <a:xfrm>
                <a:off x="6355768" y="2759646"/>
                <a:ext cx="26657" cy="26660"/>
              </a:xfrm>
              <a:custGeom>
                <a:avLst/>
                <a:gdLst>
                  <a:gd name="connsiteX0" fmla="*/ 16645 w 26657"/>
                  <a:gd name="connsiteY0" fmla="*/ 2859 h 26660"/>
                  <a:gd name="connsiteX1" fmla="*/ 23818 w 26657"/>
                  <a:gd name="connsiteY1" fmla="*/ 10052 h 26660"/>
                  <a:gd name="connsiteX2" fmla="*/ 23797 w 26657"/>
                  <a:gd name="connsiteY2" fmla="*/ 23811 h 26660"/>
                  <a:gd name="connsiteX3" fmla="*/ 10061 w 26657"/>
                  <a:gd name="connsiteY3" fmla="*/ 23811 h 26660"/>
                  <a:gd name="connsiteX4" fmla="*/ 2867 w 26657"/>
                  <a:gd name="connsiteY4" fmla="*/ 16636 h 26660"/>
                  <a:gd name="connsiteX5" fmla="*/ 2847 w 26657"/>
                  <a:gd name="connsiteY5" fmla="*/ 2861 h 26660"/>
                  <a:gd name="connsiteX6" fmla="*/ 16624 w 26657"/>
                  <a:gd name="connsiteY6" fmla="*/ 2845 h 26660"/>
                  <a:gd name="connsiteX7" fmla="*/ 16645 w 26657"/>
                  <a:gd name="connsiteY7" fmla="*/ 2859 h 2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57" h="26660">
                    <a:moveTo>
                      <a:pt x="16645" y="2859"/>
                    </a:moveTo>
                    <a:lnTo>
                      <a:pt x="23818" y="10052"/>
                    </a:lnTo>
                    <a:cubicBezTo>
                      <a:pt x="27617" y="13856"/>
                      <a:pt x="27597" y="20015"/>
                      <a:pt x="23797" y="23811"/>
                    </a:cubicBezTo>
                    <a:cubicBezTo>
                      <a:pt x="19997" y="27605"/>
                      <a:pt x="13860" y="27615"/>
                      <a:pt x="10061" y="23811"/>
                    </a:cubicBezTo>
                    <a:lnTo>
                      <a:pt x="2867" y="16636"/>
                    </a:lnTo>
                    <a:cubicBezTo>
                      <a:pt x="-952" y="12836"/>
                      <a:pt x="-952" y="6669"/>
                      <a:pt x="2847" y="2861"/>
                    </a:cubicBezTo>
                    <a:cubicBezTo>
                      <a:pt x="6647" y="-947"/>
                      <a:pt x="12824" y="-955"/>
                      <a:pt x="16624" y="2845"/>
                    </a:cubicBezTo>
                    <a:lnTo>
                      <a:pt x="16645" y="2859"/>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1" name="Freeform: Shape 112">
                <a:extLst>
                  <a:ext uri="{FF2B5EF4-FFF2-40B4-BE49-F238E27FC236}">
                    <a16:creationId xmlns:a16="http://schemas.microsoft.com/office/drawing/2014/main" id="{1C53E1BE-1CC5-8DDF-E8DF-3467F90F6814}"/>
                  </a:ext>
                </a:extLst>
              </p:cNvPr>
              <p:cNvSpPr/>
              <p:nvPr/>
            </p:nvSpPr>
            <p:spPr>
              <a:xfrm>
                <a:off x="6435133" y="2839013"/>
                <a:ext cx="25926" cy="25915"/>
              </a:xfrm>
              <a:custGeom>
                <a:avLst/>
                <a:gdLst>
                  <a:gd name="connsiteX0" fmla="*/ 16040 w 25926"/>
                  <a:gd name="connsiteY0" fmla="*/ 2770 h 25915"/>
                  <a:gd name="connsiteX1" fmla="*/ 23213 w 25926"/>
                  <a:gd name="connsiteY1" fmla="*/ 9979 h 25915"/>
                  <a:gd name="connsiteX2" fmla="*/ 23152 w 25926"/>
                  <a:gd name="connsiteY2" fmla="*/ 23202 h 25915"/>
                  <a:gd name="connsiteX3" fmla="*/ 9985 w 25926"/>
                  <a:gd name="connsiteY3" fmla="*/ 23202 h 25915"/>
                  <a:gd name="connsiteX4" fmla="*/ 2771 w 25926"/>
                  <a:gd name="connsiteY4" fmla="*/ 16043 h 25915"/>
                  <a:gd name="connsiteX5" fmla="*/ 2731 w 25926"/>
                  <a:gd name="connsiteY5" fmla="*/ 2772 h 25915"/>
                  <a:gd name="connsiteX6" fmla="*/ 16000 w 25926"/>
                  <a:gd name="connsiteY6" fmla="*/ 2725 h 25915"/>
                  <a:gd name="connsiteX7" fmla="*/ 16040 w 25926"/>
                  <a:gd name="connsiteY7" fmla="*/ 2770 h 25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26" h="25915">
                    <a:moveTo>
                      <a:pt x="16040" y="2770"/>
                    </a:moveTo>
                    <a:lnTo>
                      <a:pt x="23213" y="9979"/>
                    </a:lnTo>
                    <a:cubicBezTo>
                      <a:pt x="26851" y="13643"/>
                      <a:pt x="26830" y="19562"/>
                      <a:pt x="23152" y="23202"/>
                    </a:cubicBezTo>
                    <a:cubicBezTo>
                      <a:pt x="19515" y="26825"/>
                      <a:pt x="13622" y="26817"/>
                      <a:pt x="9985" y="23202"/>
                    </a:cubicBezTo>
                    <a:lnTo>
                      <a:pt x="2771" y="16043"/>
                    </a:lnTo>
                    <a:cubicBezTo>
                      <a:pt x="-907" y="12391"/>
                      <a:pt x="-927" y="6450"/>
                      <a:pt x="2731" y="2772"/>
                    </a:cubicBezTo>
                    <a:cubicBezTo>
                      <a:pt x="6388" y="-906"/>
                      <a:pt x="12322" y="-926"/>
                      <a:pt x="16000" y="2725"/>
                    </a:cubicBezTo>
                    <a:lnTo>
                      <a:pt x="16040" y="2770"/>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2" name="Freeform: Shape 113">
                <a:extLst>
                  <a:ext uri="{FF2B5EF4-FFF2-40B4-BE49-F238E27FC236}">
                    <a16:creationId xmlns:a16="http://schemas.microsoft.com/office/drawing/2014/main" id="{E47D80A2-F97A-3FEC-3DD4-17F5447E9EDA}"/>
                  </a:ext>
                </a:extLst>
              </p:cNvPr>
              <p:cNvSpPr/>
              <p:nvPr/>
            </p:nvSpPr>
            <p:spPr>
              <a:xfrm>
                <a:off x="6514556" y="2918431"/>
                <a:ext cx="25138" cy="25134"/>
              </a:xfrm>
              <a:custGeom>
                <a:avLst/>
                <a:gdLst>
                  <a:gd name="connsiteX0" fmla="*/ 15377 w 25138"/>
                  <a:gd name="connsiteY0" fmla="*/ 2655 h 25134"/>
                  <a:gd name="connsiteX1" fmla="*/ 22530 w 25138"/>
                  <a:gd name="connsiteY1" fmla="*/ 9864 h 25134"/>
                  <a:gd name="connsiteX2" fmla="*/ 22489 w 25138"/>
                  <a:gd name="connsiteY2" fmla="*/ 22534 h 25134"/>
                  <a:gd name="connsiteX3" fmla="*/ 9871 w 25138"/>
                  <a:gd name="connsiteY3" fmla="*/ 22534 h 25134"/>
                  <a:gd name="connsiteX4" fmla="*/ 2657 w 25138"/>
                  <a:gd name="connsiteY4" fmla="*/ 15375 h 25134"/>
                  <a:gd name="connsiteX5" fmla="*/ 2616 w 25138"/>
                  <a:gd name="connsiteY5" fmla="*/ 2657 h 25134"/>
                  <a:gd name="connsiteX6" fmla="*/ 15337 w 25138"/>
                  <a:gd name="connsiteY6" fmla="*/ 2612 h 25134"/>
                  <a:gd name="connsiteX7" fmla="*/ 15377 w 25138"/>
                  <a:gd name="connsiteY7" fmla="*/ 2655 h 2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38" h="25134">
                    <a:moveTo>
                      <a:pt x="15377" y="2655"/>
                    </a:moveTo>
                    <a:lnTo>
                      <a:pt x="22530" y="9864"/>
                    </a:lnTo>
                    <a:cubicBezTo>
                      <a:pt x="26025" y="13375"/>
                      <a:pt x="26005" y="19047"/>
                      <a:pt x="22489" y="22534"/>
                    </a:cubicBezTo>
                    <a:cubicBezTo>
                      <a:pt x="18994" y="26004"/>
                      <a:pt x="13345" y="25998"/>
                      <a:pt x="9871" y="22534"/>
                    </a:cubicBezTo>
                    <a:lnTo>
                      <a:pt x="2657" y="15375"/>
                    </a:lnTo>
                    <a:cubicBezTo>
                      <a:pt x="-879" y="11876"/>
                      <a:pt x="-879" y="6180"/>
                      <a:pt x="2616" y="2657"/>
                    </a:cubicBezTo>
                    <a:cubicBezTo>
                      <a:pt x="6111" y="-869"/>
                      <a:pt x="11801" y="-887"/>
                      <a:pt x="15337" y="2612"/>
                    </a:cubicBezTo>
                    <a:lnTo>
                      <a:pt x="15377" y="265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3" name="Freeform: Shape 114">
                <a:extLst>
                  <a:ext uri="{FF2B5EF4-FFF2-40B4-BE49-F238E27FC236}">
                    <a16:creationId xmlns:a16="http://schemas.microsoft.com/office/drawing/2014/main" id="{A1B8A53B-1366-CA59-52D1-A2824B8EB095}"/>
                  </a:ext>
                </a:extLst>
              </p:cNvPr>
              <p:cNvSpPr/>
              <p:nvPr/>
            </p:nvSpPr>
            <p:spPr>
              <a:xfrm>
                <a:off x="6593976" y="2997846"/>
                <a:ext cx="24353" cy="24352"/>
              </a:xfrm>
              <a:custGeom>
                <a:avLst/>
                <a:gdLst>
                  <a:gd name="connsiteX0" fmla="*/ 14697 w 24353"/>
                  <a:gd name="connsiteY0" fmla="*/ 2543 h 24352"/>
                  <a:gd name="connsiteX1" fmla="*/ 21870 w 24353"/>
                  <a:gd name="connsiteY1" fmla="*/ 9755 h 24352"/>
                  <a:gd name="connsiteX2" fmla="*/ 21809 w 24353"/>
                  <a:gd name="connsiteY2" fmla="*/ 21868 h 24352"/>
                  <a:gd name="connsiteX3" fmla="*/ 9759 w 24353"/>
                  <a:gd name="connsiteY3" fmla="*/ 21868 h 24352"/>
                  <a:gd name="connsiteX4" fmla="*/ 2545 w 24353"/>
                  <a:gd name="connsiteY4" fmla="*/ 14711 h 24352"/>
                  <a:gd name="connsiteX5" fmla="*/ 2484 w 24353"/>
                  <a:gd name="connsiteY5" fmla="*/ 2543 h 24352"/>
                  <a:gd name="connsiteX6" fmla="*/ 14656 w 24353"/>
                  <a:gd name="connsiteY6" fmla="*/ 2497 h 24352"/>
                  <a:gd name="connsiteX7" fmla="*/ 14697 w 24353"/>
                  <a:gd name="connsiteY7" fmla="*/ 2543 h 2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53" h="24352">
                    <a:moveTo>
                      <a:pt x="14697" y="2543"/>
                    </a:moveTo>
                    <a:lnTo>
                      <a:pt x="21870" y="9755"/>
                    </a:lnTo>
                    <a:cubicBezTo>
                      <a:pt x="25202" y="13112"/>
                      <a:pt x="25182" y="18535"/>
                      <a:pt x="21809" y="21868"/>
                    </a:cubicBezTo>
                    <a:cubicBezTo>
                      <a:pt x="18476" y="25184"/>
                      <a:pt x="13091" y="25178"/>
                      <a:pt x="9759" y="21868"/>
                    </a:cubicBezTo>
                    <a:lnTo>
                      <a:pt x="2545" y="14711"/>
                    </a:lnTo>
                    <a:cubicBezTo>
                      <a:pt x="-828" y="11364"/>
                      <a:pt x="-848" y="5916"/>
                      <a:pt x="2484" y="2543"/>
                    </a:cubicBezTo>
                    <a:cubicBezTo>
                      <a:pt x="5837" y="-830"/>
                      <a:pt x="11283" y="-850"/>
                      <a:pt x="14656" y="2497"/>
                    </a:cubicBezTo>
                    <a:lnTo>
                      <a:pt x="14697" y="2543"/>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4" name="Freeform: Shape 115">
                <a:extLst>
                  <a:ext uri="{FF2B5EF4-FFF2-40B4-BE49-F238E27FC236}">
                    <a16:creationId xmlns:a16="http://schemas.microsoft.com/office/drawing/2014/main" id="{4F09A65B-6552-29AF-27FA-545C00489311}"/>
                  </a:ext>
                </a:extLst>
              </p:cNvPr>
              <p:cNvSpPr/>
              <p:nvPr/>
            </p:nvSpPr>
            <p:spPr>
              <a:xfrm>
                <a:off x="6673613" y="3077488"/>
                <a:ext cx="23083" cy="23078"/>
              </a:xfrm>
              <a:custGeom>
                <a:avLst/>
                <a:gdLst>
                  <a:gd name="connsiteX0" fmla="*/ 13658 w 23083"/>
                  <a:gd name="connsiteY0" fmla="*/ 2369 h 23078"/>
                  <a:gd name="connsiteX1" fmla="*/ 20790 w 23083"/>
                  <a:gd name="connsiteY1" fmla="*/ 9595 h 23078"/>
                  <a:gd name="connsiteX2" fmla="*/ 20729 w 23083"/>
                  <a:gd name="connsiteY2" fmla="*/ 20793 h 23078"/>
                  <a:gd name="connsiteX3" fmla="*/ 9594 w 23083"/>
                  <a:gd name="connsiteY3" fmla="*/ 20793 h 23078"/>
                  <a:gd name="connsiteX4" fmla="*/ 2380 w 23083"/>
                  <a:gd name="connsiteY4" fmla="*/ 13651 h 23078"/>
                  <a:gd name="connsiteX5" fmla="*/ 2299 w 23083"/>
                  <a:gd name="connsiteY5" fmla="*/ 2369 h 23078"/>
                  <a:gd name="connsiteX6" fmla="*/ 13597 w 23083"/>
                  <a:gd name="connsiteY6" fmla="*/ 2304 h 23078"/>
                  <a:gd name="connsiteX7" fmla="*/ 13658 w 23083"/>
                  <a:gd name="connsiteY7" fmla="*/ 2369 h 23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83" h="23078">
                    <a:moveTo>
                      <a:pt x="13658" y="2369"/>
                    </a:moveTo>
                    <a:lnTo>
                      <a:pt x="20790" y="9595"/>
                    </a:lnTo>
                    <a:cubicBezTo>
                      <a:pt x="23879" y="12706"/>
                      <a:pt x="23838" y="17719"/>
                      <a:pt x="20729" y="20793"/>
                    </a:cubicBezTo>
                    <a:cubicBezTo>
                      <a:pt x="17640" y="23845"/>
                      <a:pt x="12682" y="23835"/>
                      <a:pt x="9594" y="20793"/>
                    </a:cubicBezTo>
                    <a:lnTo>
                      <a:pt x="2380" y="13651"/>
                    </a:lnTo>
                    <a:cubicBezTo>
                      <a:pt x="-770" y="10554"/>
                      <a:pt x="-790" y="5502"/>
                      <a:pt x="2299" y="2369"/>
                    </a:cubicBezTo>
                    <a:cubicBezTo>
                      <a:pt x="5408" y="-764"/>
                      <a:pt x="10447" y="-793"/>
                      <a:pt x="13597" y="2304"/>
                    </a:cubicBezTo>
                    <a:cubicBezTo>
                      <a:pt x="13597" y="2316"/>
                      <a:pt x="13637" y="2359"/>
                      <a:pt x="13658" y="236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5" name="Freeform: Shape 116">
                <a:extLst>
                  <a:ext uri="{FF2B5EF4-FFF2-40B4-BE49-F238E27FC236}">
                    <a16:creationId xmlns:a16="http://schemas.microsoft.com/office/drawing/2014/main" id="{E47570AB-DEE2-4EDE-6682-69B5646DACB2}"/>
                  </a:ext>
                </a:extLst>
              </p:cNvPr>
              <p:cNvSpPr/>
              <p:nvPr/>
            </p:nvSpPr>
            <p:spPr>
              <a:xfrm>
                <a:off x="6753286" y="3157163"/>
                <a:ext cx="21790" cy="21785"/>
              </a:xfrm>
              <a:custGeom>
                <a:avLst/>
                <a:gdLst>
                  <a:gd name="connsiteX0" fmla="*/ 12542 w 21790"/>
                  <a:gd name="connsiteY0" fmla="*/ 2177 h 21785"/>
                  <a:gd name="connsiteX1" fmla="*/ 19695 w 21790"/>
                  <a:gd name="connsiteY1" fmla="*/ 9403 h 21785"/>
                  <a:gd name="connsiteX2" fmla="*/ 19634 w 21790"/>
                  <a:gd name="connsiteY2" fmla="*/ 19687 h 21785"/>
                  <a:gd name="connsiteX3" fmla="*/ 9413 w 21790"/>
                  <a:gd name="connsiteY3" fmla="*/ 19687 h 21785"/>
                  <a:gd name="connsiteX4" fmla="*/ 2179 w 21790"/>
                  <a:gd name="connsiteY4" fmla="*/ 12544 h 21785"/>
                  <a:gd name="connsiteX5" fmla="*/ 2118 w 21790"/>
                  <a:gd name="connsiteY5" fmla="*/ 2177 h 21785"/>
                  <a:gd name="connsiteX6" fmla="*/ 12482 w 21790"/>
                  <a:gd name="connsiteY6" fmla="*/ 2116 h 21785"/>
                  <a:gd name="connsiteX7" fmla="*/ 12542 w 21790"/>
                  <a:gd name="connsiteY7" fmla="*/ 2177 h 2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0" h="21785">
                    <a:moveTo>
                      <a:pt x="12542" y="2177"/>
                    </a:moveTo>
                    <a:lnTo>
                      <a:pt x="19695" y="9403"/>
                    </a:lnTo>
                    <a:cubicBezTo>
                      <a:pt x="22520" y="12260"/>
                      <a:pt x="22479" y="16864"/>
                      <a:pt x="19634" y="19687"/>
                    </a:cubicBezTo>
                    <a:cubicBezTo>
                      <a:pt x="16810" y="22489"/>
                      <a:pt x="12238" y="22481"/>
                      <a:pt x="9413" y="19687"/>
                    </a:cubicBezTo>
                    <a:lnTo>
                      <a:pt x="2179" y="12544"/>
                    </a:lnTo>
                    <a:cubicBezTo>
                      <a:pt x="-706" y="9698"/>
                      <a:pt x="-726" y="5057"/>
                      <a:pt x="2118" y="2177"/>
                    </a:cubicBezTo>
                    <a:cubicBezTo>
                      <a:pt x="4963" y="-702"/>
                      <a:pt x="9616" y="-729"/>
                      <a:pt x="12482" y="2116"/>
                    </a:cubicBezTo>
                    <a:cubicBezTo>
                      <a:pt x="12502" y="2128"/>
                      <a:pt x="12542" y="2167"/>
                      <a:pt x="12542" y="2177"/>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6" name="Freeform: Shape 117">
                <a:extLst>
                  <a:ext uri="{FF2B5EF4-FFF2-40B4-BE49-F238E27FC236}">
                    <a16:creationId xmlns:a16="http://schemas.microsoft.com/office/drawing/2014/main" id="{733937F0-6C4D-8C6A-F980-14702E8999B3}"/>
                  </a:ext>
                </a:extLst>
              </p:cNvPr>
              <p:cNvSpPr/>
              <p:nvPr/>
            </p:nvSpPr>
            <p:spPr>
              <a:xfrm>
                <a:off x="6833059" y="3236929"/>
                <a:ext cx="20264" cy="20267"/>
              </a:xfrm>
              <a:custGeom>
                <a:avLst/>
                <a:gdLst>
                  <a:gd name="connsiteX0" fmla="*/ 11265 w 20264"/>
                  <a:gd name="connsiteY0" fmla="*/ 1966 h 20267"/>
                  <a:gd name="connsiteX1" fmla="*/ 18398 w 20264"/>
                  <a:gd name="connsiteY1" fmla="*/ 9208 h 20267"/>
                  <a:gd name="connsiteX2" fmla="*/ 18337 w 20264"/>
                  <a:gd name="connsiteY2" fmla="*/ 18403 h 20267"/>
                  <a:gd name="connsiteX3" fmla="*/ 9213 w 20264"/>
                  <a:gd name="connsiteY3" fmla="*/ 18403 h 20267"/>
                  <a:gd name="connsiteX4" fmla="*/ 1959 w 20264"/>
                  <a:gd name="connsiteY4" fmla="*/ 11276 h 20267"/>
                  <a:gd name="connsiteX5" fmla="*/ 1898 w 20264"/>
                  <a:gd name="connsiteY5" fmla="*/ 1966 h 20267"/>
                  <a:gd name="connsiteX6" fmla="*/ 11204 w 20264"/>
                  <a:gd name="connsiteY6" fmla="*/ 1890 h 20267"/>
                  <a:gd name="connsiteX7" fmla="*/ 11265 w 20264"/>
                  <a:gd name="connsiteY7" fmla="*/ 1966 h 20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264" h="20267">
                    <a:moveTo>
                      <a:pt x="11265" y="1966"/>
                    </a:moveTo>
                    <a:lnTo>
                      <a:pt x="18398" y="9208"/>
                    </a:lnTo>
                    <a:cubicBezTo>
                      <a:pt x="20917" y="11768"/>
                      <a:pt x="20877" y="15883"/>
                      <a:pt x="18337" y="18403"/>
                    </a:cubicBezTo>
                    <a:cubicBezTo>
                      <a:pt x="15797" y="20896"/>
                      <a:pt x="11733" y="20884"/>
                      <a:pt x="9213" y="18403"/>
                    </a:cubicBezTo>
                    <a:lnTo>
                      <a:pt x="1959" y="11276"/>
                    </a:lnTo>
                    <a:cubicBezTo>
                      <a:pt x="-622" y="8726"/>
                      <a:pt x="-663" y="4559"/>
                      <a:pt x="1898" y="1966"/>
                    </a:cubicBezTo>
                    <a:cubicBezTo>
                      <a:pt x="4438" y="-625"/>
                      <a:pt x="8603" y="-660"/>
                      <a:pt x="11204" y="1890"/>
                    </a:cubicBezTo>
                    <a:cubicBezTo>
                      <a:pt x="11225" y="1909"/>
                      <a:pt x="11265" y="1949"/>
                      <a:pt x="11265" y="196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7" name="Freeform: Shape 118">
                <a:extLst>
                  <a:ext uri="{FF2B5EF4-FFF2-40B4-BE49-F238E27FC236}">
                    <a16:creationId xmlns:a16="http://schemas.microsoft.com/office/drawing/2014/main" id="{45351ABF-A198-7B76-79FF-F7BE560E12A1}"/>
                  </a:ext>
                </a:extLst>
              </p:cNvPr>
              <p:cNvSpPr/>
              <p:nvPr/>
            </p:nvSpPr>
            <p:spPr>
              <a:xfrm>
                <a:off x="6912983" y="3316858"/>
                <a:ext cx="18476" cy="18472"/>
              </a:xfrm>
              <a:custGeom>
                <a:avLst/>
                <a:gdLst>
                  <a:gd name="connsiteX0" fmla="*/ 9736 w 18476"/>
                  <a:gd name="connsiteY0" fmla="*/ 1698 h 18472"/>
                  <a:gd name="connsiteX1" fmla="*/ 16869 w 18476"/>
                  <a:gd name="connsiteY1" fmla="*/ 8940 h 18472"/>
                  <a:gd name="connsiteX2" fmla="*/ 16808 w 18476"/>
                  <a:gd name="connsiteY2" fmla="*/ 16865 h 18472"/>
                  <a:gd name="connsiteX3" fmla="*/ 8943 w 18476"/>
                  <a:gd name="connsiteY3" fmla="*/ 16865 h 18472"/>
                  <a:gd name="connsiteX4" fmla="*/ 1709 w 18476"/>
                  <a:gd name="connsiteY4" fmla="*/ 9738 h 18472"/>
                  <a:gd name="connsiteX5" fmla="*/ 1629 w 18476"/>
                  <a:gd name="connsiteY5" fmla="*/ 1698 h 18472"/>
                  <a:gd name="connsiteX6" fmla="*/ 9675 w 18476"/>
                  <a:gd name="connsiteY6" fmla="*/ 1633 h 18472"/>
                  <a:gd name="connsiteX7" fmla="*/ 9736 w 18476"/>
                  <a:gd name="connsiteY7" fmla="*/ 1698 h 1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76" h="18472">
                    <a:moveTo>
                      <a:pt x="9736" y="1698"/>
                    </a:moveTo>
                    <a:lnTo>
                      <a:pt x="16869" y="8940"/>
                    </a:lnTo>
                    <a:cubicBezTo>
                      <a:pt x="19042" y="11146"/>
                      <a:pt x="19002" y="14694"/>
                      <a:pt x="16808" y="16865"/>
                    </a:cubicBezTo>
                    <a:cubicBezTo>
                      <a:pt x="14613" y="19012"/>
                      <a:pt x="11118" y="19004"/>
                      <a:pt x="8943" y="16865"/>
                    </a:cubicBezTo>
                    <a:lnTo>
                      <a:pt x="1709" y="9738"/>
                    </a:lnTo>
                    <a:cubicBezTo>
                      <a:pt x="-546" y="7536"/>
                      <a:pt x="-566" y="3935"/>
                      <a:pt x="1629" y="1698"/>
                    </a:cubicBezTo>
                    <a:cubicBezTo>
                      <a:pt x="3843" y="-540"/>
                      <a:pt x="7440" y="-570"/>
                      <a:pt x="9675" y="1633"/>
                    </a:cubicBezTo>
                    <a:cubicBezTo>
                      <a:pt x="9696" y="1649"/>
                      <a:pt x="9736" y="1683"/>
                      <a:pt x="9736" y="1698"/>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8" name="Freeform: Shape 119">
                <a:extLst>
                  <a:ext uri="{FF2B5EF4-FFF2-40B4-BE49-F238E27FC236}">
                    <a16:creationId xmlns:a16="http://schemas.microsoft.com/office/drawing/2014/main" id="{9468642C-C0EF-7CD2-31AE-B4EC24FFE215}"/>
                  </a:ext>
                </a:extLst>
              </p:cNvPr>
              <p:cNvSpPr/>
              <p:nvPr/>
            </p:nvSpPr>
            <p:spPr>
              <a:xfrm>
                <a:off x="6992967" y="3396838"/>
                <a:ext cx="16504" cy="16641"/>
              </a:xfrm>
              <a:custGeom>
                <a:avLst/>
                <a:gdLst>
                  <a:gd name="connsiteX0" fmla="*/ 8086 w 16504"/>
                  <a:gd name="connsiteY0" fmla="*/ 1435 h 16641"/>
                  <a:gd name="connsiteX1" fmla="*/ 15218 w 16504"/>
                  <a:gd name="connsiteY1" fmla="*/ 8856 h 16641"/>
                  <a:gd name="connsiteX2" fmla="*/ 15076 w 16504"/>
                  <a:gd name="connsiteY2" fmla="*/ 15364 h 16641"/>
                  <a:gd name="connsiteX3" fmla="*/ 8655 w 16504"/>
                  <a:gd name="connsiteY3" fmla="*/ 15293 h 16641"/>
                  <a:gd name="connsiteX4" fmla="*/ 8533 w 16504"/>
                  <a:gd name="connsiteY4" fmla="*/ 15181 h 16641"/>
                  <a:gd name="connsiteX5" fmla="*/ 1441 w 16504"/>
                  <a:gd name="connsiteY5" fmla="*/ 8094 h 16641"/>
                  <a:gd name="connsiteX6" fmla="*/ 1319 w 16504"/>
                  <a:gd name="connsiteY6" fmla="*/ 1435 h 16641"/>
                  <a:gd name="connsiteX7" fmla="*/ 7984 w 16504"/>
                  <a:gd name="connsiteY7" fmla="*/ 1325 h 16641"/>
                  <a:gd name="connsiteX8" fmla="*/ 8045 w 16504"/>
                  <a:gd name="connsiteY8" fmla="*/ 1376 h 16641"/>
                  <a:gd name="connsiteX9" fmla="*/ 8086 w 16504"/>
                  <a:gd name="connsiteY9" fmla="*/ 1435 h 16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04" h="16641">
                    <a:moveTo>
                      <a:pt x="8086" y="1435"/>
                    </a:moveTo>
                    <a:cubicBezTo>
                      <a:pt x="10463" y="3818"/>
                      <a:pt x="12841" y="6370"/>
                      <a:pt x="15218" y="8856"/>
                    </a:cubicBezTo>
                    <a:cubicBezTo>
                      <a:pt x="16986" y="10693"/>
                      <a:pt x="16925" y="13606"/>
                      <a:pt x="15076" y="15364"/>
                    </a:cubicBezTo>
                    <a:cubicBezTo>
                      <a:pt x="13267" y="17097"/>
                      <a:pt x="10402" y="17059"/>
                      <a:pt x="8655" y="15293"/>
                    </a:cubicBezTo>
                    <a:lnTo>
                      <a:pt x="8533" y="15181"/>
                    </a:lnTo>
                    <a:cubicBezTo>
                      <a:pt x="6176" y="12820"/>
                      <a:pt x="3900" y="10469"/>
                      <a:pt x="1441" y="8094"/>
                    </a:cubicBezTo>
                    <a:cubicBezTo>
                      <a:pt x="-428" y="6285"/>
                      <a:pt x="-489" y="3304"/>
                      <a:pt x="1319" y="1435"/>
                    </a:cubicBezTo>
                    <a:cubicBezTo>
                      <a:pt x="3128" y="-435"/>
                      <a:pt x="6115" y="-483"/>
                      <a:pt x="7984" y="1325"/>
                    </a:cubicBezTo>
                    <a:cubicBezTo>
                      <a:pt x="8005" y="1341"/>
                      <a:pt x="8025" y="1360"/>
                      <a:pt x="8045" y="1376"/>
                    </a:cubicBezTo>
                    <a:lnTo>
                      <a:pt x="8086" y="143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09" name="Freeform: Shape 120">
                <a:extLst>
                  <a:ext uri="{FF2B5EF4-FFF2-40B4-BE49-F238E27FC236}">
                    <a16:creationId xmlns:a16="http://schemas.microsoft.com/office/drawing/2014/main" id="{A110175B-BDEF-9EA7-80B7-5EF4959D08C7}"/>
                  </a:ext>
                </a:extLst>
              </p:cNvPr>
              <p:cNvSpPr/>
              <p:nvPr/>
            </p:nvSpPr>
            <p:spPr>
              <a:xfrm>
                <a:off x="7053748" y="3491308"/>
                <a:ext cx="10230" cy="16825"/>
              </a:xfrm>
              <a:custGeom>
                <a:avLst/>
                <a:gdLst>
                  <a:gd name="connsiteX0" fmla="*/ 6964 w 10230"/>
                  <a:gd name="connsiteY0" fmla="*/ 2493 h 16825"/>
                  <a:gd name="connsiteX1" fmla="*/ 10073 w 10230"/>
                  <a:gd name="connsiteY1" fmla="*/ 12324 h 16825"/>
                  <a:gd name="connsiteX2" fmla="*/ 7817 w 10230"/>
                  <a:gd name="connsiteY2" fmla="*/ 16664 h 16825"/>
                  <a:gd name="connsiteX3" fmla="*/ 3489 w 10230"/>
                  <a:gd name="connsiteY3" fmla="*/ 14476 h 16825"/>
                  <a:gd name="connsiteX4" fmla="*/ 3448 w 10230"/>
                  <a:gd name="connsiteY4" fmla="*/ 14333 h 16825"/>
                  <a:gd name="connsiteX5" fmla="*/ 238 w 10230"/>
                  <a:gd name="connsiteY5" fmla="*/ 4848 h 16825"/>
                  <a:gd name="connsiteX6" fmla="*/ 197 w 10230"/>
                  <a:gd name="connsiteY6" fmla="*/ 4708 h 16825"/>
                  <a:gd name="connsiteX7" fmla="*/ 2412 w 10230"/>
                  <a:gd name="connsiteY7" fmla="*/ 189 h 16825"/>
                  <a:gd name="connsiteX8" fmla="*/ 6943 w 10230"/>
                  <a:gd name="connsiteY8" fmla="*/ 2426 h 16825"/>
                  <a:gd name="connsiteX9" fmla="*/ 6964 w 10230"/>
                  <a:gd name="connsiteY9" fmla="*/ 2493 h 1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30" h="16825">
                    <a:moveTo>
                      <a:pt x="6964" y="2493"/>
                    </a:moveTo>
                    <a:lnTo>
                      <a:pt x="10073" y="12324"/>
                    </a:lnTo>
                    <a:cubicBezTo>
                      <a:pt x="10642" y="14146"/>
                      <a:pt x="9626" y="16089"/>
                      <a:pt x="7817" y="16664"/>
                    </a:cubicBezTo>
                    <a:cubicBezTo>
                      <a:pt x="6009" y="17231"/>
                      <a:pt x="4099" y="16254"/>
                      <a:pt x="3489" y="14476"/>
                    </a:cubicBezTo>
                    <a:lnTo>
                      <a:pt x="3448" y="14333"/>
                    </a:lnTo>
                    <a:lnTo>
                      <a:pt x="238" y="4848"/>
                    </a:lnTo>
                    <a:lnTo>
                      <a:pt x="197" y="4708"/>
                    </a:lnTo>
                    <a:cubicBezTo>
                      <a:pt x="-453" y="2842"/>
                      <a:pt x="563" y="818"/>
                      <a:pt x="2412" y="189"/>
                    </a:cubicBezTo>
                    <a:cubicBezTo>
                      <a:pt x="4281" y="-441"/>
                      <a:pt x="6313" y="558"/>
                      <a:pt x="6943" y="2426"/>
                    </a:cubicBezTo>
                    <a:cubicBezTo>
                      <a:pt x="6943" y="2440"/>
                      <a:pt x="6964" y="2475"/>
                      <a:pt x="6964" y="2493"/>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0" name="Freeform: Shape 121">
                <a:extLst>
                  <a:ext uri="{FF2B5EF4-FFF2-40B4-BE49-F238E27FC236}">
                    <a16:creationId xmlns:a16="http://schemas.microsoft.com/office/drawing/2014/main" id="{FB16C9A8-D97B-0C4D-6363-4E7912D291FA}"/>
                  </a:ext>
                </a:extLst>
              </p:cNvPr>
              <p:cNvSpPr/>
              <p:nvPr/>
            </p:nvSpPr>
            <p:spPr>
              <a:xfrm>
                <a:off x="7065511" y="3602813"/>
                <a:ext cx="5867" cy="14525"/>
              </a:xfrm>
              <a:custGeom>
                <a:avLst/>
                <a:gdLst>
                  <a:gd name="connsiteX0" fmla="*/ 5828 w 5867"/>
                  <a:gd name="connsiteY0" fmla="*/ 2606 h 14525"/>
                  <a:gd name="connsiteX1" fmla="*/ 4243 w 5867"/>
                  <a:gd name="connsiteY1" fmla="*/ 12728 h 14525"/>
                  <a:gd name="connsiteX2" fmla="*/ 1805 w 5867"/>
                  <a:gd name="connsiteY2" fmla="*/ 14500 h 14525"/>
                  <a:gd name="connsiteX3" fmla="*/ 16 w 5867"/>
                  <a:gd name="connsiteY3" fmla="*/ 12120 h 14525"/>
                  <a:gd name="connsiteX4" fmla="*/ 37 w 5867"/>
                  <a:gd name="connsiteY4" fmla="*/ 12029 h 14525"/>
                  <a:gd name="connsiteX5" fmla="*/ 1358 w 5867"/>
                  <a:gd name="connsiteY5" fmla="*/ 2054 h 14525"/>
                  <a:gd name="connsiteX6" fmla="*/ 1358 w 5867"/>
                  <a:gd name="connsiteY6" fmla="*/ 1960 h 14525"/>
                  <a:gd name="connsiteX7" fmla="*/ 3898 w 5867"/>
                  <a:gd name="connsiteY7" fmla="*/ 20 h 14525"/>
                  <a:gd name="connsiteX8" fmla="*/ 5849 w 5867"/>
                  <a:gd name="connsiteY8" fmla="*/ 2552 h 14525"/>
                  <a:gd name="connsiteX9" fmla="*/ 5828 w 5867"/>
                  <a:gd name="connsiteY9" fmla="*/ 2606 h 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67" h="14525">
                    <a:moveTo>
                      <a:pt x="5828" y="2606"/>
                    </a:moveTo>
                    <a:lnTo>
                      <a:pt x="4243" y="12728"/>
                    </a:lnTo>
                    <a:cubicBezTo>
                      <a:pt x="4061" y="13890"/>
                      <a:pt x="2963" y="14683"/>
                      <a:pt x="1805" y="14500"/>
                    </a:cubicBezTo>
                    <a:cubicBezTo>
                      <a:pt x="667" y="14319"/>
                      <a:pt x="-125" y="13260"/>
                      <a:pt x="16" y="12120"/>
                    </a:cubicBezTo>
                    <a:lnTo>
                      <a:pt x="37" y="12029"/>
                    </a:lnTo>
                    <a:lnTo>
                      <a:pt x="1358" y="2054"/>
                    </a:lnTo>
                    <a:lnTo>
                      <a:pt x="1358" y="1960"/>
                    </a:lnTo>
                    <a:cubicBezTo>
                      <a:pt x="1540" y="725"/>
                      <a:pt x="2658" y="-143"/>
                      <a:pt x="3898" y="20"/>
                    </a:cubicBezTo>
                    <a:cubicBezTo>
                      <a:pt x="5137" y="182"/>
                      <a:pt x="6011" y="1316"/>
                      <a:pt x="5849" y="2552"/>
                    </a:cubicBezTo>
                    <a:cubicBezTo>
                      <a:pt x="5828" y="2566"/>
                      <a:pt x="5828" y="2592"/>
                      <a:pt x="5828" y="260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11" name="Freeform: Shape 122">
                <a:extLst>
                  <a:ext uri="{FF2B5EF4-FFF2-40B4-BE49-F238E27FC236}">
                    <a16:creationId xmlns:a16="http://schemas.microsoft.com/office/drawing/2014/main" id="{90971B11-E56F-7203-1D3C-1BCA1C978B70}"/>
                  </a:ext>
                </a:extLst>
              </p:cNvPr>
              <p:cNvSpPr/>
              <p:nvPr/>
            </p:nvSpPr>
            <p:spPr>
              <a:xfrm>
                <a:off x="7024295" y="3708301"/>
                <a:ext cx="7118" cy="9664"/>
              </a:xfrm>
              <a:custGeom>
                <a:avLst/>
                <a:gdLst>
                  <a:gd name="connsiteX0" fmla="*/ 6973 w 7118"/>
                  <a:gd name="connsiteY0" fmla="*/ 1148 h 9664"/>
                  <a:gd name="connsiteX1" fmla="*/ 1040 w 7118"/>
                  <a:gd name="connsiteY1" fmla="*/ 9424 h 9664"/>
                  <a:gd name="connsiteX2" fmla="*/ 247 w 7118"/>
                  <a:gd name="connsiteY2" fmla="*/ 9556 h 9664"/>
                  <a:gd name="connsiteX3" fmla="*/ 105 w 7118"/>
                  <a:gd name="connsiteY3" fmla="*/ 8772 h 9664"/>
                  <a:gd name="connsiteX4" fmla="*/ 125 w 7118"/>
                  <a:gd name="connsiteY4" fmla="*/ 8752 h 9664"/>
                  <a:gd name="connsiteX5" fmla="*/ 5774 w 7118"/>
                  <a:gd name="connsiteY5" fmla="*/ 345 h 9664"/>
                  <a:gd name="connsiteX6" fmla="*/ 5795 w 7118"/>
                  <a:gd name="connsiteY6" fmla="*/ 321 h 9664"/>
                  <a:gd name="connsiteX7" fmla="*/ 6790 w 7118"/>
                  <a:gd name="connsiteY7" fmla="*/ 124 h 9664"/>
                  <a:gd name="connsiteX8" fmla="*/ 6994 w 7118"/>
                  <a:gd name="connsiteY8" fmla="*/ 1130 h 9664"/>
                  <a:gd name="connsiteX9" fmla="*/ 6973 w 7118"/>
                  <a:gd name="connsiteY9" fmla="*/ 1148 h 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18" h="9664">
                    <a:moveTo>
                      <a:pt x="6973" y="1148"/>
                    </a:moveTo>
                    <a:lnTo>
                      <a:pt x="1040" y="9424"/>
                    </a:lnTo>
                    <a:cubicBezTo>
                      <a:pt x="857" y="9682"/>
                      <a:pt x="491" y="9741"/>
                      <a:pt x="247" y="9556"/>
                    </a:cubicBezTo>
                    <a:cubicBezTo>
                      <a:pt x="-17" y="9375"/>
                      <a:pt x="-78" y="9028"/>
                      <a:pt x="105" y="8772"/>
                    </a:cubicBezTo>
                    <a:lnTo>
                      <a:pt x="125" y="8752"/>
                    </a:lnTo>
                    <a:lnTo>
                      <a:pt x="5774" y="345"/>
                    </a:lnTo>
                    <a:lnTo>
                      <a:pt x="5795" y="321"/>
                    </a:lnTo>
                    <a:cubicBezTo>
                      <a:pt x="6018" y="-12"/>
                      <a:pt x="6465" y="-100"/>
                      <a:pt x="6790" y="124"/>
                    </a:cubicBezTo>
                    <a:cubicBezTo>
                      <a:pt x="7136" y="347"/>
                      <a:pt x="7217" y="798"/>
                      <a:pt x="6994" y="1130"/>
                    </a:cubicBezTo>
                    <a:cubicBezTo>
                      <a:pt x="6994" y="1136"/>
                      <a:pt x="6994" y="1144"/>
                      <a:pt x="6973" y="1148"/>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grpSp>
          <p:nvGrpSpPr>
            <p:cNvPr id="192" name="Graphic 6">
              <a:extLst>
                <a:ext uri="{FF2B5EF4-FFF2-40B4-BE49-F238E27FC236}">
                  <a16:creationId xmlns:a16="http://schemas.microsoft.com/office/drawing/2014/main" id="{67F1CEC8-1C8E-7E42-8CF4-5A298FCD4AE5}"/>
                </a:ext>
              </a:extLst>
            </p:cNvPr>
            <p:cNvGrpSpPr/>
            <p:nvPr/>
          </p:nvGrpSpPr>
          <p:grpSpPr>
            <a:xfrm>
              <a:off x="7306138" y="3403855"/>
              <a:ext cx="2004474" cy="1181086"/>
              <a:chOff x="7306138" y="3403855"/>
              <a:chExt cx="2004474" cy="1181086"/>
            </a:xfrm>
            <a:solidFill>
              <a:srgbClr val="B7B7B7"/>
            </a:solidFill>
          </p:grpSpPr>
          <p:sp>
            <p:nvSpPr>
              <p:cNvPr id="252" name="Freeform: Shape 124">
                <a:extLst>
                  <a:ext uri="{FF2B5EF4-FFF2-40B4-BE49-F238E27FC236}">
                    <a16:creationId xmlns:a16="http://schemas.microsoft.com/office/drawing/2014/main" id="{4F0D2585-3041-92EE-2EA8-AA123CAD62BA}"/>
                  </a:ext>
                </a:extLst>
              </p:cNvPr>
              <p:cNvSpPr/>
              <p:nvPr/>
            </p:nvSpPr>
            <p:spPr>
              <a:xfrm>
                <a:off x="9238873" y="3403855"/>
                <a:ext cx="7198" cy="7487"/>
              </a:xfrm>
              <a:custGeom>
                <a:avLst/>
                <a:gdLst>
                  <a:gd name="connsiteX0" fmla="*/ 0 w 7198"/>
                  <a:gd name="connsiteY0" fmla="*/ 0 h 7487"/>
                  <a:gd name="connsiteX1" fmla="*/ 7153 w 7198"/>
                  <a:gd name="connsiteY1" fmla="*/ 7230 h 7487"/>
                  <a:gd name="connsiteX2" fmla="*/ 7153 w 7198"/>
                  <a:gd name="connsiteY2" fmla="*/ 7443 h 7487"/>
                  <a:gd name="connsiteX3" fmla="*/ 6949 w 7198"/>
                  <a:gd name="connsiteY3" fmla="*/ 7441 h 7487"/>
                  <a:gd name="connsiteX4" fmla="*/ 6929 w 7198"/>
                  <a:gd name="connsiteY4" fmla="*/ 7433 h 7487"/>
                  <a:gd name="connsiteX5" fmla="*/ 0 w 7198"/>
                  <a:gd name="connsiteY5" fmla="*/ 0 h 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8" h="7487">
                    <a:moveTo>
                      <a:pt x="0" y="0"/>
                    </a:moveTo>
                    <a:lnTo>
                      <a:pt x="7153" y="7230"/>
                    </a:lnTo>
                    <a:cubicBezTo>
                      <a:pt x="7214" y="7289"/>
                      <a:pt x="7214" y="7384"/>
                      <a:pt x="7153" y="7443"/>
                    </a:cubicBezTo>
                    <a:cubicBezTo>
                      <a:pt x="7092" y="7502"/>
                      <a:pt x="6990" y="7502"/>
                      <a:pt x="6949" y="7441"/>
                    </a:cubicBezTo>
                    <a:cubicBezTo>
                      <a:pt x="6949" y="7441"/>
                      <a:pt x="6929" y="7435"/>
                      <a:pt x="6929" y="7433"/>
                    </a:cubicBezTo>
                    <a:lnTo>
                      <a:pt x="0" y="0"/>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3" name="Freeform: Shape 125">
                <a:extLst>
                  <a:ext uri="{FF2B5EF4-FFF2-40B4-BE49-F238E27FC236}">
                    <a16:creationId xmlns:a16="http://schemas.microsoft.com/office/drawing/2014/main" id="{11A356FE-7C95-43FE-24CE-A0562B283E29}"/>
                  </a:ext>
                </a:extLst>
              </p:cNvPr>
              <p:cNvSpPr/>
              <p:nvPr/>
            </p:nvSpPr>
            <p:spPr>
              <a:xfrm>
                <a:off x="9295625" y="3496333"/>
                <a:ext cx="6470" cy="13185"/>
              </a:xfrm>
              <a:custGeom>
                <a:avLst/>
                <a:gdLst>
                  <a:gd name="connsiteX0" fmla="*/ 3213 w 6470"/>
                  <a:gd name="connsiteY0" fmla="*/ 1136 h 13185"/>
                  <a:gd name="connsiteX1" fmla="*/ 6382 w 6470"/>
                  <a:gd name="connsiteY1" fmla="*/ 10865 h 13185"/>
                  <a:gd name="connsiteX2" fmla="*/ 5245 w 6470"/>
                  <a:gd name="connsiteY2" fmla="*/ 13098 h 13185"/>
                  <a:gd name="connsiteX3" fmla="*/ 3010 w 6470"/>
                  <a:gd name="connsiteY3" fmla="*/ 11962 h 13185"/>
                  <a:gd name="connsiteX4" fmla="*/ 3010 w 6470"/>
                  <a:gd name="connsiteY4" fmla="*/ 11928 h 13185"/>
                  <a:gd name="connsiteX5" fmla="*/ 2969 w 6470"/>
                  <a:gd name="connsiteY5" fmla="*/ 11849 h 13185"/>
                  <a:gd name="connsiteX6" fmla="*/ 103 w 6470"/>
                  <a:gd name="connsiteY6" fmla="*/ 2182 h 13185"/>
                  <a:gd name="connsiteX7" fmla="*/ 63 w 6470"/>
                  <a:gd name="connsiteY7" fmla="*/ 2115 h 13185"/>
                  <a:gd name="connsiteX8" fmla="*/ 1181 w 6470"/>
                  <a:gd name="connsiteY8" fmla="*/ 69 h 13185"/>
                  <a:gd name="connsiteX9" fmla="*/ 3213 w 6470"/>
                  <a:gd name="connsiteY9" fmla="*/ 1136 h 1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0" h="13185">
                    <a:moveTo>
                      <a:pt x="3213" y="1136"/>
                    </a:moveTo>
                    <a:lnTo>
                      <a:pt x="6382" y="10865"/>
                    </a:lnTo>
                    <a:cubicBezTo>
                      <a:pt x="6688" y="11796"/>
                      <a:pt x="6180" y="12796"/>
                      <a:pt x="5245" y="13098"/>
                    </a:cubicBezTo>
                    <a:cubicBezTo>
                      <a:pt x="4310" y="13401"/>
                      <a:pt x="3314" y="12893"/>
                      <a:pt x="3010" y="11962"/>
                    </a:cubicBezTo>
                    <a:cubicBezTo>
                      <a:pt x="3010" y="11952"/>
                      <a:pt x="3010" y="11940"/>
                      <a:pt x="3010" y="11928"/>
                    </a:cubicBezTo>
                    <a:lnTo>
                      <a:pt x="2969" y="11849"/>
                    </a:lnTo>
                    <a:lnTo>
                      <a:pt x="103" y="2182"/>
                    </a:lnTo>
                    <a:lnTo>
                      <a:pt x="63" y="2115"/>
                    </a:lnTo>
                    <a:cubicBezTo>
                      <a:pt x="-181" y="1244"/>
                      <a:pt x="307" y="327"/>
                      <a:pt x="1181" y="69"/>
                    </a:cubicBezTo>
                    <a:cubicBezTo>
                      <a:pt x="2034" y="-187"/>
                      <a:pt x="2928" y="291"/>
                      <a:pt x="3213" y="113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4" name="Freeform: Shape 126">
                <a:extLst>
                  <a:ext uri="{FF2B5EF4-FFF2-40B4-BE49-F238E27FC236}">
                    <a16:creationId xmlns:a16="http://schemas.microsoft.com/office/drawing/2014/main" id="{47360CE8-4F6B-FBB7-E28E-1D9771E7045D}"/>
                  </a:ext>
                </a:extLst>
              </p:cNvPr>
              <p:cNvSpPr/>
              <p:nvPr/>
            </p:nvSpPr>
            <p:spPr>
              <a:xfrm>
                <a:off x="9302830" y="3605252"/>
                <a:ext cx="7782" cy="16325"/>
              </a:xfrm>
              <a:custGeom>
                <a:avLst/>
                <a:gdLst>
                  <a:gd name="connsiteX0" fmla="*/ 7753 w 7782"/>
                  <a:gd name="connsiteY0" fmla="*/ 3459 h 16325"/>
                  <a:gd name="connsiteX1" fmla="*/ 6269 w 7782"/>
                  <a:gd name="connsiteY1" fmla="*/ 13634 h 16325"/>
                  <a:gd name="connsiteX2" fmla="*/ 2694 w 7782"/>
                  <a:gd name="connsiteY2" fmla="*/ 16291 h 16325"/>
                  <a:gd name="connsiteX3" fmla="*/ 32 w 7782"/>
                  <a:gd name="connsiteY3" fmla="*/ 12723 h 16325"/>
                  <a:gd name="connsiteX4" fmla="*/ 51 w 7782"/>
                  <a:gd name="connsiteY4" fmla="*/ 12662 h 16325"/>
                  <a:gd name="connsiteX5" fmla="*/ 72 w 7782"/>
                  <a:gd name="connsiteY5" fmla="*/ 12518 h 16325"/>
                  <a:gd name="connsiteX6" fmla="*/ 1758 w 7782"/>
                  <a:gd name="connsiteY6" fmla="*/ 2636 h 16325"/>
                  <a:gd name="connsiteX7" fmla="*/ 1779 w 7782"/>
                  <a:gd name="connsiteY7" fmla="*/ 2510 h 16325"/>
                  <a:gd name="connsiteX8" fmla="*/ 5273 w 7782"/>
                  <a:gd name="connsiteY8" fmla="*/ 44 h 16325"/>
                  <a:gd name="connsiteX9" fmla="*/ 7753 w 7782"/>
                  <a:gd name="connsiteY9" fmla="*/ 3459 h 1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82" h="16325">
                    <a:moveTo>
                      <a:pt x="7753" y="3459"/>
                    </a:moveTo>
                    <a:lnTo>
                      <a:pt x="6269" y="13634"/>
                    </a:lnTo>
                    <a:cubicBezTo>
                      <a:pt x="6006" y="15353"/>
                      <a:pt x="4420" y="16543"/>
                      <a:pt x="2694" y="16291"/>
                    </a:cubicBezTo>
                    <a:cubicBezTo>
                      <a:pt x="986" y="16039"/>
                      <a:pt x="-213" y="14442"/>
                      <a:pt x="32" y="12723"/>
                    </a:cubicBezTo>
                    <a:cubicBezTo>
                      <a:pt x="32" y="12703"/>
                      <a:pt x="51" y="12683"/>
                      <a:pt x="51" y="12662"/>
                    </a:cubicBezTo>
                    <a:lnTo>
                      <a:pt x="72" y="12518"/>
                    </a:lnTo>
                    <a:lnTo>
                      <a:pt x="1758" y="2636"/>
                    </a:lnTo>
                    <a:lnTo>
                      <a:pt x="1779" y="2510"/>
                    </a:lnTo>
                    <a:cubicBezTo>
                      <a:pt x="2064" y="866"/>
                      <a:pt x="3628" y="-237"/>
                      <a:pt x="5273" y="44"/>
                    </a:cubicBezTo>
                    <a:cubicBezTo>
                      <a:pt x="6899" y="324"/>
                      <a:pt x="7976" y="1846"/>
                      <a:pt x="7753" y="345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5" name="Freeform: Shape 127">
                <a:extLst>
                  <a:ext uri="{FF2B5EF4-FFF2-40B4-BE49-F238E27FC236}">
                    <a16:creationId xmlns:a16="http://schemas.microsoft.com/office/drawing/2014/main" id="{5E197D84-1369-6A1D-A05B-ABB3A860A0E1}"/>
                  </a:ext>
                </a:extLst>
              </p:cNvPr>
              <p:cNvSpPr/>
              <p:nvPr/>
            </p:nvSpPr>
            <p:spPr>
              <a:xfrm>
                <a:off x="9257506" y="3707467"/>
                <a:ext cx="14495" cy="16892"/>
              </a:xfrm>
              <a:custGeom>
                <a:avLst/>
                <a:gdLst>
                  <a:gd name="connsiteX0" fmla="*/ 13738 w 14495"/>
                  <a:gd name="connsiteY0" fmla="*/ 6591 h 16892"/>
                  <a:gd name="connsiteX1" fmla="*/ 7824 w 14495"/>
                  <a:gd name="connsiteY1" fmla="*/ 15060 h 16892"/>
                  <a:gd name="connsiteX2" fmla="*/ 1830 w 14495"/>
                  <a:gd name="connsiteY2" fmla="*/ 16117 h 16892"/>
                  <a:gd name="connsiteX3" fmla="*/ 774 w 14495"/>
                  <a:gd name="connsiteY3" fmla="*/ 10137 h 16892"/>
                  <a:gd name="connsiteX4" fmla="*/ 814 w 14495"/>
                  <a:gd name="connsiteY4" fmla="*/ 10084 h 16892"/>
                  <a:gd name="connsiteX5" fmla="*/ 936 w 14495"/>
                  <a:gd name="connsiteY5" fmla="*/ 9921 h 16892"/>
                  <a:gd name="connsiteX6" fmla="*/ 6829 w 14495"/>
                  <a:gd name="connsiteY6" fmla="*/ 1862 h 16892"/>
                  <a:gd name="connsiteX7" fmla="*/ 6930 w 14495"/>
                  <a:gd name="connsiteY7" fmla="*/ 1718 h 16892"/>
                  <a:gd name="connsiteX8" fmla="*/ 12782 w 14495"/>
                  <a:gd name="connsiteY8" fmla="*/ 806 h 16892"/>
                  <a:gd name="connsiteX9" fmla="*/ 13738 w 14495"/>
                  <a:gd name="connsiteY9" fmla="*/ 6591 h 1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95" h="16892">
                    <a:moveTo>
                      <a:pt x="13738" y="6591"/>
                    </a:moveTo>
                    <a:lnTo>
                      <a:pt x="7824" y="15060"/>
                    </a:lnTo>
                    <a:cubicBezTo>
                      <a:pt x="6463" y="17003"/>
                      <a:pt x="3781" y="17476"/>
                      <a:pt x="1830" y="16117"/>
                    </a:cubicBezTo>
                    <a:cubicBezTo>
                      <a:pt x="-100" y="14757"/>
                      <a:pt x="-588" y="12081"/>
                      <a:pt x="774" y="10137"/>
                    </a:cubicBezTo>
                    <a:cubicBezTo>
                      <a:pt x="794" y="10118"/>
                      <a:pt x="794" y="10100"/>
                      <a:pt x="814" y="10084"/>
                    </a:cubicBezTo>
                    <a:lnTo>
                      <a:pt x="936" y="9921"/>
                    </a:lnTo>
                    <a:lnTo>
                      <a:pt x="6829" y="1862"/>
                    </a:lnTo>
                    <a:lnTo>
                      <a:pt x="6930" y="1718"/>
                    </a:lnTo>
                    <a:cubicBezTo>
                      <a:pt x="8292" y="-149"/>
                      <a:pt x="10913" y="-558"/>
                      <a:pt x="12782" y="806"/>
                    </a:cubicBezTo>
                    <a:cubicBezTo>
                      <a:pt x="14632" y="2153"/>
                      <a:pt x="15038" y="4727"/>
                      <a:pt x="13738" y="659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6" name="Freeform: Shape 128">
                <a:extLst>
                  <a:ext uri="{FF2B5EF4-FFF2-40B4-BE49-F238E27FC236}">
                    <a16:creationId xmlns:a16="http://schemas.microsoft.com/office/drawing/2014/main" id="{4F412ACA-8F92-C3C7-9190-C956BE36C9D6}"/>
                  </a:ext>
                </a:extLst>
              </p:cNvPr>
              <p:cNvSpPr/>
              <p:nvPr/>
            </p:nvSpPr>
            <p:spPr>
              <a:xfrm>
                <a:off x="9179328" y="3788258"/>
                <a:ext cx="17812" cy="17810"/>
              </a:xfrm>
              <a:custGeom>
                <a:avLst/>
                <a:gdLst>
                  <a:gd name="connsiteX0" fmla="*/ 16305 w 17812"/>
                  <a:gd name="connsiteY0" fmla="*/ 8970 h 17810"/>
                  <a:gd name="connsiteX1" fmla="*/ 9172 w 17812"/>
                  <a:gd name="connsiteY1" fmla="*/ 16212 h 17810"/>
                  <a:gd name="connsiteX2" fmla="*/ 1592 w 17812"/>
                  <a:gd name="connsiteY2" fmla="*/ 16273 h 17810"/>
                  <a:gd name="connsiteX3" fmla="*/ 1532 w 17812"/>
                  <a:gd name="connsiteY3" fmla="*/ 8702 h 17810"/>
                  <a:gd name="connsiteX4" fmla="*/ 1592 w 17812"/>
                  <a:gd name="connsiteY4" fmla="*/ 8641 h 17810"/>
                  <a:gd name="connsiteX5" fmla="*/ 8847 w 17812"/>
                  <a:gd name="connsiteY5" fmla="*/ 1515 h 17810"/>
                  <a:gd name="connsiteX6" fmla="*/ 16305 w 17812"/>
                  <a:gd name="connsiteY6" fmla="*/ 1573 h 17810"/>
                  <a:gd name="connsiteX7" fmla="*/ 16305 w 17812"/>
                  <a:gd name="connsiteY7" fmla="*/ 8970 h 1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12" h="17810">
                    <a:moveTo>
                      <a:pt x="16305" y="8970"/>
                    </a:moveTo>
                    <a:lnTo>
                      <a:pt x="9172" y="16212"/>
                    </a:lnTo>
                    <a:cubicBezTo>
                      <a:pt x="7099" y="18319"/>
                      <a:pt x="3706" y="18348"/>
                      <a:pt x="1592" y="16273"/>
                    </a:cubicBezTo>
                    <a:cubicBezTo>
                      <a:pt x="-500" y="14198"/>
                      <a:pt x="-541" y="10809"/>
                      <a:pt x="1532" y="8702"/>
                    </a:cubicBezTo>
                    <a:cubicBezTo>
                      <a:pt x="1552" y="8688"/>
                      <a:pt x="1592" y="8655"/>
                      <a:pt x="1592" y="8641"/>
                    </a:cubicBezTo>
                    <a:lnTo>
                      <a:pt x="8847" y="1515"/>
                    </a:lnTo>
                    <a:cubicBezTo>
                      <a:pt x="10919" y="-528"/>
                      <a:pt x="14252" y="-501"/>
                      <a:pt x="16305" y="1573"/>
                    </a:cubicBezTo>
                    <a:cubicBezTo>
                      <a:pt x="18316" y="3626"/>
                      <a:pt x="18316" y="6922"/>
                      <a:pt x="16305" y="897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7" name="Freeform: Shape 129">
                <a:extLst>
                  <a:ext uri="{FF2B5EF4-FFF2-40B4-BE49-F238E27FC236}">
                    <a16:creationId xmlns:a16="http://schemas.microsoft.com/office/drawing/2014/main" id="{0420B07C-414A-7881-604E-D1AA716909A8}"/>
                  </a:ext>
                </a:extLst>
              </p:cNvPr>
              <p:cNvSpPr/>
              <p:nvPr/>
            </p:nvSpPr>
            <p:spPr>
              <a:xfrm>
                <a:off x="9099407" y="3866395"/>
                <a:ext cx="19591" cy="19596"/>
              </a:xfrm>
              <a:custGeom>
                <a:avLst/>
                <a:gdLst>
                  <a:gd name="connsiteX0" fmla="*/ 17831 w 19591"/>
                  <a:gd name="connsiteY0" fmla="*/ 10483 h 19596"/>
                  <a:gd name="connsiteX1" fmla="*/ 10698 w 19591"/>
                  <a:gd name="connsiteY1" fmla="*/ 17737 h 19596"/>
                  <a:gd name="connsiteX2" fmla="*/ 1860 w 19591"/>
                  <a:gd name="connsiteY2" fmla="*/ 17798 h 19596"/>
                  <a:gd name="connsiteX3" fmla="*/ 1798 w 19591"/>
                  <a:gd name="connsiteY3" fmla="*/ 8959 h 19596"/>
                  <a:gd name="connsiteX4" fmla="*/ 1860 w 19591"/>
                  <a:gd name="connsiteY4" fmla="*/ 8898 h 19596"/>
                  <a:gd name="connsiteX5" fmla="*/ 9114 w 19591"/>
                  <a:gd name="connsiteY5" fmla="*/ 1766 h 19596"/>
                  <a:gd name="connsiteX6" fmla="*/ 17831 w 19591"/>
                  <a:gd name="connsiteY6" fmla="*/ 1847 h 19596"/>
                  <a:gd name="connsiteX7" fmla="*/ 17831 w 19591"/>
                  <a:gd name="connsiteY7" fmla="*/ 10483 h 1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91" h="19596">
                    <a:moveTo>
                      <a:pt x="17831" y="10483"/>
                    </a:moveTo>
                    <a:lnTo>
                      <a:pt x="10698" y="17737"/>
                    </a:lnTo>
                    <a:cubicBezTo>
                      <a:pt x="8280" y="20196"/>
                      <a:pt x="4319" y="20216"/>
                      <a:pt x="1860" y="17798"/>
                    </a:cubicBezTo>
                    <a:cubicBezTo>
                      <a:pt x="-600" y="15380"/>
                      <a:pt x="-619" y="11438"/>
                      <a:pt x="1798" y="8959"/>
                    </a:cubicBezTo>
                    <a:cubicBezTo>
                      <a:pt x="1819" y="8959"/>
                      <a:pt x="1839" y="8918"/>
                      <a:pt x="1860" y="8898"/>
                    </a:cubicBezTo>
                    <a:lnTo>
                      <a:pt x="9114" y="1766"/>
                    </a:lnTo>
                    <a:cubicBezTo>
                      <a:pt x="11532" y="-612"/>
                      <a:pt x="15433" y="-592"/>
                      <a:pt x="17831" y="1847"/>
                    </a:cubicBezTo>
                    <a:cubicBezTo>
                      <a:pt x="20189" y="4244"/>
                      <a:pt x="20168" y="8085"/>
                      <a:pt x="17831" y="10483"/>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8" name="Freeform: Shape 130">
                <a:extLst>
                  <a:ext uri="{FF2B5EF4-FFF2-40B4-BE49-F238E27FC236}">
                    <a16:creationId xmlns:a16="http://schemas.microsoft.com/office/drawing/2014/main" id="{1B9FE3D6-02CE-7897-1596-E271F3B182CD}"/>
                  </a:ext>
                </a:extLst>
              </p:cNvPr>
              <p:cNvSpPr/>
              <p:nvPr/>
            </p:nvSpPr>
            <p:spPr>
              <a:xfrm>
                <a:off x="9019550" y="3944549"/>
                <a:ext cx="21287" cy="21300"/>
              </a:xfrm>
              <a:custGeom>
                <a:avLst/>
                <a:gdLst>
                  <a:gd name="connsiteX0" fmla="*/ 19253 w 21287"/>
                  <a:gd name="connsiteY0" fmla="*/ 11963 h 21300"/>
                  <a:gd name="connsiteX1" fmla="*/ 12121 w 21287"/>
                  <a:gd name="connsiteY1" fmla="*/ 19198 h 21300"/>
                  <a:gd name="connsiteX2" fmla="*/ 2103 w 21287"/>
                  <a:gd name="connsiteY2" fmla="*/ 19258 h 21300"/>
                  <a:gd name="connsiteX3" fmla="*/ 2042 w 21287"/>
                  <a:gd name="connsiteY3" fmla="*/ 9241 h 21300"/>
                  <a:gd name="connsiteX4" fmla="*/ 2103 w 21287"/>
                  <a:gd name="connsiteY4" fmla="*/ 9180 h 21300"/>
                  <a:gd name="connsiteX5" fmla="*/ 9337 w 21287"/>
                  <a:gd name="connsiteY5" fmla="*/ 2027 h 21300"/>
                  <a:gd name="connsiteX6" fmla="*/ 19253 w 21287"/>
                  <a:gd name="connsiteY6" fmla="*/ 2088 h 21300"/>
                  <a:gd name="connsiteX7" fmla="*/ 19253 w 21287"/>
                  <a:gd name="connsiteY7" fmla="*/ 11963 h 2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87" h="21300">
                    <a:moveTo>
                      <a:pt x="19253" y="11963"/>
                    </a:moveTo>
                    <a:lnTo>
                      <a:pt x="12121" y="19198"/>
                    </a:lnTo>
                    <a:cubicBezTo>
                      <a:pt x="9378" y="21981"/>
                      <a:pt x="4887" y="22002"/>
                      <a:pt x="2103" y="19258"/>
                    </a:cubicBezTo>
                    <a:cubicBezTo>
                      <a:pt x="-681" y="16495"/>
                      <a:pt x="-701" y="12024"/>
                      <a:pt x="2042" y="9241"/>
                    </a:cubicBezTo>
                    <a:cubicBezTo>
                      <a:pt x="2063" y="9220"/>
                      <a:pt x="2082" y="9180"/>
                      <a:pt x="2103" y="9180"/>
                    </a:cubicBezTo>
                    <a:lnTo>
                      <a:pt x="9337" y="2027"/>
                    </a:lnTo>
                    <a:cubicBezTo>
                      <a:pt x="12081" y="-696"/>
                      <a:pt x="16531" y="-676"/>
                      <a:pt x="19253" y="2088"/>
                    </a:cubicBezTo>
                    <a:cubicBezTo>
                      <a:pt x="21976" y="4831"/>
                      <a:pt x="21956" y="9241"/>
                      <a:pt x="19253" y="11963"/>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9" name="Freeform: Shape 131">
                <a:extLst>
                  <a:ext uri="{FF2B5EF4-FFF2-40B4-BE49-F238E27FC236}">
                    <a16:creationId xmlns:a16="http://schemas.microsoft.com/office/drawing/2014/main" id="{D989123A-8213-175E-1457-BD86FF1062D0}"/>
                  </a:ext>
                </a:extLst>
              </p:cNvPr>
              <p:cNvSpPr/>
              <p:nvPr/>
            </p:nvSpPr>
            <p:spPr>
              <a:xfrm>
                <a:off x="8939880" y="4022943"/>
                <a:ext cx="22575" cy="22575"/>
              </a:xfrm>
              <a:custGeom>
                <a:avLst/>
                <a:gdLst>
                  <a:gd name="connsiteX0" fmla="*/ 20365 w 22575"/>
                  <a:gd name="connsiteY0" fmla="*/ 13061 h 22575"/>
                  <a:gd name="connsiteX1" fmla="*/ 13213 w 22575"/>
                  <a:gd name="connsiteY1" fmla="*/ 20274 h 22575"/>
                  <a:gd name="connsiteX2" fmla="*/ 2302 w 22575"/>
                  <a:gd name="connsiteY2" fmla="*/ 20335 h 22575"/>
                  <a:gd name="connsiteX3" fmla="*/ 2240 w 22575"/>
                  <a:gd name="connsiteY3" fmla="*/ 9423 h 22575"/>
                  <a:gd name="connsiteX4" fmla="*/ 2302 w 22575"/>
                  <a:gd name="connsiteY4" fmla="*/ 9363 h 22575"/>
                  <a:gd name="connsiteX5" fmla="*/ 9515 w 22575"/>
                  <a:gd name="connsiteY5" fmla="*/ 2210 h 22575"/>
                  <a:gd name="connsiteX6" fmla="*/ 20365 w 22575"/>
                  <a:gd name="connsiteY6" fmla="*/ 2271 h 22575"/>
                  <a:gd name="connsiteX7" fmla="*/ 20365 w 22575"/>
                  <a:gd name="connsiteY7" fmla="*/ 13061 h 22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5" h="22575">
                    <a:moveTo>
                      <a:pt x="20365" y="13061"/>
                    </a:moveTo>
                    <a:lnTo>
                      <a:pt x="13213" y="20274"/>
                    </a:lnTo>
                    <a:cubicBezTo>
                      <a:pt x="10226" y="23322"/>
                      <a:pt x="5329" y="23343"/>
                      <a:pt x="2302" y="20335"/>
                    </a:cubicBezTo>
                    <a:cubicBezTo>
                      <a:pt x="-746" y="17348"/>
                      <a:pt x="-767" y="12451"/>
                      <a:pt x="2240" y="9423"/>
                    </a:cubicBezTo>
                    <a:cubicBezTo>
                      <a:pt x="2240" y="9403"/>
                      <a:pt x="2281" y="9363"/>
                      <a:pt x="2302" y="9363"/>
                    </a:cubicBezTo>
                    <a:lnTo>
                      <a:pt x="9515" y="2210"/>
                    </a:lnTo>
                    <a:cubicBezTo>
                      <a:pt x="12522" y="-757"/>
                      <a:pt x="17379" y="-737"/>
                      <a:pt x="20365" y="2271"/>
                    </a:cubicBezTo>
                    <a:cubicBezTo>
                      <a:pt x="23312" y="5258"/>
                      <a:pt x="23312" y="10074"/>
                      <a:pt x="20365" y="1306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0" name="Freeform: Shape 132">
                <a:extLst>
                  <a:ext uri="{FF2B5EF4-FFF2-40B4-BE49-F238E27FC236}">
                    <a16:creationId xmlns:a16="http://schemas.microsoft.com/office/drawing/2014/main" id="{9C491DF8-DD76-371F-D8DB-F2C9C9BE2E57}"/>
                  </a:ext>
                </a:extLst>
              </p:cNvPr>
              <p:cNvSpPr/>
              <p:nvPr/>
            </p:nvSpPr>
            <p:spPr>
              <a:xfrm>
                <a:off x="8860205" y="4101330"/>
                <a:ext cx="23863" cy="23863"/>
              </a:xfrm>
              <a:custGeom>
                <a:avLst/>
                <a:gdLst>
                  <a:gd name="connsiteX0" fmla="*/ 21463 w 23863"/>
                  <a:gd name="connsiteY0" fmla="*/ 14145 h 23863"/>
                  <a:gd name="connsiteX1" fmla="*/ 14310 w 23863"/>
                  <a:gd name="connsiteY1" fmla="*/ 21379 h 23863"/>
                  <a:gd name="connsiteX2" fmla="*/ 2484 w 23863"/>
                  <a:gd name="connsiteY2" fmla="*/ 21440 h 23863"/>
                  <a:gd name="connsiteX3" fmla="*/ 2423 w 23863"/>
                  <a:gd name="connsiteY3" fmla="*/ 9614 h 23863"/>
                  <a:gd name="connsiteX4" fmla="*/ 2484 w 23863"/>
                  <a:gd name="connsiteY4" fmla="*/ 9533 h 23863"/>
                  <a:gd name="connsiteX5" fmla="*/ 9718 w 23863"/>
                  <a:gd name="connsiteY5" fmla="*/ 2401 h 23863"/>
                  <a:gd name="connsiteX6" fmla="*/ 21463 w 23863"/>
                  <a:gd name="connsiteY6" fmla="*/ 2461 h 23863"/>
                  <a:gd name="connsiteX7" fmla="*/ 21463 w 23863"/>
                  <a:gd name="connsiteY7" fmla="*/ 14145 h 2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63" h="23863">
                    <a:moveTo>
                      <a:pt x="21463" y="14145"/>
                    </a:moveTo>
                    <a:lnTo>
                      <a:pt x="14310" y="21379"/>
                    </a:lnTo>
                    <a:cubicBezTo>
                      <a:pt x="11080" y="24671"/>
                      <a:pt x="5776" y="24692"/>
                      <a:pt x="2484" y="21440"/>
                    </a:cubicBezTo>
                    <a:cubicBezTo>
                      <a:pt x="-808" y="18189"/>
                      <a:pt x="-828" y="12886"/>
                      <a:pt x="2423" y="9614"/>
                    </a:cubicBezTo>
                    <a:cubicBezTo>
                      <a:pt x="2423" y="9594"/>
                      <a:pt x="2484" y="9553"/>
                      <a:pt x="2484" y="9533"/>
                    </a:cubicBezTo>
                    <a:lnTo>
                      <a:pt x="9718" y="2401"/>
                    </a:lnTo>
                    <a:cubicBezTo>
                      <a:pt x="12970" y="-830"/>
                      <a:pt x="18232" y="-790"/>
                      <a:pt x="21463" y="2461"/>
                    </a:cubicBezTo>
                    <a:cubicBezTo>
                      <a:pt x="24674" y="5713"/>
                      <a:pt x="24654" y="10915"/>
                      <a:pt x="21463" y="14145"/>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1" name="Freeform: Shape 133">
                <a:extLst>
                  <a:ext uri="{FF2B5EF4-FFF2-40B4-BE49-F238E27FC236}">
                    <a16:creationId xmlns:a16="http://schemas.microsoft.com/office/drawing/2014/main" id="{B7D336EE-F548-67FA-4D12-7A7F1256FCAA}"/>
                  </a:ext>
                </a:extLst>
              </p:cNvPr>
              <p:cNvSpPr/>
              <p:nvPr/>
            </p:nvSpPr>
            <p:spPr>
              <a:xfrm>
                <a:off x="8780721" y="4179847"/>
                <a:ext cx="24828" cy="24831"/>
              </a:xfrm>
              <a:custGeom>
                <a:avLst/>
                <a:gdLst>
                  <a:gd name="connsiteX0" fmla="*/ 22269 w 24828"/>
                  <a:gd name="connsiteY0" fmla="*/ 14999 h 24831"/>
                  <a:gd name="connsiteX1" fmla="*/ 15116 w 24828"/>
                  <a:gd name="connsiteY1" fmla="*/ 22212 h 24831"/>
                  <a:gd name="connsiteX2" fmla="*/ 2618 w 24828"/>
                  <a:gd name="connsiteY2" fmla="*/ 22253 h 24831"/>
                  <a:gd name="connsiteX3" fmla="*/ 2579 w 24828"/>
                  <a:gd name="connsiteY3" fmla="*/ 9756 h 24831"/>
                  <a:gd name="connsiteX4" fmla="*/ 2618 w 24828"/>
                  <a:gd name="connsiteY4" fmla="*/ 9716 h 24831"/>
                  <a:gd name="connsiteX5" fmla="*/ 9833 w 24828"/>
                  <a:gd name="connsiteY5" fmla="*/ 2563 h 24831"/>
                  <a:gd name="connsiteX6" fmla="*/ 22269 w 24828"/>
                  <a:gd name="connsiteY6" fmla="*/ 2604 h 24831"/>
                  <a:gd name="connsiteX7" fmla="*/ 22269 w 24828"/>
                  <a:gd name="connsiteY7" fmla="*/ 14999 h 24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8" h="24831">
                    <a:moveTo>
                      <a:pt x="22269" y="14999"/>
                    </a:moveTo>
                    <a:lnTo>
                      <a:pt x="15116" y="22212"/>
                    </a:lnTo>
                    <a:cubicBezTo>
                      <a:pt x="11682" y="25687"/>
                      <a:pt x="6073" y="25708"/>
                      <a:pt x="2618" y="22253"/>
                    </a:cubicBezTo>
                    <a:cubicBezTo>
                      <a:pt x="-856" y="18819"/>
                      <a:pt x="-876" y="13231"/>
                      <a:pt x="2579" y="9756"/>
                    </a:cubicBezTo>
                    <a:lnTo>
                      <a:pt x="2618" y="9716"/>
                    </a:lnTo>
                    <a:lnTo>
                      <a:pt x="9833" y="2563"/>
                    </a:lnTo>
                    <a:cubicBezTo>
                      <a:pt x="13267" y="-871"/>
                      <a:pt x="18855" y="-851"/>
                      <a:pt x="22269" y="2604"/>
                    </a:cubicBezTo>
                    <a:cubicBezTo>
                      <a:pt x="25682" y="6038"/>
                      <a:pt x="25682" y="11585"/>
                      <a:pt x="22269" y="1499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2" name="Freeform: Shape 134">
                <a:extLst>
                  <a:ext uri="{FF2B5EF4-FFF2-40B4-BE49-F238E27FC236}">
                    <a16:creationId xmlns:a16="http://schemas.microsoft.com/office/drawing/2014/main" id="{AF38E143-8FD1-87F2-B977-B390BF11C229}"/>
                  </a:ext>
                </a:extLst>
              </p:cNvPr>
              <p:cNvSpPr/>
              <p:nvPr/>
            </p:nvSpPr>
            <p:spPr>
              <a:xfrm>
                <a:off x="8701305" y="4258482"/>
                <a:ext cx="25600" cy="25610"/>
              </a:xfrm>
              <a:custGeom>
                <a:avLst/>
                <a:gdLst>
                  <a:gd name="connsiteX0" fmla="*/ 22923 w 25600"/>
                  <a:gd name="connsiteY0" fmla="*/ 15672 h 25610"/>
                  <a:gd name="connsiteX1" fmla="*/ 15771 w 25600"/>
                  <a:gd name="connsiteY1" fmla="*/ 22885 h 25610"/>
                  <a:gd name="connsiteX2" fmla="*/ 2725 w 25600"/>
                  <a:gd name="connsiteY2" fmla="*/ 22926 h 25610"/>
                  <a:gd name="connsiteX3" fmla="*/ 2685 w 25600"/>
                  <a:gd name="connsiteY3" fmla="*/ 9881 h 25610"/>
                  <a:gd name="connsiteX4" fmla="*/ 2725 w 25600"/>
                  <a:gd name="connsiteY4" fmla="*/ 9840 h 25610"/>
                  <a:gd name="connsiteX5" fmla="*/ 9939 w 25600"/>
                  <a:gd name="connsiteY5" fmla="*/ 2667 h 25610"/>
                  <a:gd name="connsiteX6" fmla="*/ 22944 w 25600"/>
                  <a:gd name="connsiteY6" fmla="*/ 2728 h 25610"/>
                  <a:gd name="connsiteX7" fmla="*/ 22923 w 25600"/>
                  <a:gd name="connsiteY7" fmla="*/ 15672 h 2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00" h="25610">
                    <a:moveTo>
                      <a:pt x="22923" y="15672"/>
                    </a:moveTo>
                    <a:lnTo>
                      <a:pt x="15771" y="22885"/>
                    </a:lnTo>
                    <a:cubicBezTo>
                      <a:pt x="12174" y="26502"/>
                      <a:pt x="6342" y="26523"/>
                      <a:pt x="2725" y="22926"/>
                    </a:cubicBezTo>
                    <a:cubicBezTo>
                      <a:pt x="-891" y="19329"/>
                      <a:pt x="-912" y="13498"/>
                      <a:pt x="2685" y="9881"/>
                    </a:cubicBezTo>
                    <a:lnTo>
                      <a:pt x="2725" y="9840"/>
                    </a:lnTo>
                    <a:lnTo>
                      <a:pt x="9939" y="2667"/>
                    </a:lnTo>
                    <a:cubicBezTo>
                      <a:pt x="13535" y="-909"/>
                      <a:pt x="19367" y="-889"/>
                      <a:pt x="22944" y="2728"/>
                    </a:cubicBezTo>
                    <a:cubicBezTo>
                      <a:pt x="26500" y="6304"/>
                      <a:pt x="26479" y="12096"/>
                      <a:pt x="22923" y="1567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3" name="Freeform: Shape 135">
                <a:extLst>
                  <a:ext uri="{FF2B5EF4-FFF2-40B4-BE49-F238E27FC236}">
                    <a16:creationId xmlns:a16="http://schemas.microsoft.com/office/drawing/2014/main" id="{82EE7282-E90D-4639-A09C-38CFB3B78E1B}"/>
                  </a:ext>
                </a:extLst>
              </p:cNvPr>
              <p:cNvSpPr/>
              <p:nvPr/>
            </p:nvSpPr>
            <p:spPr>
              <a:xfrm>
                <a:off x="8621892" y="4337133"/>
                <a:ext cx="26378" cy="26372"/>
              </a:xfrm>
              <a:custGeom>
                <a:avLst/>
                <a:gdLst>
                  <a:gd name="connsiteX0" fmla="*/ 23597 w 26378"/>
                  <a:gd name="connsiteY0" fmla="*/ 16330 h 26372"/>
                  <a:gd name="connsiteX1" fmla="*/ 16444 w 26378"/>
                  <a:gd name="connsiteY1" fmla="*/ 23523 h 26372"/>
                  <a:gd name="connsiteX2" fmla="*/ 2850 w 26378"/>
                  <a:gd name="connsiteY2" fmla="*/ 23584 h 26372"/>
                  <a:gd name="connsiteX3" fmla="*/ 2789 w 26378"/>
                  <a:gd name="connsiteY3" fmla="*/ 9990 h 26372"/>
                  <a:gd name="connsiteX4" fmla="*/ 2850 w 26378"/>
                  <a:gd name="connsiteY4" fmla="*/ 9929 h 26372"/>
                  <a:gd name="connsiteX5" fmla="*/ 10043 w 26378"/>
                  <a:gd name="connsiteY5" fmla="*/ 2776 h 26372"/>
                  <a:gd name="connsiteX6" fmla="*/ 23597 w 26378"/>
                  <a:gd name="connsiteY6" fmla="*/ 2817 h 26372"/>
                  <a:gd name="connsiteX7" fmla="*/ 23597 w 26378"/>
                  <a:gd name="connsiteY7" fmla="*/ 16330 h 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78" h="26372">
                    <a:moveTo>
                      <a:pt x="23597" y="16330"/>
                    </a:moveTo>
                    <a:lnTo>
                      <a:pt x="16444" y="23523"/>
                    </a:lnTo>
                    <a:cubicBezTo>
                      <a:pt x="12705" y="27303"/>
                      <a:pt x="6609" y="27323"/>
                      <a:pt x="2850" y="23584"/>
                    </a:cubicBezTo>
                    <a:cubicBezTo>
                      <a:pt x="-929" y="19845"/>
                      <a:pt x="-950" y="13749"/>
                      <a:pt x="2789" y="9990"/>
                    </a:cubicBezTo>
                    <a:lnTo>
                      <a:pt x="2850" y="9929"/>
                    </a:lnTo>
                    <a:lnTo>
                      <a:pt x="10043" y="2776"/>
                    </a:lnTo>
                    <a:cubicBezTo>
                      <a:pt x="13803" y="-942"/>
                      <a:pt x="19878" y="-922"/>
                      <a:pt x="23597" y="2817"/>
                    </a:cubicBezTo>
                    <a:cubicBezTo>
                      <a:pt x="27315" y="6556"/>
                      <a:pt x="27295" y="12591"/>
                      <a:pt x="23597" y="1633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4" name="Freeform: Shape 136">
                <a:extLst>
                  <a:ext uri="{FF2B5EF4-FFF2-40B4-BE49-F238E27FC236}">
                    <a16:creationId xmlns:a16="http://schemas.microsoft.com/office/drawing/2014/main" id="{0A8E67ED-FE1B-53EB-08D4-0F4A564420E0}"/>
                  </a:ext>
                </a:extLst>
              </p:cNvPr>
              <p:cNvSpPr/>
              <p:nvPr/>
            </p:nvSpPr>
            <p:spPr>
              <a:xfrm>
                <a:off x="8542672" y="4415909"/>
                <a:ext cx="26819" cy="26804"/>
              </a:xfrm>
              <a:custGeom>
                <a:avLst/>
                <a:gdLst>
                  <a:gd name="connsiteX0" fmla="*/ 23954 w 26819"/>
                  <a:gd name="connsiteY0" fmla="*/ 16741 h 26804"/>
                  <a:gd name="connsiteX1" fmla="*/ 16782 w 26819"/>
                  <a:gd name="connsiteY1" fmla="*/ 23914 h 26804"/>
                  <a:gd name="connsiteX2" fmla="*/ 2883 w 26819"/>
                  <a:gd name="connsiteY2" fmla="*/ 23934 h 26804"/>
                  <a:gd name="connsiteX3" fmla="*/ 2862 w 26819"/>
                  <a:gd name="connsiteY3" fmla="*/ 10056 h 26804"/>
                  <a:gd name="connsiteX4" fmla="*/ 2883 w 26819"/>
                  <a:gd name="connsiteY4" fmla="*/ 10036 h 26804"/>
                  <a:gd name="connsiteX5" fmla="*/ 10076 w 26819"/>
                  <a:gd name="connsiteY5" fmla="*/ 2863 h 26804"/>
                  <a:gd name="connsiteX6" fmla="*/ 23954 w 26819"/>
                  <a:gd name="connsiteY6" fmla="*/ 2883 h 26804"/>
                  <a:gd name="connsiteX7" fmla="*/ 23954 w 26819"/>
                  <a:gd name="connsiteY7" fmla="*/ 16741 h 26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19" h="26804">
                    <a:moveTo>
                      <a:pt x="23954" y="16741"/>
                    </a:moveTo>
                    <a:lnTo>
                      <a:pt x="16782" y="23914"/>
                    </a:lnTo>
                    <a:cubicBezTo>
                      <a:pt x="12941" y="27755"/>
                      <a:pt x="6723" y="27775"/>
                      <a:pt x="2883" y="23934"/>
                    </a:cubicBezTo>
                    <a:cubicBezTo>
                      <a:pt x="-958" y="20114"/>
                      <a:pt x="-958" y="13896"/>
                      <a:pt x="2862" y="10056"/>
                    </a:cubicBezTo>
                    <a:lnTo>
                      <a:pt x="2883" y="10036"/>
                    </a:lnTo>
                    <a:lnTo>
                      <a:pt x="10076" y="2863"/>
                    </a:lnTo>
                    <a:cubicBezTo>
                      <a:pt x="13916" y="-958"/>
                      <a:pt x="20114" y="-958"/>
                      <a:pt x="23954" y="2883"/>
                    </a:cubicBezTo>
                    <a:cubicBezTo>
                      <a:pt x="27775" y="6723"/>
                      <a:pt x="27775" y="12901"/>
                      <a:pt x="23954" y="1674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5" name="Freeform: Shape 137">
                <a:extLst>
                  <a:ext uri="{FF2B5EF4-FFF2-40B4-BE49-F238E27FC236}">
                    <a16:creationId xmlns:a16="http://schemas.microsoft.com/office/drawing/2014/main" id="{64492D50-AAC2-E8C8-13AC-6FD1CD032142}"/>
                  </a:ext>
                </a:extLst>
              </p:cNvPr>
              <p:cNvSpPr/>
              <p:nvPr/>
            </p:nvSpPr>
            <p:spPr>
              <a:xfrm>
                <a:off x="8463304" y="4494761"/>
                <a:ext cx="27334" cy="27128"/>
              </a:xfrm>
              <a:custGeom>
                <a:avLst/>
                <a:gdLst>
                  <a:gd name="connsiteX0" fmla="*/ 24380 w 27334"/>
                  <a:gd name="connsiteY0" fmla="*/ 16995 h 27128"/>
                  <a:gd name="connsiteX1" fmla="*/ 20641 w 27334"/>
                  <a:gd name="connsiteY1" fmla="*/ 20653 h 27128"/>
                  <a:gd name="connsiteX2" fmla="*/ 16862 w 27334"/>
                  <a:gd name="connsiteY2" fmla="*/ 24331 h 27128"/>
                  <a:gd name="connsiteX3" fmla="*/ 2801 w 27334"/>
                  <a:gd name="connsiteY3" fmla="*/ 24087 h 27128"/>
                  <a:gd name="connsiteX4" fmla="*/ 3024 w 27334"/>
                  <a:gd name="connsiteY4" fmla="*/ 10026 h 27128"/>
                  <a:gd name="connsiteX5" fmla="*/ 3044 w 27334"/>
                  <a:gd name="connsiteY5" fmla="*/ 10026 h 27128"/>
                  <a:gd name="connsiteX6" fmla="*/ 3288 w 27334"/>
                  <a:gd name="connsiteY6" fmla="*/ 9782 h 27128"/>
                  <a:gd name="connsiteX7" fmla="*/ 6803 w 27334"/>
                  <a:gd name="connsiteY7" fmla="*/ 6388 h 27128"/>
                  <a:gd name="connsiteX8" fmla="*/ 10339 w 27334"/>
                  <a:gd name="connsiteY8" fmla="*/ 2954 h 27128"/>
                  <a:gd name="connsiteX9" fmla="*/ 24380 w 27334"/>
                  <a:gd name="connsiteY9" fmla="*/ 2853 h 27128"/>
                  <a:gd name="connsiteX10" fmla="*/ 24482 w 27334"/>
                  <a:gd name="connsiteY10" fmla="*/ 16894 h 27128"/>
                  <a:gd name="connsiteX11" fmla="*/ 24380 w 27334"/>
                  <a:gd name="connsiteY11" fmla="*/ 16995 h 2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34" h="27128">
                    <a:moveTo>
                      <a:pt x="24380" y="16995"/>
                    </a:moveTo>
                    <a:cubicBezTo>
                      <a:pt x="23222" y="18174"/>
                      <a:pt x="21901" y="19434"/>
                      <a:pt x="20641" y="20653"/>
                    </a:cubicBezTo>
                    <a:lnTo>
                      <a:pt x="16862" y="24331"/>
                    </a:lnTo>
                    <a:cubicBezTo>
                      <a:pt x="12899" y="28151"/>
                      <a:pt x="6621" y="28050"/>
                      <a:pt x="2801" y="24087"/>
                    </a:cubicBezTo>
                    <a:cubicBezTo>
                      <a:pt x="-1020" y="20145"/>
                      <a:pt x="-918" y="13846"/>
                      <a:pt x="3024" y="10026"/>
                    </a:cubicBezTo>
                    <a:lnTo>
                      <a:pt x="3044" y="10026"/>
                    </a:lnTo>
                    <a:lnTo>
                      <a:pt x="3288" y="9782"/>
                    </a:lnTo>
                    <a:lnTo>
                      <a:pt x="6803" y="6388"/>
                    </a:lnTo>
                    <a:cubicBezTo>
                      <a:pt x="7962" y="5250"/>
                      <a:pt x="9120" y="4174"/>
                      <a:pt x="10339" y="2954"/>
                    </a:cubicBezTo>
                    <a:cubicBezTo>
                      <a:pt x="14180" y="-947"/>
                      <a:pt x="20479" y="-988"/>
                      <a:pt x="24380" y="2853"/>
                    </a:cubicBezTo>
                    <a:cubicBezTo>
                      <a:pt x="28282" y="6714"/>
                      <a:pt x="28323" y="12992"/>
                      <a:pt x="24482" y="16894"/>
                    </a:cubicBezTo>
                    <a:lnTo>
                      <a:pt x="24380" y="1699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6" name="Freeform: Shape 138">
                <a:extLst>
                  <a:ext uri="{FF2B5EF4-FFF2-40B4-BE49-F238E27FC236}">
                    <a16:creationId xmlns:a16="http://schemas.microsoft.com/office/drawing/2014/main" id="{C7782ED0-E3C6-99D7-1E63-3DD406DD6B42}"/>
                  </a:ext>
                </a:extLst>
              </p:cNvPr>
              <p:cNvSpPr/>
              <p:nvPr/>
            </p:nvSpPr>
            <p:spPr>
              <a:xfrm>
                <a:off x="8366944" y="4553626"/>
                <a:ext cx="30226" cy="23356"/>
              </a:xfrm>
              <a:custGeom>
                <a:avLst/>
                <a:gdLst>
                  <a:gd name="connsiteX0" fmla="*/ 23225 w 30226"/>
                  <a:gd name="connsiteY0" fmla="*/ 19639 h 23356"/>
                  <a:gd name="connsiteX1" fmla="*/ 13146 w 30226"/>
                  <a:gd name="connsiteY1" fmla="*/ 22870 h 23356"/>
                  <a:gd name="connsiteX2" fmla="*/ 487 w 30226"/>
                  <a:gd name="connsiteY2" fmla="*/ 16347 h 23356"/>
                  <a:gd name="connsiteX3" fmla="*/ 7009 w 30226"/>
                  <a:gd name="connsiteY3" fmla="*/ 3688 h 23356"/>
                  <a:gd name="connsiteX4" fmla="*/ 7029 w 30226"/>
                  <a:gd name="connsiteY4" fmla="*/ 3688 h 23356"/>
                  <a:gd name="connsiteX5" fmla="*/ 7436 w 30226"/>
                  <a:gd name="connsiteY5" fmla="*/ 3545 h 23356"/>
                  <a:gd name="connsiteX6" fmla="*/ 16702 w 30226"/>
                  <a:gd name="connsiteY6" fmla="*/ 599 h 23356"/>
                  <a:gd name="connsiteX7" fmla="*/ 17108 w 30226"/>
                  <a:gd name="connsiteY7" fmla="*/ 477 h 23356"/>
                  <a:gd name="connsiteX8" fmla="*/ 29747 w 30226"/>
                  <a:gd name="connsiteY8" fmla="*/ 7020 h 23356"/>
                  <a:gd name="connsiteX9" fmla="*/ 23225 w 30226"/>
                  <a:gd name="connsiteY9" fmla="*/ 19639 h 2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226" h="23356">
                    <a:moveTo>
                      <a:pt x="23225" y="19639"/>
                    </a:moveTo>
                    <a:lnTo>
                      <a:pt x="13146" y="22870"/>
                    </a:lnTo>
                    <a:cubicBezTo>
                      <a:pt x="7863" y="24577"/>
                      <a:pt x="2173" y="21651"/>
                      <a:pt x="487" y="16347"/>
                    </a:cubicBezTo>
                    <a:cubicBezTo>
                      <a:pt x="-1220" y="11064"/>
                      <a:pt x="1706" y="5374"/>
                      <a:pt x="7009" y="3688"/>
                    </a:cubicBezTo>
                    <a:lnTo>
                      <a:pt x="7029" y="3688"/>
                    </a:lnTo>
                    <a:lnTo>
                      <a:pt x="7436" y="3545"/>
                    </a:lnTo>
                    <a:lnTo>
                      <a:pt x="16702" y="599"/>
                    </a:lnTo>
                    <a:lnTo>
                      <a:pt x="17108" y="477"/>
                    </a:lnTo>
                    <a:cubicBezTo>
                      <a:pt x="22412" y="-1209"/>
                      <a:pt x="28061" y="1717"/>
                      <a:pt x="29747" y="7020"/>
                    </a:cubicBezTo>
                    <a:cubicBezTo>
                      <a:pt x="31434" y="12303"/>
                      <a:pt x="28528" y="17953"/>
                      <a:pt x="23225" y="1963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7" name="Freeform: Shape 139">
                <a:extLst>
                  <a:ext uri="{FF2B5EF4-FFF2-40B4-BE49-F238E27FC236}">
                    <a16:creationId xmlns:a16="http://schemas.microsoft.com/office/drawing/2014/main" id="{CCB5C0F5-9161-ADBE-2C07-2318C73ECE24}"/>
                  </a:ext>
                </a:extLst>
              </p:cNvPr>
              <p:cNvSpPr/>
              <p:nvPr/>
            </p:nvSpPr>
            <p:spPr>
              <a:xfrm>
                <a:off x="8256322" y="4563111"/>
                <a:ext cx="30694" cy="21829"/>
              </a:xfrm>
              <a:custGeom>
                <a:avLst/>
                <a:gdLst>
                  <a:gd name="connsiteX0" fmla="*/ 19038 w 30694"/>
                  <a:gd name="connsiteY0" fmla="*/ 21715 h 21829"/>
                  <a:gd name="connsiteX1" fmla="*/ 8573 w 30694"/>
                  <a:gd name="connsiteY1" fmla="*/ 20110 h 21829"/>
                  <a:gd name="connsiteX2" fmla="*/ 120 w 30694"/>
                  <a:gd name="connsiteY2" fmla="*/ 8589 h 21829"/>
                  <a:gd name="connsiteX3" fmla="*/ 11641 w 30694"/>
                  <a:gd name="connsiteY3" fmla="*/ 115 h 21829"/>
                  <a:gd name="connsiteX4" fmla="*/ 12027 w 30694"/>
                  <a:gd name="connsiteY4" fmla="*/ 176 h 21829"/>
                  <a:gd name="connsiteX5" fmla="*/ 21659 w 30694"/>
                  <a:gd name="connsiteY5" fmla="*/ 1619 h 21829"/>
                  <a:gd name="connsiteX6" fmla="*/ 22065 w 30694"/>
                  <a:gd name="connsiteY6" fmla="*/ 1680 h 21829"/>
                  <a:gd name="connsiteX7" fmla="*/ 30579 w 30694"/>
                  <a:gd name="connsiteY7" fmla="*/ 13222 h 21829"/>
                  <a:gd name="connsiteX8" fmla="*/ 19058 w 30694"/>
                  <a:gd name="connsiteY8" fmla="*/ 21715 h 21829"/>
                  <a:gd name="connsiteX9" fmla="*/ 19038 w 30694"/>
                  <a:gd name="connsiteY9" fmla="*/ 21715 h 21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94" h="21829">
                    <a:moveTo>
                      <a:pt x="19038" y="21715"/>
                    </a:moveTo>
                    <a:lnTo>
                      <a:pt x="8573" y="20110"/>
                    </a:lnTo>
                    <a:cubicBezTo>
                      <a:pt x="3066" y="19277"/>
                      <a:pt x="-734" y="14116"/>
                      <a:pt x="120" y="8589"/>
                    </a:cubicBezTo>
                    <a:cubicBezTo>
                      <a:pt x="953" y="3062"/>
                      <a:pt x="6114" y="-718"/>
                      <a:pt x="11641" y="115"/>
                    </a:cubicBezTo>
                    <a:lnTo>
                      <a:pt x="12027" y="176"/>
                    </a:lnTo>
                    <a:lnTo>
                      <a:pt x="21659" y="1619"/>
                    </a:lnTo>
                    <a:lnTo>
                      <a:pt x="22065" y="1680"/>
                    </a:lnTo>
                    <a:cubicBezTo>
                      <a:pt x="27613" y="2513"/>
                      <a:pt x="31413" y="7674"/>
                      <a:pt x="30579" y="13222"/>
                    </a:cubicBezTo>
                    <a:cubicBezTo>
                      <a:pt x="29746" y="18749"/>
                      <a:pt x="24585" y="22548"/>
                      <a:pt x="19058" y="21715"/>
                    </a:cubicBezTo>
                    <a:lnTo>
                      <a:pt x="19038" y="2171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8" name="Freeform: Shape 140">
                <a:extLst>
                  <a:ext uri="{FF2B5EF4-FFF2-40B4-BE49-F238E27FC236}">
                    <a16:creationId xmlns:a16="http://schemas.microsoft.com/office/drawing/2014/main" id="{6B5A5EA3-F962-912E-7DF0-7AFCC1511D85}"/>
                  </a:ext>
                </a:extLst>
              </p:cNvPr>
              <p:cNvSpPr/>
              <p:nvPr/>
            </p:nvSpPr>
            <p:spPr>
              <a:xfrm>
                <a:off x="8154566" y="4519714"/>
                <a:ext cx="28626" cy="26077"/>
              </a:xfrm>
              <a:custGeom>
                <a:avLst/>
                <a:gdLst>
                  <a:gd name="connsiteX0" fmla="*/ 12854 w 28626"/>
                  <a:gd name="connsiteY0" fmla="*/ 24249 h 26077"/>
                  <a:gd name="connsiteX1" fmla="*/ 4218 w 28626"/>
                  <a:gd name="connsiteY1" fmla="*/ 18133 h 26077"/>
                  <a:gd name="connsiteX2" fmla="*/ 1820 w 28626"/>
                  <a:gd name="connsiteY2" fmla="*/ 4213 h 26077"/>
                  <a:gd name="connsiteX3" fmla="*/ 15740 w 28626"/>
                  <a:gd name="connsiteY3" fmla="*/ 1836 h 26077"/>
                  <a:gd name="connsiteX4" fmla="*/ 16065 w 28626"/>
                  <a:gd name="connsiteY4" fmla="*/ 2060 h 26077"/>
                  <a:gd name="connsiteX5" fmla="*/ 24030 w 28626"/>
                  <a:gd name="connsiteY5" fmla="*/ 7668 h 26077"/>
                  <a:gd name="connsiteX6" fmla="*/ 24376 w 28626"/>
                  <a:gd name="connsiteY6" fmla="*/ 7892 h 26077"/>
                  <a:gd name="connsiteX7" fmla="*/ 26814 w 28626"/>
                  <a:gd name="connsiteY7" fmla="*/ 21831 h 26077"/>
                  <a:gd name="connsiteX8" fmla="*/ 12874 w 28626"/>
                  <a:gd name="connsiteY8" fmla="*/ 24249 h 26077"/>
                  <a:gd name="connsiteX9" fmla="*/ 12854 w 28626"/>
                  <a:gd name="connsiteY9" fmla="*/ 24249 h 26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26" h="26077">
                    <a:moveTo>
                      <a:pt x="12854" y="24249"/>
                    </a:moveTo>
                    <a:lnTo>
                      <a:pt x="4218" y="18133"/>
                    </a:lnTo>
                    <a:cubicBezTo>
                      <a:pt x="-273" y="14963"/>
                      <a:pt x="-1350" y="8724"/>
                      <a:pt x="1820" y="4213"/>
                    </a:cubicBezTo>
                    <a:cubicBezTo>
                      <a:pt x="5011" y="-277"/>
                      <a:pt x="11249" y="-1354"/>
                      <a:pt x="15740" y="1836"/>
                    </a:cubicBezTo>
                    <a:lnTo>
                      <a:pt x="16065" y="2060"/>
                    </a:lnTo>
                    <a:lnTo>
                      <a:pt x="24030" y="7668"/>
                    </a:lnTo>
                    <a:lnTo>
                      <a:pt x="24376" y="7892"/>
                    </a:lnTo>
                    <a:cubicBezTo>
                      <a:pt x="28887" y="11082"/>
                      <a:pt x="29984" y="17320"/>
                      <a:pt x="26814" y="21831"/>
                    </a:cubicBezTo>
                    <a:cubicBezTo>
                      <a:pt x="23644" y="26342"/>
                      <a:pt x="17406" y="27439"/>
                      <a:pt x="12874" y="24249"/>
                    </a:cubicBezTo>
                    <a:lnTo>
                      <a:pt x="12854" y="24249"/>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69" name="Freeform: Shape 141">
                <a:extLst>
                  <a:ext uri="{FF2B5EF4-FFF2-40B4-BE49-F238E27FC236}">
                    <a16:creationId xmlns:a16="http://schemas.microsoft.com/office/drawing/2014/main" id="{2BC1B8DD-CC54-CBEC-4EBD-520F377A78CB}"/>
                  </a:ext>
                </a:extLst>
              </p:cNvPr>
              <p:cNvSpPr/>
              <p:nvPr/>
            </p:nvSpPr>
            <p:spPr>
              <a:xfrm>
                <a:off x="8073984" y="4442963"/>
                <a:ext cx="26918" cy="26916"/>
              </a:xfrm>
              <a:custGeom>
                <a:avLst/>
                <a:gdLst>
                  <a:gd name="connsiteX0" fmla="*/ 10064 w 26918"/>
                  <a:gd name="connsiteY0" fmla="*/ 24028 h 26916"/>
                  <a:gd name="connsiteX1" fmla="*/ 2870 w 26918"/>
                  <a:gd name="connsiteY1" fmla="*/ 16835 h 26916"/>
                  <a:gd name="connsiteX2" fmla="*/ 2891 w 26918"/>
                  <a:gd name="connsiteY2" fmla="*/ 2896 h 26916"/>
                  <a:gd name="connsiteX3" fmla="*/ 16830 w 26918"/>
                  <a:gd name="connsiteY3" fmla="*/ 2896 h 26916"/>
                  <a:gd name="connsiteX4" fmla="*/ 24023 w 26918"/>
                  <a:gd name="connsiteY4" fmla="*/ 10068 h 26916"/>
                  <a:gd name="connsiteX5" fmla="*/ 24023 w 26918"/>
                  <a:gd name="connsiteY5" fmla="*/ 24028 h 26916"/>
                  <a:gd name="connsiteX6" fmla="*/ 10084 w 26918"/>
                  <a:gd name="connsiteY6" fmla="*/ 24028 h 26916"/>
                  <a:gd name="connsiteX7" fmla="*/ 10064 w 26918"/>
                  <a:gd name="connsiteY7" fmla="*/ 24028 h 26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8" h="26916">
                    <a:moveTo>
                      <a:pt x="10064" y="24028"/>
                    </a:moveTo>
                    <a:lnTo>
                      <a:pt x="2870" y="16835"/>
                    </a:lnTo>
                    <a:cubicBezTo>
                      <a:pt x="-970" y="12974"/>
                      <a:pt x="-950" y="6736"/>
                      <a:pt x="2891" y="2896"/>
                    </a:cubicBezTo>
                    <a:cubicBezTo>
                      <a:pt x="6751" y="-965"/>
                      <a:pt x="12969" y="-965"/>
                      <a:pt x="16830" y="2896"/>
                    </a:cubicBezTo>
                    <a:lnTo>
                      <a:pt x="24023" y="10068"/>
                    </a:lnTo>
                    <a:cubicBezTo>
                      <a:pt x="27884" y="13909"/>
                      <a:pt x="27884" y="20168"/>
                      <a:pt x="24023" y="24028"/>
                    </a:cubicBezTo>
                    <a:cubicBezTo>
                      <a:pt x="20183" y="27869"/>
                      <a:pt x="13924" y="27889"/>
                      <a:pt x="10084" y="24028"/>
                    </a:cubicBezTo>
                    <a:lnTo>
                      <a:pt x="10064" y="24028"/>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0" name="Freeform: Shape 142">
                <a:extLst>
                  <a:ext uri="{FF2B5EF4-FFF2-40B4-BE49-F238E27FC236}">
                    <a16:creationId xmlns:a16="http://schemas.microsoft.com/office/drawing/2014/main" id="{083CEF2D-0957-B69F-5A75-3F1263279FE3}"/>
                  </a:ext>
                </a:extLst>
              </p:cNvPr>
              <p:cNvSpPr/>
              <p:nvPr/>
            </p:nvSpPr>
            <p:spPr>
              <a:xfrm>
                <a:off x="7995084" y="4364065"/>
                <a:ext cx="26657" cy="26659"/>
              </a:xfrm>
              <a:custGeom>
                <a:avLst/>
                <a:gdLst>
                  <a:gd name="connsiteX0" fmla="*/ 10020 w 26657"/>
                  <a:gd name="connsiteY0" fmla="*/ 23800 h 26659"/>
                  <a:gd name="connsiteX1" fmla="*/ 2847 w 26657"/>
                  <a:gd name="connsiteY1" fmla="*/ 16607 h 26659"/>
                  <a:gd name="connsiteX2" fmla="*/ 2867 w 26657"/>
                  <a:gd name="connsiteY2" fmla="*/ 2850 h 26659"/>
                  <a:gd name="connsiteX3" fmla="*/ 16604 w 26657"/>
                  <a:gd name="connsiteY3" fmla="*/ 2850 h 26659"/>
                  <a:gd name="connsiteX4" fmla="*/ 23797 w 26657"/>
                  <a:gd name="connsiteY4" fmla="*/ 10023 h 26659"/>
                  <a:gd name="connsiteX5" fmla="*/ 23818 w 26657"/>
                  <a:gd name="connsiteY5" fmla="*/ 23800 h 26659"/>
                  <a:gd name="connsiteX6" fmla="*/ 10041 w 26657"/>
                  <a:gd name="connsiteY6" fmla="*/ 23820 h 26659"/>
                  <a:gd name="connsiteX7" fmla="*/ 10020 w 26657"/>
                  <a:gd name="connsiteY7" fmla="*/ 23800 h 26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57" h="26659">
                    <a:moveTo>
                      <a:pt x="10020" y="23800"/>
                    </a:moveTo>
                    <a:lnTo>
                      <a:pt x="2847" y="16607"/>
                    </a:lnTo>
                    <a:cubicBezTo>
                      <a:pt x="-952" y="12807"/>
                      <a:pt x="-952" y="6650"/>
                      <a:pt x="2867" y="2850"/>
                    </a:cubicBezTo>
                    <a:cubicBezTo>
                      <a:pt x="6668" y="-950"/>
                      <a:pt x="12804" y="-950"/>
                      <a:pt x="16604" y="2850"/>
                    </a:cubicBezTo>
                    <a:lnTo>
                      <a:pt x="23797" y="10023"/>
                    </a:lnTo>
                    <a:cubicBezTo>
                      <a:pt x="27597" y="13823"/>
                      <a:pt x="27617" y="20000"/>
                      <a:pt x="23818" y="23800"/>
                    </a:cubicBezTo>
                    <a:cubicBezTo>
                      <a:pt x="20017" y="27600"/>
                      <a:pt x="13840" y="27620"/>
                      <a:pt x="10041" y="23820"/>
                    </a:cubicBezTo>
                    <a:lnTo>
                      <a:pt x="10020" y="23800"/>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1" name="Freeform: Shape 143">
                <a:extLst>
                  <a:ext uri="{FF2B5EF4-FFF2-40B4-BE49-F238E27FC236}">
                    <a16:creationId xmlns:a16="http://schemas.microsoft.com/office/drawing/2014/main" id="{AC30E69E-9D9C-9039-2D29-B8535A5A2427}"/>
                  </a:ext>
                </a:extLst>
              </p:cNvPr>
              <p:cNvSpPr/>
              <p:nvPr/>
            </p:nvSpPr>
            <p:spPr>
              <a:xfrm>
                <a:off x="7916455" y="4285442"/>
                <a:ext cx="25910" cy="25918"/>
              </a:xfrm>
              <a:custGeom>
                <a:avLst/>
                <a:gdLst>
                  <a:gd name="connsiteX0" fmla="*/ 9868 w 25910"/>
                  <a:gd name="connsiteY0" fmla="*/ 23155 h 25918"/>
                  <a:gd name="connsiteX1" fmla="*/ 2715 w 25910"/>
                  <a:gd name="connsiteY1" fmla="*/ 15941 h 25918"/>
                  <a:gd name="connsiteX2" fmla="*/ 2756 w 25910"/>
                  <a:gd name="connsiteY2" fmla="*/ 2713 h 25918"/>
                  <a:gd name="connsiteX3" fmla="*/ 15944 w 25910"/>
                  <a:gd name="connsiteY3" fmla="*/ 2713 h 25918"/>
                  <a:gd name="connsiteX4" fmla="*/ 23137 w 25910"/>
                  <a:gd name="connsiteY4" fmla="*/ 9865 h 25918"/>
                  <a:gd name="connsiteX5" fmla="*/ 23198 w 25910"/>
                  <a:gd name="connsiteY5" fmla="*/ 23155 h 25918"/>
                  <a:gd name="connsiteX6" fmla="*/ 9929 w 25910"/>
                  <a:gd name="connsiteY6" fmla="*/ 23195 h 25918"/>
                  <a:gd name="connsiteX7" fmla="*/ 9868 w 25910"/>
                  <a:gd name="connsiteY7" fmla="*/ 23155 h 2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10" h="25918">
                    <a:moveTo>
                      <a:pt x="9868" y="23155"/>
                    </a:moveTo>
                    <a:lnTo>
                      <a:pt x="2715" y="15941"/>
                    </a:lnTo>
                    <a:cubicBezTo>
                      <a:pt x="-922" y="12283"/>
                      <a:pt x="-902" y="6350"/>
                      <a:pt x="2756" y="2713"/>
                    </a:cubicBezTo>
                    <a:cubicBezTo>
                      <a:pt x="6414" y="-904"/>
                      <a:pt x="12306" y="-904"/>
                      <a:pt x="15944" y="2713"/>
                    </a:cubicBezTo>
                    <a:lnTo>
                      <a:pt x="23137" y="9865"/>
                    </a:lnTo>
                    <a:cubicBezTo>
                      <a:pt x="26815" y="13523"/>
                      <a:pt x="26835" y="19477"/>
                      <a:pt x="23198" y="23155"/>
                    </a:cubicBezTo>
                    <a:cubicBezTo>
                      <a:pt x="19540" y="26832"/>
                      <a:pt x="13607" y="26832"/>
                      <a:pt x="9929" y="23195"/>
                    </a:cubicBezTo>
                    <a:lnTo>
                      <a:pt x="9868" y="2315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2" name="Freeform: Shape 144">
                <a:extLst>
                  <a:ext uri="{FF2B5EF4-FFF2-40B4-BE49-F238E27FC236}">
                    <a16:creationId xmlns:a16="http://schemas.microsoft.com/office/drawing/2014/main" id="{A047D22F-DB45-4C17-817D-FABE73275C51}"/>
                  </a:ext>
                </a:extLst>
              </p:cNvPr>
              <p:cNvSpPr/>
              <p:nvPr/>
            </p:nvSpPr>
            <p:spPr>
              <a:xfrm>
                <a:off x="7837822" y="4206809"/>
                <a:ext cx="25130" cy="25128"/>
              </a:xfrm>
              <a:custGeom>
                <a:avLst/>
                <a:gdLst>
                  <a:gd name="connsiteX0" fmla="*/ 9761 w 25130"/>
                  <a:gd name="connsiteY0" fmla="*/ 22479 h 25128"/>
                  <a:gd name="connsiteX1" fmla="*/ 2609 w 25130"/>
                  <a:gd name="connsiteY1" fmla="*/ 15266 h 25128"/>
                  <a:gd name="connsiteX2" fmla="*/ 2649 w 25130"/>
                  <a:gd name="connsiteY2" fmla="*/ 2606 h 25128"/>
                  <a:gd name="connsiteX3" fmla="*/ 15268 w 25130"/>
                  <a:gd name="connsiteY3" fmla="*/ 2606 h 25128"/>
                  <a:gd name="connsiteX4" fmla="*/ 22482 w 25130"/>
                  <a:gd name="connsiteY4" fmla="*/ 9759 h 25128"/>
                  <a:gd name="connsiteX5" fmla="*/ 22522 w 25130"/>
                  <a:gd name="connsiteY5" fmla="*/ 22479 h 25128"/>
                  <a:gd name="connsiteX6" fmla="*/ 9802 w 25130"/>
                  <a:gd name="connsiteY6" fmla="*/ 22520 h 25128"/>
                  <a:gd name="connsiteX7" fmla="*/ 9761 w 25130"/>
                  <a:gd name="connsiteY7" fmla="*/ 22479 h 2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30" h="25128">
                    <a:moveTo>
                      <a:pt x="9761" y="22479"/>
                    </a:moveTo>
                    <a:lnTo>
                      <a:pt x="2609" y="15266"/>
                    </a:lnTo>
                    <a:cubicBezTo>
                      <a:pt x="-886" y="11750"/>
                      <a:pt x="-866" y="6081"/>
                      <a:pt x="2649" y="2606"/>
                    </a:cubicBezTo>
                    <a:cubicBezTo>
                      <a:pt x="6144" y="-869"/>
                      <a:pt x="11773" y="-869"/>
                      <a:pt x="15268" y="2606"/>
                    </a:cubicBezTo>
                    <a:lnTo>
                      <a:pt x="22482" y="9759"/>
                    </a:lnTo>
                    <a:cubicBezTo>
                      <a:pt x="25997" y="13254"/>
                      <a:pt x="26017" y="18943"/>
                      <a:pt x="22522" y="22479"/>
                    </a:cubicBezTo>
                    <a:cubicBezTo>
                      <a:pt x="19027" y="25994"/>
                      <a:pt x="13317" y="26015"/>
                      <a:pt x="9802" y="22520"/>
                    </a:cubicBezTo>
                    <a:lnTo>
                      <a:pt x="9761" y="22479"/>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3" name="Freeform: Shape 145">
                <a:extLst>
                  <a:ext uri="{FF2B5EF4-FFF2-40B4-BE49-F238E27FC236}">
                    <a16:creationId xmlns:a16="http://schemas.microsoft.com/office/drawing/2014/main" id="{F6B2C559-0473-CCDD-B66D-38DE3CCD75B1}"/>
                  </a:ext>
                </a:extLst>
              </p:cNvPr>
              <p:cNvSpPr/>
              <p:nvPr/>
            </p:nvSpPr>
            <p:spPr>
              <a:xfrm>
                <a:off x="7759184" y="4128170"/>
                <a:ext cx="24353" cy="24353"/>
              </a:xfrm>
              <a:custGeom>
                <a:avLst/>
                <a:gdLst>
                  <a:gd name="connsiteX0" fmla="*/ 9639 w 24353"/>
                  <a:gd name="connsiteY0" fmla="*/ 21808 h 24353"/>
                  <a:gd name="connsiteX1" fmla="*/ 2487 w 24353"/>
                  <a:gd name="connsiteY1" fmla="*/ 14595 h 24353"/>
                  <a:gd name="connsiteX2" fmla="*/ 2527 w 24353"/>
                  <a:gd name="connsiteY2" fmla="*/ 2484 h 24353"/>
                  <a:gd name="connsiteX3" fmla="*/ 14597 w 24353"/>
                  <a:gd name="connsiteY3" fmla="*/ 2484 h 24353"/>
                  <a:gd name="connsiteX4" fmla="*/ 21811 w 24353"/>
                  <a:gd name="connsiteY4" fmla="*/ 9637 h 24353"/>
                  <a:gd name="connsiteX5" fmla="*/ 21852 w 24353"/>
                  <a:gd name="connsiteY5" fmla="*/ 21808 h 24353"/>
                  <a:gd name="connsiteX6" fmla="*/ 9680 w 24353"/>
                  <a:gd name="connsiteY6" fmla="*/ 21869 h 24353"/>
                  <a:gd name="connsiteX7" fmla="*/ 9639 w 24353"/>
                  <a:gd name="connsiteY7" fmla="*/ 21808 h 24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53" h="24353">
                    <a:moveTo>
                      <a:pt x="9639" y="21808"/>
                    </a:moveTo>
                    <a:lnTo>
                      <a:pt x="2487" y="14595"/>
                    </a:lnTo>
                    <a:cubicBezTo>
                      <a:pt x="-846" y="11242"/>
                      <a:pt x="-825" y="5816"/>
                      <a:pt x="2527" y="2484"/>
                    </a:cubicBezTo>
                    <a:cubicBezTo>
                      <a:pt x="5880" y="-828"/>
                      <a:pt x="11265" y="-828"/>
                      <a:pt x="14597" y="2484"/>
                    </a:cubicBezTo>
                    <a:lnTo>
                      <a:pt x="21811" y="9637"/>
                    </a:lnTo>
                    <a:cubicBezTo>
                      <a:pt x="25184" y="12989"/>
                      <a:pt x="25204" y="18435"/>
                      <a:pt x="21852" y="21808"/>
                    </a:cubicBezTo>
                    <a:cubicBezTo>
                      <a:pt x="18519" y="25181"/>
                      <a:pt x="13073" y="25202"/>
                      <a:pt x="9680" y="21869"/>
                    </a:cubicBezTo>
                    <a:lnTo>
                      <a:pt x="9639" y="21808"/>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4" name="Freeform: Shape 146">
                <a:extLst>
                  <a:ext uri="{FF2B5EF4-FFF2-40B4-BE49-F238E27FC236}">
                    <a16:creationId xmlns:a16="http://schemas.microsoft.com/office/drawing/2014/main" id="{AA47C7AE-8DCA-BA22-FA37-4D3DD7B2F293}"/>
                  </a:ext>
                </a:extLst>
              </p:cNvPr>
              <p:cNvSpPr/>
              <p:nvPr/>
            </p:nvSpPr>
            <p:spPr>
              <a:xfrm>
                <a:off x="7680817" y="4049811"/>
                <a:ext cx="23076" cy="23076"/>
              </a:xfrm>
              <a:custGeom>
                <a:avLst/>
                <a:gdLst>
                  <a:gd name="connsiteX0" fmla="*/ 9429 w 23076"/>
                  <a:gd name="connsiteY0" fmla="*/ 20696 h 23076"/>
                  <a:gd name="connsiteX1" fmla="*/ 2276 w 23076"/>
                  <a:gd name="connsiteY1" fmla="*/ 13482 h 23076"/>
                  <a:gd name="connsiteX2" fmla="*/ 2357 w 23076"/>
                  <a:gd name="connsiteY2" fmla="*/ 2286 h 23076"/>
                  <a:gd name="connsiteX3" fmla="*/ 13493 w 23076"/>
                  <a:gd name="connsiteY3" fmla="*/ 2286 h 23076"/>
                  <a:gd name="connsiteX4" fmla="*/ 20706 w 23076"/>
                  <a:gd name="connsiteY4" fmla="*/ 9418 h 23076"/>
                  <a:gd name="connsiteX5" fmla="*/ 20767 w 23076"/>
                  <a:gd name="connsiteY5" fmla="*/ 20696 h 23076"/>
                  <a:gd name="connsiteX6" fmla="*/ 9490 w 23076"/>
                  <a:gd name="connsiteY6" fmla="*/ 20777 h 23076"/>
                  <a:gd name="connsiteX7" fmla="*/ 9429 w 23076"/>
                  <a:gd name="connsiteY7" fmla="*/ 20696 h 23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76" h="23076">
                    <a:moveTo>
                      <a:pt x="9429" y="20696"/>
                    </a:moveTo>
                    <a:lnTo>
                      <a:pt x="2276" y="13482"/>
                    </a:lnTo>
                    <a:cubicBezTo>
                      <a:pt x="-792" y="10373"/>
                      <a:pt x="-752" y="5354"/>
                      <a:pt x="2357" y="2286"/>
                    </a:cubicBezTo>
                    <a:cubicBezTo>
                      <a:pt x="5446" y="-762"/>
                      <a:pt x="10404" y="-762"/>
                      <a:pt x="13493" y="2286"/>
                    </a:cubicBezTo>
                    <a:lnTo>
                      <a:pt x="20706" y="9418"/>
                    </a:lnTo>
                    <a:cubicBezTo>
                      <a:pt x="23835" y="12527"/>
                      <a:pt x="23876" y="17567"/>
                      <a:pt x="20767" y="20696"/>
                    </a:cubicBezTo>
                    <a:cubicBezTo>
                      <a:pt x="17678" y="23845"/>
                      <a:pt x="12619" y="23866"/>
                      <a:pt x="9490" y="20777"/>
                    </a:cubicBezTo>
                    <a:cubicBezTo>
                      <a:pt x="9490" y="20757"/>
                      <a:pt x="9449" y="20716"/>
                      <a:pt x="9429" y="2069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5" name="Freeform: Shape 147">
                <a:extLst>
                  <a:ext uri="{FF2B5EF4-FFF2-40B4-BE49-F238E27FC236}">
                    <a16:creationId xmlns:a16="http://schemas.microsoft.com/office/drawing/2014/main" id="{E522E9C6-A411-C1AF-F6CC-3B6C21973425}"/>
                  </a:ext>
                </a:extLst>
              </p:cNvPr>
              <p:cNvSpPr/>
              <p:nvPr/>
            </p:nvSpPr>
            <p:spPr>
              <a:xfrm>
                <a:off x="7602433" y="3971424"/>
                <a:ext cx="21788" cy="21790"/>
              </a:xfrm>
              <a:custGeom>
                <a:avLst/>
                <a:gdLst>
                  <a:gd name="connsiteX0" fmla="*/ 9235 w 21788"/>
                  <a:gd name="connsiteY0" fmla="*/ 19611 h 21790"/>
                  <a:gd name="connsiteX1" fmla="*/ 2103 w 21788"/>
                  <a:gd name="connsiteY1" fmla="*/ 12378 h 21790"/>
                  <a:gd name="connsiteX2" fmla="*/ 2164 w 21788"/>
                  <a:gd name="connsiteY2" fmla="*/ 2096 h 21790"/>
                  <a:gd name="connsiteX3" fmla="*/ 12385 w 21788"/>
                  <a:gd name="connsiteY3" fmla="*/ 2096 h 21790"/>
                  <a:gd name="connsiteX4" fmla="*/ 19619 w 21788"/>
                  <a:gd name="connsiteY4" fmla="*/ 9248 h 21790"/>
                  <a:gd name="connsiteX5" fmla="*/ 19660 w 21788"/>
                  <a:gd name="connsiteY5" fmla="*/ 19611 h 21790"/>
                  <a:gd name="connsiteX6" fmla="*/ 9296 w 21788"/>
                  <a:gd name="connsiteY6" fmla="*/ 19672 h 21790"/>
                  <a:gd name="connsiteX7" fmla="*/ 9235 w 21788"/>
                  <a:gd name="connsiteY7" fmla="*/ 19611 h 2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88" h="21790">
                    <a:moveTo>
                      <a:pt x="9235" y="19611"/>
                    </a:moveTo>
                    <a:lnTo>
                      <a:pt x="2103" y="12378"/>
                    </a:lnTo>
                    <a:cubicBezTo>
                      <a:pt x="-721" y="9533"/>
                      <a:pt x="-701" y="4920"/>
                      <a:pt x="2164" y="2096"/>
                    </a:cubicBezTo>
                    <a:cubicBezTo>
                      <a:pt x="4989" y="-709"/>
                      <a:pt x="9561" y="-688"/>
                      <a:pt x="12385" y="2096"/>
                    </a:cubicBezTo>
                    <a:lnTo>
                      <a:pt x="19619" y="9248"/>
                    </a:lnTo>
                    <a:cubicBezTo>
                      <a:pt x="22484" y="12093"/>
                      <a:pt x="22525" y="16726"/>
                      <a:pt x="19660" y="19611"/>
                    </a:cubicBezTo>
                    <a:cubicBezTo>
                      <a:pt x="16815" y="22497"/>
                      <a:pt x="12182" y="22517"/>
                      <a:pt x="9296" y="19672"/>
                    </a:cubicBezTo>
                    <a:cubicBezTo>
                      <a:pt x="9296" y="19652"/>
                      <a:pt x="9256" y="19611"/>
                      <a:pt x="9235" y="1961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6" name="Freeform: Shape 148">
                <a:extLst>
                  <a:ext uri="{FF2B5EF4-FFF2-40B4-BE49-F238E27FC236}">
                    <a16:creationId xmlns:a16="http://schemas.microsoft.com/office/drawing/2014/main" id="{4D6951CF-9F80-6534-0FA7-A128FD10122B}"/>
                  </a:ext>
                </a:extLst>
              </p:cNvPr>
              <p:cNvSpPr/>
              <p:nvPr/>
            </p:nvSpPr>
            <p:spPr>
              <a:xfrm>
                <a:off x="7524186" y="3893177"/>
                <a:ext cx="20269" cy="20264"/>
              </a:xfrm>
              <a:custGeom>
                <a:avLst/>
                <a:gdLst>
                  <a:gd name="connsiteX0" fmla="*/ 8987 w 20269"/>
                  <a:gd name="connsiteY0" fmla="*/ 18306 h 20264"/>
                  <a:gd name="connsiteX1" fmla="*/ 1875 w 20269"/>
                  <a:gd name="connsiteY1" fmla="*/ 11052 h 20264"/>
                  <a:gd name="connsiteX2" fmla="*/ 1936 w 20269"/>
                  <a:gd name="connsiteY2" fmla="*/ 1867 h 20264"/>
                  <a:gd name="connsiteX3" fmla="*/ 11059 w 20269"/>
                  <a:gd name="connsiteY3" fmla="*/ 1867 h 20264"/>
                  <a:gd name="connsiteX4" fmla="*/ 18293 w 20269"/>
                  <a:gd name="connsiteY4" fmla="*/ 8979 h 20264"/>
                  <a:gd name="connsiteX5" fmla="*/ 18374 w 20269"/>
                  <a:gd name="connsiteY5" fmla="*/ 18306 h 20264"/>
                  <a:gd name="connsiteX6" fmla="*/ 9068 w 20269"/>
                  <a:gd name="connsiteY6" fmla="*/ 18367 h 20264"/>
                  <a:gd name="connsiteX7" fmla="*/ 8987 w 20269"/>
                  <a:gd name="connsiteY7" fmla="*/ 18306 h 20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269" h="20264">
                    <a:moveTo>
                      <a:pt x="8987" y="18306"/>
                    </a:moveTo>
                    <a:lnTo>
                      <a:pt x="1875" y="11052"/>
                    </a:lnTo>
                    <a:cubicBezTo>
                      <a:pt x="-645" y="8491"/>
                      <a:pt x="-625" y="4387"/>
                      <a:pt x="1936" y="1867"/>
                    </a:cubicBezTo>
                    <a:cubicBezTo>
                      <a:pt x="4476" y="-632"/>
                      <a:pt x="8540" y="-612"/>
                      <a:pt x="11059" y="1867"/>
                    </a:cubicBezTo>
                    <a:lnTo>
                      <a:pt x="18293" y="8979"/>
                    </a:lnTo>
                    <a:cubicBezTo>
                      <a:pt x="20894" y="11539"/>
                      <a:pt x="20935" y="15705"/>
                      <a:pt x="18374" y="18306"/>
                    </a:cubicBezTo>
                    <a:cubicBezTo>
                      <a:pt x="15834" y="20886"/>
                      <a:pt x="11669" y="20927"/>
                      <a:pt x="9068" y="18367"/>
                    </a:cubicBezTo>
                    <a:cubicBezTo>
                      <a:pt x="9048" y="18346"/>
                      <a:pt x="9007" y="18306"/>
                      <a:pt x="8987" y="1830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7" name="Freeform: Shape 149">
                <a:extLst>
                  <a:ext uri="{FF2B5EF4-FFF2-40B4-BE49-F238E27FC236}">
                    <a16:creationId xmlns:a16="http://schemas.microsoft.com/office/drawing/2014/main" id="{875A6FD8-ECCD-32DB-CA67-89D8B9B2C667}"/>
                  </a:ext>
                </a:extLst>
              </p:cNvPr>
              <p:cNvSpPr/>
              <p:nvPr/>
            </p:nvSpPr>
            <p:spPr>
              <a:xfrm>
                <a:off x="7446050" y="3815040"/>
                <a:ext cx="18473" cy="18472"/>
              </a:xfrm>
              <a:custGeom>
                <a:avLst/>
                <a:gdLst>
                  <a:gd name="connsiteX0" fmla="*/ 8748 w 18473"/>
                  <a:gd name="connsiteY0" fmla="*/ 16777 h 18472"/>
                  <a:gd name="connsiteX1" fmla="*/ 1615 w 18473"/>
                  <a:gd name="connsiteY1" fmla="*/ 9535 h 18472"/>
                  <a:gd name="connsiteX2" fmla="*/ 1677 w 18473"/>
                  <a:gd name="connsiteY2" fmla="*/ 1608 h 18472"/>
                  <a:gd name="connsiteX3" fmla="*/ 9541 w 18473"/>
                  <a:gd name="connsiteY3" fmla="*/ 1608 h 18472"/>
                  <a:gd name="connsiteX4" fmla="*/ 16774 w 18473"/>
                  <a:gd name="connsiteY4" fmla="*/ 8734 h 18472"/>
                  <a:gd name="connsiteX5" fmla="*/ 16835 w 18473"/>
                  <a:gd name="connsiteY5" fmla="*/ 16775 h 18472"/>
                  <a:gd name="connsiteX6" fmla="*/ 8809 w 18473"/>
                  <a:gd name="connsiteY6" fmla="*/ 16840 h 18472"/>
                  <a:gd name="connsiteX7" fmla="*/ 8748 w 18473"/>
                  <a:gd name="connsiteY7" fmla="*/ 16777 h 1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73" h="18472">
                    <a:moveTo>
                      <a:pt x="8748" y="16777"/>
                    </a:moveTo>
                    <a:lnTo>
                      <a:pt x="1615" y="9535"/>
                    </a:lnTo>
                    <a:cubicBezTo>
                      <a:pt x="-558" y="7328"/>
                      <a:pt x="-539" y="3780"/>
                      <a:pt x="1677" y="1608"/>
                    </a:cubicBezTo>
                    <a:cubicBezTo>
                      <a:pt x="3851" y="-540"/>
                      <a:pt x="7366" y="-532"/>
                      <a:pt x="9541" y="1608"/>
                    </a:cubicBezTo>
                    <a:lnTo>
                      <a:pt x="16774" y="8734"/>
                    </a:lnTo>
                    <a:cubicBezTo>
                      <a:pt x="19010" y="10937"/>
                      <a:pt x="19050" y="14538"/>
                      <a:pt x="16835" y="16775"/>
                    </a:cubicBezTo>
                    <a:cubicBezTo>
                      <a:pt x="14641" y="19012"/>
                      <a:pt x="11044" y="19042"/>
                      <a:pt x="8809" y="16840"/>
                    </a:cubicBezTo>
                    <a:cubicBezTo>
                      <a:pt x="8789" y="16825"/>
                      <a:pt x="8748" y="16791"/>
                      <a:pt x="8748" y="16777"/>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8" name="Freeform: Shape 150">
                <a:extLst>
                  <a:ext uri="{FF2B5EF4-FFF2-40B4-BE49-F238E27FC236}">
                    <a16:creationId xmlns:a16="http://schemas.microsoft.com/office/drawing/2014/main" id="{F8E6AF61-4B7D-E1DB-F20D-4DC233FA927E}"/>
                  </a:ext>
                </a:extLst>
              </p:cNvPr>
              <p:cNvSpPr/>
              <p:nvPr/>
            </p:nvSpPr>
            <p:spPr>
              <a:xfrm>
                <a:off x="7368043" y="3736893"/>
                <a:ext cx="16499" cy="16641"/>
              </a:xfrm>
              <a:custGeom>
                <a:avLst/>
                <a:gdLst>
                  <a:gd name="connsiteX0" fmla="*/ 8401 w 16499"/>
                  <a:gd name="connsiteY0" fmla="*/ 15206 h 16641"/>
                  <a:gd name="connsiteX1" fmla="*/ 1269 w 16499"/>
                  <a:gd name="connsiteY1" fmla="*/ 7785 h 16641"/>
                  <a:gd name="connsiteX2" fmla="*/ 1431 w 16499"/>
                  <a:gd name="connsiteY2" fmla="*/ 1277 h 16641"/>
                  <a:gd name="connsiteX3" fmla="*/ 7853 w 16499"/>
                  <a:gd name="connsiteY3" fmla="*/ 1348 h 16641"/>
                  <a:gd name="connsiteX4" fmla="*/ 7974 w 16499"/>
                  <a:gd name="connsiteY4" fmla="*/ 1460 h 16641"/>
                  <a:gd name="connsiteX5" fmla="*/ 15066 w 16499"/>
                  <a:gd name="connsiteY5" fmla="*/ 8547 h 16641"/>
                  <a:gd name="connsiteX6" fmla="*/ 15188 w 16499"/>
                  <a:gd name="connsiteY6" fmla="*/ 15206 h 16641"/>
                  <a:gd name="connsiteX7" fmla="*/ 8523 w 16499"/>
                  <a:gd name="connsiteY7" fmla="*/ 15316 h 16641"/>
                  <a:gd name="connsiteX8" fmla="*/ 8462 w 16499"/>
                  <a:gd name="connsiteY8" fmla="*/ 15265 h 16641"/>
                  <a:gd name="connsiteX9" fmla="*/ 8401 w 16499"/>
                  <a:gd name="connsiteY9" fmla="*/ 15206 h 16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99" h="16641">
                    <a:moveTo>
                      <a:pt x="8401" y="15206"/>
                    </a:moveTo>
                    <a:cubicBezTo>
                      <a:pt x="6044" y="12823"/>
                      <a:pt x="3646" y="10271"/>
                      <a:pt x="1269" y="7785"/>
                    </a:cubicBezTo>
                    <a:cubicBezTo>
                      <a:pt x="-479" y="5948"/>
                      <a:pt x="-418" y="3035"/>
                      <a:pt x="1431" y="1277"/>
                    </a:cubicBezTo>
                    <a:cubicBezTo>
                      <a:pt x="3240" y="-456"/>
                      <a:pt x="6085" y="-418"/>
                      <a:pt x="7853" y="1348"/>
                    </a:cubicBezTo>
                    <a:lnTo>
                      <a:pt x="7974" y="1460"/>
                    </a:lnTo>
                    <a:cubicBezTo>
                      <a:pt x="10332" y="3821"/>
                      <a:pt x="12607" y="6172"/>
                      <a:pt x="15066" y="8547"/>
                    </a:cubicBezTo>
                    <a:cubicBezTo>
                      <a:pt x="16936" y="10356"/>
                      <a:pt x="16976" y="13337"/>
                      <a:pt x="15188" y="15206"/>
                    </a:cubicBezTo>
                    <a:cubicBezTo>
                      <a:pt x="13359" y="17076"/>
                      <a:pt x="10393" y="17124"/>
                      <a:pt x="8523" y="15316"/>
                    </a:cubicBezTo>
                    <a:cubicBezTo>
                      <a:pt x="8503" y="15300"/>
                      <a:pt x="8482" y="15284"/>
                      <a:pt x="8462" y="15265"/>
                    </a:cubicBezTo>
                    <a:lnTo>
                      <a:pt x="8401" y="15206"/>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79" name="Freeform: Shape 151">
                <a:extLst>
                  <a:ext uri="{FF2B5EF4-FFF2-40B4-BE49-F238E27FC236}">
                    <a16:creationId xmlns:a16="http://schemas.microsoft.com/office/drawing/2014/main" id="{E195A9E7-65AC-2256-2B51-883E1BBE91F4}"/>
                  </a:ext>
                </a:extLst>
              </p:cNvPr>
              <p:cNvSpPr/>
              <p:nvPr/>
            </p:nvSpPr>
            <p:spPr>
              <a:xfrm>
                <a:off x="7313538" y="3642240"/>
                <a:ext cx="10222" cy="16827"/>
              </a:xfrm>
              <a:custGeom>
                <a:avLst/>
                <a:gdLst>
                  <a:gd name="connsiteX0" fmla="*/ 3267 w 10222"/>
                  <a:gd name="connsiteY0" fmla="*/ 14332 h 16827"/>
                  <a:gd name="connsiteX1" fmla="*/ 158 w 10222"/>
                  <a:gd name="connsiteY1" fmla="*/ 4501 h 16827"/>
                  <a:gd name="connsiteX2" fmla="*/ 2414 w 10222"/>
                  <a:gd name="connsiteY2" fmla="*/ 161 h 16827"/>
                  <a:gd name="connsiteX3" fmla="*/ 6742 w 10222"/>
                  <a:gd name="connsiteY3" fmla="*/ 2349 h 16827"/>
                  <a:gd name="connsiteX4" fmla="*/ 6782 w 10222"/>
                  <a:gd name="connsiteY4" fmla="*/ 2492 h 16827"/>
                  <a:gd name="connsiteX5" fmla="*/ 9993 w 10222"/>
                  <a:gd name="connsiteY5" fmla="*/ 11977 h 16827"/>
                  <a:gd name="connsiteX6" fmla="*/ 10034 w 10222"/>
                  <a:gd name="connsiteY6" fmla="*/ 12119 h 16827"/>
                  <a:gd name="connsiteX7" fmla="*/ 7798 w 10222"/>
                  <a:gd name="connsiteY7" fmla="*/ 16639 h 16827"/>
                  <a:gd name="connsiteX8" fmla="*/ 3287 w 10222"/>
                  <a:gd name="connsiteY8" fmla="*/ 14403 h 16827"/>
                  <a:gd name="connsiteX9" fmla="*/ 3267 w 10222"/>
                  <a:gd name="connsiteY9" fmla="*/ 14332 h 1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22" h="16827">
                    <a:moveTo>
                      <a:pt x="3267" y="14332"/>
                    </a:moveTo>
                    <a:lnTo>
                      <a:pt x="158" y="4501"/>
                    </a:lnTo>
                    <a:cubicBezTo>
                      <a:pt x="-411" y="2679"/>
                      <a:pt x="605" y="736"/>
                      <a:pt x="2414" y="161"/>
                    </a:cubicBezTo>
                    <a:cubicBezTo>
                      <a:pt x="4222" y="-406"/>
                      <a:pt x="6132" y="571"/>
                      <a:pt x="6742" y="2349"/>
                    </a:cubicBezTo>
                    <a:lnTo>
                      <a:pt x="6782" y="2492"/>
                    </a:lnTo>
                    <a:lnTo>
                      <a:pt x="9993" y="11977"/>
                    </a:lnTo>
                    <a:lnTo>
                      <a:pt x="10034" y="12119"/>
                    </a:lnTo>
                    <a:cubicBezTo>
                      <a:pt x="10663" y="13985"/>
                      <a:pt x="9668" y="16009"/>
                      <a:pt x="7798" y="16639"/>
                    </a:cubicBezTo>
                    <a:cubicBezTo>
                      <a:pt x="5929" y="17268"/>
                      <a:pt x="3918" y="16269"/>
                      <a:pt x="3287" y="14403"/>
                    </a:cubicBezTo>
                    <a:cubicBezTo>
                      <a:pt x="3267" y="14383"/>
                      <a:pt x="3267" y="14348"/>
                      <a:pt x="3267" y="1433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0" name="Freeform: Shape 152">
                <a:extLst>
                  <a:ext uri="{FF2B5EF4-FFF2-40B4-BE49-F238E27FC236}">
                    <a16:creationId xmlns:a16="http://schemas.microsoft.com/office/drawing/2014/main" id="{2E6EE80E-2132-5B38-CF7D-C60B01EFCC97}"/>
                  </a:ext>
                </a:extLst>
              </p:cNvPr>
              <p:cNvSpPr/>
              <p:nvPr/>
            </p:nvSpPr>
            <p:spPr>
              <a:xfrm>
                <a:off x="7306138" y="3533033"/>
                <a:ext cx="5867" cy="14526"/>
              </a:xfrm>
              <a:custGeom>
                <a:avLst/>
                <a:gdLst>
                  <a:gd name="connsiteX0" fmla="*/ 40 w 5867"/>
                  <a:gd name="connsiteY0" fmla="*/ 11919 h 14526"/>
                  <a:gd name="connsiteX1" fmla="*/ 1625 w 5867"/>
                  <a:gd name="connsiteY1" fmla="*/ 1798 h 14526"/>
                  <a:gd name="connsiteX2" fmla="*/ 4063 w 5867"/>
                  <a:gd name="connsiteY2" fmla="*/ 26 h 14526"/>
                  <a:gd name="connsiteX3" fmla="*/ 5851 w 5867"/>
                  <a:gd name="connsiteY3" fmla="*/ 2406 h 14526"/>
                  <a:gd name="connsiteX4" fmla="*/ 5831 w 5867"/>
                  <a:gd name="connsiteY4" fmla="*/ 2497 h 14526"/>
                  <a:gd name="connsiteX5" fmla="*/ 4510 w 5867"/>
                  <a:gd name="connsiteY5" fmla="*/ 12472 h 14526"/>
                  <a:gd name="connsiteX6" fmla="*/ 4490 w 5867"/>
                  <a:gd name="connsiteY6" fmla="*/ 12566 h 14526"/>
                  <a:gd name="connsiteX7" fmla="*/ 1970 w 5867"/>
                  <a:gd name="connsiteY7" fmla="*/ 14506 h 14526"/>
                  <a:gd name="connsiteX8" fmla="*/ 19 w 5867"/>
                  <a:gd name="connsiteY8" fmla="*/ 11972 h 14526"/>
                  <a:gd name="connsiteX9" fmla="*/ 40 w 5867"/>
                  <a:gd name="connsiteY9" fmla="*/ 11919 h 1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67" h="14526">
                    <a:moveTo>
                      <a:pt x="40" y="11919"/>
                    </a:moveTo>
                    <a:lnTo>
                      <a:pt x="1625" y="1798"/>
                    </a:lnTo>
                    <a:cubicBezTo>
                      <a:pt x="1807" y="636"/>
                      <a:pt x="2905" y="-157"/>
                      <a:pt x="4063" y="26"/>
                    </a:cubicBezTo>
                    <a:cubicBezTo>
                      <a:pt x="5201" y="207"/>
                      <a:pt x="5993" y="1266"/>
                      <a:pt x="5851" y="2406"/>
                    </a:cubicBezTo>
                    <a:lnTo>
                      <a:pt x="5831" y="2497"/>
                    </a:lnTo>
                    <a:lnTo>
                      <a:pt x="4510" y="12472"/>
                    </a:lnTo>
                    <a:lnTo>
                      <a:pt x="4490" y="12566"/>
                    </a:lnTo>
                    <a:cubicBezTo>
                      <a:pt x="4327" y="13801"/>
                      <a:pt x="3210" y="14671"/>
                      <a:pt x="1970" y="14506"/>
                    </a:cubicBezTo>
                    <a:cubicBezTo>
                      <a:pt x="730" y="14342"/>
                      <a:pt x="-143" y="13208"/>
                      <a:pt x="19" y="11972"/>
                    </a:cubicBezTo>
                    <a:cubicBezTo>
                      <a:pt x="19" y="11960"/>
                      <a:pt x="40" y="11934"/>
                      <a:pt x="40" y="1191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81" name="Freeform: Shape 153">
                <a:extLst>
                  <a:ext uri="{FF2B5EF4-FFF2-40B4-BE49-F238E27FC236}">
                    <a16:creationId xmlns:a16="http://schemas.microsoft.com/office/drawing/2014/main" id="{0D5977EA-DAB9-6EFD-1F3B-E4292578E3E8}"/>
                  </a:ext>
                </a:extLst>
              </p:cNvPr>
              <p:cNvSpPr/>
              <p:nvPr/>
            </p:nvSpPr>
            <p:spPr>
              <a:xfrm>
                <a:off x="7346103" y="3432407"/>
                <a:ext cx="7113" cy="9665"/>
              </a:xfrm>
              <a:custGeom>
                <a:avLst/>
                <a:gdLst>
                  <a:gd name="connsiteX0" fmla="*/ 125 w 7113"/>
                  <a:gd name="connsiteY0" fmla="*/ 8516 h 9665"/>
                  <a:gd name="connsiteX1" fmla="*/ 6079 w 7113"/>
                  <a:gd name="connsiteY1" fmla="*/ 239 h 9665"/>
                  <a:gd name="connsiteX2" fmla="*/ 6872 w 7113"/>
                  <a:gd name="connsiteY2" fmla="*/ 107 h 9665"/>
                  <a:gd name="connsiteX3" fmla="*/ 7013 w 7113"/>
                  <a:gd name="connsiteY3" fmla="*/ 891 h 9665"/>
                  <a:gd name="connsiteX4" fmla="*/ 6993 w 7113"/>
                  <a:gd name="connsiteY4" fmla="*/ 912 h 9665"/>
                  <a:gd name="connsiteX5" fmla="*/ 1345 w 7113"/>
                  <a:gd name="connsiteY5" fmla="*/ 9318 h 9665"/>
                  <a:gd name="connsiteX6" fmla="*/ 1324 w 7113"/>
                  <a:gd name="connsiteY6" fmla="*/ 9345 h 9665"/>
                  <a:gd name="connsiteX7" fmla="*/ 329 w 7113"/>
                  <a:gd name="connsiteY7" fmla="*/ 9542 h 9665"/>
                  <a:gd name="connsiteX8" fmla="*/ 125 w 7113"/>
                  <a:gd name="connsiteY8" fmla="*/ 8536 h 9665"/>
                  <a:gd name="connsiteX9" fmla="*/ 125 w 7113"/>
                  <a:gd name="connsiteY9" fmla="*/ 8516 h 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13" h="9665">
                    <a:moveTo>
                      <a:pt x="125" y="8516"/>
                    </a:moveTo>
                    <a:lnTo>
                      <a:pt x="6079" y="239"/>
                    </a:lnTo>
                    <a:cubicBezTo>
                      <a:pt x="6262" y="-17"/>
                      <a:pt x="6607" y="-78"/>
                      <a:pt x="6872" y="107"/>
                    </a:cubicBezTo>
                    <a:cubicBezTo>
                      <a:pt x="7115" y="288"/>
                      <a:pt x="7196" y="635"/>
                      <a:pt x="7013" y="891"/>
                    </a:cubicBezTo>
                    <a:lnTo>
                      <a:pt x="6993" y="912"/>
                    </a:lnTo>
                    <a:lnTo>
                      <a:pt x="1345" y="9318"/>
                    </a:lnTo>
                    <a:lnTo>
                      <a:pt x="1324" y="9345"/>
                    </a:lnTo>
                    <a:cubicBezTo>
                      <a:pt x="1100" y="9678"/>
                      <a:pt x="653" y="9765"/>
                      <a:pt x="329" y="9542"/>
                    </a:cubicBezTo>
                    <a:cubicBezTo>
                      <a:pt x="-17" y="9318"/>
                      <a:pt x="-99" y="8867"/>
                      <a:pt x="125" y="8536"/>
                    </a:cubicBezTo>
                    <a:cubicBezTo>
                      <a:pt x="125" y="8528"/>
                      <a:pt x="125" y="8520"/>
                      <a:pt x="125" y="851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grpSp>
          <p:nvGrpSpPr>
            <p:cNvPr id="193" name="Graphic 6">
              <a:extLst>
                <a:ext uri="{FF2B5EF4-FFF2-40B4-BE49-F238E27FC236}">
                  <a16:creationId xmlns:a16="http://schemas.microsoft.com/office/drawing/2014/main" id="{70B6BFF8-86B5-095B-0CE5-489FAEE99CB1}"/>
                </a:ext>
              </a:extLst>
            </p:cNvPr>
            <p:cNvGrpSpPr/>
            <p:nvPr/>
          </p:nvGrpSpPr>
          <p:grpSpPr>
            <a:xfrm>
              <a:off x="9544696" y="2565429"/>
              <a:ext cx="2004459" cy="1181088"/>
              <a:chOff x="9544696" y="2565429"/>
              <a:chExt cx="2004459" cy="1181088"/>
            </a:xfrm>
            <a:solidFill>
              <a:srgbClr val="B7B7B7"/>
            </a:solidFill>
          </p:grpSpPr>
          <p:sp>
            <p:nvSpPr>
              <p:cNvPr id="222" name="Freeform: Shape 155">
                <a:extLst>
                  <a:ext uri="{FF2B5EF4-FFF2-40B4-BE49-F238E27FC236}">
                    <a16:creationId xmlns:a16="http://schemas.microsoft.com/office/drawing/2014/main" id="{83B9A444-6210-2744-40ED-ABAF1481A636}"/>
                  </a:ext>
                </a:extLst>
              </p:cNvPr>
              <p:cNvSpPr/>
              <p:nvPr/>
            </p:nvSpPr>
            <p:spPr>
              <a:xfrm>
                <a:off x="9609241" y="3739030"/>
                <a:ext cx="7198" cy="7487"/>
              </a:xfrm>
              <a:custGeom>
                <a:avLst/>
                <a:gdLst>
                  <a:gd name="connsiteX0" fmla="*/ 7198 w 7198"/>
                  <a:gd name="connsiteY0" fmla="*/ 7487 h 7487"/>
                  <a:gd name="connsiteX1" fmla="*/ 45 w 7198"/>
                  <a:gd name="connsiteY1" fmla="*/ 257 h 7487"/>
                  <a:gd name="connsiteX2" fmla="*/ 45 w 7198"/>
                  <a:gd name="connsiteY2" fmla="*/ 44 h 7487"/>
                  <a:gd name="connsiteX3" fmla="*/ 249 w 7198"/>
                  <a:gd name="connsiteY3" fmla="*/ 46 h 7487"/>
                  <a:gd name="connsiteX4" fmla="*/ 269 w 7198"/>
                  <a:gd name="connsiteY4" fmla="*/ 54 h 7487"/>
                  <a:gd name="connsiteX5" fmla="*/ 7198 w 7198"/>
                  <a:gd name="connsiteY5" fmla="*/ 7487 h 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8" h="7487">
                    <a:moveTo>
                      <a:pt x="7198" y="7487"/>
                    </a:moveTo>
                    <a:lnTo>
                      <a:pt x="45" y="257"/>
                    </a:lnTo>
                    <a:cubicBezTo>
                      <a:pt x="-15" y="198"/>
                      <a:pt x="-15" y="103"/>
                      <a:pt x="45" y="44"/>
                    </a:cubicBezTo>
                    <a:cubicBezTo>
                      <a:pt x="106" y="-15"/>
                      <a:pt x="187" y="-15"/>
                      <a:pt x="249" y="46"/>
                    </a:cubicBezTo>
                    <a:cubicBezTo>
                      <a:pt x="249" y="46"/>
                      <a:pt x="249" y="52"/>
                      <a:pt x="269" y="54"/>
                    </a:cubicBezTo>
                    <a:lnTo>
                      <a:pt x="7198" y="7487"/>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23" name="Freeform: Shape 156">
                <a:extLst>
                  <a:ext uri="{FF2B5EF4-FFF2-40B4-BE49-F238E27FC236}">
                    <a16:creationId xmlns:a16="http://schemas.microsoft.com/office/drawing/2014/main" id="{AD5AC60E-A5D3-F8B6-E1DD-21EB381CE7E1}"/>
                  </a:ext>
                </a:extLst>
              </p:cNvPr>
              <p:cNvSpPr/>
              <p:nvPr/>
            </p:nvSpPr>
            <p:spPr>
              <a:xfrm>
                <a:off x="9553217" y="3640853"/>
                <a:ext cx="6459" cy="13186"/>
              </a:xfrm>
              <a:custGeom>
                <a:avLst/>
                <a:gdLst>
                  <a:gd name="connsiteX0" fmla="*/ 3259 w 6459"/>
                  <a:gd name="connsiteY0" fmla="*/ 12050 h 13186"/>
                  <a:gd name="connsiteX1" fmla="*/ 89 w 6459"/>
                  <a:gd name="connsiteY1" fmla="*/ 2321 h 13186"/>
                  <a:gd name="connsiteX2" fmla="*/ 1227 w 6459"/>
                  <a:gd name="connsiteY2" fmla="*/ 88 h 13186"/>
                  <a:gd name="connsiteX3" fmla="*/ 3461 w 6459"/>
                  <a:gd name="connsiteY3" fmla="*/ 1223 h 13186"/>
                  <a:gd name="connsiteX4" fmla="*/ 3461 w 6459"/>
                  <a:gd name="connsiteY4" fmla="*/ 1258 h 13186"/>
                  <a:gd name="connsiteX5" fmla="*/ 3482 w 6459"/>
                  <a:gd name="connsiteY5" fmla="*/ 1337 h 13186"/>
                  <a:gd name="connsiteX6" fmla="*/ 6367 w 6459"/>
                  <a:gd name="connsiteY6" fmla="*/ 11003 h 13186"/>
                  <a:gd name="connsiteX7" fmla="*/ 6387 w 6459"/>
                  <a:gd name="connsiteY7" fmla="*/ 11070 h 13186"/>
                  <a:gd name="connsiteX8" fmla="*/ 5291 w 6459"/>
                  <a:gd name="connsiteY8" fmla="*/ 13117 h 13186"/>
                  <a:gd name="connsiteX9" fmla="*/ 3259 w 6459"/>
                  <a:gd name="connsiteY9" fmla="*/ 12050 h 1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9" h="13186">
                    <a:moveTo>
                      <a:pt x="3259" y="12050"/>
                    </a:moveTo>
                    <a:lnTo>
                      <a:pt x="89" y="2321"/>
                    </a:lnTo>
                    <a:cubicBezTo>
                      <a:pt x="-217" y="1390"/>
                      <a:pt x="291" y="390"/>
                      <a:pt x="1227" y="88"/>
                    </a:cubicBezTo>
                    <a:cubicBezTo>
                      <a:pt x="2162" y="-215"/>
                      <a:pt x="3157" y="293"/>
                      <a:pt x="3461" y="1223"/>
                    </a:cubicBezTo>
                    <a:cubicBezTo>
                      <a:pt x="3461" y="1236"/>
                      <a:pt x="3461" y="1246"/>
                      <a:pt x="3461" y="1258"/>
                    </a:cubicBezTo>
                    <a:lnTo>
                      <a:pt x="3482" y="1337"/>
                    </a:lnTo>
                    <a:lnTo>
                      <a:pt x="6367" y="11003"/>
                    </a:lnTo>
                    <a:lnTo>
                      <a:pt x="6387" y="11070"/>
                    </a:lnTo>
                    <a:cubicBezTo>
                      <a:pt x="6652" y="11940"/>
                      <a:pt x="6164" y="12859"/>
                      <a:pt x="5291" y="13117"/>
                    </a:cubicBezTo>
                    <a:cubicBezTo>
                      <a:pt x="4437" y="13375"/>
                      <a:pt x="3523" y="12895"/>
                      <a:pt x="3259" y="1205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24" name="Freeform: Shape 157">
                <a:extLst>
                  <a:ext uri="{FF2B5EF4-FFF2-40B4-BE49-F238E27FC236}">
                    <a16:creationId xmlns:a16="http://schemas.microsoft.com/office/drawing/2014/main" id="{9D286C09-EA3C-8EFC-C92B-71CBC2417955}"/>
                  </a:ext>
                </a:extLst>
              </p:cNvPr>
              <p:cNvSpPr/>
              <p:nvPr/>
            </p:nvSpPr>
            <p:spPr>
              <a:xfrm>
                <a:off x="9544696" y="3528795"/>
                <a:ext cx="7771" cy="16325"/>
              </a:xfrm>
              <a:custGeom>
                <a:avLst/>
                <a:gdLst>
                  <a:gd name="connsiteX0" fmla="*/ 34 w 7771"/>
                  <a:gd name="connsiteY0" fmla="*/ 12866 h 16325"/>
                  <a:gd name="connsiteX1" fmla="*/ 1517 w 7771"/>
                  <a:gd name="connsiteY1" fmla="*/ 2691 h 16325"/>
                  <a:gd name="connsiteX2" fmla="*/ 5094 w 7771"/>
                  <a:gd name="connsiteY2" fmla="*/ 34 h 16325"/>
                  <a:gd name="connsiteX3" fmla="*/ 7735 w 7771"/>
                  <a:gd name="connsiteY3" fmla="*/ 3602 h 16325"/>
                  <a:gd name="connsiteX4" fmla="*/ 7735 w 7771"/>
                  <a:gd name="connsiteY4" fmla="*/ 3663 h 16325"/>
                  <a:gd name="connsiteX5" fmla="*/ 7715 w 7771"/>
                  <a:gd name="connsiteY5" fmla="*/ 3807 h 16325"/>
                  <a:gd name="connsiteX6" fmla="*/ 6008 w 7771"/>
                  <a:gd name="connsiteY6" fmla="*/ 13689 h 16325"/>
                  <a:gd name="connsiteX7" fmla="*/ 5988 w 7771"/>
                  <a:gd name="connsiteY7" fmla="*/ 13815 h 16325"/>
                  <a:gd name="connsiteX8" fmla="*/ 2513 w 7771"/>
                  <a:gd name="connsiteY8" fmla="*/ 16282 h 16325"/>
                  <a:gd name="connsiteX9" fmla="*/ 34 w 7771"/>
                  <a:gd name="connsiteY9" fmla="*/ 12866 h 1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1" h="16325">
                    <a:moveTo>
                      <a:pt x="34" y="12866"/>
                    </a:moveTo>
                    <a:lnTo>
                      <a:pt x="1517" y="2691"/>
                    </a:lnTo>
                    <a:cubicBezTo>
                      <a:pt x="1761" y="972"/>
                      <a:pt x="3367" y="-218"/>
                      <a:pt x="5094" y="34"/>
                    </a:cubicBezTo>
                    <a:cubicBezTo>
                      <a:pt x="6801" y="286"/>
                      <a:pt x="7999" y="1883"/>
                      <a:pt x="7735" y="3602"/>
                    </a:cubicBezTo>
                    <a:cubicBezTo>
                      <a:pt x="7735" y="3622"/>
                      <a:pt x="7735" y="3642"/>
                      <a:pt x="7735" y="3663"/>
                    </a:cubicBezTo>
                    <a:lnTo>
                      <a:pt x="7715" y="3807"/>
                    </a:lnTo>
                    <a:lnTo>
                      <a:pt x="6008" y="13689"/>
                    </a:lnTo>
                    <a:lnTo>
                      <a:pt x="5988" y="13815"/>
                    </a:lnTo>
                    <a:cubicBezTo>
                      <a:pt x="5703" y="15459"/>
                      <a:pt x="4159" y="16562"/>
                      <a:pt x="2513" y="16282"/>
                    </a:cubicBezTo>
                    <a:cubicBezTo>
                      <a:pt x="887" y="16001"/>
                      <a:pt x="-210" y="14481"/>
                      <a:pt x="34" y="1286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25" name="Freeform: Shape 158">
                <a:extLst>
                  <a:ext uri="{FF2B5EF4-FFF2-40B4-BE49-F238E27FC236}">
                    <a16:creationId xmlns:a16="http://schemas.microsoft.com/office/drawing/2014/main" id="{69CFB871-0318-C492-5C26-10EA4A3DF58F}"/>
                  </a:ext>
                </a:extLst>
              </p:cNvPr>
              <p:cNvSpPr/>
              <p:nvPr/>
            </p:nvSpPr>
            <p:spPr>
              <a:xfrm>
                <a:off x="9583298" y="3426014"/>
                <a:ext cx="14494" cy="16892"/>
              </a:xfrm>
              <a:custGeom>
                <a:avLst/>
                <a:gdLst>
                  <a:gd name="connsiteX0" fmla="*/ 752 w 14494"/>
                  <a:gd name="connsiteY0" fmla="*/ 10302 h 16892"/>
                  <a:gd name="connsiteX1" fmla="*/ 6685 w 14494"/>
                  <a:gd name="connsiteY1" fmla="*/ 1833 h 16892"/>
                  <a:gd name="connsiteX2" fmla="*/ 12659 w 14494"/>
                  <a:gd name="connsiteY2" fmla="*/ 776 h 16892"/>
                  <a:gd name="connsiteX3" fmla="*/ 13716 w 14494"/>
                  <a:gd name="connsiteY3" fmla="*/ 6756 h 16892"/>
                  <a:gd name="connsiteX4" fmla="*/ 13675 w 14494"/>
                  <a:gd name="connsiteY4" fmla="*/ 6809 h 16892"/>
                  <a:gd name="connsiteX5" fmla="*/ 13574 w 14494"/>
                  <a:gd name="connsiteY5" fmla="*/ 6971 h 16892"/>
                  <a:gd name="connsiteX6" fmla="*/ 7681 w 14494"/>
                  <a:gd name="connsiteY6" fmla="*/ 15030 h 16892"/>
                  <a:gd name="connsiteX7" fmla="*/ 7579 w 14494"/>
                  <a:gd name="connsiteY7" fmla="*/ 15175 h 16892"/>
                  <a:gd name="connsiteX8" fmla="*/ 1727 w 14494"/>
                  <a:gd name="connsiteY8" fmla="*/ 16087 h 16892"/>
                  <a:gd name="connsiteX9" fmla="*/ 752 w 14494"/>
                  <a:gd name="connsiteY9" fmla="*/ 10302 h 1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94" h="16892">
                    <a:moveTo>
                      <a:pt x="752" y="10302"/>
                    </a:moveTo>
                    <a:lnTo>
                      <a:pt x="6685" y="1833"/>
                    </a:lnTo>
                    <a:cubicBezTo>
                      <a:pt x="8046" y="-110"/>
                      <a:pt x="10729" y="-584"/>
                      <a:pt x="12659" y="776"/>
                    </a:cubicBezTo>
                    <a:cubicBezTo>
                      <a:pt x="14610" y="2135"/>
                      <a:pt x="15077" y="4813"/>
                      <a:pt x="13716" y="6756"/>
                    </a:cubicBezTo>
                    <a:cubicBezTo>
                      <a:pt x="13716" y="6774"/>
                      <a:pt x="13696" y="6793"/>
                      <a:pt x="13675" y="6809"/>
                    </a:cubicBezTo>
                    <a:lnTo>
                      <a:pt x="13574" y="6971"/>
                    </a:lnTo>
                    <a:lnTo>
                      <a:pt x="7681" y="15030"/>
                    </a:lnTo>
                    <a:lnTo>
                      <a:pt x="7579" y="15175"/>
                    </a:lnTo>
                    <a:cubicBezTo>
                      <a:pt x="6218" y="17042"/>
                      <a:pt x="3596" y="17450"/>
                      <a:pt x="1727" y="16087"/>
                    </a:cubicBezTo>
                    <a:cubicBezTo>
                      <a:pt x="-122" y="14738"/>
                      <a:pt x="-549" y="12163"/>
                      <a:pt x="752" y="1030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26" name="Freeform: Shape 159">
                <a:extLst>
                  <a:ext uri="{FF2B5EF4-FFF2-40B4-BE49-F238E27FC236}">
                    <a16:creationId xmlns:a16="http://schemas.microsoft.com/office/drawing/2014/main" id="{00A04F32-B215-DCF4-BCB4-EEEBE18D5CDD}"/>
                  </a:ext>
                </a:extLst>
              </p:cNvPr>
              <p:cNvSpPr/>
              <p:nvPr/>
            </p:nvSpPr>
            <p:spPr>
              <a:xfrm>
                <a:off x="9658172" y="3344304"/>
                <a:ext cx="17800" cy="17810"/>
              </a:xfrm>
              <a:custGeom>
                <a:avLst/>
                <a:gdLst>
                  <a:gd name="connsiteX0" fmla="*/ 1508 w 17800"/>
                  <a:gd name="connsiteY0" fmla="*/ 8840 h 17810"/>
                  <a:gd name="connsiteX1" fmla="*/ 8641 w 17800"/>
                  <a:gd name="connsiteY1" fmla="*/ 1598 h 17810"/>
                  <a:gd name="connsiteX2" fmla="*/ 16200 w 17800"/>
                  <a:gd name="connsiteY2" fmla="*/ 1537 h 17810"/>
                  <a:gd name="connsiteX3" fmla="*/ 16261 w 17800"/>
                  <a:gd name="connsiteY3" fmla="*/ 9108 h 17810"/>
                  <a:gd name="connsiteX4" fmla="*/ 16200 w 17800"/>
                  <a:gd name="connsiteY4" fmla="*/ 9169 h 17810"/>
                  <a:gd name="connsiteX5" fmla="*/ 8967 w 17800"/>
                  <a:gd name="connsiteY5" fmla="*/ 16296 h 17810"/>
                  <a:gd name="connsiteX6" fmla="*/ 1508 w 17800"/>
                  <a:gd name="connsiteY6" fmla="*/ 16237 h 17810"/>
                  <a:gd name="connsiteX7" fmla="*/ 1508 w 17800"/>
                  <a:gd name="connsiteY7" fmla="*/ 8840 h 1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800" h="17810">
                    <a:moveTo>
                      <a:pt x="1508" y="8840"/>
                    </a:moveTo>
                    <a:lnTo>
                      <a:pt x="8641" y="1598"/>
                    </a:lnTo>
                    <a:cubicBezTo>
                      <a:pt x="10714" y="-509"/>
                      <a:pt x="14107" y="-536"/>
                      <a:pt x="16200" y="1537"/>
                    </a:cubicBezTo>
                    <a:cubicBezTo>
                      <a:pt x="18313" y="3612"/>
                      <a:pt x="18334" y="7001"/>
                      <a:pt x="16261" y="9108"/>
                    </a:cubicBezTo>
                    <a:cubicBezTo>
                      <a:pt x="16261" y="9123"/>
                      <a:pt x="16221" y="9155"/>
                      <a:pt x="16200" y="9169"/>
                    </a:cubicBezTo>
                    <a:lnTo>
                      <a:pt x="8967" y="16296"/>
                    </a:lnTo>
                    <a:cubicBezTo>
                      <a:pt x="6894" y="18338"/>
                      <a:pt x="3561" y="18311"/>
                      <a:pt x="1508" y="16237"/>
                    </a:cubicBezTo>
                    <a:cubicBezTo>
                      <a:pt x="-503" y="14184"/>
                      <a:pt x="-503" y="10888"/>
                      <a:pt x="1508" y="884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27" name="Freeform: Shape 160">
                <a:extLst>
                  <a:ext uri="{FF2B5EF4-FFF2-40B4-BE49-F238E27FC236}">
                    <a16:creationId xmlns:a16="http://schemas.microsoft.com/office/drawing/2014/main" id="{AF9A6AA7-38A6-DC3E-13CC-D582B5348B33}"/>
                  </a:ext>
                </a:extLst>
              </p:cNvPr>
              <p:cNvSpPr/>
              <p:nvPr/>
            </p:nvSpPr>
            <p:spPr>
              <a:xfrm>
                <a:off x="9736307" y="3264381"/>
                <a:ext cx="19588" cy="19594"/>
              </a:xfrm>
              <a:custGeom>
                <a:avLst/>
                <a:gdLst>
                  <a:gd name="connsiteX0" fmla="*/ 1767 w 19588"/>
                  <a:gd name="connsiteY0" fmla="*/ 9107 h 19594"/>
                  <a:gd name="connsiteX1" fmla="*/ 8900 w 19588"/>
                  <a:gd name="connsiteY1" fmla="*/ 1865 h 19594"/>
                  <a:gd name="connsiteX2" fmla="*/ 17719 w 19588"/>
                  <a:gd name="connsiteY2" fmla="*/ 1793 h 19594"/>
                  <a:gd name="connsiteX3" fmla="*/ 17800 w 19588"/>
                  <a:gd name="connsiteY3" fmla="*/ 10627 h 19594"/>
                  <a:gd name="connsiteX4" fmla="*/ 17719 w 19588"/>
                  <a:gd name="connsiteY4" fmla="*/ 10698 h 19594"/>
                  <a:gd name="connsiteX5" fmla="*/ 10485 w 19588"/>
                  <a:gd name="connsiteY5" fmla="*/ 17824 h 19594"/>
                  <a:gd name="connsiteX6" fmla="*/ 1767 w 19588"/>
                  <a:gd name="connsiteY6" fmla="*/ 17755 h 19594"/>
                  <a:gd name="connsiteX7" fmla="*/ 1767 w 19588"/>
                  <a:gd name="connsiteY7" fmla="*/ 9107 h 1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88" h="19594">
                    <a:moveTo>
                      <a:pt x="1767" y="9107"/>
                    </a:moveTo>
                    <a:lnTo>
                      <a:pt x="8900" y="1865"/>
                    </a:lnTo>
                    <a:cubicBezTo>
                      <a:pt x="11318" y="-594"/>
                      <a:pt x="15260" y="-625"/>
                      <a:pt x="17719" y="1793"/>
                    </a:cubicBezTo>
                    <a:cubicBezTo>
                      <a:pt x="20177" y="4212"/>
                      <a:pt x="20218" y="8168"/>
                      <a:pt x="17800" y="10627"/>
                    </a:cubicBezTo>
                    <a:cubicBezTo>
                      <a:pt x="17780" y="10643"/>
                      <a:pt x="17740" y="10681"/>
                      <a:pt x="17719" y="10698"/>
                    </a:cubicBezTo>
                    <a:lnTo>
                      <a:pt x="10485" y="17824"/>
                    </a:lnTo>
                    <a:cubicBezTo>
                      <a:pt x="8067" y="20211"/>
                      <a:pt x="4165" y="20181"/>
                      <a:pt x="1767" y="17755"/>
                    </a:cubicBezTo>
                    <a:cubicBezTo>
                      <a:pt x="-589" y="15353"/>
                      <a:pt x="-589" y="11500"/>
                      <a:pt x="1767" y="9107"/>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28" name="Freeform: Shape 161">
                <a:extLst>
                  <a:ext uri="{FF2B5EF4-FFF2-40B4-BE49-F238E27FC236}">
                    <a16:creationId xmlns:a16="http://schemas.microsoft.com/office/drawing/2014/main" id="{A4C8A0BE-2C90-8E1B-DC25-C71388452187}"/>
                  </a:ext>
                </a:extLst>
              </p:cNvPr>
              <p:cNvSpPr/>
              <p:nvPr/>
            </p:nvSpPr>
            <p:spPr>
              <a:xfrm>
                <a:off x="9814463" y="3184524"/>
                <a:ext cx="21300" cy="21292"/>
              </a:xfrm>
              <a:custGeom>
                <a:avLst/>
                <a:gdLst>
                  <a:gd name="connsiteX0" fmla="*/ 2027 w 21300"/>
                  <a:gd name="connsiteY0" fmla="*/ 9329 h 21292"/>
                  <a:gd name="connsiteX1" fmla="*/ 9180 w 21300"/>
                  <a:gd name="connsiteY1" fmla="*/ 2103 h 21292"/>
                  <a:gd name="connsiteX2" fmla="*/ 19197 w 21300"/>
                  <a:gd name="connsiteY2" fmla="*/ 2047 h 21292"/>
                  <a:gd name="connsiteX3" fmla="*/ 19258 w 21300"/>
                  <a:gd name="connsiteY3" fmla="*/ 12064 h 21292"/>
                  <a:gd name="connsiteX4" fmla="*/ 19197 w 21300"/>
                  <a:gd name="connsiteY4" fmla="*/ 12121 h 21292"/>
                  <a:gd name="connsiteX5" fmla="*/ 11963 w 21300"/>
                  <a:gd name="connsiteY5" fmla="*/ 19264 h 21292"/>
                  <a:gd name="connsiteX6" fmla="*/ 2027 w 21300"/>
                  <a:gd name="connsiteY6" fmla="*/ 19207 h 21292"/>
                  <a:gd name="connsiteX7" fmla="*/ 2027 w 21300"/>
                  <a:gd name="connsiteY7" fmla="*/ 9329 h 21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00" h="21292">
                    <a:moveTo>
                      <a:pt x="2027" y="9329"/>
                    </a:moveTo>
                    <a:lnTo>
                      <a:pt x="9180" y="2103"/>
                    </a:lnTo>
                    <a:cubicBezTo>
                      <a:pt x="11922" y="-678"/>
                      <a:pt x="16413" y="-705"/>
                      <a:pt x="19197" y="2047"/>
                    </a:cubicBezTo>
                    <a:cubicBezTo>
                      <a:pt x="21981" y="4798"/>
                      <a:pt x="22001" y="9283"/>
                      <a:pt x="19258" y="12064"/>
                    </a:cubicBezTo>
                    <a:cubicBezTo>
                      <a:pt x="19238" y="12075"/>
                      <a:pt x="19197" y="12111"/>
                      <a:pt x="19197" y="12121"/>
                    </a:cubicBezTo>
                    <a:lnTo>
                      <a:pt x="11963" y="19264"/>
                    </a:lnTo>
                    <a:cubicBezTo>
                      <a:pt x="9200" y="21991"/>
                      <a:pt x="4750" y="21966"/>
                      <a:pt x="2027" y="19207"/>
                    </a:cubicBezTo>
                    <a:cubicBezTo>
                      <a:pt x="-676" y="16468"/>
                      <a:pt x="-676" y="12062"/>
                      <a:pt x="2027" y="932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29" name="Freeform: Shape 162">
                <a:extLst>
                  <a:ext uri="{FF2B5EF4-FFF2-40B4-BE49-F238E27FC236}">
                    <a16:creationId xmlns:a16="http://schemas.microsoft.com/office/drawing/2014/main" id="{E28B04F9-ABF7-95AE-F276-81E7E37A27A9}"/>
                  </a:ext>
                </a:extLst>
              </p:cNvPr>
              <p:cNvSpPr/>
              <p:nvPr/>
            </p:nvSpPr>
            <p:spPr>
              <a:xfrm>
                <a:off x="9892857" y="3104854"/>
                <a:ext cx="22568" cy="22577"/>
              </a:xfrm>
              <a:custGeom>
                <a:avLst/>
                <a:gdLst>
                  <a:gd name="connsiteX0" fmla="*/ 2210 w 22568"/>
                  <a:gd name="connsiteY0" fmla="*/ 9520 h 22577"/>
                  <a:gd name="connsiteX1" fmla="*/ 9342 w 22568"/>
                  <a:gd name="connsiteY1" fmla="*/ 2294 h 22577"/>
                  <a:gd name="connsiteX2" fmla="*/ 20274 w 22568"/>
                  <a:gd name="connsiteY2" fmla="*/ 2231 h 22577"/>
                  <a:gd name="connsiteX3" fmla="*/ 20335 w 22568"/>
                  <a:gd name="connsiteY3" fmla="*/ 13157 h 22577"/>
                  <a:gd name="connsiteX4" fmla="*/ 20274 w 22568"/>
                  <a:gd name="connsiteY4" fmla="*/ 13220 h 22577"/>
                  <a:gd name="connsiteX5" fmla="*/ 13061 w 22568"/>
                  <a:gd name="connsiteY5" fmla="*/ 20363 h 22577"/>
                  <a:gd name="connsiteX6" fmla="*/ 2210 w 22568"/>
                  <a:gd name="connsiteY6" fmla="*/ 20300 h 22577"/>
                  <a:gd name="connsiteX7" fmla="*/ 2210 w 22568"/>
                  <a:gd name="connsiteY7" fmla="*/ 9520 h 2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68" h="22577">
                    <a:moveTo>
                      <a:pt x="2210" y="9520"/>
                    </a:moveTo>
                    <a:lnTo>
                      <a:pt x="9342" y="2294"/>
                    </a:lnTo>
                    <a:cubicBezTo>
                      <a:pt x="12349" y="-740"/>
                      <a:pt x="17247" y="-768"/>
                      <a:pt x="20274" y="2231"/>
                    </a:cubicBezTo>
                    <a:cubicBezTo>
                      <a:pt x="23302" y="5230"/>
                      <a:pt x="23343" y="10123"/>
                      <a:pt x="20335" y="13157"/>
                    </a:cubicBezTo>
                    <a:cubicBezTo>
                      <a:pt x="20335" y="13167"/>
                      <a:pt x="20295" y="13210"/>
                      <a:pt x="20274" y="13220"/>
                    </a:cubicBezTo>
                    <a:lnTo>
                      <a:pt x="13061" y="20363"/>
                    </a:lnTo>
                    <a:cubicBezTo>
                      <a:pt x="10033" y="23339"/>
                      <a:pt x="5177" y="23313"/>
                      <a:pt x="2210" y="20300"/>
                    </a:cubicBezTo>
                    <a:cubicBezTo>
                      <a:pt x="-737" y="17310"/>
                      <a:pt x="-737" y="12501"/>
                      <a:pt x="2210" y="9520"/>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0" name="Freeform: Shape 163">
                <a:extLst>
                  <a:ext uri="{FF2B5EF4-FFF2-40B4-BE49-F238E27FC236}">
                    <a16:creationId xmlns:a16="http://schemas.microsoft.com/office/drawing/2014/main" id="{8DA688ED-7995-D362-2130-AA6888A39F4F}"/>
                  </a:ext>
                </a:extLst>
              </p:cNvPr>
              <p:cNvSpPr/>
              <p:nvPr/>
            </p:nvSpPr>
            <p:spPr>
              <a:xfrm>
                <a:off x="9971245" y="3025181"/>
                <a:ext cx="23855" cy="23860"/>
              </a:xfrm>
              <a:custGeom>
                <a:avLst/>
                <a:gdLst>
                  <a:gd name="connsiteX0" fmla="*/ 2400 w 23855"/>
                  <a:gd name="connsiteY0" fmla="*/ 9711 h 23860"/>
                  <a:gd name="connsiteX1" fmla="*/ 9532 w 23855"/>
                  <a:gd name="connsiteY1" fmla="*/ 2485 h 23860"/>
                  <a:gd name="connsiteX2" fmla="*/ 21379 w 23855"/>
                  <a:gd name="connsiteY2" fmla="*/ 2416 h 23860"/>
                  <a:gd name="connsiteX3" fmla="*/ 21440 w 23855"/>
                  <a:gd name="connsiteY3" fmla="*/ 14251 h 23860"/>
                  <a:gd name="connsiteX4" fmla="*/ 21379 w 23855"/>
                  <a:gd name="connsiteY4" fmla="*/ 14318 h 23860"/>
                  <a:gd name="connsiteX5" fmla="*/ 14145 w 23855"/>
                  <a:gd name="connsiteY5" fmla="*/ 21460 h 23860"/>
                  <a:gd name="connsiteX6" fmla="*/ 2400 w 23855"/>
                  <a:gd name="connsiteY6" fmla="*/ 21393 h 23860"/>
                  <a:gd name="connsiteX7" fmla="*/ 2400 w 23855"/>
                  <a:gd name="connsiteY7" fmla="*/ 9711 h 2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5" h="23860">
                    <a:moveTo>
                      <a:pt x="2400" y="9711"/>
                    </a:moveTo>
                    <a:lnTo>
                      <a:pt x="9532" y="2485"/>
                    </a:lnTo>
                    <a:cubicBezTo>
                      <a:pt x="12783" y="-800"/>
                      <a:pt x="18087" y="-833"/>
                      <a:pt x="21379" y="2416"/>
                    </a:cubicBezTo>
                    <a:cubicBezTo>
                      <a:pt x="24651" y="5665"/>
                      <a:pt x="24691" y="10965"/>
                      <a:pt x="21440" y="14251"/>
                    </a:cubicBezTo>
                    <a:cubicBezTo>
                      <a:pt x="21419" y="14263"/>
                      <a:pt x="21379" y="14307"/>
                      <a:pt x="21379" y="14318"/>
                    </a:cubicBezTo>
                    <a:lnTo>
                      <a:pt x="14145" y="21460"/>
                    </a:lnTo>
                    <a:cubicBezTo>
                      <a:pt x="10874" y="24687"/>
                      <a:pt x="5611" y="24656"/>
                      <a:pt x="2400" y="21393"/>
                    </a:cubicBezTo>
                    <a:cubicBezTo>
                      <a:pt x="-810" y="18156"/>
                      <a:pt x="-790" y="12944"/>
                      <a:pt x="2400" y="9711"/>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1" name="Freeform: Shape 164">
                <a:extLst>
                  <a:ext uri="{FF2B5EF4-FFF2-40B4-BE49-F238E27FC236}">
                    <a16:creationId xmlns:a16="http://schemas.microsoft.com/office/drawing/2014/main" id="{728877A9-1DF7-A723-FF72-B4AB8B46689D}"/>
                  </a:ext>
                </a:extLst>
              </p:cNvPr>
              <p:cNvSpPr/>
              <p:nvPr/>
            </p:nvSpPr>
            <p:spPr>
              <a:xfrm>
                <a:off x="10049764" y="2945699"/>
                <a:ext cx="24813" cy="24822"/>
              </a:xfrm>
              <a:custGeom>
                <a:avLst/>
                <a:gdLst>
                  <a:gd name="connsiteX0" fmla="*/ 2560 w 24813"/>
                  <a:gd name="connsiteY0" fmla="*/ 9819 h 24822"/>
                  <a:gd name="connsiteX1" fmla="*/ 9713 w 24813"/>
                  <a:gd name="connsiteY1" fmla="*/ 2610 h 24822"/>
                  <a:gd name="connsiteX2" fmla="*/ 22210 w 24813"/>
                  <a:gd name="connsiteY2" fmla="*/ 2567 h 24822"/>
                  <a:gd name="connsiteX3" fmla="*/ 22251 w 24813"/>
                  <a:gd name="connsiteY3" fmla="*/ 15064 h 24822"/>
                  <a:gd name="connsiteX4" fmla="*/ 22210 w 24813"/>
                  <a:gd name="connsiteY4" fmla="*/ 15107 h 24822"/>
                  <a:gd name="connsiteX5" fmla="*/ 14996 w 24813"/>
                  <a:gd name="connsiteY5" fmla="*/ 22265 h 24822"/>
                  <a:gd name="connsiteX6" fmla="*/ 2560 w 24813"/>
                  <a:gd name="connsiteY6" fmla="*/ 22223 h 24822"/>
                  <a:gd name="connsiteX7" fmla="*/ 2560 w 24813"/>
                  <a:gd name="connsiteY7" fmla="*/ 9819 h 24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13" h="24822">
                    <a:moveTo>
                      <a:pt x="2560" y="9819"/>
                    </a:moveTo>
                    <a:lnTo>
                      <a:pt x="9713" y="2610"/>
                    </a:lnTo>
                    <a:cubicBezTo>
                      <a:pt x="13147" y="-853"/>
                      <a:pt x="18755" y="-873"/>
                      <a:pt x="22210" y="2567"/>
                    </a:cubicBezTo>
                    <a:cubicBezTo>
                      <a:pt x="25664" y="6007"/>
                      <a:pt x="25685" y="11602"/>
                      <a:pt x="22251" y="15064"/>
                    </a:cubicBezTo>
                    <a:lnTo>
                      <a:pt x="22210" y="15107"/>
                    </a:lnTo>
                    <a:lnTo>
                      <a:pt x="14996" y="22265"/>
                    </a:lnTo>
                    <a:cubicBezTo>
                      <a:pt x="11542" y="25691"/>
                      <a:pt x="5974" y="25671"/>
                      <a:pt x="2560" y="22223"/>
                    </a:cubicBezTo>
                    <a:cubicBezTo>
                      <a:pt x="-853" y="18791"/>
                      <a:pt x="-853" y="13249"/>
                      <a:pt x="2560" y="981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2" name="Freeform: Shape 165">
                <a:extLst>
                  <a:ext uri="{FF2B5EF4-FFF2-40B4-BE49-F238E27FC236}">
                    <a16:creationId xmlns:a16="http://schemas.microsoft.com/office/drawing/2014/main" id="{C8BF8138-FA49-A228-48FC-01D4632A64E5}"/>
                  </a:ext>
                </a:extLst>
              </p:cNvPr>
              <p:cNvSpPr/>
              <p:nvPr/>
            </p:nvSpPr>
            <p:spPr>
              <a:xfrm>
                <a:off x="10128396" y="2866284"/>
                <a:ext cx="25603" cy="25599"/>
              </a:xfrm>
              <a:custGeom>
                <a:avLst/>
                <a:gdLst>
                  <a:gd name="connsiteX0" fmla="*/ 2667 w 25603"/>
                  <a:gd name="connsiteY0" fmla="*/ 9934 h 25599"/>
                  <a:gd name="connsiteX1" fmla="*/ 9841 w 25603"/>
                  <a:gd name="connsiteY1" fmla="*/ 2724 h 25599"/>
                  <a:gd name="connsiteX2" fmla="*/ 22886 w 25603"/>
                  <a:gd name="connsiteY2" fmla="*/ 2680 h 25599"/>
                  <a:gd name="connsiteX3" fmla="*/ 22926 w 25603"/>
                  <a:gd name="connsiteY3" fmla="*/ 15727 h 25599"/>
                  <a:gd name="connsiteX4" fmla="*/ 22886 w 25603"/>
                  <a:gd name="connsiteY4" fmla="*/ 15772 h 25599"/>
                  <a:gd name="connsiteX5" fmla="*/ 15673 w 25603"/>
                  <a:gd name="connsiteY5" fmla="*/ 22931 h 25599"/>
                  <a:gd name="connsiteX6" fmla="*/ 2667 w 25603"/>
                  <a:gd name="connsiteY6" fmla="*/ 22886 h 25599"/>
                  <a:gd name="connsiteX7" fmla="*/ 2667 w 25603"/>
                  <a:gd name="connsiteY7" fmla="*/ 9934 h 2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03" h="25599">
                    <a:moveTo>
                      <a:pt x="2667" y="9934"/>
                    </a:moveTo>
                    <a:lnTo>
                      <a:pt x="9841" y="2724"/>
                    </a:lnTo>
                    <a:cubicBezTo>
                      <a:pt x="13416" y="-890"/>
                      <a:pt x="19269" y="-911"/>
                      <a:pt x="22886" y="2680"/>
                    </a:cubicBezTo>
                    <a:cubicBezTo>
                      <a:pt x="26482" y="6270"/>
                      <a:pt x="26523" y="12110"/>
                      <a:pt x="22926" y="15727"/>
                    </a:cubicBezTo>
                    <a:lnTo>
                      <a:pt x="22886" y="15772"/>
                    </a:lnTo>
                    <a:lnTo>
                      <a:pt x="15673" y="22931"/>
                    </a:lnTo>
                    <a:cubicBezTo>
                      <a:pt x="12076" y="26507"/>
                      <a:pt x="6244" y="26487"/>
                      <a:pt x="2667" y="22886"/>
                    </a:cubicBezTo>
                    <a:cubicBezTo>
                      <a:pt x="-889" y="19299"/>
                      <a:pt x="-889" y="13514"/>
                      <a:pt x="2667" y="9934"/>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3" name="Freeform: Shape 166">
                <a:extLst>
                  <a:ext uri="{FF2B5EF4-FFF2-40B4-BE49-F238E27FC236}">
                    <a16:creationId xmlns:a16="http://schemas.microsoft.com/office/drawing/2014/main" id="{46397CC9-6AA9-8282-CE7B-13BF31D02926}"/>
                  </a:ext>
                </a:extLst>
              </p:cNvPr>
              <p:cNvSpPr/>
              <p:nvPr/>
            </p:nvSpPr>
            <p:spPr>
              <a:xfrm>
                <a:off x="10207035" y="2786868"/>
                <a:ext cx="26375" cy="26375"/>
              </a:xfrm>
              <a:custGeom>
                <a:avLst/>
                <a:gdLst>
                  <a:gd name="connsiteX0" fmla="*/ 2789 w 26375"/>
                  <a:gd name="connsiteY0" fmla="*/ 10049 h 26375"/>
                  <a:gd name="connsiteX1" fmla="*/ 9942 w 26375"/>
                  <a:gd name="connsiteY1" fmla="*/ 2839 h 26375"/>
                  <a:gd name="connsiteX2" fmla="*/ 23536 w 26375"/>
                  <a:gd name="connsiteY2" fmla="*/ 2792 h 26375"/>
                  <a:gd name="connsiteX3" fmla="*/ 23576 w 26375"/>
                  <a:gd name="connsiteY3" fmla="*/ 16388 h 26375"/>
                  <a:gd name="connsiteX4" fmla="*/ 23536 w 26375"/>
                  <a:gd name="connsiteY4" fmla="*/ 16435 h 26375"/>
                  <a:gd name="connsiteX5" fmla="*/ 16322 w 26375"/>
                  <a:gd name="connsiteY5" fmla="*/ 23594 h 26375"/>
                  <a:gd name="connsiteX6" fmla="*/ 2789 w 26375"/>
                  <a:gd name="connsiteY6" fmla="*/ 23547 h 26375"/>
                  <a:gd name="connsiteX7" fmla="*/ 2789 w 26375"/>
                  <a:gd name="connsiteY7" fmla="*/ 10049 h 2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75" h="26375">
                    <a:moveTo>
                      <a:pt x="2789" y="10049"/>
                    </a:moveTo>
                    <a:lnTo>
                      <a:pt x="9942" y="2839"/>
                    </a:lnTo>
                    <a:cubicBezTo>
                      <a:pt x="13680" y="-928"/>
                      <a:pt x="19776" y="-949"/>
                      <a:pt x="23536" y="2792"/>
                    </a:cubicBezTo>
                    <a:cubicBezTo>
                      <a:pt x="27295" y="6533"/>
                      <a:pt x="27336" y="12621"/>
                      <a:pt x="23576" y="16388"/>
                    </a:cubicBezTo>
                    <a:lnTo>
                      <a:pt x="23536" y="16435"/>
                    </a:lnTo>
                    <a:lnTo>
                      <a:pt x="16322" y="23594"/>
                    </a:lnTo>
                    <a:cubicBezTo>
                      <a:pt x="12583" y="27321"/>
                      <a:pt x="6508" y="27300"/>
                      <a:pt x="2789" y="23547"/>
                    </a:cubicBezTo>
                    <a:cubicBezTo>
                      <a:pt x="-930" y="19810"/>
                      <a:pt x="-930" y="13781"/>
                      <a:pt x="2789" y="1004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4" name="Freeform: Shape 167">
                <a:extLst>
                  <a:ext uri="{FF2B5EF4-FFF2-40B4-BE49-F238E27FC236}">
                    <a16:creationId xmlns:a16="http://schemas.microsoft.com/office/drawing/2014/main" id="{E0490225-10EC-2D37-AE0D-0AA067444430}"/>
                  </a:ext>
                </a:extLst>
              </p:cNvPr>
              <p:cNvSpPr/>
              <p:nvPr/>
            </p:nvSpPr>
            <p:spPr>
              <a:xfrm>
                <a:off x="10285813" y="2707655"/>
                <a:ext cx="26814" cy="26801"/>
              </a:xfrm>
              <a:custGeom>
                <a:avLst/>
                <a:gdLst>
                  <a:gd name="connsiteX0" fmla="*/ 2873 w 26814"/>
                  <a:gd name="connsiteY0" fmla="*/ 10076 h 26801"/>
                  <a:gd name="connsiteX1" fmla="*/ 10045 w 26814"/>
                  <a:gd name="connsiteY1" fmla="*/ 2883 h 26801"/>
                  <a:gd name="connsiteX2" fmla="*/ 23924 w 26814"/>
                  <a:gd name="connsiteY2" fmla="*/ 2867 h 26801"/>
                  <a:gd name="connsiteX3" fmla="*/ 23945 w 26814"/>
                  <a:gd name="connsiteY3" fmla="*/ 16747 h 26801"/>
                  <a:gd name="connsiteX4" fmla="*/ 23924 w 26814"/>
                  <a:gd name="connsiteY4" fmla="*/ 16764 h 26801"/>
                  <a:gd name="connsiteX5" fmla="*/ 16731 w 26814"/>
                  <a:gd name="connsiteY5" fmla="*/ 23939 h 26801"/>
                  <a:gd name="connsiteX6" fmla="*/ 2873 w 26814"/>
                  <a:gd name="connsiteY6" fmla="*/ 23922 h 26801"/>
                  <a:gd name="connsiteX7" fmla="*/ 2873 w 26814"/>
                  <a:gd name="connsiteY7" fmla="*/ 10076 h 2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14" h="26801">
                    <a:moveTo>
                      <a:pt x="2873" y="10076"/>
                    </a:moveTo>
                    <a:lnTo>
                      <a:pt x="10045" y="2883"/>
                    </a:lnTo>
                    <a:cubicBezTo>
                      <a:pt x="13886" y="-955"/>
                      <a:pt x="20104" y="-961"/>
                      <a:pt x="23924" y="2867"/>
                    </a:cubicBezTo>
                    <a:cubicBezTo>
                      <a:pt x="27765" y="6695"/>
                      <a:pt x="27785" y="12911"/>
                      <a:pt x="23945" y="16747"/>
                    </a:cubicBezTo>
                    <a:lnTo>
                      <a:pt x="23924" y="16764"/>
                    </a:lnTo>
                    <a:lnTo>
                      <a:pt x="16731" y="23939"/>
                    </a:lnTo>
                    <a:cubicBezTo>
                      <a:pt x="12911" y="27763"/>
                      <a:pt x="6693" y="27755"/>
                      <a:pt x="2873" y="23922"/>
                    </a:cubicBezTo>
                    <a:cubicBezTo>
                      <a:pt x="-947" y="20092"/>
                      <a:pt x="-968" y="13901"/>
                      <a:pt x="2873" y="1007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5" name="Freeform: Shape 168">
                <a:extLst>
                  <a:ext uri="{FF2B5EF4-FFF2-40B4-BE49-F238E27FC236}">
                    <a16:creationId xmlns:a16="http://schemas.microsoft.com/office/drawing/2014/main" id="{D55A926A-31BB-5BD6-FEA8-0AA5C69062A4}"/>
                  </a:ext>
                </a:extLst>
              </p:cNvPr>
              <p:cNvSpPr/>
              <p:nvPr/>
            </p:nvSpPr>
            <p:spPr>
              <a:xfrm>
                <a:off x="10364657" y="2628489"/>
                <a:ext cx="27352" cy="27127"/>
              </a:xfrm>
              <a:custGeom>
                <a:avLst/>
                <a:gdLst>
                  <a:gd name="connsiteX0" fmla="*/ 2972 w 27352"/>
                  <a:gd name="connsiteY0" fmla="*/ 10125 h 27127"/>
                  <a:gd name="connsiteX1" fmla="*/ 6690 w 27352"/>
                  <a:gd name="connsiteY1" fmla="*/ 6473 h 27127"/>
                  <a:gd name="connsiteX2" fmla="*/ 10490 w 27352"/>
                  <a:gd name="connsiteY2" fmla="*/ 2797 h 27127"/>
                  <a:gd name="connsiteX3" fmla="*/ 24551 w 27352"/>
                  <a:gd name="connsiteY3" fmla="*/ 3029 h 27127"/>
                  <a:gd name="connsiteX4" fmla="*/ 24328 w 27352"/>
                  <a:gd name="connsiteY4" fmla="*/ 17088 h 27127"/>
                  <a:gd name="connsiteX5" fmla="*/ 24308 w 27352"/>
                  <a:gd name="connsiteY5" fmla="*/ 17100 h 27127"/>
                  <a:gd name="connsiteX6" fmla="*/ 24064 w 27352"/>
                  <a:gd name="connsiteY6" fmla="*/ 17340 h 27127"/>
                  <a:gd name="connsiteX7" fmla="*/ 20549 w 27352"/>
                  <a:gd name="connsiteY7" fmla="*/ 20725 h 27127"/>
                  <a:gd name="connsiteX8" fmla="*/ 17013 w 27352"/>
                  <a:gd name="connsiteY8" fmla="*/ 24172 h 27127"/>
                  <a:gd name="connsiteX9" fmla="*/ 2952 w 27352"/>
                  <a:gd name="connsiteY9" fmla="*/ 24265 h 27127"/>
                  <a:gd name="connsiteX10" fmla="*/ 2870 w 27352"/>
                  <a:gd name="connsiteY10" fmla="*/ 10220 h 27127"/>
                  <a:gd name="connsiteX11" fmla="*/ 2972 w 27352"/>
                  <a:gd name="connsiteY11" fmla="*/ 10125 h 27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52" h="27127">
                    <a:moveTo>
                      <a:pt x="2972" y="10125"/>
                    </a:moveTo>
                    <a:cubicBezTo>
                      <a:pt x="4130" y="8938"/>
                      <a:pt x="5451" y="7694"/>
                      <a:pt x="6690" y="6473"/>
                    </a:cubicBezTo>
                    <a:lnTo>
                      <a:pt x="10490" y="2797"/>
                    </a:lnTo>
                    <a:cubicBezTo>
                      <a:pt x="14432" y="-1021"/>
                      <a:pt x="20732" y="-917"/>
                      <a:pt x="24551" y="3029"/>
                    </a:cubicBezTo>
                    <a:cubicBezTo>
                      <a:pt x="28372" y="6975"/>
                      <a:pt x="28270" y="13270"/>
                      <a:pt x="24328" y="17088"/>
                    </a:cubicBezTo>
                    <a:lnTo>
                      <a:pt x="24308" y="17100"/>
                    </a:lnTo>
                    <a:lnTo>
                      <a:pt x="24064" y="17340"/>
                    </a:lnTo>
                    <a:lnTo>
                      <a:pt x="20549" y="20725"/>
                    </a:lnTo>
                    <a:cubicBezTo>
                      <a:pt x="19370" y="21865"/>
                      <a:pt x="18212" y="22944"/>
                      <a:pt x="17013" y="24172"/>
                    </a:cubicBezTo>
                    <a:cubicBezTo>
                      <a:pt x="13152" y="28077"/>
                      <a:pt x="6874" y="28118"/>
                      <a:pt x="2952" y="24265"/>
                    </a:cubicBezTo>
                    <a:cubicBezTo>
                      <a:pt x="-950" y="20413"/>
                      <a:pt x="-990" y="14124"/>
                      <a:pt x="2870" y="10220"/>
                    </a:cubicBezTo>
                    <a:lnTo>
                      <a:pt x="2972" y="1012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6" name="Freeform: Shape 169">
                <a:extLst>
                  <a:ext uri="{FF2B5EF4-FFF2-40B4-BE49-F238E27FC236}">
                    <a16:creationId xmlns:a16="http://schemas.microsoft.com/office/drawing/2014/main" id="{EAFB8FA2-CFDE-3E13-EEFA-95D937594638}"/>
                  </a:ext>
                </a:extLst>
              </p:cNvPr>
              <p:cNvSpPr/>
              <p:nvPr/>
            </p:nvSpPr>
            <p:spPr>
              <a:xfrm>
                <a:off x="10458143" y="2573393"/>
                <a:ext cx="30218" cy="23350"/>
              </a:xfrm>
              <a:custGeom>
                <a:avLst/>
                <a:gdLst>
                  <a:gd name="connsiteX0" fmla="*/ 7002 w 30218"/>
                  <a:gd name="connsiteY0" fmla="*/ 3712 h 23350"/>
                  <a:gd name="connsiteX1" fmla="*/ 17080 w 30218"/>
                  <a:gd name="connsiteY1" fmla="*/ 483 h 23350"/>
                  <a:gd name="connsiteX2" fmla="*/ 29740 w 30218"/>
                  <a:gd name="connsiteY2" fmla="*/ 7001 h 23350"/>
                  <a:gd name="connsiteX3" fmla="*/ 23217 w 30218"/>
                  <a:gd name="connsiteY3" fmla="*/ 19665 h 23350"/>
                  <a:gd name="connsiteX4" fmla="*/ 23197 w 30218"/>
                  <a:gd name="connsiteY4" fmla="*/ 19671 h 23350"/>
                  <a:gd name="connsiteX5" fmla="*/ 22790 w 30218"/>
                  <a:gd name="connsiteY5" fmla="*/ 19799 h 23350"/>
                  <a:gd name="connsiteX6" fmla="*/ 13524 w 30218"/>
                  <a:gd name="connsiteY6" fmla="*/ 22747 h 23350"/>
                  <a:gd name="connsiteX7" fmla="*/ 13119 w 30218"/>
                  <a:gd name="connsiteY7" fmla="*/ 22875 h 23350"/>
                  <a:gd name="connsiteX8" fmla="*/ 479 w 30218"/>
                  <a:gd name="connsiteY8" fmla="*/ 16336 h 23350"/>
                  <a:gd name="connsiteX9" fmla="*/ 7002 w 30218"/>
                  <a:gd name="connsiteY9" fmla="*/ 3712 h 2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218" h="23350">
                    <a:moveTo>
                      <a:pt x="7002" y="3712"/>
                    </a:moveTo>
                    <a:lnTo>
                      <a:pt x="17080" y="483"/>
                    </a:lnTo>
                    <a:cubicBezTo>
                      <a:pt x="22364" y="-1214"/>
                      <a:pt x="28033" y="1704"/>
                      <a:pt x="29740" y="7001"/>
                    </a:cubicBezTo>
                    <a:cubicBezTo>
                      <a:pt x="31426" y="12299"/>
                      <a:pt x="28520" y="17968"/>
                      <a:pt x="23217" y="19665"/>
                    </a:cubicBezTo>
                    <a:lnTo>
                      <a:pt x="23197" y="19671"/>
                    </a:lnTo>
                    <a:lnTo>
                      <a:pt x="22790" y="19799"/>
                    </a:lnTo>
                    <a:lnTo>
                      <a:pt x="13524" y="22747"/>
                    </a:lnTo>
                    <a:lnTo>
                      <a:pt x="13119" y="22875"/>
                    </a:lnTo>
                    <a:cubicBezTo>
                      <a:pt x="7814" y="24558"/>
                      <a:pt x="2166" y="21630"/>
                      <a:pt x="479" y="16336"/>
                    </a:cubicBezTo>
                    <a:cubicBezTo>
                      <a:pt x="-1208" y="11043"/>
                      <a:pt x="1699" y="5394"/>
                      <a:pt x="7002" y="3712"/>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7" name="Freeform: Shape 170">
                <a:extLst>
                  <a:ext uri="{FF2B5EF4-FFF2-40B4-BE49-F238E27FC236}">
                    <a16:creationId xmlns:a16="http://schemas.microsoft.com/office/drawing/2014/main" id="{B46A1CA3-CEE0-5CC7-D358-747A9A3B08D3}"/>
                  </a:ext>
                </a:extLst>
              </p:cNvPr>
              <p:cNvSpPr/>
              <p:nvPr/>
            </p:nvSpPr>
            <p:spPr>
              <a:xfrm>
                <a:off x="10568297" y="2565429"/>
                <a:ext cx="30693" cy="21832"/>
              </a:xfrm>
              <a:custGeom>
                <a:avLst/>
                <a:gdLst>
                  <a:gd name="connsiteX0" fmla="*/ 11656 w 30693"/>
                  <a:gd name="connsiteY0" fmla="*/ 118 h 21832"/>
                  <a:gd name="connsiteX1" fmla="*/ 22101 w 30693"/>
                  <a:gd name="connsiteY1" fmla="*/ 1718 h 21832"/>
                  <a:gd name="connsiteX2" fmla="*/ 30574 w 30693"/>
                  <a:gd name="connsiteY2" fmla="*/ 13245 h 21832"/>
                  <a:gd name="connsiteX3" fmla="*/ 19053 w 30693"/>
                  <a:gd name="connsiteY3" fmla="*/ 21715 h 21832"/>
                  <a:gd name="connsiteX4" fmla="*/ 18646 w 30693"/>
                  <a:gd name="connsiteY4" fmla="*/ 21656 h 21832"/>
                  <a:gd name="connsiteX5" fmla="*/ 9034 w 30693"/>
                  <a:gd name="connsiteY5" fmla="*/ 20207 h 21832"/>
                  <a:gd name="connsiteX6" fmla="*/ 8608 w 30693"/>
                  <a:gd name="connsiteY6" fmla="*/ 20144 h 21832"/>
                  <a:gd name="connsiteX7" fmla="*/ 115 w 30693"/>
                  <a:gd name="connsiteY7" fmla="*/ 8620 h 21832"/>
                  <a:gd name="connsiteX8" fmla="*/ 11636 w 30693"/>
                  <a:gd name="connsiteY8" fmla="*/ 114 h 21832"/>
                  <a:gd name="connsiteX9" fmla="*/ 11656 w 30693"/>
                  <a:gd name="connsiteY9" fmla="*/ 118 h 2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93" h="21832">
                    <a:moveTo>
                      <a:pt x="11656" y="118"/>
                    </a:moveTo>
                    <a:lnTo>
                      <a:pt x="22101" y="1718"/>
                    </a:lnTo>
                    <a:cubicBezTo>
                      <a:pt x="27627" y="2563"/>
                      <a:pt x="31427" y="7724"/>
                      <a:pt x="30574" y="13245"/>
                    </a:cubicBezTo>
                    <a:cubicBezTo>
                      <a:pt x="29721" y="18768"/>
                      <a:pt x="24559" y="22560"/>
                      <a:pt x="19053" y="21715"/>
                    </a:cubicBezTo>
                    <a:lnTo>
                      <a:pt x="18646" y="21656"/>
                    </a:lnTo>
                    <a:lnTo>
                      <a:pt x="9034" y="20207"/>
                    </a:lnTo>
                    <a:lnTo>
                      <a:pt x="8608" y="20144"/>
                    </a:lnTo>
                    <a:cubicBezTo>
                      <a:pt x="3081" y="19311"/>
                      <a:pt x="-719" y="14151"/>
                      <a:pt x="115" y="8620"/>
                    </a:cubicBezTo>
                    <a:cubicBezTo>
                      <a:pt x="947" y="3089"/>
                      <a:pt x="6108" y="-719"/>
                      <a:pt x="11636" y="114"/>
                    </a:cubicBezTo>
                    <a:lnTo>
                      <a:pt x="11656" y="118"/>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8" name="Freeform: Shape 171">
                <a:extLst>
                  <a:ext uri="{FF2B5EF4-FFF2-40B4-BE49-F238E27FC236}">
                    <a16:creationId xmlns:a16="http://schemas.microsoft.com/office/drawing/2014/main" id="{AD7A49B7-3377-F4F1-9DB7-8537D0E29C31}"/>
                  </a:ext>
                </a:extLst>
              </p:cNvPr>
              <p:cNvSpPr/>
              <p:nvPr/>
            </p:nvSpPr>
            <p:spPr>
              <a:xfrm>
                <a:off x="10672115" y="2604580"/>
                <a:ext cx="28627" cy="26080"/>
              </a:xfrm>
              <a:custGeom>
                <a:avLst/>
                <a:gdLst>
                  <a:gd name="connsiteX0" fmla="*/ 15757 w 28627"/>
                  <a:gd name="connsiteY0" fmla="*/ 1835 h 26080"/>
                  <a:gd name="connsiteX1" fmla="*/ 24414 w 28627"/>
                  <a:gd name="connsiteY1" fmla="*/ 7939 h 26080"/>
                  <a:gd name="connsiteX2" fmla="*/ 26791 w 28627"/>
                  <a:gd name="connsiteY2" fmla="*/ 21856 h 26080"/>
                  <a:gd name="connsiteX3" fmla="*/ 12872 w 28627"/>
                  <a:gd name="connsiteY3" fmla="*/ 24250 h 26080"/>
                  <a:gd name="connsiteX4" fmla="*/ 12547 w 28627"/>
                  <a:gd name="connsiteY4" fmla="*/ 24020 h 26080"/>
                  <a:gd name="connsiteX5" fmla="*/ 4581 w 28627"/>
                  <a:gd name="connsiteY5" fmla="*/ 18420 h 26080"/>
                  <a:gd name="connsiteX6" fmla="*/ 4257 w 28627"/>
                  <a:gd name="connsiteY6" fmla="*/ 18178 h 26080"/>
                  <a:gd name="connsiteX7" fmla="*/ 1818 w 28627"/>
                  <a:gd name="connsiteY7" fmla="*/ 4249 h 26080"/>
                  <a:gd name="connsiteX8" fmla="*/ 15737 w 28627"/>
                  <a:gd name="connsiteY8" fmla="*/ 1819 h 26080"/>
                  <a:gd name="connsiteX9" fmla="*/ 15757 w 28627"/>
                  <a:gd name="connsiteY9" fmla="*/ 1835 h 2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27" h="26080">
                    <a:moveTo>
                      <a:pt x="15757" y="1835"/>
                    </a:moveTo>
                    <a:lnTo>
                      <a:pt x="24414" y="7939"/>
                    </a:lnTo>
                    <a:cubicBezTo>
                      <a:pt x="28905" y="11121"/>
                      <a:pt x="29981" y="17351"/>
                      <a:pt x="26791" y="21856"/>
                    </a:cubicBezTo>
                    <a:cubicBezTo>
                      <a:pt x="23621" y="26361"/>
                      <a:pt x="17383" y="27432"/>
                      <a:pt x="12872" y="24250"/>
                    </a:cubicBezTo>
                    <a:lnTo>
                      <a:pt x="12547" y="24020"/>
                    </a:lnTo>
                    <a:lnTo>
                      <a:pt x="4581" y="18420"/>
                    </a:lnTo>
                    <a:lnTo>
                      <a:pt x="4257" y="18178"/>
                    </a:lnTo>
                    <a:cubicBezTo>
                      <a:pt x="-275" y="15002"/>
                      <a:pt x="-1352" y="8766"/>
                      <a:pt x="1818" y="4249"/>
                    </a:cubicBezTo>
                    <a:cubicBezTo>
                      <a:pt x="4988" y="-268"/>
                      <a:pt x="11226" y="-1355"/>
                      <a:pt x="15737" y="1819"/>
                    </a:cubicBezTo>
                    <a:lnTo>
                      <a:pt x="15757" y="183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39" name="Freeform: Shape 172">
                <a:extLst>
                  <a:ext uri="{FF2B5EF4-FFF2-40B4-BE49-F238E27FC236}">
                    <a16:creationId xmlns:a16="http://schemas.microsoft.com/office/drawing/2014/main" id="{A45D4CED-CB77-BB35-032A-46C1210914A4}"/>
                  </a:ext>
                </a:extLst>
              </p:cNvPr>
              <p:cNvSpPr/>
              <p:nvPr/>
            </p:nvSpPr>
            <p:spPr>
              <a:xfrm>
                <a:off x="10754407" y="2680490"/>
                <a:ext cx="26919" cy="26919"/>
              </a:xfrm>
              <a:custGeom>
                <a:avLst/>
                <a:gdLst>
                  <a:gd name="connsiteX0" fmla="*/ 16858 w 26919"/>
                  <a:gd name="connsiteY0" fmla="*/ 2897 h 26919"/>
                  <a:gd name="connsiteX1" fmla="*/ 24031 w 26919"/>
                  <a:gd name="connsiteY1" fmla="*/ 10090 h 26919"/>
                  <a:gd name="connsiteX2" fmla="*/ 24031 w 26919"/>
                  <a:gd name="connsiteY2" fmla="*/ 24032 h 26919"/>
                  <a:gd name="connsiteX3" fmla="*/ 10092 w 26919"/>
                  <a:gd name="connsiteY3" fmla="*/ 24032 h 26919"/>
                  <a:gd name="connsiteX4" fmla="*/ 2899 w 26919"/>
                  <a:gd name="connsiteY4" fmla="*/ 16857 h 26919"/>
                  <a:gd name="connsiteX5" fmla="*/ 2878 w 26919"/>
                  <a:gd name="connsiteY5" fmla="*/ 2899 h 26919"/>
                  <a:gd name="connsiteX6" fmla="*/ 16838 w 26919"/>
                  <a:gd name="connsiteY6" fmla="*/ 2883 h 26919"/>
                  <a:gd name="connsiteX7" fmla="*/ 16858 w 26919"/>
                  <a:gd name="connsiteY7" fmla="*/ 2897 h 26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9" h="26919">
                    <a:moveTo>
                      <a:pt x="16858" y="2897"/>
                    </a:moveTo>
                    <a:lnTo>
                      <a:pt x="24031" y="10090"/>
                    </a:lnTo>
                    <a:cubicBezTo>
                      <a:pt x="27892" y="13945"/>
                      <a:pt x="27872" y="20187"/>
                      <a:pt x="24031" y="24032"/>
                    </a:cubicBezTo>
                    <a:cubicBezTo>
                      <a:pt x="20171" y="27876"/>
                      <a:pt x="13932" y="27887"/>
                      <a:pt x="10092" y="24032"/>
                    </a:cubicBezTo>
                    <a:lnTo>
                      <a:pt x="2899" y="16857"/>
                    </a:lnTo>
                    <a:cubicBezTo>
                      <a:pt x="-963" y="13006"/>
                      <a:pt x="-963" y="6758"/>
                      <a:pt x="2878" y="2899"/>
                    </a:cubicBezTo>
                    <a:cubicBezTo>
                      <a:pt x="6739" y="-960"/>
                      <a:pt x="12977" y="-968"/>
                      <a:pt x="16838" y="2883"/>
                    </a:cubicBezTo>
                    <a:lnTo>
                      <a:pt x="16858" y="2897"/>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0" name="Freeform: Shape 173">
                <a:extLst>
                  <a:ext uri="{FF2B5EF4-FFF2-40B4-BE49-F238E27FC236}">
                    <a16:creationId xmlns:a16="http://schemas.microsoft.com/office/drawing/2014/main" id="{F73378D1-74FE-9B42-4140-C82D58F8D32F}"/>
                  </a:ext>
                </a:extLst>
              </p:cNvPr>
              <p:cNvSpPr/>
              <p:nvPr/>
            </p:nvSpPr>
            <p:spPr>
              <a:xfrm>
                <a:off x="10833564" y="2759646"/>
                <a:ext cx="26657" cy="26660"/>
              </a:xfrm>
              <a:custGeom>
                <a:avLst/>
                <a:gdLst>
                  <a:gd name="connsiteX0" fmla="*/ 16645 w 26657"/>
                  <a:gd name="connsiteY0" fmla="*/ 2859 h 26660"/>
                  <a:gd name="connsiteX1" fmla="*/ 23818 w 26657"/>
                  <a:gd name="connsiteY1" fmla="*/ 10052 h 26660"/>
                  <a:gd name="connsiteX2" fmla="*/ 23797 w 26657"/>
                  <a:gd name="connsiteY2" fmla="*/ 23811 h 26660"/>
                  <a:gd name="connsiteX3" fmla="*/ 10062 w 26657"/>
                  <a:gd name="connsiteY3" fmla="*/ 23811 h 26660"/>
                  <a:gd name="connsiteX4" fmla="*/ 2868 w 26657"/>
                  <a:gd name="connsiteY4" fmla="*/ 16636 h 26660"/>
                  <a:gd name="connsiteX5" fmla="*/ 2847 w 26657"/>
                  <a:gd name="connsiteY5" fmla="*/ 2861 h 26660"/>
                  <a:gd name="connsiteX6" fmla="*/ 16625 w 26657"/>
                  <a:gd name="connsiteY6" fmla="*/ 2845 h 26660"/>
                  <a:gd name="connsiteX7" fmla="*/ 16645 w 26657"/>
                  <a:gd name="connsiteY7" fmla="*/ 2859 h 26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57" h="26660">
                    <a:moveTo>
                      <a:pt x="16645" y="2859"/>
                    </a:moveTo>
                    <a:lnTo>
                      <a:pt x="23818" y="10052"/>
                    </a:lnTo>
                    <a:cubicBezTo>
                      <a:pt x="27617" y="13856"/>
                      <a:pt x="27598" y="20015"/>
                      <a:pt x="23797" y="23811"/>
                    </a:cubicBezTo>
                    <a:cubicBezTo>
                      <a:pt x="19997" y="27605"/>
                      <a:pt x="13841" y="27615"/>
                      <a:pt x="10062" y="23811"/>
                    </a:cubicBezTo>
                    <a:lnTo>
                      <a:pt x="2868" y="16636"/>
                    </a:lnTo>
                    <a:cubicBezTo>
                      <a:pt x="-953" y="12836"/>
                      <a:pt x="-953" y="6669"/>
                      <a:pt x="2847" y="2861"/>
                    </a:cubicBezTo>
                    <a:cubicBezTo>
                      <a:pt x="6648" y="-947"/>
                      <a:pt x="12804" y="-955"/>
                      <a:pt x="16625" y="2845"/>
                    </a:cubicBezTo>
                    <a:lnTo>
                      <a:pt x="16645" y="2859"/>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1" name="Freeform: Shape 174">
                <a:extLst>
                  <a:ext uri="{FF2B5EF4-FFF2-40B4-BE49-F238E27FC236}">
                    <a16:creationId xmlns:a16="http://schemas.microsoft.com/office/drawing/2014/main" id="{36EC2237-FFC2-F382-EF6D-D07BBFC8E986}"/>
                  </a:ext>
                </a:extLst>
              </p:cNvPr>
              <p:cNvSpPr/>
              <p:nvPr/>
            </p:nvSpPr>
            <p:spPr>
              <a:xfrm>
                <a:off x="10912929" y="2839013"/>
                <a:ext cx="25928" cy="25915"/>
              </a:xfrm>
              <a:custGeom>
                <a:avLst/>
                <a:gdLst>
                  <a:gd name="connsiteX0" fmla="*/ 16060 w 25928"/>
                  <a:gd name="connsiteY0" fmla="*/ 2770 h 25915"/>
                  <a:gd name="connsiteX1" fmla="*/ 23213 w 25928"/>
                  <a:gd name="connsiteY1" fmla="*/ 9979 h 25915"/>
                  <a:gd name="connsiteX2" fmla="*/ 23172 w 25928"/>
                  <a:gd name="connsiteY2" fmla="*/ 23202 h 25915"/>
                  <a:gd name="connsiteX3" fmla="*/ 9985 w 25928"/>
                  <a:gd name="connsiteY3" fmla="*/ 23202 h 25915"/>
                  <a:gd name="connsiteX4" fmla="*/ 2771 w 25928"/>
                  <a:gd name="connsiteY4" fmla="*/ 16043 h 25915"/>
                  <a:gd name="connsiteX5" fmla="*/ 2730 w 25928"/>
                  <a:gd name="connsiteY5" fmla="*/ 2772 h 25915"/>
                  <a:gd name="connsiteX6" fmla="*/ 16000 w 25928"/>
                  <a:gd name="connsiteY6" fmla="*/ 2725 h 25915"/>
                  <a:gd name="connsiteX7" fmla="*/ 16060 w 25928"/>
                  <a:gd name="connsiteY7" fmla="*/ 2770 h 25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28" h="25915">
                    <a:moveTo>
                      <a:pt x="16060" y="2770"/>
                    </a:moveTo>
                    <a:lnTo>
                      <a:pt x="23213" y="9979"/>
                    </a:lnTo>
                    <a:cubicBezTo>
                      <a:pt x="26851" y="13643"/>
                      <a:pt x="26831" y="19562"/>
                      <a:pt x="23172" y="23202"/>
                    </a:cubicBezTo>
                    <a:cubicBezTo>
                      <a:pt x="19515" y="26825"/>
                      <a:pt x="13623" y="26817"/>
                      <a:pt x="9985" y="23202"/>
                    </a:cubicBezTo>
                    <a:lnTo>
                      <a:pt x="2771" y="16043"/>
                    </a:lnTo>
                    <a:cubicBezTo>
                      <a:pt x="-907" y="12391"/>
                      <a:pt x="-927" y="6450"/>
                      <a:pt x="2730" y="2772"/>
                    </a:cubicBezTo>
                    <a:cubicBezTo>
                      <a:pt x="6389" y="-906"/>
                      <a:pt x="12322" y="-926"/>
                      <a:pt x="16000" y="2725"/>
                    </a:cubicBezTo>
                    <a:lnTo>
                      <a:pt x="16060" y="2770"/>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2" name="Freeform: Shape 175">
                <a:extLst>
                  <a:ext uri="{FF2B5EF4-FFF2-40B4-BE49-F238E27FC236}">
                    <a16:creationId xmlns:a16="http://schemas.microsoft.com/office/drawing/2014/main" id="{BB761ABD-25DD-CC92-1BCB-7768376A5B0D}"/>
                  </a:ext>
                </a:extLst>
              </p:cNvPr>
              <p:cNvSpPr/>
              <p:nvPr/>
            </p:nvSpPr>
            <p:spPr>
              <a:xfrm>
                <a:off x="10992360" y="2918431"/>
                <a:ext cx="25130" cy="25134"/>
              </a:xfrm>
              <a:custGeom>
                <a:avLst/>
                <a:gdLst>
                  <a:gd name="connsiteX0" fmla="*/ 15369 w 25130"/>
                  <a:gd name="connsiteY0" fmla="*/ 2655 h 25134"/>
                  <a:gd name="connsiteX1" fmla="*/ 22522 w 25130"/>
                  <a:gd name="connsiteY1" fmla="*/ 9864 h 25134"/>
                  <a:gd name="connsiteX2" fmla="*/ 22481 w 25130"/>
                  <a:gd name="connsiteY2" fmla="*/ 22534 h 25134"/>
                  <a:gd name="connsiteX3" fmla="*/ 9863 w 25130"/>
                  <a:gd name="connsiteY3" fmla="*/ 22534 h 25134"/>
                  <a:gd name="connsiteX4" fmla="*/ 2649 w 25130"/>
                  <a:gd name="connsiteY4" fmla="*/ 15375 h 25134"/>
                  <a:gd name="connsiteX5" fmla="*/ 2609 w 25130"/>
                  <a:gd name="connsiteY5" fmla="*/ 2657 h 25134"/>
                  <a:gd name="connsiteX6" fmla="*/ 15329 w 25130"/>
                  <a:gd name="connsiteY6" fmla="*/ 2612 h 25134"/>
                  <a:gd name="connsiteX7" fmla="*/ 15369 w 25130"/>
                  <a:gd name="connsiteY7" fmla="*/ 2655 h 2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30" h="25134">
                    <a:moveTo>
                      <a:pt x="15369" y="2655"/>
                    </a:moveTo>
                    <a:lnTo>
                      <a:pt x="22522" y="9864"/>
                    </a:lnTo>
                    <a:cubicBezTo>
                      <a:pt x="26017" y="13375"/>
                      <a:pt x="25997" y="19047"/>
                      <a:pt x="22481" y="22534"/>
                    </a:cubicBezTo>
                    <a:cubicBezTo>
                      <a:pt x="18987" y="26004"/>
                      <a:pt x="13337" y="25998"/>
                      <a:pt x="9863" y="22534"/>
                    </a:cubicBezTo>
                    <a:lnTo>
                      <a:pt x="2649" y="15375"/>
                    </a:lnTo>
                    <a:cubicBezTo>
                      <a:pt x="-866" y="11876"/>
                      <a:pt x="-887" y="6180"/>
                      <a:pt x="2609" y="2657"/>
                    </a:cubicBezTo>
                    <a:cubicBezTo>
                      <a:pt x="6103" y="-869"/>
                      <a:pt x="11793" y="-887"/>
                      <a:pt x="15329" y="2612"/>
                    </a:cubicBezTo>
                    <a:lnTo>
                      <a:pt x="15369" y="265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3" name="Freeform: Shape 176">
                <a:extLst>
                  <a:ext uri="{FF2B5EF4-FFF2-40B4-BE49-F238E27FC236}">
                    <a16:creationId xmlns:a16="http://schemas.microsoft.com/office/drawing/2014/main" id="{CA2B2D47-9CDE-8E5E-2C5F-B87BCBA2A655}"/>
                  </a:ext>
                </a:extLst>
              </p:cNvPr>
              <p:cNvSpPr/>
              <p:nvPr/>
            </p:nvSpPr>
            <p:spPr>
              <a:xfrm>
                <a:off x="11071773" y="2997846"/>
                <a:ext cx="24353" cy="24352"/>
              </a:xfrm>
              <a:custGeom>
                <a:avLst/>
                <a:gdLst>
                  <a:gd name="connsiteX0" fmla="*/ 14696 w 24353"/>
                  <a:gd name="connsiteY0" fmla="*/ 2543 h 24352"/>
                  <a:gd name="connsiteX1" fmla="*/ 21870 w 24353"/>
                  <a:gd name="connsiteY1" fmla="*/ 9755 h 24352"/>
                  <a:gd name="connsiteX2" fmla="*/ 21808 w 24353"/>
                  <a:gd name="connsiteY2" fmla="*/ 21868 h 24352"/>
                  <a:gd name="connsiteX3" fmla="*/ 9739 w 24353"/>
                  <a:gd name="connsiteY3" fmla="*/ 21868 h 24352"/>
                  <a:gd name="connsiteX4" fmla="*/ 2545 w 24353"/>
                  <a:gd name="connsiteY4" fmla="*/ 14711 h 24352"/>
                  <a:gd name="connsiteX5" fmla="*/ 2485 w 24353"/>
                  <a:gd name="connsiteY5" fmla="*/ 2543 h 24352"/>
                  <a:gd name="connsiteX6" fmla="*/ 14656 w 24353"/>
                  <a:gd name="connsiteY6" fmla="*/ 2497 h 24352"/>
                  <a:gd name="connsiteX7" fmla="*/ 14696 w 24353"/>
                  <a:gd name="connsiteY7" fmla="*/ 2543 h 2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53" h="24352">
                    <a:moveTo>
                      <a:pt x="14696" y="2543"/>
                    </a:moveTo>
                    <a:lnTo>
                      <a:pt x="21870" y="9755"/>
                    </a:lnTo>
                    <a:cubicBezTo>
                      <a:pt x="25202" y="13112"/>
                      <a:pt x="25182" y="18535"/>
                      <a:pt x="21808" y="21868"/>
                    </a:cubicBezTo>
                    <a:cubicBezTo>
                      <a:pt x="18476" y="25184"/>
                      <a:pt x="13091" y="25178"/>
                      <a:pt x="9739" y="21868"/>
                    </a:cubicBezTo>
                    <a:lnTo>
                      <a:pt x="2545" y="14711"/>
                    </a:lnTo>
                    <a:cubicBezTo>
                      <a:pt x="-828" y="11364"/>
                      <a:pt x="-848" y="5916"/>
                      <a:pt x="2485" y="2543"/>
                    </a:cubicBezTo>
                    <a:cubicBezTo>
                      <a:pt x="5837" y="-830"/>
                      <a:pt x="11282" y="-850"/>
                      <a:pt x="14656" y="2497"/>
                    </a:cubicBezTo>
                    <a:lnTo>
                      <a:pt x="14696" y="2543"/>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4" name="Freeform: Shape 177">
                <a:extLst>
                  <a:ext uri="{FF2B5EF4-FFF2-40B4-BE49-F238E27FC236}">
                    <a16:creationId xmlns:a16="http://schemas.microsoft.com/office/drawing/2014/main" id="{D6CFD3B8-68BD-17BB-EE48-7A4C327FD63D}"/>
                  </a:ext>
                </a:extLst>
              </p:cNvPr>
              <p:cNvSpPr/>
              <p:nvPr/>
            </p:nvSpPr>
            <p:spPr>
              <a:xfrm>
                <a:off x="11151407" y="3077488"/>
                <a:ext cx="23086" cy="23078"/>
              </a:xfrm>
              <a:custGeom>
                <a:avLst/>
                <a:gdLst>
                  <a:gd name="connsiteX0" fmla="*/ 13661 w 23086"/>
                  <a:gd name="connsiteY0" fmla="*/ 2369 h 23078"/>
                  <a:gd name="connsiteX1" fmla="*/ 20793 w 23086"/>
                  <a:gd name="connsiteY1" fmla="*/ 9595 h 23078"/>
                  <a:gd name="connsiteX2" fmla="*/ 20732 w 23086"/>
                  <a:gd name="connsiteY2" fmla="*/ 20793 h 23078"/>
                  <a:gd name="connsiteX3" fmla="*/ 9597 w 23086"/>
                  <a:gd name="connsiteY3" fmla="*/ 20793 h 23078"/>
                  <a:gd name="connsiteX4" fmla="*/ 2363 w 23086"/>
                  <a:gd name="connsiteY4" fmla="*/ 13651 h 23078"/>
                  <a:gd name="connsiteX5" fmla="*/ 2301 w 23086"/>
                  <a:gd name="connsiteY5" fmla="*/ 2369 h 23078"/>
                  <a:gd name="connsiteX6" fmla="*/ 13579 w 23086"/>
                  <a:gd name="connsiteY6" fmla="*/ 2304 h 23078"/>
                  <a:gd name="connsiteX7" fmla="*/ 13661 w 23086"/>
                  <a:gd name="connsiteY7" fmla="*/ 2369 h 23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86" h="23078">
                    <a:moveTo>
                      <a:pt x="13661" y="2369"/>
                    </a:moveTo>
                    <a:lnTo>
                      <a:pt x="20793" y="9595"/>
                    </a:lnTo>
                    <a:cubicBezTo>
                      <a:pt x="23881" y="12706"/>
                      <a:pt x="23841" y="17719"/>
                      <a:pt x="20732" y="20793"/>
                    </a:cubicBezTo>
                    <a:cubicBezTo>
                      <a:pt x="17643" y="23845"/>
                      <a:pt x="12685" y="23835"/>
                      <a:pt x="9597" y="20793"/>
                    </a:cubicBezTo>
                    <a:lnTo>
                      <a:pt x="2363" y="13651"/>
                    </a:lnTo>
                    <a:cubicBezTo>
                      <a:pt x="-767" y="10554"/>
                      <a:pt x="-788" y="5502"/>
                      <a:pt x="2301" y="2369"/>
                    </a:cubicBezTo>
                    <a:cubicBezTo>
                      <a:pt x="5411" y="-764"/>
                      <a:pt x="10450" y="-793"/>
                      <a:pt x="13579" y="2304"/>
                    </a:cubicBezTo>
                    <a:cubicBezTo>
                      <a:pt x="13599" y="2316"/>
                      <a:pt x="13640" y="2359"/>
                      <a:pt x="13661" y="2369"/>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5" name="Freeform: Shape 178">
                <a:extLst>
                  <a:ext uri="{FF2B5EF4-FFF2-40B4-BE49-F238E27FC236}">
                    <a16:creationId xmlns:a16="http://schemas.microsoft.com/office/drawing/2014/main" id="{143C5B92-24C0-1870-2C1B-E8573B645A1A}"/>
                  </a:ext>
                </a:extLst>
              </p:cNvPr>
              <p:cNvSpPr/>
              <p:nvPr/>
            </p:nvSpPr>
            <p:spPr>
              <a:xfrm>
                <a:off x="11231082" y="3157163"/>
                <a:ext cx="21790" cy="21785"/>
              </a:xfrm>
              <a:custGeom>
                <a:avLst/>
                <a:gdLst>
                  <a:gd name="connsiteX0" fmla="*/ 12542 w 21790"/>
                  <a:gd name="connsiteY0" fmla="*/ 2177 h 21785"/>
                  <a:gd name="connsiteX1" fmla="*/ 19695 w 21790"/>
                  <a:gd name="connsiteY1" fmla="*/ 9403 h 21785"/>
                  <a:gd name="connsiteX2" fmla="*/ 19635 w 21790"/>
                  <a:gd name="connsiteY2" fmla="*/ 19687 h 21785"/>
                  <a:gd name="connsiteX3" fmla="*/ 9414 w 21790"/>
                  <a:gd name="connsiteY3" fmla="*/ 19687 h 21785"/>
                  <a:gd name="connsiteX4" fmla="*/ 2180 w 21790"/>
                  <a:gd name="connsiteY4" fmla="*/ 12544 h 21785"/>
                  <a:gd name="connsiteX5" fmla="*/ 2118 w 21790"/>
                  <a:gd name="connsiteY5" fmla="*/ 2177 h 21785"/>
                  <a:gd name="connsiteX6" fmla="*/ 12482 w 21790"/>
                  <a:gd name="connsiteY6" fmla="*/ 2116 h 21785"/>
                  <a:gd name="connsiteX7" fmla="*/ 12542 w 21790"/>
                  <a:gd name="connsiteY7" fmla="*/ 2177 h 2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90" h="21785">
                    <a:moveTo>
                      <a:pt x="12542" y="2177"/>
                    </a:moveTo>
                    <a:lnTo>
                      <a:pt x="19695" y="9403"/>
                    </a:lnTo>
                    <a:cubicBezTo>
                      <a:pt x="22520" y="12260"/>
                      <a:pt x="22479" y="16864"/>
                      <a:pt x="19635" y="19687"/>
                    </a:cubicBezTo>
                    <a:cubicBezTo>
                      <a:pt x="16790" y="22489"/>
                      <a:pt x="12238" y="22481"/>
                      <a:pt x="9414" y="19687"/>
                    </a:cubicBezTo>
                    <a:lnTo>
                      <a:pt x="2180" y="12544"/>
                    </a:lnTo>
                    <a:cubicBezTo>
                      <a:pt x="-706" y="9698"/>
                      <a:pt x="-726" y="5057"/>
                      <a:pt x="2118" y="2177"/>
                    </a:cubicBezTo>
                    <a:cubicBezTo>
                      <a:pt x="4963" y="-702"/>
                      <a:pt x="9616" y="-729"/>
                      <a:pt x="12482" y="2116"/>
                    </a:cubicBezTo>
                    <a:cubicBezTo>
                      <a:pt x="12502" y="2128"/>
                      <a:pt x="12542" y="2167"/>
                      <a:pt x="12542" y="2177"/>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6" name="Freeform: Shape 179">
                <a:extLst>
                  <a:ext uri="{FF2B5EF4-FFF2-40B4-BE49-F238E27FC236}">
                    <a16:creationId xmlns:a16="http://schemas.microsoft.com/office/drawing/2014/main" id="{4272444B-2364-A872-9704-FCAEA665E220}"/>
                  </a:ext>
                </a:extLst>
              </p:cNvPr>
              <p:cNvSpPr/>
              <p:nvPr/>
            </p:nvSpPr>
            <p:spPr>
              <a:xfrm>
                <a:off x="11310853" y="3236929"/>
                <a:ext cx="20264" cy="20267"/>
              </a:xfrm>
              <a:custGeom>
                <a:avLst/>
                <a:gdLst>
                  <a:gd name="connsiteX0" fmla="*/ 11268 w 20264"/>
                  <a:gd name="connsiteY0" fmla="*/ 1966 h 20267"/>
                  <a:gd name="connsiteX1" fmla="*/ 18400 w 20264"/>
                  <a:gd name="connsiteY1" fmla="*/ 9208 h 20267"/>
                  <a:gd name="connsiteX2" fmla="*/ 18318 w 20264"/>
                  <a:gd name="connsiteY2" fmla="*/ 18403 h 20267"/>
                  <a:gd name="connsiteX3" fmla="*/ 9215 w 20264"/>
                  <a:gd name="connsiteY3" fmla="*/ 18403 h 20267"/>
                  <a:gd name="connsiteX4" fmla="*/ 1961 w 20264"/>
                  <a:gd name="connsiteY4" fmla="*/ 11276 h 20267"/>
                  <a:gd name="connsiteX5" fmla="*/ 1880 w 20264"/>
                  <a:gd name="connsiteY5" fmla="*/ 1966 h 20267"/>
                  <a:gd name="connsiteX6" fmla="*/ 11206 w 20264"/>
                  <a:gd name="connsiteY6" fmla="*/ 1890 h 20267"/>
                  <a:gd name="connsiteX7" fmla="*/ 11268 w 20264"/>
                  <a:gd name="connsiteY7" fmla="*/ 1966 h 20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264" h="20267">
                    <a:moveTo>
                      <a:pt x="11268" y="1966"/>
                    </a:moveTo>
                    <a:lnTo>
                      <a:pt x="18400" y="9208"/>
                    </a:lnTo>
                    <a:cubicBezTo>
                      <a:pt x="20920" y="11768"/>
                      <a:pt x="20879" y="15883"/>
                      <a:pt x="18318" y="18403"/>
                    </a:cubicBezTo>
                    <a:cubicBezTo>
                      <a:pt x="15799" y="20896"/>
                      <a:pt x="11735" y="20884"/>
                      <a:pt x="9215" y="18403"/>
                    </a:cubicBezTo>
                    <a:lnTo>
                      <a:pt x="1961" y="11276"/>
                    </a:lnTo>
                    <a:cubicBezTo>
                      <a:pt x="-619" y="8726"/>
                      <a:pt x="-660" y="4559"/>
                      <a:pt x="1880" y="1966"/>
                    </a:cubicBezTo>
                    <a:cubicBezTo>
                      <a:pt x="4440" y="-625"/>
                      <a:pt x="8606" y="-660"/>
                      <a:pt x="11206" y="1890"/>
                    </a:cubicBezTo>
                    <a:cubicBezTo>
                      <a:pt x="11227" y="1909"/>
                      <a:pt x="11268" y="1949"/>
                      <a:pt x="11268" y="196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7" name="Freeform: Shape 180">
                <a:extLst>
                  <a:ext uri="{FF2B5EF4-FFF2-40B4-BE49-F238E27FC236}">
                    <a16:creationId xmlns:a16="http://schemas.microsoft.com/office/drawing/2014/main" id="{191659CE-76D8-2C52-B1F8-1911ED0038D1}"/>
                  </a:ext>
                </a:extLst>
              </p:cNvPr>
              <p:cNvSpPr/>
              <p:nvPr/>
            </p:nvSpPr>
            <p:spPr>
              <a:xfrm>
                <a:off x="11390779" y="3316858"/>
                <a:ext cx="18476" cy="18472"/>
              </a:xfrm>
              <a:custGeom>
                <a:avLst/>
                <a:gdLst>
                  <a:gd name="connsiteX0" fmla="*/ 9736 w 18476"/>
                  <a:gd name="connsiteY0" fmla="*/ 1698 h 18472"/>
                  <a:gd name="connsiteX1" fmla="*/ 16868 w 18476"/>
                  <a:gd name="connsiteY1" fmla="*/ 8940 h 18472"/>
                  <a:gd name="connsiteX2" fmla="*/ 16808 w 18476"/>
                  <a:gd name="connsiteY2" fmla="*/ 16865 h 18472"/>
                  <a:gd name="connsiteX3" fmla="*/ 8944 w 18476"/>
                  <a:gd name="connsiteY3" fmla="*/ 16865 h 18472"/>
                  <a:gd name="connsiteX4" fmla="*/ 1710 w 18476"/>
                  <a:gd name="connsiteY4" fmla="*/ 9738 h 18472"/>
                  <a:gd name="connsiteX5" fmla="*/ 1628 w 18476"/>
                  <a:gd name="connsiteY5" fmla="*/ 1698 h 18472"/>
                  <a:gd name="connsiteX6" fmla="*/ 9675 w 18476"/>
                  <a:gd name="connsiteY6" fmla="*/ 1633 h 18472"/>
                  <a:gd name="connsiteX7" fmla="*/ 9736 w 18476"/>
                  <a:gd name="connsiteY7" fmla="*/ 1698 h 1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76" h="18472">
                    <a:moveTo>
                      <a:pt x="9736" y="1698"/>
                    </a:moveTo>
                    <a:lnTo>
                      <a:pt x="16868" y="8940"/>
                    </a:lnTo>
                    <a:cubicBezTo>
                      <a:pt x="19042" y="11146"/>
                      <a:pt x="19001" y="14694"/>
                      <a:pt x="16808" y="16865"/>
                    </a:cubicBezTo>
                    <a:cubicBezTo>
                      <a:pt x="14613" y="19012"/>
                      <a:pt x="11118" y="19004"/>
                      <a:pt x="8944" y="16865"/>
                    </a:cubicBezTo>
                    <a:lnTo>
                      <a:pt x="1710" y="9738"/>
                    </a:lnTo>
                    <a:cubicBezTo>
                      <a:pt x="-546" y="7536"/>
                      <a:pt x="-566" y="3935"/>
                      <a:pt x="1628" y="1698"/>
                    </a:cubicBezTo>
                    <a:cubicBezTo>
                      <a:pt x="3843" y="-540"/>
                      <a:pt x="7440" y="-570"/>
                      <a:pt x="9675" y="1633"/>
                    </a:cubicBezTo>
                    <a:cubicBezTo>
                      <a:pt x="9696" y="1649"/>
                      <a:pt x="9716" y="1683"/>
                      <a:pt x="9736" y="1698"/>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8" name="Freeform: Shape 181">
                <a:extLst>
                  <a:ext uri="{FF2B5EF4-FFF2-40B4-BE49-F238E27FC236}">
                    <a16:creationId xmlns:a16="http://schemas.microsoft.com/office/drawing/2014/main" id="{5B24CF5C-7056-CABD-3C68-27397AE5BE42}"/>
                  </a:ext>
                </a:extLst>
              </p:cNvPr>
              <p:cNvSpPr/>
              <p:nvPr/>
            </p:nvSpPr>
            <p:spPr>
              <a:xfrm>
                <a:off x="11470763" y="3396838"/>
                <a:ext cx="16504" cy="16641"/>
              </a:xfrm>
              <a:custGeom>
                <a:avLst/>
                <a:gdLst>
                  <a:gd name="connsiteX0" fmla="*/ 8086 w 16504"/>
                  <a:gd name="connsiteY0" fmla="*/ 1435 h 16641"/>
                  <a:gd name="connsiteX1" fmla="*/ 15218 w 16504"/>
                  <a:gd name="connsiteY1" fmla="*/ 8856 h 16641"/>
                  <a:gd name="connsiteX2" fmla="*/ 15076 w 16504"/>
                  <a:gd name="connsiteY2" fmla="*/ 15364 h 16641"/>
                  <a:gd name="connsiteX3" fmla="*/ 8635 w 16504"/>
                  <a:gd name="connsiteY3" fmla="*/ 15293 h 16641"/>
                  <a:gd name="connsiteX4" fmla="*/ 8532 w 16504"/>
                  <a:gd name="connsiteY4" fmla="*/ 15181 h 16641"/>
                  <a:gd name="connsiteX5" fmla="*/ 1441 w 16504"/>
                  <a:gd name="connsiteY5" fmla="*/ 8094 h 16641"/>
                  <a:gd name="connsiteX6" fmla="*/ 1319 w 16504"/>
                  <a:gd name="connsiteY6" fmla="*/ 1435 h 16641"/>
                  <a:gd name="connsiteX7" fmla="*/ 7985 w 16504"/>
                  <a:gd name="connsiteY7" fmla="*/ 1325 h 16641"/>
                  <a:gd name="connsiteX8" fmla="*/ 8045 w 16504"/>
                  <a:gd name="connsiteY8" fmla="*/ 1376 h 16641"/>
                  <a:gd name="connsiteX9" fmla="*/ 8086 w 16504"/>
                  <a:gd name="connsiteY9" fmla="*/ 1435 h 16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04" h="16641">
                    <a:moveTo>
                      <a:pt x="8086" y="1435"/>
                    </a:moveTo>
                    <a:cubicBezTo>
                      <a:pt x="10463" y="3818"/>
                      <a:pt x="12840" y="6370"/>
                      <a:pt x="15218" y="8856"/>
                    </a:cubicBezTo>
                    <a:cubicBezTo>
                      <a:pt x="16986" y="10693"/>
                      <a:pt x="16925" y="13606"/>
                      <a:pt x="15076" y="15364"/>
                    </a:cubicBezTo>
                    <a:cubicBezTo>
                      <a:pt x="13267" y="17097"/>
                      <a:pt x="10403" y="17059"/>
                      <a:pt x="8635" y="15293"/>
                    </a:cubicBezTo>
                    <a:lnTo>
                      <a:pt x="8532" y="15181"/>
                    </a:lnTo>
                    <a:cubicBezTo>
                      <a:pt x="6176" y="12820"/>
                      <a:pt x="3900" y="10469"/>
                      <a:pt x="1441" y="8094"/>
                    </a:cubicBezTo>
                    <a:cubicBezTo>
                      <a:pt x="-428" y="6285"/>
                      <a:pt x="-490" y="3304"/>
                      <a:pt x="1319" y="1435"/>
                    </a:cubicBezTo>
                    <a:cubicBezTo>
                      <a:pt x="3128" y="-435"/>
                      <a:pt x="6114" y="-483"/>
                      <a:pt x="7985" y="1325"/>
                    </a:cubicBezTo>
                    <a:cubicBezTo>
                      <a:pt x="8004" y="1341"/>
                      <a:pt x="8024" y="1360"/>
                      <a:pt x="8045" y="1376"/>
                    </a:cubicBezTo>
                    <a:lnTo>
                      <a:pt x="8086" y="1435"/>
                    </a:ln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49" name="Freeform: Shape 182">
                <a:extLst>
                  <a:ext uri="{FF2B5EF4-FFF2-40B4-BE49-F238E27FC236}">
                    <a16:creationId xmlns:a16="http://schemas.microsoft.com/office/drawing/2014/main" id="{B676A405-F8F3-7AEF-080C-7E72F59D5CF6}"/>
                  </a:ext>
                </a:extLst>
              </p:cNvPr>
              <p:cNvSpPr/>
              <p:nvPr/>
            </p:nvSpPr>
            <p:spPr>
              <a:xfrm>
                <a:off x="11531535" y="3491308"/>
                <a:ext cx="10240" cy="16825"/>
              </a:xfrm>
              <a:custGeom>
                <a:avLst/>
                <a:gdLst>
                  <a:gd name="connsiteX0" fmla="*/ 6973 w 10240"/>
                  <a:gd name="connsiteY0" fmla="*/ 2493 h 16825"/>
                  <a:gd name="connsiteX1" fmla="*/ 10083 w 10240"/>
                  <a:gd name="connsiteY1" fmla="*/ 12324 h 16825"/>
                  <a:gd name="connsiteX2" fmla="*/ 7807 w 10240"/>
                  <a:gd name="connsiteY2" fmla="*/ 16664 h 16825"/>
                  <a:gd name="connsiteX3" fmla="*/ 3499 w 10240"/>
                  <a:gd name="connsiteY3" fmla="*/ 14476 h 16825"/>
                  <a:gd name="connsiteX4" fmla="*/ 3458 w 10240"/>
                  <a:gd name="connsiteY4" fmla="*/ 14333 h 16825"/>
                  <a:gd name="connsiteX5" fmla="*/ 247 w 10240"/>
                  <a:gd name="connsiteY5" fmla="*/ 4848 h 16825"/>
                  <a:gd name="connsiteX6" fmla="*/ 187 w 10240"/>
                  <a:gd name="connsiteY6" fmla="*/ 4708 h 16825"/>
                  <a:gd name="connsiteX7" fmla="*/ 2442 w 10240"/>
                  <a:gd name="connsiteY7" fmla="*/ 189 h 16825"/>
                  <a:gd name="connsiteX8" fmla="*/ 6954 w 10240"/>
                  <a:gd name="connsiteY8" fmla="*/ 2426 h 16825"/>
                  <a:gd name="connsiteX9" fmla="*/ 6973 w 10240"/>
                  <a:gd name="connsiteY9" fmla="*/ 2493 h 1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40" h="16825">
                    <a:moveTo>
                      <a:pt x="6973" y="2493"/>
                    </a:moveTo>
                    <a:lnTo>
                      <a:pt x="10083" y="12324"/>
                    </a:lnTo>
                    <a:cubicBezTo>
                      <a:pt x="10651" y="14146"/>
                      <a:pt x="9635" y="16089"/>
                      <a:pt x="7807" y="16664"/>
                    </a:cubicBezTo>
                    <a:cubicBezTo>
                      <a:pt x="6019" y="17231"/>
                      <a:pt x="4088" y="16254"/>
                      <a:pt x="3499" y="14476"/>
                    </a:cubicBezTo>
                    <a:lnTo>
                      <a:pt x="3458" y="14333"/>
                    </a:lnTo>
                    <a:lnTo>
                      <a:pt x="247" y="4848"/>
                    </a:lnTo>
                    <a:lnTo>
                      <a:pt x="187" y="4708"/>
                    </a:lnTo>
                    <a:cubicBezTo>
                      <a:pt x="-443" y="2842"/>
                      <a:pt x="573" y="818"/>
                      <a:pt x="2442" y="189"/>
                    </a:cubicBezTo>
                    <a:cubicBezTo>
                      <a:pt x="4292" y="-441"/>
                      <a:pt x="6324" y="558"/>
                      <a:pt x="6954" y="2426"/>
                    </a:cubicBezTo>
                    <a:cubicBezTo>
                      <a:pt x="6954" y="2440"/>
                      <a:pt x="6973" y="2475"/>
                      <a:pt x="6973" y="2493"/>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0" name="Freeform: Shape 183">
                <a:extLst>
                  <a:ext uri="{FF2B5EF4-FFF2-40B4-BE49-F238E27FC236}">
                    <a16:creationId xmlns:a16="http://schemas.microsoft.com/office/drawing/2014/main" id="{1FD61DF0-7C20-CA65-A0AA-1DF4764A8A07}"/>
                  </a:ext>
                </a:extLst>
              </p:cNvPr>
              <p:cNvSpPr/>
              <p:nvPr/>
            </p:nvSpPr>
            <p:spPr>
              <a:xfrm>
                <a:off x="11543307" y="3602813"/>
                <a:ext cx="5847" cy="14525"/>
              </a:xfrm>
              <a:custGeom>
                <a:avLst/>
                <a:gdLst>
                  <a:gd name="connsiteX0" fmla="*/ 5828 w 5847"/>
                  <a:gd name="connsiteY0" fmla="*/ 2606 h 14525"/>
                  <a:gd name="connsiteX1" fmla="*/ 4243 w 5847"/>
                  <a:gd name="connsiteY1" fmla="*/ 12728 h 14525"/>
                  <a:gd name="connsiteX2" fmla="*/ 1805 w 5847"/>
                  <a:gd name="connsiteY2" fmla="*/ 14500 h 14525"/>
                  <a:gd name="connsiteX3" fmla="*/ 17 w 5847"/>
                  <a:gd name="connsiteY3" fmla="*/ 12120 h 14525"/>
                  <a:gd name="connsiteX4" fmla="*/ 37 w 5847"/>
                  <a:gd name="connsiteY4" fmla="*/ 12029 h 14525"/>
                  <a:gd name="connsiteX5" fmla="*/ 1358 w 5847"/>
                  <a:gd name="connsiteY5" fmla="*/ 2054 h 14525"/>
                  <a:gd name="connsiteX6" fmla="*/ 1358 w 5847"/>
                  <a:gd name="connsiteY6" fmla="*/ 1960 h 14525"/>
                  <a:gd name="connsiteX7" fmla="*/ 3898 w 5847"/>
                  <a:gd name="connsiteY7" fmla="*/ 20 h 14525"/>
                  <a:gd name="connsiteX8" fmla="*/ 5828 w 5847"/>
                  <a:gd name="connsiteY8" fmla="*/ 2552 h 14525"/>
                  <a:gd name="connsiteX9" fmla="*/ 5828 w 5847"/>
                  <a:gd name="connsiteY9" fmla="*/ 2606 h 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47" h="14525">
                    <a:moveTo>
                      <a:pt x="5828" y="2606"/>
                    </a:moveTo>
                    <a:lnTo>
                      <a:pt x="4243" y="12728"/>
                    </a:lnTo>
                    <a:cubicBezTo>
                      <a:pt x="4040" y="13890"/>
                      <a:pt x="2964" y="14683"/>
                      <a:pt x="1805" y="14500"/>
                    </a:cubicBezTo>
                    <a:cubicBezTo>
                      <a:pt x="647" y="14319"/>
                      <a:pt x="-125" y="13260"/>
                      <a:pt x="17" y="12120"/>
                    </a:cubicBezTo>
                    <a:lnTo>
                      <a:pt x="37" y="12029"/>
                    </a:lnTo>
                    <a:lnTo>
                      <a:pt x="1358" y="2054"/>
                    </a:lnTo>
                    <a:lnTo>
                      <a:pt x="1358" y="1960"/>
                    </a:lnTo>
                    <a:cubicBezTo>
                      <a:pt x="1520" y="725"/>
                      <a:pt x="2658" y="-143"/>
                      <a:pt x="3898" y="20"/>
                    </a:cubicBezTo>
                    <a:cubicBezTo>
                      <a:pt x="5137" y="182"/>
                      <a:pt x="5991" y="1316"/>
                      <a:pt x="5828" y="2552"/>
                    </a:cubicBezTo>
                    <a:cubicBezTo>
                      <a:pt x="5828" y="2566"/>
                      <a:pt x="5828" y="2592"/>
                      <a:pt x="5828" y="2606"/>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51" name="Freeform: Shape 184">
                <a:extLst>
                  <a:ext uri="{FF2B5EF4-FFF2-40B4-BE49-F238E27FC236}">
                    <a16:creationId xmlns:a16="http://schemas.microsoft.com/office/drawing/2014/main" id="{82E31D4D-36BF-7654-7799-4306AE873E8E}"/>
                  </a:ext>
                </a:extLst>
              </p:cNvPr>
              <p:cNvSpPr/>
              <p:nvPr/>
            </p:nvSpPr>
            <p:spPr>
              <a:xfrm>
                <a:off x="11502091" y="3708301"/>
                <a:ext cx="7118" cy="9664"/>
              </a:xfrm>
              <a:custGeom>
                <a:avLst/>
                <a:gdLst>
                  <a:gd name="connsiteX0" fmla="*/ 6974 w 7118"/>
                  <a:gd name="connsiteY0" fmla="*/ 1148 h 9664"/>
                  <a:gd name="connsiteX1" fmla="*/ 1040 w 7118"/>
                  <a:gd name="connsiteY1" fmla="*/ 9424 h 9664"/>
                  <a:gd name="connsiteX2" fmla="*/ 248 w 7118"/>
                  <a:gd name="connsiteY2" fmla="*/ 9556 h 9664"/>
                  <a:gd name="connsiteX3" fmla="*/ 105 w 7118"/>
                  <a:gd name="connsiteY3" fmla="*/ 8772 h 9664"/>
                  <a:gd name="connsiteX4" fmla="*/ 126 w 7118"/>
                  <a:gd name="connsiteY4" fmla="*/ 8752 h 9664"/>
                  <a:gd name="connsiteX5" fmla="*/ 5774 w 7118"/>
                  <a:gd name="connsiteY5" fmla="*/ 345 h 9664"/>
                  <a:gd name="connsiteX6" fmla="*/ 5795 w 7118"/>
                  <a:gd name="connsiteY6" fmla="*/ 321 h 9664"/>
                  <a:gd name="connsiteX7" fmla="*/ 6790 w 7118"/>
                  <a:gd name="connsiteY7" fmla="*/ 124 h 9664"/>
                  <a:gd name="connsiteX8" fmla="*/ 6993 w 7118"/>
                  <a:gd name="connsiteY8" fmla="*/ 1130 h 9664"/>
                  <a:gd name="connsiteX9" fmla="*/ 6974 w 7118"/>
                  <a:gd name="connsiteY9" fmla="*/ 1148 h 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18" h="9664">
                    <a:moveTo>
                      <a:pt x="6974" y="1148"/>
                    </a:moveTo>
                    <a:lnTo>
                      <a:pt x="1040" y="9424"/>
                    </a:lnTo>
                    <a:cubicBezTo>
                      <a:pt x="857" y="9682"/>
                      <a:pt x="512" y="9741"/>
                      <a:pt x="248" y="9556"/>
                    </a:cubicBezTo>
                    <a:cubicBezTo>
                      <a:pt x="-16" y="9375"/>
                      <a:pt x="-78" y="9028"/>
                      <a:pt x="105" y="8772"/>
                    </a:cubicBezTo>
                    <a:lnTo>
                      <a:pt x="126" y="8752"/>
                    </a:lnTo>
                    <a:lnTo>
                      <a:pt x="5774" y="345"/>
                    </a:lnTo>
                    <a:lnTo>
                      <a:pt x="5795" y="321"/>
                    </a:lnTo>
                    <a:cubicBezTo>
                      <a:pt x="6018" y="-12"/>
                      <a:pt x="6466" y="-100"/>
                      <a:pt x="6790" y="124"/>
                    </a:cubicBezTo>
                    <a:cubicBezTo>
                      <a:pt x="7136" y="347"/>
                      <a:pt x="7217" y="798"/>
                      <a:pt x="6993" y="1130"/>
                    </a:cubicBezTo>
                    <a:cubicBezTo>
                      <a:pt x="6993" y="1136"/>
                      <a:pt x="6993" y="1144"/>
                      <a:pt x="6974" y="1148"/>
                    </a:cubicBezTo>
                    <a:close/>
                  </a:path>
                </a:pathLst>
              </a:custGeom>
              <a:solidFill>
                <a:srgbClr val="B7B7B7"/>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sp>
          <p:nvSpPr>
            <p:cNvPr id="194" name="Freeform: Shape 186">
              <a:extLst>
                <a:ext uri="{FF2B5EF4-FFF2-40B4-BE49-F238E27FC236}">
                  <a16:creationId xmlns:a16="http://schemas.microsoft.com/office/drawing/2014/main" id="{C5EC6EE7-821A-3EF5-3F49-4A1ACFDEE7C0}"/>
                </a:ext>
              </a:extLst>
            </p:cNvPr>
            <p:cNvSpPr/>
            <p:nvPr/>
          </p:nvSpPr>
          <p:spPr>
            <a:xfrm>
              <a:off x="9582231" y="2617809"/>
              <a:ext cx="1929749" cy="1929760"/>
            </a:xfrm>
            <a:custGeom>
              <a:avLst/>
              <a:gdLst>
                <a:gd name="connsiteX0" fmla="*/ 1129924 w 1929749"/>
                <a:gd name="connsiteY0" fmla="*/ 68364 h 1929760"/>
                <a:gd name="connsiteX1" fmla="*/ 1861383 w 1929749"/>
                <a:gd name="connsiteY1" fmla="*/ 799835 h 1929760"/>
                <a:gd name="connsiteX2" fmla="*/ 1861383 w 1929749"/>
                <a:gd name="connsiteY2" fmla="*/ 1129919 h 1929760"/>
                <a:gd name="connsiteX3" fmla="*/ 1129924 w 1929749"/>
                <a:gd name="connsiteY3" fmla="*/ 1861394 h 1929760"/>
                <a:gd name="connsiteX4" fmla="*/ 799825 w 1929749"/>
                <a:gd name="connsiteY4" fmla="*/ 1861394 h 1929760"/>
                <a:gd name="connsiteX5" fmla="*/ 68366 w 1929749"/>
                <a:gd name="connsiteY5" fmla="*/ 1129919 h 1929760"/>
                <a:gd name="connsiteX6" fmla="*/ 68366 w 1929749"/>
                <a:gd name="connsiteY6" fmla="*/ 799835 h 1929760"/>
                <a:gd name="connsiteX7" fmla="*/ 799825 w 1929749"/>
                <a:gd name="connsiteY7" fmla="*/ 68364 h 1929760"/>
                <a:gd name="connsiteX8" fmla="*/ 1129924 w 1929749"/>
                <a:gd name="connsiteY8" fmla="*/ 68364 h 19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9749" h="1929760">
                  <a:moveTo>
                    <a:pt x="1129924" y="68364"/>
                  </a:moveTo>
                  <a:lnTo>
                    <a:pt x="1861383" y="799835"/>
                  </a:lnTo>
                  <a:cubicBezTo>
                    <a:pt x="1952538" y="890986"/>
                    <a:pt x="1952538" y="1038770"/>
                    <a:pt x="1861383" y="1129919"/>
                  </a:cubicBezTo>
                  <a:lnTo>
                    <a:pt x="1129924" y="1861394"/>
                  </a:lnTo>
                  <a:cubicBezTo>
                    <a:pt x="1038769" y="1952550"/>
                    <a:pt x="890981" y="1952550"/>
                    <a:pt x="799825" y="1861394"/>
                  </a:cubicBezTo>
                  <a:lnTo>
                    <a:pt x="68366" y="1129919"/>
                  </a:lnTo>
                  <a:cubicBezTo>
                    <a:pt x="-22789" y="1038770"/>
                    <a:pt x="-22789" y="890984"/>
                    <a:pt x="68366" y="799835"/>
                  </a:cubicBezTo>
                  <a:lnTo>
                    <a:pt x="799825" y="68364"/>
                  </a:lnTo>
                  <a:cubicBezTo>
                    <a:pt x="890981" y="-22788"/>
                    <a:pt x="1038769" y="-22788"/>
                    <a:pt x="1129924" y="68364"/>
                  </a:cubicBezTo>
                  <a:close/>
                </a:path>
              </a:pathLst>
            </a:custGeom>
            <a:solidFill>
              <a:sysClr val="window" lastClr="FFFFFF">
                <a:lumMod val="95000"/>
                <a:alpha val="55000"/>
              </a:sysClr>
            </a:solidFill>
            <a:ln w="2032" cap="flat">
              <a:noFill/>
              <a:prstDash val="solid"/>
              <a:miter/>
            </a:ln>
            <a:effectLst>
              <a:outerShdw blurRad="50800" dist="38100" algn="l" rotWithShape="0">
                <a:prstClr val="black">
                  <a:alpha val="1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110004020202020204"/>
              </a:endParaRPr>
            </a:p>
          </p:txBody>
        </p:sp>
        <p:sp>
          <p:nvSpPr>
            <p:cNvPr id="195" name="Freeform: Shape 187">
              <a:extLst>
                <a:ext uri="{FF2B5EF4-FFF2-40B4-BE49-F238E27FC236}">
                  <a16:creationId xmlns:a16="http://schemas.microsoft.com/office/drawing/2014/main" id="{3B18BBC0-0F67-F66E-A28D-33F9613BD092}"/>
                </a:ext>
              </a:extLst>
            </p:cNvPr>
            <p:cNvSpPr/>
            <p:nvPr/>
          </p:nvSpPr>
          <p:spPr>
            <a:xfrm>
              <a:off x="9731003" y="3360171"/>
              <a:ext cx="1862109" cy="1268526"/>
            </a:xfrm>
            <a:custGeom>
              <a:avLst/>
              <a:gdLst>
                <a:gd name="connsiteX0" fmla="*/ 816092 w 1862109"/>
                <a:gd name="connsiteY0" fmla="*/ 1268527 h 1268526"/>
                <a:gd name="connsiteX1" fmla="*/ 593588 w 1862109"/>
                <a:gd name="connsiteY1" fmla="*/ 1176498 h 1268526"/>
                <a:gd name="connsiteX2" fmla="*/ 0 w 1862109"/>
                <a:gd name="connsiteY2" fmla="*/ 582910 h 1268526"/>
                <a:gd name="connsiteX3" fmla="*/ 114951 w 1862109"/>
                <a:gd name="connsiteY3" fmla="*/ 467968 h 1268526"/>
                <a:gd name="connsiteX4" fmla="*/ 708538 w 1862109"/>
                <a:gd name="connsiteY4" fmla="*/ 1061547 h 1268526"/>
                <a:gd name="connsiteX5" fmla="*/ 923666 w 1862109"/>
                <a:gd name="connsiteY5" fmla="*/ 1061547 h 1268526"/>
                <a:gd name="connsiteX6" fmla="*/ 1655145 w 1862109"/>
                <a:gd name="connsiteY6" fmla="*/ 330084 h 1268526"/>
                <a:gd name="connsiteX7" fmla="*/ 1655145 w 1862109"/>
                <a:gd name="connsiteY7" fmla="*/ 114946 h 1268526"/>
                <a:gd name="connsiteX8" fmla="*/ 1770075 w 1862109"/>
                <a:gd name="connsiteY8" fmla="*/ 0 h 1268526"/>
                <a:gd name="connsiteX9" fmla="*/ 1770075 w 1862109"/>
                <a:gd name="connsiteY9" fmla="*/ 445032 h 1268526"/>
                <a:gd name="connsiteX10" fmla="*/ 1038616 w 1862109"/>
                <a:gd name="connsiteY10" fmla="*/ 1176498 h 1268526"/>
                <a:gd name="connsiteX11" fmla="*/ 816092 w 1862109"/>
                <a:gd name="connsiteY11" fmla="*/ 1268527 h 126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62109" h="1268526">
                  <a:moveTo>
                    <a:pt x="816092" y="1268527"/>
                  </a:moveTo>
                  <a:cubicBezTo>
                    <a:pt x="735524" y="1268527"/>
                    <a:pt x="654934" y="1237844"/>
                    <a:pt x="593588" y="1176498"/>
                  </a:cubicBezTo>
                  <a:lnTo>
                    <a:pt x="0" y="582910"/>
                  </a:lnTo>
                  <a:lnTo>
                    <a:pt x="114951" y="467968"/>
                  </a:lnTo>
                  <a:lnTo>
                    <a:pt x="708538" y="1061547"/>
                  </a:lnTo>
                  <a:cubicBezTo>
                    <a:pt x="767832" y="1120861"/>
                    <a:pt x="864352" y="1120861"/>
                    <a:pt x="923666" y="1061547"/>
                  </a:cubicBezTo>
                  <a:lnTo>
                    <a:pt x="1655145" y="330084"/>
                  </a:lnTo>
                  <a:cubicBezTo>
                    <a:pt x="1714459" y="270770"/>
                    <a:pt x="1714459" y="174260"/>
                    <a:pt x="1655145" y="114946"/>
                  </a:cubicBezTo>
                  <a:lnTo>
                    <a:pt x="1770075" y="0"/>
                  </a:lnTo>
                  <a:cubicBezTo>
                    <a:pt x="1892788" y="122696"/>
                    <a:pt x="1892788" y="322336"/>
                    <a:pt x="1770075" y="445032"/>
                  </a:cubicBezTo>
                  <a:lnTo>
                    <a:pt x="1038616" y="1176498"/>
                  </a:lnTo>
                  <a:cubicBezTo>
                    <a:pt x="977270" y="1237844"/>
                    <a:pt x="896682" y="1268527"/>
                    <a:pt x="816092" y="1268527"/>
                  </a:cubicBezTo>
                  <a:close/>
                </a:path>
              </a:pathLst>
            </a:custGeom>
            <a:solidFill>
              <a:srgbClr val="26A3A6"/>
            </a:solid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196" name="Freeform: Shape 189">
              <a:extLst>
                <a:ext uri="{FF2B5EF4-FFF2-40B4-BE49-F238E27FC236}">
                  <a16:creationId xmlns:a16="http://schemas.microsoft.com/office/drawing/2014/main" id="{1FCFDB76-8FC6-231E-94E8-27824E40CD9C}"/>
                </a:ext>
              </a:extLst>
            </p:cNvPr>
            <p:cNvSpPr/>
            <p:nvPr/>
          </p:nvSpPr>
          <p:spPr>
            <a:xfrm>
              <a:off x="7343332" y="2615935"/>
              <a:ext cx="1929750" cy="1929750"/>
            </a:xfrm>
            <a:custGeom>
              <a:avLst/>
              <a:gdLst>
                <a:gd name="connsiteX0" fmla="*/ 1129904 w 1929750"/>
                <a:gd name="connsiteY0" fmla="*/ 68362 h 1929750"/>
                <a:gd name="connsiteX1" fmla="*/ 1861383 w 1929750"/>
                <a:gd name="connsiteY1" fmla="*/ 799833 h 1929750"/>
                <a:gd name="connsiteX2" fmla="*/ 1861383 w 1929750"/>
                <a:gd name="connsiteY2" fmla="*/ 1129918 h 1929750"/>
                <a:gd name="connsiteX3" fmla="*/ 1129904 w 1929750"/>
                <a:gd name="connsiteY3" fmla="*/ 1861399 h 1929750"/>
                <a:gd name="connsiteX4" fmla="*/ 799826 w 1929750"/>
                <a:gd name="connsiteY4" fmla="*/ 1861399 h 1929750"/>
                <a:gd name="connsiteX5" fmla="*/ 68367 w 1929750"/>
                <a:gd name="connsiteY5" fmla="*/ 1129918 h 1929750"/>
                <a:gd name="connsiteX6" fmla="*/ 68367 w 1929750"/>
                <a:gd name="connsiteY6" fmla="*/ 799833 h 1929750"/>
                <a:gd name="connsiteX7" fmla="*/ 799826 w 1929750"/>
                <a:gd name="connsiteY7" fmla="*/ 68362 h 1929750"/>
                <a:gd name="connsiteX8" fmla="*/ 1129904 w 1929750"/>
                <a:gd name="connsiteY8" fmla="*/ 68362 h 192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9750" h="1929750">
                  <a:moveTo>
                    <a:pt x="1129904" y="68362"/>
                  </a:moveTo>
                  <a:lnTo>
                    <a:pt x="1861383" y="799833"/>
                  </a:lnTo>
                  <a:cubicBezTo>
                    <a:pt x="1952539" y="890983"/>
                    <a:pt x="1952539" y="1038768"/>
                    <a:pt x="1861383" y="1129918"/>
                  </a:cubicBezTo>
                  <a:lnTo>
                    <a:pt x="1129904" y="1861399"/>
                  </a:lnTo>
                  <a:cubicBezTo>
                    <a:pt x="1038768" y="1952534"/>
                    <a:pt x="890982" y="1952534"/>
                    <a:pt x="799826" y="1861399"/>
                  </a:cubicBezTo>
                  <a:lnTo>
                    <a:pt x="68367" y="1129918"/>
                  </a:lnTo>
                  <a:cubicBezTo>
                    <a:pt x="-22789" y="1038768"/>
                    <a:pt x="-22789" y="890983"/>
                    <a:pt x="68367" y="799833"/>
                  </a:cubicBezTo>
                  <a:lnTo>
                    <a:pt x="799826" y="68362"/>
                  </a:lnTo>
                  <a:cubicBezTo>
                    <a:pt x="890982" y="-22787"/>
                    <a:pt x="1038768" y="-22787"/>
                    <a:pt x="1129904" y="68362"/>
                  </a:cubicBezTo>
                  <a:close/>
                </a:path>
              </a:pathLst>
            </a:custGeom>
            <a:solidFill>
              <a:sysClr val="window" lastClr="FFFFFF">
                <a:lumMod val="95000"/>
                <a:alpha val="55000"/>
              </a:sysClr>
            </a:solidFill>
            <a:ln w="2032" cap="flat">
              <a:noFill/>
              <a:prstDash val="solid"/>
              <a:miter/>
            </a:ln>
            <a:effectLst>
              <a:outerShdw blurRad="50800" dist="38100" algn="l" rotWithShape="0">
                <a:prstClr val="black">
                  <a:alpha val="1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Aptos" panose="02110004020202020204"/>
              </a:endParaRPr>
            </a:p>
          </p:txBody>
        </p:sp>
        <p:grpSp>
          <p:nvGrpSpPr>
            <p:cNvPr id="197" name="Graphic 6">
              <a:extLst>
                <a:ext uri="{FF2B5EF4-FFF2-40B4-BE49-F238E27FC236}">
                  <a16:creationId xmlns:a16="http://schemas.microsoft.com/office/drawing/2014/main" id="{19AA90CF-D5FB-69D6-6A6F-94453A0F36E8}"/>
                </a:ext>
              </a:extLst>
            </p:cNvPr>
            <p:cNvGrpSpPr/>
            <p:nvPr/>
          </p:nvGrpSpPr>
          <p:grpSpPr>
            <a:xfrm>
              <a:off x="7499766" y="2534802"/>
              <a:ext cx="2388148" cy="1321593"/>
              <a:chOff x="7499766" y="2534802"/>
              <a:chExt cx="2388148" cy="1321593"/>
            </a:xfrm>
            <a:solidFill>
              <a:srgbClr val="E31D42"/>
            </a:solidFill>
          </p:grpSpPr>
          <p:sp>
            <p:nvSpPr>
              <p:cNvPr id="220" name="Freeform: Shape 191">
                <a:extLst>
                  <a:ext uri="{FF2B5EF4-FFF2-40B4-BE49-F238E27FC236}">
                    <a16:creationId xmlns:a16="http://schemas.microsoft.com/office/drawing/2014/main" id="{646F460D-1914-5D8F-D882-5BB6D005EDB0}"/>
                  </a:ext>
                </a:extLst>
              </p:cNvPr>
              <p:cNvSpPr/>
              <p:nvPr/>
            </p:nvSpPr>
            <p:spPr>
              <a:xfrm>
                <a:off x="7499766" y="2534802"/>
                <a:ext cx="2202362" cy="1127289"/>
              </a:xfrm>
              <a:custGeom>
                <a:avLst/>
                <a:gdLst>
                  <a:gd name="connsiteX0" fmla="*/ 2202363 w 2202362"/>
                  <a:gd name="connsiteY0" fmla="*/ 1127290 h 1127289"/>
                  <a:gd name="connsiteX1" fmla="*/ 1999325 w 2202362"/>
                  <a:gd name="connsiteY1" fmla="*/ 1127290 h 1127289"/>
                  <a:gd name="connsiteX2" fmla="*/ 1848734 w 2202362"/>
                  <a:gd name="connsiteY2" fmla="*/ 1097334 h 1127289"/>
                  <a:gd name="connsiteX3" fmla="*/ 1721063 w 2202362"/>
                  <a:gd name="connsiteY3" fmla="*/ 1012026 h 1127289"/>
                  <a:gd name="connsiteX4" fmla="*/ 916005 w 2202362"/>
                  <a:gd name="connsiteY4" fmla="*/ 206968 h 1127289"/>
                  <a:gd name="connsiteX5" fmla="*/ 808431 w 2202362"/>
                  <a:gd name="connsiteY5" fmla="*/ 162413 h 1127289"/>
                  <a:gd name="connsiteX6" fmla="*/ 700877 w 2202362"/>
                  <a:gd name="connsiteY6" fmla="*/ 206968 h 1127289"/>
                  <a:gd name="connsiteX7" fmla="*/ 114950 w 2202362"/>
                  <a:gd name="connsiteY7" fmla="*/ 792898 h 1127289"/>
                  <a:gd name="connsiteX8" fmla="*/ 0 w 2202362"/>
                  <a:gd name="connsiteY8" fmla="*/ 677951 h 1127289"/>
                  <a:gd name="connsiteX9" fmla="*/ 585927 w 2202362"/>
                  <a:gd name="connsiteY9" fmla="*/ 92022 h 1127289"/>
                  <a:gd name="connsiteX10" fmla="*/ 1030955 w 2202362"/>
                  <a:gd name="connsiteY10" fmla="*/ 92022 h 1127289"/>
                  <a:gd name="connsiteX11" fmla="*/ 1836013 w 2202362"/>
                  <a:gd name="connsiteY11" fmla="*/ 897080 h 1127289"/>
                  <a:gd name="connsiteX12" fmla="*/ 1999325 w 2202362"/>
                  <a:gd name="connsiteY12" fmla="*/ 964730 h 1127289"/>
                  <a:gd name="connsiteX13" fmla="*/ 2202363 w 2202362"/>
                  <a:gd name="connsiteY13" fmla="*/ 964730 h 1127289"/>
                  <a:gd name="connsiteX14" fmla="*/ 2202363 w 2202362"/>
                  <a:gd name="connsiteY14" fmla="*/ 1127290 h 1127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02362" h="1127289">
                    <a:moveTo>
                      <a:pt x="2202363" y="1127290"/>
                    </a:moveTo>
                    <a:lnTo>
                      <a:pt x="1999325" y="1127290"/>
                    </a:lnTo>
                    <a:cubicBezTo>
                      <a:pt x="1947387" y="1127290"/>
                      <a:pt x="1896729" y="1117211"/>
                      <a:pt x="1848734" y="1097334"/>
                    </a:cubicBezTo>
                    <a:cubicBezTo>
                      <a:pt x="1800738" y="1077457"/>
                      <a:pt x="1757802" y="1048755"/>
                      <a:pt x="1721063" y="1012026"/>
                    </a:cubicBezTo>
                    <a:lnTo>
                      <a:pt x="916005" y="206968"/>
                    </a:lnTo>
                    <a:cubicBezTo>
                      <a:pt x="887273" y="178236"/>
                      <a:pt x="849071" y="162413"/>
                      <a:pt x="808431" y="162413"/>
                    </a:cubicBezTo>
                    <a:cubicBezTo>
                      <a:pt x="767811" y="162413"/>
                      <a:pt x="729610" y="178236"/>
                      <a:pt x="700877" y="206968"/>
                    </a:cubicBezTo>
                    <a:lnTo>
                      <a:pt x="114950" y="792898"/>
                    </a:lnTo>
                    <a:lnTo>
                      <a:pt x="0" y="677951"/>
                    </a:lnTo>
                    <a:lnTo>
                      <a:pt x="585927" y="92022"/>
                    </a:lnTo>
                    <a:cubicBezTo>
                      <a:pt x="708619" y="-30674"/>
                      <a:pt x="908263" y="-30674"/>
                      <a:pt x="1030955" y="92022"/>
                    </a:cubicBezTo>
                    <a:lnTo>
                      <a:pt x="1836013" y="897080"/>
                    </a:lnTo>
                    <a:cubicBezTo>
                      <a:pt x="1879641" y="940705"/>
                      <a:pt x="1937634" y="964730"/>
                      <a:pt x="1999325" y="964730"/>
                    </a:cubicBezTo>
                    <a:lnTo>
                      <a:pt x="2202363" y="964730"/>
                    </a:lnTo>
                    <a:lnTo>
                      <a:pt x="2202363" y="1127290"/>
                    </a:lnTo>
                    <a:close/>
                  </a:path>
                </a:pathLst>
              </a:custGeom>
              <a:grp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21" name="Freeform: Shape 192">
                <a:extLst>
                  <a:ext uri="{FF2B5EF4-FFF2-40B4-BE49-F238E27FC236}">
                    <a16:creationId xmlns:a16="http://schemas.microsoft.com/office/drawing/2014/main" id="{619978F1-0DDA-285C-8C0D-A19614D0E1E9}"/>
                  </a:ext>
                </a:extLst>
              </p:cNvPr>
              <p:cNvSpPr/>
              <p:nvPr/>
            </p:nvSpPr>
            <p:spPr>
              <a:xfrm>
                <a:off x="9378329" y="3305222"/>
                <a:ext cx="509585" cy="551173"/>
              </a:xfrm>
              <a:custGeom>
                <a:avLst/>
                <a:gdLst>
                  <a:gd name="connsiteX0" fmla="*/ 0 w 509585"/>
                  <a:gd name="connsiteY0" fmla="*/ 551174 h 551173"/>
                  <a:gd name="connsiteX1" fmla="*/ 275743 w 509585"/>
                  <a:gd name="connsiteY1" fmla="*/ 275590 h 551173"/>
                  <a:gd name="connsiteX2" fmla="*/ 0 w 509585"/>
                  <a:gd name="connsiteY2" fmla="*/ 0 h 551173"/>
                  <a:gd name="connsiteX3" fmla="*/ 234005 w 509585"/>
                  <a:gd name="connsiteY3" fmla="*/ 0 h 551173"/>
                  <a:gd name="connsiteX4" fmla="*/ 509586 w 509585"/>
                  <a:gd name="connsiteY4" fmla="*/ 275590 h 551173"/>
                  <a:gd name="connsiteX5" fmla="*/ 234005 w 509585"/>
                  <a:gd name="connsiteY5" fmla="*/ 551174 h 55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9585" h="551173">
                    <a:moveTo>
                      <a:pt x="0" y="551174"/>
                    </a:moveTo>
                    <a:lnTo>
                      <a:pt x="275743" y="275590"/>
                    </a:lnTo>
                    <a:lnTo>
                      <a:pt x="0" y="0"/>
                    </a:lnTo>
                    <a:lnTo>
                      <a:pt x="234005" y="0"/>
                    </a:lnTo>
                    <a:lnTo>
                      <a:pt x="509586" y="275590"/>
                    </a:lnTo>
                    <a:lnTo>
                      <a:pt x="234005" y="551174"/>
                    </a:lnTo>
                    <a:close/>
                  </a:path>
                </a:pathLst>
              </a:custGeom>
              <a:grp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sp>
          <p:nvSpPr>
            <p:cNvPr id="198" name="Freeform: Shape 194">
              <a:extLst>
                <a:ext uri="{FF2B5EF4-FFF2-40B4-BE49-F238E27FC236}">
                  <a16:creationId xmlns:a16="http://schemas.microsoft.com/office/drawing/2014/main" id="{A5B72750-2D9D-C28D-8B55-7293BA515D20}"/>
                </a:ext>
              </a:extLst>
            </p:cNvPr>
            <p:cNvSpPr/>
            <p:nvPr/>
          </p:nvSpPr>
          <p:spPr>
            <a:xfrm>
              <a:off x="5104434" y="2614059"/>
              <a:ext cx="1929749" cy="1929751"/>
            </a:xfrm>
            <a:custGeom>
              <a:avLst/>
              <a:gdLst>
                <a:gd name="connsiteX0" fmla="*/ 1129924 w 1929749"/>
                <a:gd name="connsiteY0" fmla="*/ 68362 h 1929751"/>
                <a:gd name="connsiteX1" fmla="*/ 1861383 w 1929749"/>
                <a:gd name="connsiteY1" fmla="*/ 799834 h 1929751"/>
                <a:gd name="connsiteX2" fmla="*/ 1861383 w 1929749"/>
                <a:gd name="connsiteY2" fmla="*/ 1129918 h 1929751"/>
                <a:gd name="connsiteX3" fmla="*/ 1129924 w 1929749"/>
                <a:gd name="connsiteY3" fmla="*/ 1861385 h 1929751"/>
                <a:gd name="connsiteX4" fmla="*/ 799825 w 1929749"/>
                <a:gd name="connsiteY4" fmla="*/ 1861385 h 1929751"/>
                <a:gd name="connsiteX5" fmla="*/ 68366 w 1929749"/>
                <a:gd name="connsiteY5" fmla="*/ 1129918 h 1929751"/>
                <a:gd name="connsiteX6" fmla="*/ 68366 w 1929749"/>
                <a:gd name="connsiteY6" fmla="*/ 799832 h 1929751"/>
                <a:gd name="connsiteX7" fmla="*/ 799825 w 1929749"/>
                <a:gd name="connsiteY7" fmla="*/ 68360 h 1929751"/>
                <a:gd name="connsiteX8" fmla="*/ 1129924 w 1929749"/>
                <a:gd name="connsiteY8" fmla="*/ 68362 h 192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9749" h="1929751">
                  <a:moveTo>
                    <a:pt x="1129924" y="68362"/>
                  </a:moveTo>
                  <a:lnTo>
                    <a:pt x="1861383" y="799834"/>
                  </a:lnTo>
                  <a:cubicBezTo>
                    <a:pt x="1952538" y="890985"/>
                    <a:pt x="1952538" y="1038768"/>
                    <a:pt x="1861383" y="1129918"/>
                  </a:cubicBezTo>
                  <a:lnTo>
                    <a:pt x="1129924" y="1861385"/>
                  </a:lnTo>
                  <a:cubicBezTo>
                    <a:pt x="1038769" y="1952540"/>
                    <a:pt x="890981" y="1952540"/>
                    <a:pt x="799825" y="1861385"/>
                  </a:cubicBezTo>
                  <a:lnTo>
                    <a:pt x="68366" y="1129918"/>
                  </a:lnTo>
                  <a:cubicBezTo>
                    <a:pt x="-22789" y="1038766"/>
                    <a:pt x="-22789" y="890983"/>
                    <a:pt x="68366" y="799832"/>
                  </a:cubicBezTo>
                  <a:lnTo>
                    <a:pt x="799825" y="68360"/>
                  </a:lnTo>
                  <a:cubicBezTo>
                    <a:pt x="890981" y="-22787"/>
                    <a:pt x="1038769" y="-22787"/>
                    <a:pt x="1129924" y="68362"/>
                  </a:cubicBezTo>
                  <a:close/>
                </a:path>
              </a:pathLst>
            </a:custGeom>
            <a:solidFill>
              <a:sysClr val="window" lastClr="FFFFFF">
                <a:lumMod val="95000"/>
                <a:alpha val="55000"/>
              </a:sysClr>
            </a:solidFill>
            <a:ln w="2032" cap="flat">
              <a:noFill/>
              <a:prstDash val="solid"/>
              <a:miter/>
            </a:ln>
            <a:effectLst>
              <a:outerShdw blurRad="50800" dist="38100" algn="l" rotWithShape="0">
                <a:prstClr val="black">
                  <a:alpha val="1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nvGrpSpPr>
            <p:cNvPr id="199" name="Graphic 6">
              <a:extLst>
                <a:ext uri="{FF2B5EF4-FFF2-40B4-BE49-F238E27FC236}">
                  <a16:creationId xmlns:a16="http://schemas.microsoft.com/office/drawing/2014/main" id="{7A771052-06FC-FBDD-1B37-227814308055}"/>
                </a:ext>
              </a:extLst>
            </p:cNvPr>
            <p:cNvGrpSpPr/>
            <p:nvPr/>
          </p:nvGrpSpPr>
          <p:grpSpPr>
            <a:xfrm>
              <a:off x="5281249" y="3303346"/>
              <a:ext cx="2391501" cy="1321592"/>
              <a:chOff x="5281249" y="3303346"/>
              <a:chExt cx="2391501" cy="1321592"/>
            </a:xfrm>
            <a:solidFill>
              <a:srgbClr val="6940CC"/>
            </a:solidFill>
          </p:grpSpPr>
          <p:sp>
            <p:nvSpPr>
              <p:cNvPr id="218" name="Freeform: Shape 196">
                <a:extLst>
                  <a:ext uri="{FF2B5EF4-FFF2-40B4-BE49-F238E27FC236}">
                    <a16:creationId xmlns:a16="http://schemas.microsoft.com/office/drawing/2014/main" id="{74201140-9860-4EB9-EA7A-6234B7225B40}"/>
                  </a:ext>
                </a:extLst>
              </p:cNvPr>
              <p:cNvSpPr/>
              <p:nvPr/>
            </p:nvSpPr>
            <p:spPr>
              <a:xfrm>
                <a:off x="5281249" y="3497656"/>
                <a:ext cx="2205695" cy="1127282"/>
              </a:xfrm>
              <a:custGeom>
                <a:avLst/>
                <a:gdLst>
                  <a:gd name="connsiteX0" fmla="*/ 788050 w 2205695"/>
                  <a:gd name="connsiteY0" fmla="*/ 1127283 h 1127282"/>
                  <a:gd name="connsiteX1" fmla="*/ 565546 w 2205695"/>
                  <a:gd name="connsiteY1" fmla="*/ 1035274 h 1127282"/>
                  <a:gd name="connsiteX2" fmla="*/ 0 w 2205695"/>
                  <a:gd name="connsiteY2" fmla="*/ 469727 h 1127282"/>
                  <a:gd name="connsiteX3" fmla="*/ 114950 w 2205695"/>
                  <a:gd name="connsiteY3" fmla="*/ 354777 h 1127282"/>
                  <a:gd name="connsiteX4" fmla="*/ 680496 w 2205695"/>
                  <a:gd name="connsiteY4" fmla="*/ 920323 h 1127282"/>
                  <a:gd name="connsiteX5" fmla="*/ 895624 w 2205695"/>
                  <a:gd name="connsiteY5" fmla="*/ 920323 h 1127282"/>
                  <a:gd name="connsiteX6" fmla="*/ 1700682 w 2205695"/>
                  <a:gd name="connsiteY6" fmla="*/ 115263 h 1127282"/>
                  <a:gd name="connsiteX7" fmla="*/ 1828353 w 2205695"/>
                  <a:gd name="connsiteY7" fmla="*/ 29956 h 1127282"/>
                  <a:gd name="connsiteX8" fmla="*/ 1978944 w 2205695"/>
                  <a:gd name="connsiteY8" fmla="*/ 0 h 1127282"/>
                  <a:gd name="connsiteX9" fmla="*/ 2205695 w 2205695"/>
                  <a:gd name="connsiteY9" fmla="*/ 0 h 1127282"/>
                  <a:gd name="connsiteX10" fmla="*/ 2205695 w 2205695"/>
                  <a:gd name="connsiteY10" fmla="*/ 162560 h 1127282"/>
                  <a:gd name="connsiteX11" fmla="*/ 1978944 w 2205695"/>
                  <a:gd name="connsiteY11" fmla="*/ 162560 h 1127282"/>
                  <a:gd name="connsiteX12" fmla="*/ 1815633 w 2205695"/>
                  <a:gd name="connsiteY12" fmla="*/ 230209 h 1127282"/>
                  <a:gd name="connsiteX13" fmla="*/ 1010575 w 2205695"/>
                  <a:gd name="connsiteY13" fmla="*/ 1035274 h 1127282"/>
                  <a:gd name="connsiteX14" fmla="*/ 788050 w 2205695"/>
                  <a:gd name="connsiteY14" fmla="*/ 1127283 h 112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05695" h="1127282">
                    <a:moveTo>
                      <a:pt x="788050" y="1127283"/>
                    </a:moveTo>
                    <a:cubicBezTo>
                      <a:pt x="707481" y="1127283"/>
                      <a:pt x="626892" y="1096620"/>
                      <a:pt x="565546" y="1035274"/>
                    </a:cubicBezTo>
                    <a:lnTo>
                      <a:pt x="0" y="469727"/>
                    </a:lnTo>
                    <a:lnTo>
                      <a:pt x="114950" y="354777"/>
                    </a:lnTo>
                    <a:lnTo>
                      <a:pt x="680496" y="920323"/>
                    </a:lnTo>
                    <a:cubicBezTo>
                      <a:pt x="739811" y="979637"/>
                      <a:pt x="836310" y="979637"/>
                      <a:pt x="895624" y="920323"/>
                    </a:cubicBezTo>
                    <a:lnTo>
                      <a:pt x="1700682" y="115263"/>
                    </a:lnTo>
                    <a:cubicBezTo>
                      <a:pt x="1737401" y="78535"/>
                      <a:pt x="1780357" y="49835"/>
                      <a:pt x="1828353" y="29956"/>
                    </a:cubicBezTo>
                    <a:cubicBezTo>
                      <a:pt x="1876349" y="10079"/>
                      <a:pt x="1927007" y="0"/>
                      <a:pt x="1978944" y="0"/>
                    </a:cubicBezTo>
                    <a:lnTo>
                      <a:pt x="2205695" y="0"/>
                    </a:lnTo>
                    <a:lnTo>
                      <a:pt x="2205695" y="162560"/>
                    </a:lnTo>
                    <a:lnTo>
                      <a:pt x="1978944" y="162560"/>
                    </a:lnTo>
                    <a:cubicBezTo>
                      <a:pt x="1917253" y="162560"/>
                      <a:pt x="1859260" y="186584"/>
                      <a:pt x="1815633" y="230209"/>
                    </a:cubicBezTo>
                    <a:lnTo>
                      <a:pt x="1010575" y="1035274"/>
                    </a:lnTo>
                    <a:cubicBezTo>
                      <a:pt x="949228" y="1096620"/>
                      <a:pt x="868639" y="1127283"/>
                      <a:pt x="788050" y="1127283"/>
                    </a:cubicBezTo>
                    <a:close/>
                  </a:path>
                </a:pathLst>
              </a:custGeom>
              <a:grp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19" name="Freeform: Shape 197">
                <a:extLst>
                  <a:ext uri="{FF2B5EF4-FFF2-40B4-BE49-F238E27FC236}">
                    <a16:creationId xmlns:a16="http://schemas.microsoft.com/office/drawing/2014/main" id="{4D14E2BD-60EF-091A-44FB-C308DFB0502D}"/>
                  </a:ext>
                </a:extLst>
              </p:cNvPr>
              <p:cNvSpPr/>
              <p:nvPr/>
            </p:nvSpPr>
            <p:spPr>
              <a:xfrm>
                <a:off x="7163145" y="3303346"/>
                <a:ext cx="509605" cy="551180"/>
              </a:xfrm>
              <a:custGeom>
                <a:avLst/>
                <a:gdLst>
                  <a:gd name="connsiteX0" fmla="*/ 0 w 509605"/>
                  <a:gd name="connsiteY0" fmla="*/ 551180 h 551180"/>
                  <a:gd name="connsiteX1" fmla="*/ 275763 w 509605"/>
                  <a:gd name="connsiteY1" fmla="*/ 275590 h 551180"/>
                  <a:gd name="connsiteX2" fmla="*/ 0 w 509605"/>
                  <a:gd name="connsiteY2" fmla="*/ 0 h 551180"/>
                  <a:gd name="connsiteX3" fmla="*/ 234005 w 509605"/>
                  <a:gd name="connsiteY3" fmla="*/ 0 h 551180"/>
                  <a:gd name="connsiteX4" fmla="*/ 509605 w 509605"/>
                  <a:gd name="connsiteY4" fmla="*/ 275590 h 551180"/>
                  <a:gd name="connsiteX5" fmla="*/ 234005 w 509605"/>
                  <a:gd name="connsiteY5" fmla="*/ 551180 h 551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9605" h="551180">
                    <a:moveTo>
                      <a:pt x="0" y="551180"/>
                    </a:moveTo>
                    <a:lnTo>
                      <a:pt x="275763" y="275590"/>
                    </a:lnTo>
                    <a:lnTo>
                      <a:pt x="0" y="0"/>
                    </a:lnTo>
                    <a:lnTo>
                      <a:pt x="234005" y="0"/>
                    </a:lnTo>
                    <a:lnTo>
                      <a:pt x="509605" y="275590"/>
                    </a:lnTo>
                    <a:lnTo>
                      <a:pt x="234005" y="551180"/>
                    </a:lnTo>
                    <a:close/>
                  </a:path>
                </a:pathLst>
              </a:custGeom>
              <a:grp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sp>
          <p:nvSpPr>
            <p:cNvPr id="200" name="Freeform: Shape 199">
              <a:extLst>
                <a:ext uri="{FF2B5EF4-FFF2-40B4-BE49-F238E27FC236}">
                  <a16:creationId xmlns:a16="http://schemas.microsoft.com/office/drawing/2014/main" id="{2AA95822-083D-2B74-391C-33A7D699B9D5}"/>
                </a:ext>
              </a:extLst>
            </p:cNvPr>
            <p:cNvSpPr/>
            <p:nvPr/>
          </p:nvSpPr>
          <p:spPr>
            <a:xfrm>
              <a:off x="2865536" y="2612184"/>
              <a:ext cx="1929749" cy="1929756"/>
            </a:xfrm>
            <a:custGeom>
              <a:avLst/>
              <a:gdLst>
                <a:gd name="connsiteX0" fmla="*/ 1129924 w 1929749"/>
                <a:gd name="connsiteY0" fmla="*/ 68364 h 1929756"/>
                <a:gd name="connsiteX1" fmla="*/ 1861383 w 1929749"/>
                <a:gd name="connsiteY1" fmla="*/ 799835 h 1929756"/>
                <a:gd name="connsiteX2" fmla="*/ 1861383 w 1929749"/>
                <a:gd name="connsiteY2" fmla="*/ 1129919 h 1929756"/>
                <a:gd name="connsiteX3" fmla="*/ 1129924 w 1929749"/>
                <a:gd name="connsiteY3" fmla="*/ 1861390 h 1929756"/>
                <a:gd name="connsiteX4" fmla="*/ 799826 w 1929749"/>
                <a:gd name="connsiteY4" fmla="*/ 1861390 h 1929756"/>
                <a:gd name="connsiteX5" fmla="*/ 68367 w 1929749"/>
                <a:gd name="connsiteY5" fmla="*/ 1129919 h 1929756"/>
                <a:gd name="connsiteX6" fmla="*/ 68367 w 1929749"/>
                <a:gd name="connsiteY6" fmla="*/ 799835 h 1929756"/>
                <a:gd name="connsiteX7" fmla="*/ 799826 w 1929749"/>
                <a:gd name="connsiteY7" fmla="*/ 68364 h 1929756"/>
                <a:gd name="connsiteX8" fmla="*/ 1129924 w 1929749"/>
                <a:gd name="connsiteY8" fmla="*/ 68364 h 1929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9749" h="1929756">
                  <a:moveTo>
                    <a:pt x="1129924" y="68364"/>
                  </a:moveTo>
                  <a:lnTo>
                    <a:pt x="1861383" y="799835"/>
                  </a:lnTo>
                  <a:cubicBezTo>
                    <a:pt x="1952539" y="890986"/>
                    <a:pt x="1952539" y="1038770"/>
                    <a:pt x="1861383" y="1129919"/>
                  </a:cubicBezTo>
                  <a:lnTo>
                    <a:pt x="1129924" y="1861390"/>
                  </a:lnTo>
                  <a:cubicBezTo>
                    <a:pt x="1038769" y="1952546"/>
                    <a:pt x="890981" y="1952546"/>
                    <a:pt x="799826" y="1861390"/>
                  </a:cubicBezTo>
                  <a:lnTo>
                    <a:pt x="68367" y="1129919"/>
                  </a:lnTo>
                  <a:cubicBezTo>
                    <a:pt x="-22789" y="1038770"/>
                    <a:pt x="-22789" y="890984"/>
                    <a:pt x="68367" y="799835"/>
                  </a:cubicBezTo>
                  <a:lnTo>
                    <a:pt x="799826" y="68364"/>
                  </a:lnTo>
                  <a:cubicBezTo>
                    <a:pt x="890981" y="-22788"/>
                    <a:pt x="1038769" y="-22788"/>
                    <a:pt x="1129924" y="68364"/>
                  </a:cubicBezTo>
                  <a:close/>
                </a:path>
              </a:pathLst>
            </a:custGeom>
            <a:solidFill>
              <a:sysClr val="window" lastClr="FFFFFF">
                <a:lumMod val="95000"/>
                <a:alpha val="55000"/>
              </a:sysClr>
            </a:solidFill>
            <a:ln w="2032" cap="flat">
              <a:noFill/>
              <a:prstDash val="solid"/>
              <a:miter/>
            </a:ln>
            <a:effectLst>
              <a:outerShdw blurRad="50800" dist="38100" algn="l" rotWithShape="0">
                <a:prstClr val="black">
                  <a:alpha val="1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nvGrpSpPr>
            <p:cNvPr id="201" name="Graphic 6">
              <a:extLst>
                <a:ext uri="{FF2B5EF4-FFF2-40B4-BE49-F238E27FC236}">
                  <a16:creationId xmlns:a16="http://schemas.microsoft.com/office/drawing/2014/main" id="{AF37FAA1-B6A4-DD4F-FC48-A55ADF177C81}"/>
                </a:ext>
              </a:extLst>
            </p:cNvPr>
            <p:cNvGrpSpPr/>
            <p:nvPr/>
          </p:nvGrpSpPr>
          <p:grpSpPr>
            <a:xfrm>
              <a:off x="3012419" y="2531053"/>
              <a:ext cx="2459065" cy="1321603"/>
              <a:chOff x="3012419" y="2531053"/>
              <a:chExt cx="2459065" cy="1321603"/>
            </a:xfrm>
            <a:solidFill>
              <a:srgbClr val="FB9900"/>
            </a:solidFill>
          </p:grpSpPr>
          <p:sp>
            <p:nvSpPr>
              <p:cNvPr id="216" name="Freeform: Shape 201">
                <a:extLst>
                  <a:ext uri="{FF2B5EF4-FFF2-40B4-BE49-F238E27FC236}">
                    <a16:creationId xmlns:a16="http://schemas.microsoft.com/office/drawing/2014/main" id="{B7EB5D25-D4DF-FAB1-02FC-6D6C370584CC}"/>
                  </a:ext>
                </a:extLst>
              </p:cNvPr>
              <p:cNvSpPr/>
              <p:nvPr/>
            </p:nvSpPr>
            <p:spPr>
              <a:xfrm>
                <a:off x="3012419" y="2531053"/>
                <a:ext cx="2273279" cy="1127287"/>
              </a:xfrm>
              <a:custGeom>
                <a:avLst/>
                <a:gdLst>
                  <a:gd name="connsiteX0" fmla="*/ 2273280 w 2273279"/>
                  <a:gd name="connsiteY0" fmla="*/ 1127288 h 1127287"/>
                  <a:gd name="connsiteX1" fmla="*/ 2008876 w 2273279"/>
                  <a:gd name="connsiteY1" fmla="*/ 1127288 h 1127287"/>
                  <a:gd name="connsiteX2" fmla="*/ 1858284 w 2273279"/>
                  <a:gd name="connsiteY2" fmla="*/ 1097332 h 1127287"/>
                  <a:gd name="connsiteX3" fmla="*/ 1730614 w 2273279"/>
                  <a:gd name="connsiteY3" fmla="*/ 1012029 h 1127287"/>
                  <a:gd name="connsiteX4" fmla="*/ 925556 w 2273279"/>
                  <a:gd name="connsiteY4" fmla="*/ 206968 h 1127287"/>
                  <a:gd name="connsiteX5" fmla="*/ 710408 w 2273279"/>
                  <a:gd name="connsiteY5" fmla="*/ 206968 h 1127287"/>
                  <a:gd name="connsiteX6" fmla="*/ 114950 w 2273279"/>
                  <a:gd name="connsiteY6" fmla="*/ 802432 h 1127287"/>
                  <a:gd name="connsiteX7" fmla="*/ 0 w 2273279"/>
                  <a:gd name="connsiteY7" fmla="*/ 687486 h 1127287"/>
                  <a:gd name="connsiteX8" fmla="*/ 595478 w 2273279"/>
                  <a:gd name="connsiteY8" fmla="*/ 92022 h 1127287"/>
                  <a:gd name="connsiteX9" fmla="*/ 1040506 w 2273279"/>
                  <a:gd name="connsiteY9" fmla="*/ 92022 h 1127287"/>
                  <a:gd name="connsiteX10" fmla="*/ 1845564 w 2273279"/>
                  <a:gd name="connsiteY10" fmla="*/ 897082 h 1127287"/>
                  <a:gd name="connsiteX11" fmla="*/ 2008876 w 2273279"/>
                  <a:gd name="connsiteY11" fmla="*/ 964730 h 1127287"/>
                  <a:gd name="connsiteX12" fmla="*/ 2273259 w 2273279"/>
                  <a:gd name="connsiteY12" fmla="*/ 964730 h 1127287"/>
                  <a:gd name="connsiteX13" fmla="*/ 2273259 w 2273279"/>
                  <a:gd name="connsiteY13" fmla="*/ 1127288 h 112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73279" h="1127287">
                    <a:moveTo>
                      <a:pt x="2273280" y="1127288"/>
                    </a:moveTo>
                    <a:lnTo>
                      <a:pt x="2008876" y="1127288"/>
                    </a:lnTo>
                    <a:cubicBezTo>
                      <a:pt x="1956938" y="1127288"/>
                      <a:pt x="1906280" y="1117209"/>
                      <a:pt x="1858284" y="1097332"/>
                    </a:cubicBezTo>
                    <a:cubicBezTo>
                      <a:pt x="1810309" y="1077455"/>
                      <a:pt x="1767352" y="1048755"/>
                      <a:pt x="1730614" y="1012029"/>
                    </a:cubicBezTo>
                    <a:lnTo>
                      <a:pt x="925556" y="206968"/>
                    </a:lnTo>
                    <a:cubicBezTo>
                      <a:pt x="866242" y="147654"/>
                      <a:pt x="769742" y="147654"/>
                      <a:pt x="710408" y="206968"/>
                    </a:cubicBezTo>
                    <a:lnTo>
                      <a:pt x="114950" y="802432"/>
                    </a:lnTo>
                    <a:lnTo>
                      <a:pt x="0" y="687486"/>
                    </a:lnTo>
                    <a:lnTo>
                      <a:pt x="595478" y="92022"/>
                    </a:lnTo>
                    <a:cubicBezTo>
                      <a:pt x="718170" y="-30674"/>
                      <a:pt x="917814" y="-30674"/>
                      <a:pt x="1040506" y="92022"/>
                    </a:cubicBezTo>
                    <a:lnTo>
                      <a:pt x="1845564" y="897082"/>
                    </a:lnTo>
                    <a:cubicBezTo>
                      <a:pt x="1889191" y="940705"/>
                      <a:pt x="1947184" y="964730"/>
                      <a:pt x="2008876" y="964730"/>
                    </a:cubicBezTo>
                    <a:lnTo>
                      <a:pt x="2273259" y="964730"/>
                    </a:lnTo>
                    <a:lnTo>
                      <a:pt x="2273259" y="1127288"/>
                    </a:lnTo>
                    <a:close/>
                  </a:path>
                </a:pathLst>
              </a:custGeom>
              <a:grp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17" name="Freeform: Shape 202">
                <a:extLst>
                  <a:ext uri="{FF2B5EF4-FFF2-40B4-BE49-F238E27FC236}">
                    <a16:creationId xmlns:a16="http://schemas.microsoft.com/office/drawing/2014/main" id="{0EFA5110-C10E-A690-9A13-D5B339635824}"/>
                  </a:ext>
                </a:extLst>
              </p:cNvPr>
              <p:cNvSpPr/>
              <p:nvPr/>
            </p:nvSpPr>
            <p:spPr>
              <a:xfrm>
                <a:off x="4961899" y="3301470"/>
                <a:ext cx="509585" cy="551186"/>
              </a:xfrm>
              <a:custGeom>
                <a:avLst/>
                <a:gdLst>
                  <a:gd name="connsiteX0" fmla="*/ 0 w 509585"/>
                  <a:gd name="connsiteY0" fmla="*/ 551186 h 551186"/>
                  <a:gd name="connsiteX1" fmla="*/ 275743 w 509585"/>
                  <a:gd name="connsiteY1" fmla="*/ 275590 h 551186"/>
                  <a:gd name="connsiteX2" fmla="*/ 0 w 509585"/>
                  <a:gd name="connsiteY2" fmla="*/ 0 h 551186"/>
                  <a:gd name="connsiteX3" fmla="*/ 234005 w 509585"/>
                  <a:gd name="connsiteY3" fmla="*/ 0 h 551186"/>
                  <a:gd name="connsiteX4" fmla="*/ 509585 w 509585"/>
                  <a:gd name="connsiteY4" fmla="*/ 275590 h 551186"/>
                  <a:gd name="connsiteX5" fmla="*/ 234005 w 509585"/>
                  <a:gd name="connsiteY5" fmla="*/ 551186 h 551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9585" h="551186">
                    <a:moveTo>
                      <a:pt x="0" y="551186"/>
                    </a:moveTo>
                    <a:lnTo>
                      <a:pt x="275743" y="275590"/>
                    </a:lnTo>
                    <a:lnTo>
                      <a:pt x="0" y="0"/>
                    </a:lnTo>
                    <a:lnTo>
                      <a:pt x="234005" y="0"/>
                    </a:lnTo>
                    <a:lnTo>
                      <a:pt x="509585" y="275590"/>
                    </a:lnTo>
                    <a:lnTo>
                      <a:pt x="234005" y="551186"/>
                    </a:lnTo>
                    <a:close/>
                  </a:path>
                </a:pathLst>
              </a:custGeom>
              <a:grp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sp>
          <p:nvSpPr>
            <p:cNvPr id="202" name="Freeform: Shape 204">
              <a:extLst>
                <a:ext uri="{FF2B5EF4-FFF2-40B4-BE49-F238E27FC236}">
                  <a16:creationId xmlns:a16="http://schemas.microsoft.com/office/drawing/2014/main" id="{DE6B87D2-C56E-12E7-FC8A-88D03F25AC4D}"/>
                </a:ext>
              </a:extLst>
            </p:cNvPr>
            <p:cNvSpPr/>
            <p:nvPr/>
          </p:nvSpPr>
          <p:spPr>
            <a:xfrm>
              <a:off x="626635" y="2610310"/>
              <a:ext cx="1929752" cy="1929761"/>
            </a:xfrm>
            <a:custGeom>
              <a:avLst/>
              <a:gdLst>
                <a:gd name="connsiteX0" fmla="*/ 1129919 w 1929752"/>
                <a:gd name="connsiteY0" fmla="*/ 68362 h 1929761"/>
                <a:gd name="connsiteX1" fmla="*/ 1861386 w 1929752"/>
                <a:gd name="connsiteY1" fmla="*/ 799834 h 1929761"/>
                <a:gd name="connsiteX2" fmla="*/ 1861386 w 1929752"/>
                <a:gd name="connsiteY2" fmla="*/ 1129918 h 1929761"/>
                <a:gd name="connsiteX3" fmla="*/ 1129919 w 1929752"/>
                <a:gd name="connsiteY3" fmla="*/ 1861395 h 1929761"/>
                <a:gd name="connsiteX4" fmla="*/ 799835 w 1929752"/>
                <a:gd name="connsiteY4" fmla="*/ 1861395 h 1929761"/>
                <a:gd name="connsiteX5" fmla="*/ 68364 w 1929752"/>
                <a:gd name="connsiteY5" fmla="*/ 1129918 h 1929761"/>
                <a:gd name="connsiteX6" fmla="*/ 68364 w 1929752"/>
                <a:gd name="connsiteY6" fmla="*/ 799832 h 1929761"/>
                <a:gd name="connsiteX7" fmla="*/ 799835 w 1929752"/>
                <a:gd name="connsiteY7" fmla="*/ 68360 h 1929761"/>
                <a:gd name="connsiteX8" fmla="*/ 1129919 w 1929752"/>
                <a:gd name="connsiteY8" fmla="*/ 68362 h 1929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9752" h="1929761">
                  <a:moveTo>
                    <a:pt x="1129919" y="68362"/>
                  </a:moveTo>
                  <a:lnTo>
                    <a:pt x="1861386" y="799834"/>
                  </a:lnTo>
                  <a:cubicBezTo>
                    <a:pt x="1952542" y="890985"/>
                    <a:pt x="1952542" y="1038768"/>
                    <a:pt x="1861386" y="1129918"/>
                  </a:cubicBezTo>
                  <a:lnTo>
                    <a:pt x="1129919" y="1861395"/>
                  </a:lnTo>
                  <a:cubicBezTo>
                    <a:pt x="1038770" y="1952551"/>
                    <a:pt x="890984" y="1952551"/>
                    <a:pt x="799835" y="1861395"/>
                  </a:cubicBezTo>
                  <a:lnTo>
                    <a:pt x="68364" y="1129918"/>
                  </a:lnTo>
                  <a:cubicBezTo>
                    <a:pt x="-22788" y="1038766"/>
                    <a:pt x="-22788" y="890983"/>
                    <a:pt x="68364" y="799832"/>
                  </a:cubicBezTo>
                  <a:lnTo>
                    <a:pt x="799835" y="68360"/>
                  </a:lnTo>
                  <a:cubicBezTo>
                    <a:pt x="890984" y="-22787"/>
                    <a:pt x="1038770" y="-22787"/>
                    <a:pt x="1129919" y="68362"/>
                  </a:cubicBezTo>
                  <a:close/>
                </a:path>
              </a:pathLst>
            </a:custGeom>
            <a:solidFill>
              <a:sysClr val="window" lastClr="FFFFFF">
                <a:lumMod val="95000"/>
                <a:alpha val="55000"/>
              </a:sysClr>
            </a:solidFill>
            <a:ln w="2032" cap="flat">
              <a:noFill/>
              <a:prstDash val="solid"/>
              <a:miter/>
            </a:ln>
            <a:effectLst>
              <a:outerShdw blurRad="50800" dist="38100" algn="l" rotWithShape="0">
                <a:prstClr val="black">
                  <a:alpha val="1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nvGrpSpPr>
            <p:cNvPr id="203" name="Graphic 6">
              <a:extLst>
                <a:ext uri="{FF2B5EF4-FFF2-40B4-BE49-F238E27FC236}">
                  <a16:creationId xmlns:a16="http://schemas.microsoft.com/office/drawing/2014/main" id="{5031A840-AA74-B01A-D505-6842650B23D7}"/>
                </a:ext>
              </a:extLst>
            </p:cNvPr>
            <p:cNvGrpSpPr/>
            <p:nvPr/>
          </p:nvGrpSpPr>
          <p:grpSpPr>
            <a:xfrm>
              <a:off x="545356" y="3218538"/>
              <a:ext cx="2628099" cy="1402661"/>
              <a:chOff x="545356" y="3218538"/>
              <a:chExt cx="2628099" cy="1402661"/>
            </a:xfrm>
            <a:solidFill>
              <a:srgbClr val="00B0F0"/>
            </a:solidFill>
          </p:grpSpPr>
          <p:sp>
            <p:nvSpPr>
              <p:cNvPr id="214" name="Freeform: Shape 206">
                <a:extLst>
                  <a:ext uri="{FF2B5EF4-FFF2-40B4-BE49-F238E27FC236}">
                    <a16:creationId xmlns:a16="http://schemas.microsoft.com/office/drawing/2014/main" id="{0BBDA65A-A0C1-819A-2CE8-77FB96C9ADEB}"/>
                  </a:ext>
                </a:extLst>
              </p:cNvPr>
              <p:cNvSpPr/>
              <p:nvPr/>
            </p:nvSpPr>
            <p:spPr>
              <a:xfrm>
                <a:off x="545356" y="3218538"/>
                <a:ext cx="2442293" cy="1402661"/>
              </a:xfrm>
              <a:custGeom>
                <a:avLst/>
                <a:gdLst>
                  <a:gd name="connsiteX0" fmla="*/ 1046155 w 2442293"/>
                  <a:gd name="connsiteY0" fmla="*/ 1402661 h 1402661"/>
                  <a:gd name="connsiteX1" fmla="*/ 823639 w 2442293"/>
                  <a:gd name="connsiteY1" fmla="*/ 1310632 h 1402661"/>
                  <a:gd name="connsiteX2" fmla="*/ 92170 w 2442293"/>
                  <a:gd name="connsiteY2" fmla="*/ 579165 h 1402661"/>
                  <a:gd name="connsiteX3" fmla="*/ 0 w 2442293"/>
                  <a:gd name="connsiteY3" fmla="*/ 356649 h 1402661"/>
                  <a:gd name="connsiteX4" fmla="*/ 92170 w 2442293"/>
                  <a:gd name="connsiteY4" fmla="*/ 134132 h 1402661"/>
                  <a:gd name="connsiteX5" fmla="*/ 226302 w 2442293"/>
                  <a:gd name="connsiteY5" fmla="*/ 0 h 1402661"/>
                  <a:gd name="connsiteX6" fmla="*/ 341248 w 2442293"/>
                  <a:gd name="connsiteY6" fmla="*/ 114946 h 1402661"/>
                  <a:gd name="connsiteX7" fmla="*/ 207116 w 2442293"/>
                  <a:gd name="connsiteY7" fmla="*/ 249079 h 1402661"/>
                  <a:gd name="connsiteX8" fmla="*/ 207116 w 2442293"/>
                  <a:gd name="connsiteY8" fmla="*/ 464217 h 1402661"/>
                  <a:gd name="connsiteX9" fmla="*/ 938587 w 2442293"/>
                  <a:gd name="connsiteY9" fmla="*/ 1195682 h 1402661"/>
                  <a:gd name="connsiteX10" fmla="*/ 1046157 w 2442293"/>
                  <a:gd name="connsiteY10" fmla="*/ 1240182 h 1402661"/>
                  <a:gd name="connsiteX11" fmla="*/ 1153727 w 2442293"/>
                  <a:gd name="connsiteY11" fmla="*/ 1195682 h 1402661"/>
                  <a:gd name="connsiteX12" fmla="*/ 1958779 w 2442293"/>
                  <a:gd name="connsiteY12" fmla="*/ 390630 h 1402661"/>
                  <a:gd name="connsiteX13" fmla="*/ 2086450 w 2442293"/>
                  <a:gd name="connsiteY13" fmla="*/ 305322 h 1402661"/>
                  <a:gd name="connsiteX14" fmla="*/ 2237041 w 2442293"/>
                  <a:gd name="connsiteY14" fmla="*/ 275366 h 1402661"/>
                  <a:gd name="connsiteX15" fmla="*/ 2442294 w 2442293"/>
                  <a:gd name="connsiteY15" fmla="*/ 275366 h 1402661"/>
                  <a:gd name="connsiteX16" fmla="*/ 2442294 w 2442293"/>
                  <a:gd name="connsiteY16" fmla="*/ 437926 h 1402661"/>
                  <a:gd name="connsiteX17" fmla="*/ 2237041 w 2442293"/>
                  <a:gd name="connsiteY17" fmla="*/ 437926 h 1402661"/>
                  <a:gd name="connsiteX18" fmla="*/ 2073729 w 2442293"/>
                  <a:gd name="connsiteY18" fmla="*/ 505576 h 1402661"/>
                  <a:gd name="connsiteX19" fmla="*/ 1268673 w 2442293"/>
                  <a:gd name="connsiteY19" fmla="*/ 1310632 h 1402661"/>
                  <a:gd name="connsiteX20" fmla="*/ 1046155 w 2442293"/>
                  <a:gd name="connsiteY20" fmla="*/ 1402661 h 1402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42293" h="1402661">
                    <a:moveTo>
                      <a:pt x="1046155" y="1402661"/>
                    </a:moveTo>
                    <a:cubicBezTo>
                      <a:pt x="965572" y="1402661"/>
                      <a:pt x="884987" y="1371978"/>
                      <a:pt x="823639" y="1310632"/>
                    </a:cubicBezTo>
                    <a:lnTo>
                      <a:pt x="92170" y="579165"/>
                    </a:lnTo>
                    <a:cubicBezTo>
                      <a:pt x="32734" y="519729"/>
                      <a:pt x="0" y="440704"/>
                      <a:pt x="0" y="356649"/>
                    </a:cubicBezTo>
                    <a:cubicBezTo>
                      <a:pt x="0" y="272593"/>
                      <a:pt x="32734" y="193568"/>
                      <a:pt x="92170" y="134132"/>
                    </a:cubicBezTo>
                    <a:lnTo>
                      <a:pt x="226302" y="0"/>
                    </a:lnTo>
                    <a:lnTo>
                      <a:pt x="341248" y="114946"/>
                    </a:lnTo>
                    <a:lnTo>
                      <a:pt x="207116" y="249079"/>
                    </a:lnTo>
                    <a:cubicBezTo>
                      <a:pt x="147802" y="308393"/>
                      <a:pt x="147802" y="404902"/>
                      <a:pt x="207116" y="464217"/>
                    </a:cubicBezTo>
                    <a:lnTo>
                      <a:pt x="938587" y="1195682"/>
                    </a:lnTo>
                    <a:cubicBezTo>
                      <a:pt x="968240" y="1225349"/>
                      <a:pt x="1007206" y="1240162"/>
                      <a:pt x="1046157" y="1240182"/>
                    </a:cubicBezTo>
                    <a:cubicBezTo>
                      <a:pt x="1085119" y="1240182"/>
                      <a:pt x="1124066" y="1225349"/>
                      <a:pt x="1153727" y="1195682"/>
                    </a:cubicBezTo>
                    <a:lnTo>
                      <a:pt x="1958779" y="390630"/>
                    </a:lnTo>
                    <a:cubicBezTo>
                      <a:pt x="1995518" y="353901"/>
                      <a:pt x="2038474" y="325201"/>
                      <a:pt x="2086450" y="305322"/>
                    </a:cubicBezTo>
                    <a:cubicBezTo>
                      <a:pt x="2134446" y="285445"/>
                      <a:pt x="2185103" y="275366"/>
                      <a:pt x="2237041" y="275366"/>
                    </a:cubicBezTo>
                    <a:lnTo>
                      <a:pt x="2442294" y="275366"/>
                    </a:lnTo>
                    <a:lnTo>
                      <a:pt x="2442294" y="437926"/>
                    </a:lnTo>
                    <a:lnTo>
                      <a:pt x="2237041" y="437926"/>
                    </a:lnTo>
                    <a:cubicBezTo>
                      <a:pt x="2175350" y="437926"/>
                      <a:pt x="2117356" y="461951"/>
                      <a:pt x="2073729" y="505576"/>
                    </a:cubicBezTo>
                    <a:lnTo>
                      <a:pt x="1268673" y="1310632"/>
                    </a:lnTo>
                    <a:cubicBezTo>
                      <a:pt x="1207325" y="1371978"/>
                      <a:pt x="1126740" y="1402661"/>
                      <a:pt x="1046155" y="1402661"/>
                    </a:cubicBezTo>
                    <a:close/>
                  </a:path>
                </a:pathLst>
              </a:custGeom>
              <a:grp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215" name="Freeform: Shape 207">
                <a:extLst>
                  <a:ext uri="{FF2B5EF4-FFF2-40B4-BE49-F238E27FC236}">
                    <a16:creationId xmlns:a16="http://schemas.microsoft.com/office/drawing/2014/main" id="{87BCA986-6FEF-90BA-E69D-135C9D7585F5}"/>
                  </a:ext>
                </a:extLst>
              </p:cNvPr>
              <p:cNvSpPr/>
              <p:nvPr/>
            </p:nvSpPr>
            <p:spPr>
              <a:xfrm>
                <a:off x="2663850" y="3299597"/>
                <a:ext cx="509605" cy="551169"/>
              </a:xfrm>
              <a:custGeom>
                <a:avLst/>
                <a:gdLst>
                  <a:gd name="connsiteX0" fmla="*/ 0 w 509605"/>
                  <a:gd name="connsiteY0" fmla="*/ 551170 h 551169"/>
                  <a:gd name="connsiteX1" fmla="*/ 275763 w 509605"/>
                  <a:gd name="connsiteY1" fmla="*/ 275590 h 551169"/>
                  <a:gd name="connsiteX2" fmla="*/ 0 w 509605"/>
                  <a:gd name="connsiteY2" fmla="*/ 0 h 551169"/>
                  <a:gd name="connsiteX3" fmla="*/ 234005 w 509605"/>
                  <a:gd name="connsiteY3" fmla="*/ 0 h 551169"/>
                  <a:gd name="connsiteX4" fmla="*/ 509605 w 509605"/>
                  <a:gd name="connsiteY4" fmla="*/ 275590 h 551169"/>
                  <a:gd name="connsiteX5" fmla="*/ 234005 w 509605"/>
                  <a:gd name="connsiteY5" fmla="*/ 551170 h 55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9605" h="551169">
                    <a:moveTo>
                      <a:pt x="0" y="551170"/>
                    </a:moveTo>
                    <a:lnTo>
                      <a:pt x="275763" y="275590"/>
                    </a:lnTo>
                    <a:lnTo>
                      <a:pt x="0" y="0"/>
                    </a:lnTo>
                    <a:lnTo>
                      <a:pt x="234005" y="0"/>
                    </a:lnTo>
                    <a:lnTo>
                      <a:pt x="509605" y="275590"/>
                    </a:lnTo>
                    <a:lnTo>
                      <a:pt x="234005" y="551170"/>
                    </a:lnTo>
                    <a:close/>
                  </a:path>
                </a:pathLst>
              </a:custGeom>
              <a:grpFill/>
              <a:ln w="2032"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grpSp>
        <p:sp>
          <p:nvSpPr>
            <p:cNvPr id="204" name="TextBox 203">
              <a:extLst>
                <a:ext uri="{FF2B5EF4-FFF2-40B4-BE49-F238E27FC236}">
                  <a16:creationId xmlns:a16="http://schemas.microsoft.com/office/drawing/2014/main" id="{BF350F8B-5809-85D5-E322-986C5C0E5943}"/>
                </a:ext>
              </a:extLst>
            </p:cNvPr>
            <p:cNvSpPr txBox="1"/>
            <p:nvPr/>
          </p:nvSpPr>
          <p:spPr>
            <a:xfrm>
              <a:off x="437903" y="4818783"/>
              <a:ext cx="2076052" cy="1606143"/>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rPr>
                <a:t>GAAP</a:t>
              </a:r>
            </a:p>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0" i="0" u="none" strike="noStrike" kern="0" cap="none" spc="0" normalizeH="0" baseline="0" noProof="0" dirty="0">
                  <a:ln>
                    <a:noFill/>
                  </a:ln>
                  <a:solidFill>
                    <a:prstClr val="black">
                      <a:lumMod val="75000"/>
                      <a:lumOff val="25000"/>
                    </a:prstClr>
                  </a:solidFill>
                  <a:effectLst/>
                  <a:uLnTx/>
                  <a:uFillTx/>
                  <a:latin typeface="Montserrat" pitchFamily="2" charset="0"/>
                </a:rPr>
                <a:t>FY </a:t>
              </a: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0" i="0" u="none" strike="noStrike" kern="0" cap="none" spc="0" normalizeH="0" baseline="0" noProof="0" dirty="0">
                  <a:ln>
                    <a:noFill/>
                  </a:ln>
                  <a:solidFill>
                    <a:prstClr val="black">
                      <a:lumMod val="75000"/>
                      <a:lumOff val="25000"/>
                    </a:prstClr>
                  </a:solidFill>
                  <a:effectLst/>
                  <a:uLnTx/>
                  <a:uFillTx/>
                  <a:latin typeface="Montserrat" pitchFamily="2" charset="0"/>
                </a:rPr>
                <a:t>2006/07 -2008/09</a:t>
              </a:r>
            </a:p>
          </p:txBody>
        </p:sp>
        <p:sp>
          <p:nvSpPr>
            <p:cNvPr id="206" name="TextBox 205">
              <a:extLst>
                <a:ext uri="{FF2B5EF4-FFF2-40B4-BE49-F238E27FC236}">
                  <a16:creationId xmlns:a16="http://schemas.microsoft.com/office/drawing/2014/main" id="{3AA01BFF-DC36-334A-D077-B4C680585055}"/>
                </a:ext>
              </a:extLst>
            </p:cNvPr>
            <p:cNvSpPr txBox="1"/>
            <p:nvPr/>
          </p:nvSpPr>
          <p:spPr>
            <a:xfrm>
              <a:off x="2722829" y="4914649"/>
              <a:ext cx="2215161" cy="1469772"/>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rPr>
                <a:t>IPSAS CASH BASIS</a:t>
              </a: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rPr>
                <a:t>MODIFIED</a:t>
              </a:r>
            </a:p>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rPr>
                <a:t>FY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rPr>
                <a:t>200</a:t>
              </a:r>
              <a:r>
                <a:rPr lang="en-US" sz="1400" kern="0" dirty="0">
                  <a:solidFill>
                    <a:prstClr val="black">
                      <a:lumMod val="75000"/>
                      <a:lumOff val="25000"/>
                    </a:prstClr>
                  </a:solidFill>
                  <a:latin typeface="Montserrat" pitchFamily="2" charset="0"/>
                </a:rPr>
                <a:t>9/</a:t>
              </a:r>
              <a:r>
                <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rPr>
                <a:t>10 - 20</a:t>
              </a:r>
              <a:r>
                <a:rPr lang="en-US" sz="1400" kern="0" dirty="0">
                  <a:solidFill>
                    <a:prstClr val="black">
                      <a:lumMod val="75000"/>
                      <a:lumOff val="25000"/>
                    </a:prstClr>
                  </a:solidFill>
                  <a:latin typeface="Montserrat" pitchFamily="2" charset="0"/>
                </a:rPr>
                <a:t>17/18</a:t>
              </a:r>
              <a:endPar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endParaRPr>
            </a:p>
          </p:txBody>
        </p:sp>
        <p:sp>
          <p:nvSpPr>
            <p:cNvPr id="207" name="TextBox 206">
              <a:extLst>
                <a:ext uri="{FF2B5EF4-FFF2-40B4-BE49-F238E27FC236}">
                  <a16:creationId xmlns:a16="http://schemas.microsoft.com/office/drawing/2014/main" id="{696EC8B2-4A81-2052-E087-D300A2117D2F}"/>
                </a:ext>
              </a:extLst>
            </p:cNvPr>
            <p:cNvSpPr txBox="1"/>
            <p:nvPr/>
          </p:nvSpPr>
          <p:spPr>
            <a:xfrm>
              <a:off x="7199405" y="4818783"/>
              <a:ext cx="2531597" cy="1575838"/>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rPr>
                <a:t>ACCRUAL</a:t>
              </a:r>
            </a:p>
            <a:p>
              <a:pPr marL="0" marR="0" lvl="0" indent="0" algn="ctr" defTabSz="914400" eaLnBrk="1" fontAlgn="auto" latinLnBrk="0" hangingPunct="1">
                <a:lnSpc>
                  <a:spcPct val="100000"/>
                </a:lnSpc>
                <a:spcBef>
                  <a:spcPts val="0"/>
                </a:spcBef>
                <a:spcAft>
                  <a:spcPts val="600"/>
                </a:spcAft>
                <a:buClrTx/>
                <a:buSzTx/>
                <a:buFontTx/>
                <a:buNone/>
                <a:tabLst/>
                <a:defRPr/>
              </a:pPr>
              <a:r>
                <a:rPr lang="en-US" sz="1600" b="1" kern="0" dirty="0">
                  <a:solidFill>
                    <a:prstClr val="black">
                      <a:lumMod val="75000"/>
                      <a:lumOff val="25000"/>
                    </a:prstClr>
                  </a:solidFill>
                  <a:latin typeface="Montserrat" pitchFamily="2" charset="0"/>
                </a:rPr>
                <a:t>Baseline </a:t>
              </a:r>
              <a:endPar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rPr>
                <a:t>FY 2023/24</a:t>
              </a:r>
            </a:p>
          </p:txBody>
        </p:sp>
        <p:sp>
          <p:nvSpPr>
            <p:cNvPr id="208" name="TextBox 207">
              <a:extLst>
                <a:ext uri="{FF2B5EF4-FFF2-40B4-BE49-F238E27FC236}">
                  <a16:creationId xmlns:a16="http://schemas.microsoft.com/office/drawing/2014/main" id="{4CE5D41F-EA0E-C9CD-95FA-3EB3A4FC1FF7}"/>
                </a:ext>
              </a:extLst>
            </p:cNvPr>
            <p:cNvSpPr txBox="1"/>
            <p:nvPr/>
          </p:nvSpPr>
          <p:spPr>
            <a:xfrm>
              <a:off x="9509079" y="4865575"/>
              <a:ext cx="2076052" cy="1484925"/>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rPr>
                <a:t>IPSAS ACCRUAL</a:t>
              </a:r>
            </a:p>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600"/>
                </a:spcAft>
                <a:buClrTx/>
                <a:buSzTx/>
                <a:buFontTx/>
                <a:buNone/>
                <a:tabLst/>
                <a:defRPr/>
              </a:pPr>
              <a:endParaRPr lang="en-US" sz="1400" kern="0" dirty="0">
                <a:solidFill>
                  <a:prstClr val="black">
                    <a:lumMod val="75000"/>
                    <a:lumOff val="25000"/>
                  </a:prstClr>
                </a:solidFill>
                <a:latin typeface="Montserrat" pitchFamily="2" charset="0"/>
              </a:endParaRPr>
            </a:p>
            <a:p>
              <a:pPr marL="0" marR="0" lvl="0" indent="0" algn="ctr" defTabSz="914400" eaLnBrk="1" fontAlgn="auto" latinLnBrk="0" hangingPunct="1">
                <a:lnSpc>
                  <a:spcPct val="100000"/>
                </a:lnSpc>
                <a:spcBef>
                  <a:spcPts val="0"/>
                </a:spcBef>
                <a:spcAft>
                  <a:spcPts val="600"/>
                </a:spcAft>
                <a:buClrTx/>
                <a:buSzTx/>
                <a:buFontTx/>
                <a:buNone/>
                <a:tabLst/>
                <a:defRPr/>
              </a:pPr>
              <a:endParaRPr lang="en-US" sz="1400" kern="0" dirty="0">
                <a:solidFill>
                  <a:prstClr val="black">
                    <a:lumMod val="75000"/>
                    <a:lumOff val="25000"/>
                  </a:prstClr>
                </a:solidFill>
                <a:latin typeface="Montserrat" pitchFamily="2" charset="0"/>
              </a:endParaRP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rPr>
                <a:t>FY 2024/25</a:t>
              </a:r>
            </a:p>
          </p:txBody>
        </p:sp>
        <p:pic>
          <p:nvPicPr>
            <p:cNvPr id="209" name="Picture 2" descr="Sourcing - Free seo and web icons">
              <a:extLst>
                <a:ext uri="{FF2B5EF4-FFF2-40B4-BE49-F238E27FC236}">
                  <a16:creationId xmlns:a16="http://schemas.microsoft.com/office/drawing/2014/main" id="{CE383121-E4DA-1B24-471D-7DEA815F0D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2000"/>
                      </a14:imgEffect>
                    </a14:imgLayer>
                  </a14:imgProps>
                </a:ext>
                <a:ext uri="{28A0092B-C50C-407E-A947-70E740481C1C}">
                  <a14:useLocalDpi xmlns:a14="http://schemas.microsoft.com/office/drawing/2010/main" val="0"/>
                </a:ext>
              </a:extLst>
            </a:blip>
            <a:srcRect/>
            <a:stretch>
              <a:fillRect/>
            </a:stretch>
          </p:blipFill>
          <p:spPr bwMode="auto">
            <a:xfrm>
              <a:off x="1251938" y="3235617"/>
              <a:ext cx="679147" cy="679147"/>
            </a:xfrm>
            <a:prstGeom prst="rect">
              <a:avLst/>
            </a:prstGeom>
            <a:noFill/>
            <a:extLst>
              <a:ext uri="{909E8E84-426E-40DD-AFC4-6F175D3DCCD1}">
                <a14:hiddenFill xmlns:a14="http://schemas.microsoft.com/office/drawing/2010/main">
                  <a:solidFill>
                    <a:srgbClr val="FFFFFF"/>
                  </a:solidFill>
                </a14:hiddenFill>
              </a:ext>
            </a:extLst>
          </p:spPr>
        </p:pic>
        <p:pic>
          <p:nvPicPr>
            <p:cNvPr id="210" name="Picture 4" descr="Manufacturing - Free industry icons">
              <a:extLst>
                <a:ext uri="{FF2B5EF4-FFF2-40B4-BE49-F238E27FC236}">
                  <a16:creationId xmlns:a16="http://schemas.microsoft.com/office/drawing/2014/main" id="{2AF60156-65F5-2684-1CA7-5F069730891F}"/>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16000"/>
                      </a14:imgEffect>
                    </a14:imgLayer>
                  </a14:imgProps>
                </a:ext>
                <a:ext uri="{28A0092B-C50C-407E-A947-70E740481C1C}">
                  <a14:useLocalDpi xmlns:a14="http://schemas.microsoft.com/office/drawing/2010/main" val="0"/>
                </a:ext>
              </a:extLst>
            </a:blip>
            <a:srcRect/>
            <a:stretch>
              <a:fillRect/>
            </a:stretch>
          </p:blipFill>
          <p:spPr bwMode="auto">
            <a:xfrm>
              <a:off x="3521707" y="3268359"/>
              <a:ext cx="617406" cy="617407"/>
            </a:xfrm>
            <a:prstGeom prst="rect">
              <a:avLst/>
            </a:prstGeom>
            <a:noFill/>
            <a:extLst>
              <a:ext uri="{909E8E84-426E-40DD-AFC4-6F175D3DCCD1}">
                <a14:hiddenFill xmlns:a14="http://schemas.microsoft.com/office/drawing/2010/main">
                  <a:solidFill>
                    <a:srgbClr val="FFFFFF"/>
                  </a:solidFill>
                </a14:hiddenFill>
              </a:ext>
            </a:extLst>
          </p:spPr>
        </p:pic>
        <p:pic>
          <p:nvPicPr>
            <p:cNvPr id="211" name="Picture 6" descr="Distribution - Free industry icons">
              <a:extLst>
                <a:ext uri="{FF2B5EF4-FFF2-40B4-BE49-F238E27FC236}">
                  <a16:creationId xmlns:a16="http://schemas.microsoft.com/office/drawing/2014/main" id="{58CD8247-6E42-65EB-FB9D-7AB586AF0C97}"/>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rightnessContrast bright="7000"/>
                      </a14:imgEffect>
                    </a14:imgLayer>
                  </a14:imgProps>
                </a:ext>
                <a:ext uri="{28A0092B-C50C-407E-A947-70E740481C1C}">
                  <a14:useLocalDpi xmlns:a14="http://schemas.microsoft.com/office/drawing/2010/main" val="0"/>
                </a:ext>
              </a:extLst>
            </a:blip>
            <a:srcRect/>
            <a:stretch>
              <a:fillRect/>
            </a:stretch>
          </p:blipFill>
          <p:spPr bwMode="auto">
            <a:xfrm>
              <a:off x="5760605" y="3270231"/>
              <a:ext cx="617406" cy="617407"/>
            </a:xfrm>
            <a:prstGeom prst="rect">
              <a:avLst/>
            </a:prstGeom>
            <a:noFill/>
            <a:extLst>
              <a:ext uri="{909E8E84-426E-40DD-AFC4-6F175D3DCCD1}">
                <a14:hiddenFill xmlns:a14="http://schemas.microsoft.com/office/drawing/2010/main">
                  <a:solidFill>
                    <a:srgbClr val="FFFFFF"/>
                  </a:solidFill>
                </a14:hiddenFill>
              </a:ext>
            </a:extLst>
          </p:spPr>
        </p:pic>
        <p:pic>
          <p:nvPicPr>
            <p:cNvPr id="212" name="Picture 10" descr="Warehouse - Free architecture and city icons">
              <a:extLst>
                <a:ext uri="{FF2B5EF4-FFF2-40B4-BE49-F238E27FC236}">
                  <a16:creationId xmlns:a16="http://schemas.microsoft.com/office/drawing/2014/main" id="{5B57BA3C-EEC4-10F5-23C8-CC8E7C8EB30E}"/>
                </a:ext>
              </a:extLst>
            </p:cNvPr>
            <p:cNvPicPr>
              <a:picLocks noChangeAspect="1" noChangeArrowheads="1"/>
            </p:cNvPicPr>
            <p:nvPr/>
          </p:nvPicPr>
          <p:blipFill>
            <a:blip r:embed="rId9" cstate="print">
              <a:extLst>
                <a:ext uri="{BEBA8EAE-BF5A-486C-A8C5-ECC9F3942E4B}">
                  <a14:imgProps xmlns:a14="http://schemas.microsoft.com/office/drawing/2010/main">
                    <a14:imgLayer r:embed="rId10">
                      <a14:imgEffect>
                        <a14:brightnessContrast bright="19000"/>
                      </a14:imgEffect>
                    </a14:imgLayer>
                  </a14:imgProps>
                </a:ext>
                <a:ext uri="{28A0092B-C50C-407E-A947-70E740481C1C}">
                  <a14:useLocalDpi xmlns:a14="http://schemas.microsoft.com/office/drawing/2010/main" val="0"/>
                </a:ext>
              </a:extLst>
            </a:blip>
            <a:srcRect/>
            <a:stretch>
              <a:fillRect/>
            </a:stretch>
          </p:blipFill>
          <p:spPr bwMode="auto">
            <a:xfrm>
              <a:off x="7999504" y="3272107"/>
              <a:ext cx="617406" cy="617407"/>
            </a:xfrm>
            <a:prstGeom prst="rect">
              <a:avLst/>
            </a:prstGeom>
            <a:noFill/>
            <a:extLst>
              <a:ext uri="{909E8E84-426E-40DD-AFC4-6F175D3DCCD1}">
                <a14:hiddenFill xmlns:a14="http://schemas.microsoft.com/office/drawing/2010/main">
                  <a:solidFill>
                    <a:srgbClr val="FFFFFF"/>
                  </a:solidFill>
                </a14:hiddenFill>
              </a:ext>
            </a:extLst>
          </p:spPr>
        </p:pic>
        <p:pic>
          <p:nvPicPr>
            <p:cNvPr id="213" name="Picture 12" descr="Transportation Truck - Free transport icons">
              <a:extLst>
                <a:ext uri="{FF2B5EF4-FFF2-40B4-BE49-F238E27FC236}">
                  <a16:creationId xmlns:a16="http://schemas.microsoft.com/office/drawing/2014/main" id="{EA72927D-AA2E-A345-B411-F727043EE18D}"/>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brightnessContrast bright="1000"/>
                      </a14:imgEffect>
                    </a14:imgLayer>
                  </a14:imgProps>
                </a:ext>
                <a:ext uri="{28A0092B-C50C-407E-A947-70E740481C1C}">
                  <a14:useLocalDpi xmlns:a14="http://schemas.microsoft.com/office/drawing/2010/main" val="0"/>
                </a:ext>
              </a:extLst>
            </a:blip>
            <a:srcRect/>
            <a:stretch>
              <a:fillRect/>
            </a:stretch>
          </p:blipFill>
          <p:spPr bwMode="auto">
            <a:xfrm>
              <a:off x="10207532" y="3243116"/>
              <a:ext cx="679147" cy="679147"/>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a:extLst>
              <a:ext uri="{FF2B5EF4-FFF2-40B4-BE49-F238E27FC236}">
                <a16:creationId xmlns:a16="http://schemas.microsoft.com/office/drawing/2014/main" id="{4E075C87-D24E-5F11-EE2A-4ECEE15B17A2}"/>
              </a:ext>
            </a:extLst>
          </p:cNvPr>
          <p:cNvSpPr txBox="1"/>
          <p:nvPr/>
        </p:nvSpPr>
        <p:spPr>
          <a:xfrm>
            <a:off x="5350922" y="4204185"/>
            <a:ext cx="2215161" cy="1492716"/>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rPr>
              <a:t>IPSAS </a:t>
            </a:r>
            <a:r>
              <a:rPr lang="en-US" sz="1600" b="1" kern="0" dirty="0">
                <a:solidFill>
                  <a:prstClr val="black">
                    <a:lumMod val="75000"/>
                    <a:lumOff val="25000"/>
                  </a:prstClr>
                </a:solidFill>
                <a:latin typeface="Montserrat" pitchFamily="2" charset="0"/>
              </a:rPr>
              <a:t>ACCRUAL</a:t>
            </a:r>
            <a:endPar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rPr>
              <a:t>MODIFIED</a:t>
            </a:r>
          </a:p>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1" i="0" u="none" strike="noStrike" kern="0" cap="none" spc="0" normalizeH="0" baseline="0" noProof="0" dirty="0">
              <a:ln>
                <a:noFill/>
              </a:ln>
              <a:solidFill>
                <a:prstClr val="black">
                  <a:lumMod val="75000"/>
                  <a:lumOff val="25000"/>
                </a:prstClr>
              </a:solidFill>
              <a:effectLst/>
              <a:uLnTx/>
              <a:uFillTx/>
              <a:latin typeface="Montserrat" pitchFamily="2"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rPr>
              <a:t>FY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rPr>
              <a:t>20</a:t>
            </a:r>
            <a:r>
              <a:rPr lang="en-US" sz="1400" kern="0" dirty="0">
                <a:solidFill>
                  <a:prstClr val="black">
                    <a:lumMod val="75000"/>
                    <a:lumOff val="25000"/>
                  </a:prstClr>
                </a:solidFill>
                <a:latin typeface="Montserrat" pitchFamily="2" charset="0"/>
              </a:rPr>
              <a:t>18/</a:t>
            </a:r>
            <a:r>
              <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rPr>
              <a:t>19 - 2022</a:t>
            </a:r>
            <a:r>
              <a:rPr lang="en-US" sz="1400" kern="0" dirty="0">
                <a:solidFill>
                  <a:prstClr val="black">
                    <a:lumMod val="75000"/>
                    <a:lumOff val="25000"/>
                  </a:prstClr>
                </a:solidFill>
                <a:latin typeface="Montserrat" pitchFamily="2" charset="0"/>
              </a:rPr>
              <a:t>/23</a:t>
            </a:r>
            <a:endParaRPr kumimoji="0" lang="en-US" sz="1400" b="0" i="0" u="none" strike="noStrike" kern="0" cap="none" spc="0" normalizeH="0" baseline="0" noProof="0" dirty="0">
              <a:ln>
                <a:noFill/>
              </a:ln>
              <a:solidFill>
                <a:prstClr val="black">
                  <a:lumMod val="75000"/>
                  <a:lumOff val="25000"/>
                </a:prstClr>
              </a:solidFill>
              <a:effectLst/>
              <a:uLnTx/>
              <a:uFillTx/>
              <a:latin typeface="Montserrat" pitchFamily="2" charset="0"/>
            </a:endParaRPr>
          </a:p>
        </p:txBody>
      </p:sp>
    </p:spTree>
    <p:extLst>
      <p:ext uri="{BB962C8B-B14F-4D97-AF65-F5344CB8AC3E}">
        <p14:creationId xmlns:p14="http://schemas.microsoft.com/office/powerpoint/2010/main" val="4076279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71500AB0-1D6B-A1EE-15C5-B5D20E89E4D7}"/>
            </a:ext>
          </a:extLst>
        </p:cNvPr>
        <p:cNvGrpSpPr/>
        <p:nvPr/>
      </p:nvGrpSpPr>
      <p:grpSpPr>
        <a:xfrm>
          <a:off x="0" y="0"/>
          <a:ext cx="0" cy="0"/>
          <a:chOff x="0" y="0"/>
          <a:chExt cx="0" cy="0"/>
        </a:xfrm>
      </p:grpSpPr>
      <p:sp>
        <p:nvSpPr>
          <p:cNvPr id="570" name="Google Shape;570;p59">
            <a:extLst>
              <a:ext uri="{FF2B5EF4-FFF2-40B4-BE49-F238E27FC236}">
                <a16:creationId xmlns:a16="http://schemas.microsoft.com/office/drawing/2014/main" id="{94910BAA-D9C8-5C49-C38B-D46FCDD8A194}"/>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sz="4000" dirty="0">
                <a:solidFill>
                  <a:srgbClr val="FF6319"/>
                </a:solidFill>
              </a:rPr>
              <a:t>The </a:t>
            </a:r>
            <a:r>
              <a:rPr lang="en-GB" sz="4000" dirty="0" err="1">
                <a:solidFill>
                  <a:srgbClr val="FF6319"/>
                </a:solidFill>
              </a:rPr>
              <a:t>GoR</a:t>
            </a:r>
            <a:r>
              <a:rPr lang="en-GB" sz="4000" dirty="0">
                <a:solidFill>
                  <a:srgbClr val="FF6319"/>
                </a:solidFill>
              </a:rPr>
              <a:t> IPSAS Accrual Project</a:t>
            </a:r>
          </a:p>
        </p:txBody>
      </p:sp>
      <p:sp>
        <p:nvSpPr>
          <p:cNvPr id="2" name="Slide Number Placeholder 1">
            <a:extLst>
              <a:ext uri="{FF2B5EF4-FFF2-40B4-BE49-F238E27FC236}">
                <a16:creationId xmlns:a16="http://schemas.microsoft.com/office/drawing/2014/main" id="{7FD8C4CD-5F38-3E0F-00C8-1FD32BA85900}"/>
              </a:ext>
            </a:extLst>
          </p:cNvPr>
          <p:cNvSpPr>
            <a:spLocks noGrp="1"/>
          </p:cNvSpPr>
          <p:nvPr>
            <p:ph type="sldNum" sz="quarter" idx="12"/>
          </p:nvPr>
        </p:nvSpPr>
        <p:spPr/>
        <p:txBody>
          <a:bodyPr/>
          <a:lstStyle/>
          <a:p>
            <a:fld id="{74617368-41BA-4894-91AF-0AE86004FFB9}" type="slidenum">
              <a:rPr lang="en-GB" smtClean="0"/>
              <a:pPr/>
              <a:t>6</a:t>
            </a:fld>
            <a:endParaRPr lang="en-GB"/>
          </a:p>
        </p:txBody>
      </p:sp>
      <p:grpSp>
        <p:nvGrpSpPr>
          <p:cNvPr id="3" name="Group 2">
            <a:extLst>
              <a:ext uri="{FF2B5EF4-FFF2-40B4-BE49-F238E27FC236}">
                <a16:creationId xmlns:a16="http://schemas.microsoft.com/office/drawing/2014/main" id="{057CEFEC-6682-AB52-07A8-2FC8081BA3E6}"/>
              </a:ext>
            </a:extLst>
          </p:cNvPr>
          <p:cNvGrpSpPr/>
          <p:nvPr/>
        </p:nvGrpSpPr>
        <p:grpSpPr>
          <a:xfrm>
            <a:off x="0" y="1000242"/>
            <a:ext cx="9997503" cy="5449158"/>
            <a:chOff x="1213931" y="598983"/>
            <a:chExt cx="7581130" cy="4132109"/>
          </a:xfrm>
        </p:grpSpPr>
        <p:sp>
          <p:nvSpPr>
            <p:cNvPr id="4" name="Google Shape;316;p19">
              <a:extLst>
                <a:ext uri="{FF2B5EF4-FFF2-40B4-BE49-F238E27FC236}">
                  <a16:creationId xmlns:a16="http://schemas.microsoft.com/office/drawing/2014/main" id="{7208C7B2-772E-541D-A041-161D94390CED}"/>
                </a:ext>
              </a:extLst>
            </p:cNvPr>
            <p:cNvSpPr/>
            <p:nvPr/>
          </p:nvSpPr>
          <p:spPr>
            <a:xfrm>
              <a:off x="1641566" y="1425571"/>
              <a:ext cx="5732022" cy="3124258"/>
            </a:xfrm>
            <a:custGeom>
              <a:avLst/>
              <a:gdLst/>
              <a:ahLst/>
              <a:cxnLst/>
              <a:rect l="l" t="t" r="r" b="b"/>
              <a:pathLst>
                <a:path w="96519" h="52608" extrusionOk="0">
                  <a:moveTo>
                    <a:pt x="63150" y="0"/>
                  </a:moveTo>
                  <a:lnTo>
                    <a:pt x="62607" y="55"/>
                  </a:lnTo>
                  <a:lnTo>
                    <a:pt x="62117" y="218"/>
                  </a:lnTo>
                  <a:lnTo>
                    <a:pt x="61628" y="381"/>
                  </a:lnTo>
                  <a:lnTo>
                    <a:pt x="61139" y="544"/>
                  </a:lnTo>
                  <a:lnTo>
                    <a:pt x="60704" y="816"/>
                  </a:lnTo>
                  <a:lnTo>
                    <a:pt x="60270" y="1087"/>
                  </a:lnTo>
                  <a:lnTo>
                    <a:pt x="59889" y="1413"/>
                  </a:lnTo>
                  <a:lnTo>
                    <a:pt x="59509" y="1739"/>
                  </a:lnTo>
                  <a:lnTo>
                    <a:pt x="59237" y="2120"/>
                  </a:lnTo>
                  <a:lnTo>
                    <a:pt x="58911" y="2500"/>
                  </a:lnTo>
                  <a:lnTo>
                    <a:pt x="58694" y="2935"/>
                  </a:lnTo>
                  <a:lnTo>
                    <a:pt x="58531" y="3370"/>
                  </a:lnTo>
                  <a:lnTo>
                    <a:pt x="58368" y="3859"/>
                  </a:lnTo>
                  <a:lnTo>
                    <a:pt x="58313" y="4294"/>
                  </a:lnTo>
                  <a:lnTo>
                    <a:pt x="58259" y="4783"/>
                  </a:lnTo>
                  <a:lnTo>
                    <a:pt x="58259" y="19619"/>
                  </a:lnTo>
                  <a:lnTo>
                    <a:pt x="58259" y="20000"/>
                  </a:lnTo>
                  <a:lnTo>
                    <a:pt x="58205" y="20326"/>
                  </a:lnTo>
                  <a:lnTo>
                    <a:pt x="58096" y="20652"/>
                  </a:lnTo>
                  <a:lnTo>
                    <a:pt x="57933" y="20978"/>
                  </a:lnTo>
                  <a:lnTo>
                    <a:pt x="57770" y="21304"/>
                  </a:lnTo>
                  <a:lnTo>
                    <a:pt x="57552" y="21576"/>
                  </a:lnTo>
                  <a:lnTo>
                    <a:pt x="57335" y="21847"/>
                  </a:lnTo>
                  <a:lnTo>
                    <a:pt x="57063" y="22119"/>
                  </a:lnTo>
                  <a:lnTo>
                    <a:pt x="56792" y="22336"/>
                  </a:lnTo>
                  <a:lnTo>
                    <a:pt x="56465" y="22554"/>
                  </a:lnTo>
                  <a:lnTo>
                    <a:pt x="56139" y="22717"/>
                  </a:lnTo>
                  <a:lnTo>
                    <a:pt x="55759" y="22880"/>
                  </a:lnTo>
                  <a:lnTo>
                    <a:pt x="55379" y="22989"/>
                  </a:lnTo>
                  <a:lnTo>
                    <a:pt x="54998" y="23097"/>
                  </a:lnTo>
                  <a:lnTo>
                    <a:pt x="54563" y="23152"/>
                  </a:lnTo>
                  <a:lnTo>
                    <a:pt x="48531" y="23152"/>
                  </a:lnTo>
                  <a:lnTo>
                    <a:pt x="48096" y="23097"/>
                  </a:lnTo>
                  <a:lnTo>
                    <a:pt x="47716" y="22989"/>
                  </a:lnTo>
                  <a:lnTo>
                    <a:pt x="47335" y="22880"/>
                  </a:lnTo>
                  <a:lnTo>
                    <a:pt x="46955" y="22717"/>
                  </a:lnTo>
                  <a:lnTo>
                    <a:pt x="46629" y="22554"/>
                  </a:lnTo>
                  <a:lnTo>
                    <a:pt x="46303" y="22336"/>
                  </a:lnTo>
                  <a:lnTo>
                    <a:pt x="46031" y="22119"/>
                  </a:lnTo>
                  <a:lnTo>
                    <a:pt x="45759" y="21847"/>
                  </a:lnTo>
                  <a:lnTo>
                    <a:pt x="45488" y="21576"/>
                  </a:lnTo>
                  <a:lnTo>
                    <a:pt x="45325" y="21304"/>
                  </a:lnTo>
                  <a:lnTo>
                    <a:pt x="45107" y="20978"/>
                  </a:lnTo>
                  <a:lnTo>
                    <a:pt x="44998" y="20652"/>
                  </a:lnTo>
                  <a:lnTo>
                    <a:pt x="44890" y="20326"/>
                  </a:lnTo>
                  <a:lnTo>
                    <a:pt x="44835" y="20000"/>
                  </a:lnTo>
                  <a:lnTo>
                    <a:pt x="44781" y="19619"/>
                  </a:lnTo>
                  <a:lnTo>
                    <a:pt x="44781" y="16576"/>
                  </a:lnTo>
                  <a:lnTo>
                    <a:pt x="44781" y="16087"/>
                  </a:lnTo>
                  <a:lnTo>
                    <a:pt x="44672" y="15598"/>
                  </a:lnTo>
                  <a:lnTo>
                    <a:pt x="44564" y="15163"/>
                  </a:lnTo>
                  <a:lnTo>
                    <a:pt x="44401" y="14728"/>
                  </a:lnTo>
                  <a:lnTo>
                    <a:pt x="44129" y="14293"/>
                  </a:lnTo>
                  <a:lnTo>
                    <a:pt x="43857" y="13913"/>
                  </a:lnTo>
                  <a:lnTo>
                    <a:pt x="43585" y="13532"/>
                  </a:lnTo>
                  <a:lnTo>
                    <a:pt x="43205" y="13152"/>
                  </a:lnTo>
                  <a:lnTo>
                    <a:pt x="42825" y="12880"/>
                  </a:lnTo>
                  <a:lnTo>
                    <a:pt x="42390" y="12609"/>
                  </a:lnTo>
                  <a:lnTo>
                    <a:pt x="41955" y="12337"/>
                  </a:lnTo>
                  <a:lnTo>
                    <a:pt x="41466" y="12119"/>
                  </a:lnTo>
                  <a:lnTo>
                    <a:pt x="40977" y="11956"/>
                  </a:lnTo>
                  <a:lnTo>
                    <a:pt x="40488" y="11848"/>
                  </a:lnTo>
                  <a:lnTo>
                    <a:pt x="39944" y="11793"/>
                  </a:lnTo>
                  <a:lnTo>
                    <a:pt x="39347" y="11739"/>
                  </a:lnTo>
                  <a:lnTo>
                    <a:pt x="34564" y="11739"/>
                  </a:lnTo>
                  <a:lnTo>
                    <a:pt x="34021" y="11793"/>
                  </a:lnTo>
                  <a:lnTo>
                    <a:pt x="33477" y="11848"/>
                  </a:lnTo>
                  <a:lnTo>
                    <a:pt x="32988" y="11956"/>
                  </a:lnTo>
                  <a:lnTo>
                    <a:pt x="32499" y="12119"/>
                  </a:lnTo>
                  <a:lnTo>
                    <a:pt x="32010" y="12337"/>
                  </a:lnTo>
                  <a:lnTo>
                    <a:pt x="31575" y="12609"/>
                  </a:lnTo>
                  <a:lnTo>
                    <a:pt x="31140" y="12880"/>
                  </a:lnTo>
                  <a:lnTo>
                    <a:pt x="30760" y="13152"/>
                  </a:lnTo>
                  <a:lnTo>
                    <a:pt x="30379" y="13532"/>
                  </a:lnTo>
                  <a:lnTo>
                    <a:pt x="30108" y="13913"/>
                  </a:lnTo>
                  <a:lnTo>
                    <a:pt x="29782" y="14293"/>
                  </a:lnTo>
                  <a:lnTo>
                    <a:pt x="29564" y="14728"/>
                  </a:lnTo>
                  <a:lnTo>
                    <a:pt x="29401" y="15163"/>
                  </a:lnTo>
                  <a:lnTo>
                    <a:pt x="29238" y="15598"/>
                  </a:lnTo>
                  <a:lnTo>
                    <a:pt x="29184" y="16087"/>
                  </a:lnTo>
                  <a:lnTo>
                    <a:pt x="29130" y="16576"/>
                  </a:lnTo>
                  <a:lnTo>
                    <a:pt x="29130" y="47770"/>
                  </a:lnTo>
                  <a:lnTo>
                    <a:pt x="29130" y="48096"/>
                  </a:lnTo>
                  <a:lnTo>
                    <a:pt x="29075" y="48477"/>
                  </a:lnTo>
                  <a:lnTo>
                    <a:pt x="28966" y="48803"/>
                  </a:lnTo>
                  <a:lnTo>
                    <a:pt x="28803" y="49129"/>
                  </a:lnTo>
                  <a:lnTo>
                    <a:pt x="28640" y="49455"/>
                  </a:lnTo>
                  <a:lnTo>
                    <a:pt x="28423" y="49727"/>
                  </a:lnTo>
                  <a:lnTo>
                    <a:pt x="28206" y="49998"/>
                  </a:lnTo>
                  <a:lnTo>
                    <a:pt x="27934" y="50270"/>
                  </a:lnTo>
                  <a:lnTo>
                    <a:pt x="27662" y="50488"/>
                  </a:lnTo>
                  <a:lnTo>
                    <a:pt x="27336" y="50651"/>
                  </a:lnTo>
                  <a:lnTo>
                    <a:pt x="27010" y="50868"/>
                  </a:lnTo>
                  <a:lnTo>
                    <a:pt x="26630" y="50977"/>
                  </a:lnTo>
                  <a:lnTo>
                    <a:pt x="26249" y="51140"/>
                  </a:lnTo>
                  <a:lnTo>
                    <a:pt x="25869" y="51194"/>
                  </a:lnTo>
                  <a:lnTo>
                    <a:pt x="25434" y="51248"/>
                  </a:lnTo>
                  <a:lnTo>
                    <a:pt x="24999" y="51303"/>
                  </a:lnTo>
                  <a:lnTo>
                    <a:pt x="22825" y="51303"/>
                  </a:lnTo>
                  <a:lnTo>
                    <a:pt x="22445" y="51248"/>
                  </a:lnTo>
                  <a:lnTo>
                    <a:pt x="22010" y="51194"/>
                  </a:lnTo>
                  <a:lnTo>
                    <a:pt x="21630" y="51140"/>
                  </a:lnTo>
                  <a:lnTo>
                    <a:pt x="21249" y="50977"/>
                  </a:lnTo>
                  <a:lnTo>
                    <a:pt x="20869" y="50868"/>
                  </a:lnTo>
                  <a:lnTo>
                    <a:pt x="20543" y="50651"/>
                  </a:lnTo>
                  <a:lnTo>
                    <a:pt x="20217" y="50488"/>
                  </a:lnTo>
                  <a:lnTo>
                    <a:pt x="19945" y="50270"/>
                  </a:lnTo>
                  <a:lnTo>
                    <a:pt x="19673" y="49998"/>
                  </a:lnTo>
                  <a:lnTo>
                    <a:pt x="19402" y="49727"/>
                  </a:lnTo>
                  <a:lnTo>
                    <a:pt x="19239" y="49455"/>
                  </a:lnTo>
                  <a:lnTo>
                    <a:pt x="19021" y="49129"/>
                  </a:lnTo>
                  <a:lnTo>
                    <a:pt x="18913" y="48803"/>
                  </a:lnTo>
                  <a:lnTo>
                    <a:pt x="18804" y="48477"/>
                  </a:lnTo>
                  <a:lnTo>
                    <a:pt x="18749" y="48096"/>
                  </a:lnTo>
                  <a:lnTo>
                    <a:pt x="18695" y="47770"/>
                  </a:lnTo>
                  <a:lnTo>
                    <a:pt x="18695" y="33858"/>
                  </a:lnTo>
                  <a:lnTo>
                    <a:pt x="18695" y="33369"/>
                  </a:lnTo>
                  <a:lnTo>
                    <a:pt x="18586" y="32934"/>
                  </a:lnTo>
                  <a:lnTo>
                    <a:pt x="18478" y="32445"/>
                  </a:lnTo>
                  <a:lnTo>
                    <a:pt x="18315" y="32010"/>
                  </a:lnTo>
                  <a:lnTo>
                    <a:pt x="18043" y="31575"/>
                  </a:lnTo>
                  <a:lnTo>
                    <a:pt x="17771" y="31195"/>
                  </a:lnTo>
                  <a:lnTo>
                    <a:pt x="17500" y="30814"/>
                  </a:lnTo>
                  <a:lnTo>
                    <a:pt x="17119" y="30488"/>
                  </a:lnTo>
                  <a:lnTo>
                    <a:pt x="16739" y="30162"/>
                  </a:lnTo>
                  <a:lnTo>
                    <a:pt x="16304" y="29891"/>
                  </a:lnTo>
                  <a:lnTo>
                    <a:pt x="15869" y="29619"/>
                  </a:lnTo>
                  <a:lnTo>
                    <a:pt x="15380" y="29456"/>
                  </a:lnTo>
                  <a:lnTo>
                    <a:pt x="14891" y="29293"/>
                  </a:lnTo>
                  <a:lnTo>
                    <a:pt x="14402" y="29130"/>
                  </a:lnTo>
                  <a:lnTo>
                    <a:pt x="13858" y="29075"/>
                  </a:lnTo>
                  <a:lnTo>
                    <a:pt x="0" y="29075"/>
                  </a:lnTo>
                  <a:lnTo>
                    <a:pt x="0" y="30380"/>
                  </a:lnTo>
                  <a:lnTo>
                    <a:pt x="13695" y="30380"/>
                  </a:lnTo>
                  <a:lnTo>
                    <a:pt x="14130" y="30434"/>
                  </a:lnTo>
                  <a:lnTo>
                    <a:pt x="14511" y="30488"/>
                  </a:lnTo>
                  <a:lnTo>
                    <a:pt x="14891" y="30651"/>
                  </a:lnTo>
                  <a:lnTo>
                    <a:pt x="15271" y="30760"/>
                  </a:lnTo>
                  <a:lnTo>
                    <a:pt x="15597" y="30977"/>
                  </a:lnTo>
                  <a:lnTo>
                    <a:pt x="15923" y="31140"/>
                  </a:lnTo>
                  <a:lnTo>
                    <a:pt x="16195" y="31412"/>
                  </a:lnTo>
                  <a:lnTo>
                    <a:pt x="16467" y="31630"/>
                  </a:lnTo>
                  <a:lnTo>
                    <a:pt x="16684" y="31901"/>
                  </a:lnTo>
                  <a:lnTo>
                    <a:pt x="16902" y="32227"/>
                  </a:lnTo>
                  <a:lnTo>
                    <a:pt x="17065" y="32499"/>
                  </a:lnTo>
                  <a:lnTo>
                    <a:pt x="17228" y="32825"/>
                  </a:lnTo>
                  <a:lnTo>
                    <a:pt x="17336" y="33151"/>
                  </a:lnTo>
                  <a:lnTo>
                    <a:pt x="17391" y="33532"/>
                  </a:lnTo>
                  <a:lnTo>
                    <a:pt x="17391" y="33858"/>
                  </a:lnTo>
                  <a:lnTo>
                    <a:pt x="17391" y="47770"/>
                  </a:lnTo>
                  <a:lnTo>
                    <a:pt x="17445" y="48259"/>
                  </a:lnTo>
                  <a:lnTo>
                    <a:pt x="17500" y="48748"/>
                  </a:lnTo>
                  <a:lnTo>
                    <a:pt x="17663" y="49183"/>
                  </a:lnTo>
                  <a:lnTo>
                    <a:pt x="17826" y="49618"/>
                  </a:lnTo>
                  <a:lnTo>
                    <a:pt x="18043" y="50053"/>
                  </a:lnTo>
                  <a:lnTo>
                    <a:pt x="18369" y="50433"/>
                  </a:lnTo>
                  <a:lnTo>
                    <a:pt x="18641" y="50814"/>
                  </a:lnTo>
                  <a:lnTo>
                    <a:pt x="19021" y="51194"/>
                  </a:lnTo>
                  <a:lnTo>
                    <a:pt x="19402" y="51466"/>
                  </a:lnTo>
                  <a:lnTo>
                    <a:pt x="19836" y="51738"/>
                  </a:lnTo>
                  <a:lnTo>
                    <a:pt x="20271" y="52009"/>
                  </a:lnTo>
                  <a:lnTo>
                    <a:pt x="20760" y="52227"/>
                  </a:lnTo>
                  <a:lnTo>
                    <a:pt x="21249" y="52390"/>
                  </a:lnTo>
                  <a:lnTo>
                    <a:pt x="21738" y="52498"/>
                  </a:lnTo>
                  <a:lnTo>
                    <a:pt x="22282" y="52553"/>
                  </a:lnTo>
                  <a:lnTo>
                    <a:pt x="22825" y="52607"/>
                  </a:lnTo>
                  <a:lnTo>
                    <a:pt x="24999" y="52607"/>
                  </a:lnTo>
                  <a:lnTo>
                    <a:pt x="25597" y="52553"/>
                  </a:lnTo>
                  <a:lnTo>
                    <a:pt x="26141" y="52498"/>
                  </a:lnTo>
                  <a:lnTo>
                    <a:pt x="26630" y="52390"/>
                  </a:lnTo>
                  <a:lnTo>
                    <a:pt x="27119" y="52227"/>
                  </a:lnTo>
                  <a:lnTo>
                    <a:pt x="27608" y="52009"/>
                  </a:lnTo>
                  <a:lnTo>
                    <a:pt x="28043" y="51738"/>
                  </a:lnTo>
                  <a:lnTo>
                    <a:pt x="28477" y="51466"/>
                  </a:lnTo>
                  <a:lnTo>
                    <a:pt x="28858" y="51194"/>
                  </a:lnTo>
                  <a:lnTo>
                    <a:pt x="29238" y="50814"/>
                  </a:lnTo>
                  <a:lnTo>
                    <a:pt x="29510" y="50433"/>
                  </a:lnTo>
                  <a:lnTo>
                    <a:pt x="29782" y="50053"/>
                  </a:lnTo>
                  <a:lnTo>
                    <a:pt x="30053" y="49618"/>
                  </a:lnTo>
                  <a:lnTo>
                    <a:pt x="30216" y="49183"/>
                  </a:lnTo>
                  <a:lnTo>
                    <a:pt x="30325" y="48748"/>
                  </a:lnTo>
                  <a:lnTo>
                    <a:pt x="30434" y="48259"/>
                  </a:lnTo>
                  <a:lnTo>
                    <a:pt x="30434" y="47770"/>
                  </a:lnTo>
                  <a:lnTo>
                    <a:pt x="30434" y="16576"/>
                  </a:lnTo>
                  <a:lnTo>
                    <a:pt x="30488" y="16250"/>
                  </a:lnTo>
                  <a:lnTo>
                    <a:pt x="30543" y="15869"/>
                  </a:lnTo>
                  <a:lnTo>
                    <a:pt x="30651" y="15543"/>
                  </a:lnTo>
                  <a:lnTo>
                    <a:pt x="30760" y="15217"/>
                  </a:lnTo>
                  <a:lnTo>
                    <a:pt x="30977" y="14891"/>
                  </a:lnTo>
                  <a:lnTo>
                    <a:pt x="31140" y="14619"/>
                  </a:lnTo>
                  <a:lnTo>
                    <a:pt x="31412" y="14348"/>
                  </a:lnTo>
                  <a:lnTo>
                    <a:pt x="31684" y="14076"/>
                  </a:lnTo>
                  <a:lnTo>
                    <a:pt x="31955" y="13859"/>
                  </a:lnTo>
                  <a:lnTo>
                    <a:pt x="32282" y="13641"/>
                  </a:lnTo>
                  <a:lnTo>
                    <a:pt x="32608" y="13478"/>
                  </a:lnTo>
                  <a:lnTo>
                    <a:pt x="32988" y="13315"/>
                  </a:lnTo>
                  <a:lnTo>
                    <a:pt x="33368" y="13206"/>
                  </a:lnTo>
                  <a:lnTo>
                    <a:pt x="33749" y="13152"/>
                  </a:lnTo>
                  <a:lnTo>
                    <a:pt x="34184" y="13098"/>
                  </a:lnTo>
                  <a:lnTo>
                    <a:pt x="34564" y="13043"/>
                  </a:lnTo>
                  <a:lnTo>
                    <a:pt x="39347" y="13043"/>
                  </a:lnTo>
                  <a:lnTo>
                    <a:pt x="39781" y="13098"/>
                  </a:lnTo>
                  <a:lnTo>
                    <a:pt x="40216" y="13152"/>
                  </a:lnTo>
                  <a:lnTo>
                    <a:pt x="40596" y="13206"/>
                  </a:lnTo>
                  <a:lnTo>
                    <a:pt x="40977" y="13315"/>
                  </a:lnTo>
                  <a:lnTo>
                    <a:pt x="41357" y="13478"/>
                  </a:lnTo>
                  <a:lnTo>
                    <a:pt x="41683" y="13641"/>
                  </a:lnTo>
                  <a:lnTo>
                    <a:pt x="42009" y="13859"/>
                  </a:lnTo>
                  <a:lnTo>
                    <a:pt x="42281" y="14076"/>
                  </a:lnTo>
                  <a:lnTo>
                    <a:pt x="42553" y="14348"/>
                  </a:lnTo>
                  <a:lnTo>
                    <a:pt x="42770" y="14619"/>
                  </a:lnTo>
                  <a:lnTo>
                    <a:pt x="42988" y="14891"/>
                  </a:lnTo>
                  <a:lnTo>
                    <a:pt x="43151" y="15217"/>
                  </a:lnTo>
                  <a:lnTo>
                    <a:pt x="43314" y="15543"/>
                  </a:lnTo>
                  <a:lnTo>
                    <a:pt x="43422" y="15869"/>
                  </a:lnTo>
                  <a:lnTo>
                    <a:pt x="43477" y="16250"/>
                  </a:lnTo>
                  <a:lnTo>
                    <a:pt x="43477" y="16576"/>
                  </a:lnTo>
                  <a:lnTo>
                    <a:pt x="43477" y="19619"/>
                  </a:lnTo>
                  <a:lnTo>
                    <a:pt x="43531" y="20108"/>
                  </a:lnTo>
                  <a:lnTo>
                    <a:pt x="43585" y="20597"/>
                  </a:lnTo>
                  <a:lnTo>
                    <a:pt x="43749" y="21087"/>
                  </a:lnTo>
                  <a:lnTo>
                    <a:pt x="43912" y="21521"/>
                  </a:lnTo>
                  <a:lnTo>
                    <a:pt x="44129" y="21956"/>
                  </a:lnTo>
                  <a:lnTo>
                    <a:pt x="44455" y="22336"/>
                  </a:lnTo>
                  <a:lnTo>
                    <a:pt x="44727" y="22717"/>
                  </a:lnTo>
                  <a:lnTo>
                    <a:pt x="45107" y="23043"/>
                  </a:lnTo>
                  <a:lnTo>
                    <a:pt x="45488" y="23369"/>
                  </a:lnTo>
                  <a:lnTo>
                    <a:pt x="45922" y="23641"/>
                  </a:lnTo>
                  <a:lnTo>
                    <a:pt x="46357" y="23858"/>
                  </a:lnTo>
                  <a:lnTo>
                    <a:pt x="46846" y="24076"/>
                  </a:lnTo>
                  <a:lnTo>
                    <a:pt x="47335" y="24239"/>
                  </a:lnTo>
                  <a:lnTo>
                    <a:pt x="47824" y="24347"/>
                  </a:lnTo>
                  <a:lnTo>
                    <a:pt x="48368" y="24456"/>
                  </a:lnTo>
                  <a:lnTo>
                    <a:pt x="54726" y="24456"/>
                  </a:lnTo>
                  <a:lnTo>
                    <a:pt x="55270" y="24347"/>
                  </a:lnTo>
                  <a:lnTo>
                    <a:pt x="55759" y="24239"/>
                  </a:lnTo>
                  <a:lnTo>
                    <a:pt x="56248" y="24076"/>
                  </a:lnTo>
                  <a:lnTo>
                    <a:pt x="56737" y="23858"/>
                  </a:lnTo>
                  <a:lnTo>
                    <a:pt x="57172" y="23641"/>
                  </a:lnTo>
                  <a:lnTo>
                    <a:pt x="57607" y="23369"/>
                  </a:lnTo>
                  <a:lnTo>
                    <a:pt x="57987" y="23043"/>
                  </a:lnTo>
                  <a:lnTo>
                    <a:pt x="58368" y="22717"/>
                  </a:lnTo>
                  <a:lnTo>
                    <a:pt x="58639" y="22336"/>
                  </a:lnTo>
                  <a:lnTo>
                    <a:pt x="58911" y="21956"/>
                  </a:lnTo>
                  <a:lnTo>
                    <a:pt x="59183" y="21521"/>
                  </a:lnTo>
                  <a:lnTo>
                    <a:pt x="59346" y="21087"/>
                  </a:lnTo>
                  <a:lnTo>
                    <a:pt x="59454" y="20597"/>
                  </a:lnTo>
                  <a:lnTo>
                    <a:pt x="59563" y="20108"/>
                  </a:lnTo>
                  <a:lnTo>
                    <a:pt x="59563" y="19619"/>
                  </a:lnTo>
                  <a:lnTo>
                    <a:pt x="59563" y="4783"/>
                  </a:lnTo>
                  <a:lnTo>
                    <a:pt x="59617" y="4457"/>
                  </a:lnTo>
                  <a:lnTo>
                    <a:pt x="59672" y="4076"/>
                  </a:lnTo>
                  <a:lnTo>
                    <a:pt x="59781" y="3750"/>
                  </a:lnTo>
                  <a:lnTo>
                    <a:pt x="59889" y="3424"/>
                  </a:lnTo>
                  <a:lnTo>
                    <a:pt x="60107" y="3152"/>
                  </a:lnTo>
                  <a:lnTo>
                    <a:pt x="60270" y="2826"/>
                  </a:lnTo>
                  <a:lnTo>
                    <a:pt x="60541" y="2555"/>
                  </a:lnTo>
                  <a:lnTo>
                    <a:pt x="60813" y="2337"/>
                  </a:lnTo>
                  <a:lnTo>
                    <a:pt x="61085" y="2066"/>
                  </a:lnTo>
                  <a:lnTo>
                    <a:pt x="61411" y="1902"/>
                  </a:lnTo>
                  <a:lnTo>
                    <a:pt x="61737" y="1685"/>
                  </a:lnTo>
                  <a:lnTo>
                    <a:pt x="62117" y="1576"/>
                  </a:lnTo>
                  <a:lnTo>
                    <a:pt x="62498" y="1413"/>
                  </a:lnTo>
                  <a:lnTo>
                    <a:pt x="62878" y="1359"/>
                  </a:lnTo>
                  <a:lnTo>
                    <a:pt x="63313" y="1305"/>
                  </a:lnTo>
                  <a:lnTo>
                    <a:pt x="65432" y="1305"/>
                  </a:lnTo>
                  <a:lnTo>
                    <a:pt x="65867" y="1359"/>
                  </a:lnTo>
                  <a:lnTo>
                    <a:pt x="66248" y="1413"/>
                  </a:lnTo>
                  <a:lnTo>
                    <a:pt x="66628" y="1576"/>
                  </a:lnTo>
                  <a:lnTo>
                    <a:pt x="67009" y="1685"/>
                  </a:lnTo>
                  <a:lnTo>
                    <a:pt x="67335" y="1902"/>
                  </a:lnTo>
                  <a:lnTo>
                    <a:pt x="67661" y="2066"/>
                  </a:lnTo>
                  <a:lnTo>
                    <a:pt x="67932" y="2337"/>
                  </a:lnTo>
                  <a:lnTo>
                    <a:pt x="68204" y="2555"/>
                  </a:lnTo>
                  <a:lnTo>
                    <a:pt x="68422" y="2826"/>
                  </a:lnTo>
                  <a:lnTo>
                    <a:pt x="68639" y="3152"/>
                  </a:lnTo>
                  <a:lnTo>
                    <a:pt x="68802" y="3424"/>
                  </a:lnTo>
                  <a:lnTo>
                    <a:pt x="68965" y="3750"/>
                  </a:lnTo>
                  <a:lnTo>
                    <a:pt x="69074" y="4076"/>
                  </a:lnTo>
                  <a:lnTo>
                    <a:pt x="69128" y="4457"/>
                  </a:lnTo>
                  <a:lnTo>
                    <a:pt x="69128" y="4783"/>
                  </a:lnTo>
                  <a:lnTo>
                    <a:pt x="69128" y="41684"/>
                  </a:lnTo>
                  <a:lnTo>
                    <a:pt x="69182" y="42173"/>
                  </a:lnTo>
                  <a:lnTo>
                    <a:pt x="69237" y="42662"/>
                  </a:lnTo>
                  <a:lnTo>
                    <a:pt x="69400" y="43097"/>
                  </a:lnTo>
                  <a:lnTo>
                    <a:pt x="69563" y="43531"/>
                  </a:lnTo>
                  <a:lnTo>
                    <a:pt x="69780" y="43966"/>
                  </a:lnTo>
                  <a:lnTo>
                    <a:pt x="70106" y="44346"/>
                  </a:lnTo>
                  <a:lnTo>
                    <a:pt x="70378" y="44727"/>
                  </a:lnTo>
                  <a:lnTo>
                    <a:pt x="70758" y="45107"/>
                  </a:lnTo>
                  <a:lnTo>
                    <a:pt x="71139" y="45379"/>
                  </a:lnTo>
                  <a:lnTo>
                    <a:pt x="71574" y="45651"/>
                  </a:lnTo>
                  <a:lnTo>
                    <a:pt x="72008" y="45923"/>
                  </a:lnTo>
                  <a:lnTo>
                    <a:pt x="72497" y="46140"/>
                  </a:lnTo>
                  <a:lnTo>
                    <a:pt x="72987" y="46303"/>
                  </a:lnTo>
                  <a:lnTo>
                    <a:pt x="73476" y="46412"/>
                  </a:lnTo>
                  <a:lnTo>
                    <a:pt x="74019" y="46466"/>
                  </a:lnTo>
                  <a:lnTo>
                    <a:pt x="74563" y="46520"/>
                  </a:lnTo>
                  <a:lnTo>
                    <a:pt x="75160" y="46466"/>
                  </a:lnTo>
                  <a:lnTo>
                    <a:pt x="75704" y="46412"/>
                  </a:lnTo>
                  <a:lnTo>
                    <a:pt x="76193" y="46303"/>
                  </a:lnTo>
                  <a:lnTo>
                    <a:pt x="76682" y="46140"/>
                  </a:lnTo>
                  <a:lnTo>
                    <a:pt x="77171" y="45923"/>
                  </a:lnTo>
                  <a:lnTo>
                    <a:pt x="77606" y="45651"/>
                  </a:lnTo>
                  <a:lnTo>
                    <a:pt x="78041" y="45379"/>
                  </a:lnTo>
                  <a:lnTo>
                    <a:pt x="78421" y="45107"/>
                  </a:lnTo>
                  <a:lnTo>
                    <a:pt x="78802" y="44727"/>
                  </a:lnTo>
                  <a:lnTo>
                    <a:pt x="79073" y="44346"/>
                  </a:lnTo>
                  <a:lnTo>
                    <a:pt x="79345" y="43966"/>
                  </a:lnTo>
                  <a:lnTo>
                    <a:pt x="79617" y="43531"/>
                  </a:lnTo>
                  <a:lnTo>
                    <a:pt x="79780" y="43097"/>
                  </a:lnTo>
                  <a:lnTo>
                    <a:pt x="79888" y="42662"/>
                  </a:lnTo>
                  <a:lnTo>
                    <a:pt x="79997" y="42173"/>
                  </a:lnTo>
                  <a:lnTo>
                    <a:pt x="79997" y="41684"/>
                  </a:lnTo>
                  <a:lnTo>
                    <a:pt x="79997" y="29510"/>
                  </a:lnTo>
                  <a:lnTo>
                    <a:pt x="80051" y="29130"/>
                  </a:lnTo>
                  <a:lnTo>
                    <a:pt x="80106" y="28804"/>
                  </a:lnTo>
                  <a:lnTo>
                    <a:pt x="80215" y="28478"/>
                  </a:lnTo>
                  <a:lnTo>
                    <a:pt x="80323" y="28151"/>
                  </a:lnTo>
                  <a:lnTo>
                    <a:pt x="80541" y="27825"/>
                  </a:lnTo>
                  <a:lnTo>
                    <a:pt x="80704" y="27554"/>
                  </a:lnTo>
                  <a:lnTo>
                    <a:pt x="80975" y="27282"/>
                  </a:lnTo>
                  <a:lnTo>
                    <a:pt x="81247" y="27010"/>
                  </a:lnTo>
                  <a:lnTo>
                    <a:pt x="81519" y="26793"/>
                  </a:lnTo>
                  <a:lnTo>
                    <a:pt x="81845" y="26575"/>
                  </a:lnTo>
                  <a:lnTo>
                    <a:pt x="82171" y="26412"/>
                  </a:lnTo>
                  <a:lnTo>
                    <a:pt x="82551" y="26249"/>
                  </a:lnTo>
                  <a:lnTo>
                    <a:pt x="82932" y="26141"/>
                  </a:lnTo>
                  <a:lnTo>
                    <a:pt x="83312" y="26032"/>
                  </a:lnTo>
                  <a:lnTo>
                    <a:pt x="83747" y="25978"/>
                  </a:lnTo>
                  <a:lnTo>
                    <a:pt x="91681" y="25978"/>
                  </a:lnTo>
                  <a:lnTo>
                    <a:pt x="92225" y="25869"/>
                  </a:lnTo>
                  <a:lnTo>
                    <a:pt x="92714" y="25760"/>
                  </a:lnTo>
                  <a:lnTo>
                    <a:pt x="93203" y="25597"/>
                  </a:lnTo>
                  <a:lnTo>
                    <a:pt x="93692" y="25380"/>
                  </a:lnTo>
                  <a:lnTo>
                    <a:pt x="94127" y="25162"/>
                  </a:lnTo>
                  <a:lnTo>
                    <a:pt x="94562" y="24891"/>
                  </a:lnTo>
                  <a:lnTo>
                    <a:pt x="94942" y="24565"/>
                  </a:lnTo>
                  <a:lnTo>
                    <a:pt x="95323" y="24239"/>
                  </a:lnTo>
                  <a:lnTo>
                    <a:pt x="95594" y="23858"/>
                  </a:lnTo>
                  <a:lnTo>
                    <a:pt x="95866" y="23478"/>
                  </a:lnTo>
                  <a:lnTo>
                    <a:pt x="96138" y="23043"/>
                  </a:lnTo>
                  <a:lnTo>
                    <a:pt x="96301" y="22608"/>
                  </a:lnTo>
                  <a:lnTo>
                    <a:pt x="96410" y="22119"/>
                  </a:lnTo>
                  <a:lnTo>
                    <a:pt x="96518" y="21630"/>
                  </a:lnTo>
                  <a:lnTo>
                    <a:pt x="96518" y="21141"/>
                  </a:lnTo>
                  <a:lnTo>
                    <a:pt x="96518" y="16956"/>
                  </a:lnTo>
                  <a:lnTo>
                    <a:pt x="95214" y="16956"/>
                  </a:lnTo>
                  <a:lnTo>
                    <a:pt x="95214" y="21141"/>
                  </a:lnTo>
                  <a:lnTo>
                    <a:pt x="95214" y="21521"/>
                  </a:lnTo>
                  <a:lnTo>
                    <a:pt x="95160" y="21847"/>
                  </a:lnTo>
                  <a:lnTo>
                    <a:pt x="95051" y="22173"/>
                  </a:lnTo>
                  <a:lnTo>
                    <a:pt x="94888" y="22500"/>
                  </a:lnTo>
                  <a:lnTo>
                    <a:pt x="94725" y="22826"/>
                  </a:lnTo>
                  <a:lnTo>
                    <a:pt x="94507" y="23097"/>
                  </a:lnTo>
                  <a:lnTo>
                    <a:pt x="94290" y="23369"/>
                  </a:lnTo>
                  <a:lnTo>
                    <a:pt x="94018" y="23641"/>
                  </a:lnTo>
                  <a:lnTo>
                    <a:pt x="93747" y="23858"/>
                  </a:lnTo>
                  <a:lnTo>
                    <a:pt x="93421" y="24076"/>
                  </a:lnTo>
                  <a:lnTo>
                    <a:pt x="93094" y="24239"/>
                  </a:lnTo>
                  <a:lnTo>
                    <a:pt x="92714" y="24402"/>
                  </a:lnTo>
                  <a:lnTo>
                    <a:pt x="92334" y="24510"/>
                  </a:lnTo>
                  <a:lnTo>
                    <a:pt x="91953" y="24619"/>
                  </a:lnTo>
                  <a:lnTo>
                    <a:pt x="91518" y="24673"/>
                  </a:lnTo>
                  <a:lnTo>
                    <a:pt x="84127" y="24673"/>
                  </a:lnTo>
                  <a:lnTo>
                    <a:pt x="83584" y="24728"/>
                  </a:lnTo>
                  <a:lnTo>
                    <a:pt x="83041" y="24782"/>
                  </a:lnTo>
                  <a:lnTo>
                    <a:pt x="82551" y="24891"/>
                  </a:lnTo>
                  <a:lnTo>
                    <a:pt x="82062" y="25054"/>
                  </a:lnTo>
                  <a:lnTo>
                    <a:pt x="81573" y="25271"/>
                  </a:lnTo>
                  <a:lnTo>
                    <a:pt x="81138" y="25489"/>
                  </a:lnTo>
                  <a:lnTo>
                    <a:pt x="80704" y="25760"/>
                  </a:lnTo>
                  <a:lnTo>
                    <a:pt x="80323" y="26086"/>
                  </a:lnTo>
                  <a:lnTo>
                    <a:pt x="79943" y="26412"/>
                  </a:lnTo>
                  <a:lnTo>
                    <a:pt x="79671" y="26793"/>
                  </a:lnTo>
                  <a:lnTo>
                    <a:pt x="79345" y="27228"/>
                  </a:lnTo>
                  <a:lnTo>
                    <a:pt x="79128" y="27608"/>
                  </a:lnTo>
                  <a:lnTo>
                    <a:pt x="78965" y="28097"/>
                  </a:lnTo>
                  <a:lnTo>
                    <a:pt x="78802" y="28532"/>
                  </a:lnTo>
                  <a:lnTo>
                    <a:pt x="78747" y="29021"/>
                  </a:lnTo>
                  <a:lnTo>
                    <a:pt x="78693" y="29510"/>
                  </a:lnTo>
                  <a:lnTo>
                    <a:pt x="78693" y="41684"/>
                  </a:lnTo>
                  <a:lnTo>
                    <a:pt x="78693" y="42010"/>
                  </a:lnTo>
                  <a:lnTo>
                    <a:pt x="78639" y="42390"/>
                  </a:lnTo>
                  <a:lnTo>
                    <a:pt x="78530" y="42716"/>
                  </a:lnTo>
                  <a:lnTo>
                    <a:pt x="78367" y="43042"/>
                  </a:lnTo>
                  <a:lnTo>
                    <a:pt x="78204" y="43368"/>
                  </a:lnTo>
                  <a:lnTo>
                    <a:pt x="77986" y="43640"/>
                  </a:lnTo>
                  <a:lnTo>
                    <a:pt x="77769" y="43912"/>
                  </a:lnTo>
                  <a:lnTo>
                    <a:pt x="77497" y="44183"/>
                  </a:lnTo>
                  <a:lnTo>
                    <a:pt x="77226" y="44401"/>
                  </a:lnTo>
                  <a:lnTo>
                    <a:pt x="76899" y="44618"/>
                  </a:lnTo>
                  <a:lnTo>
                    <a:pt x="76573" y="44781"/>
                  </a:lnTo>
                  <a:lnTo>
                    <a:pt x="76193" y="44944"/>
                  </a:lnTo>
                  <a:lnTo>
                    <a:pt x="75813" y="45053"/>
                  </a:lnTo>
                  <a:lnTo>
                    <a:pt x="75432" y="45107"/>
                  </a:lnTo>
                  <a:lnTo>
                    <a:pt x="74997" y="45162"/>
                  </a:lnTo>
                  <a:lnTo>
                    <a:pt x="74563" y="45216"/>
                  </a:lnTo>
                  <a:lnTo>
                    <a:pt x="74182" y="45162"/>
                  </a:lnTo>
                  <a:lnTo>
                    <a:pt x="73747" y="45107"/>
                  </a:lnTo>
                  <a:lnTo>
                    <a:pt x="73367" y="45053"/>
                  </a:lnTo>
                  <a:lnTo>
                    <a:pt x="72987" y="44944"/>
                  </a:lnTo>
                  <a:lnTo>
                    <a:pt x="72606" y="44781"/>
                  </a:lnTo>
                  <a:lnTo>
                    <a:pt x="72280" y="44618"/>
                  </a:lnTo>
                  <a:lnTo>
                    <a:pt x="71954" y="44401"/>
                  </a:lnTo>
                  <a:lnTo>
                    <a:pt x="71682" y="44183"/>
                  </a:lnTo>
                  <a:lnTo>
                    <a:pt x="71411" y="43912"/>
                  </a:lnTo>
                  <a:lnTo>
                    <a:pt x="71139" y="43640"/>
                  </a:lnTo>
                  <a:lnTo>
                    <a:pt x="70976" y="43368"/>
                  </a:lnTo>
                  <a:lnTo>
                    <a:pt x="70758" y="43042"/>
                  </a:lnTo>
                  <a:lnTo>
                    <a:pt x="70650" y="42716"/>
                  </a:lnTo>
                  <a:lnTo>
                    <a:pt x="70541" y="42390"/>
                  </a:lnTo>
                  <a:lnTo>
                    <a:pt x="70487" y="42010"/>
                  </a:lnTo>
                  <a:lnTo>
                    <a:pt x="70432" y="41684"/>
                  </a:lnTo>
                  <a:lnTo>
                    <a:pt x="70432" y="4783"/>
                  </a:lnTo>
                  <a:lnTo>
                    <a:pt x="70432" y="4294"/>
                  </a:lnTo>
                  <a:lnTo>
                    <a:pt x="70324" y="3859"/>
                  </a:lnTo>
                  <a:lnTo>
                    <a:pt x="70215" y="3370"/>
                  </a:lnTo>
                  <a:lnTo>
                    <a:pt x="70052" y="2935"/>
                  </a:lnTo>
                  <a:lnTo>
                    <a:pt x="69780" y="2500"/>
                  </a:lnTo>
                  <a:lnTo>
                    <a:pt x="69508" y="2120"/>
                  </a:lnTo>
                  <a:lnTo>
                    <a:pt x="69237" y="1739"/>
                  </a:lnTo>
                  <a:lnTo>
                    <a:pt x="68856" y="1413"/>
                  </a:lnTo>
                  <a:lnTo>
                    <a:pt x="68476" y="1087"/>
                  </a:lnTo>
                  <a:lnTo>
                    <a:pt x="68041" y="816"/>
                  </a:lnTo>
                  <a:lnTo>
                    <a:pt x="67606" y="544"/>
                  </a:lnTo>
                  <a:lnTo>
                    <a:pt x="67117" y="381"/>
                  </a:lnTo>
                  <a:lnTo>
                    <a:pt x="66628" y="218"/>
                  </a:lnTo>
                  <a:lnTo>
                    <a:pt x="66139" y="55"/>
                  </a:lnTo>
                  <a:lnTo>
                    <a:pt x="65596" y="0"/>
                  </a:lnTo>
                  <a:close/>
                </a:path>
              </a:pathLst>
            </a:custGeom>
            <a:gradFill>
              <a:gsLst>
                <a:gs pos="0">
                  <a:schemeClr val="accent1"/>
                </a:gs>
                <a:gs pos="23000">
                  <a:schemeClr val="accent2"/>
                </a:gs>
                <a:gs pos="49000">
                  <a:schemeClr val="accent5"/>
                </a:gs>
                <a:gs pos="77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317;p19">
              <a:extLst>
                <a:ext uri="{FF2B5EF4-FFF2-40B4-BE49-F238E27FC236}">
                  <a16:creationId xmlns:a16="http://schemas.microsoft.com/office/drawing/2014/main" id="{98E70BD6-93A7-1998-CE9F-1B985221EC76}"/>
                </a:ext>
              </a:extLst>
            </p:cNvPr>
            <p:cNvSpPr/>
            <p:nvPr/>
          </p:nvSpPr>
          <p:spPr>
            <a:xfrm>
              <a:off x="1270005" y="2951752"/>
              <a:ext cx="467670" cy="473516"/>
            </a:xfrm>
            <a:custGeom>
              <a:avLst/>
              <a:gdLst/>
              <a:ahLst/>
              <a:cxnLst/>
              <a:rect l="l" t="t" r="r" b="b"/>
              <a:pathLst>
                <a:path w="6739" h="6739" extrusionOk="0">
                  <a:moveTo>
                    <a:pt x="3043" y="0"/>
                  </a:moveTo>
                  <a:lnTo>
                    <a:pt x="2663" y="54"/>
                  </a:lnTo>
                  <a:lnTo>
                    <a:pt x="2391" y="163"/>
                  </a:lnTo>
                  <a:lnTo>
                    <a:pt x="2065" y="272"/>
                  </a:lnTo>
                  <a:lnTo>
                    <a:pt x="1467" y="543"/>
                  </a:lnTo>
                  <a:lnTo>
                    <a:pt x="978" y="978"/>
                  </a:lnTo>
                  <a:lnTo>
                    <a:pt x="598" y="1467"/>
                  </a:lnTo>
                  <a:lnTo>
                    <a:pt x="272" y="2065"/>
                  </a:lnTo>
                  <a:lnTo>
                    <a:pt x="163" y="2391"/>
                  </a:lnTo>
                  <a:lnTo>
                    <a:pt x="54" y="2663"/>
                  </a:lnTo>
                  <a:lnTo>
                    <a:pt x="0" y="3043"/>
                  </a:lnTo>
                  <a:lnTo>
                    <a:pt x="0" y="3369"/>
                  </a:lnTo>
                  <a:lnTo>
                    <a:pt x="0" y="3696"/>
                  </a:lnTo>
                  <a:lnTo>
                    <a:pt x="54" y="4076"/>
                  </a:lnTo>
                  <a:lnTo>
                    <a:pt x="163" y="4348"/>
                  </a:lnTo>
                  <a:lnTo>
                    <a:pt x="272" y="4674"/>
                  </a:lnTo>
                  <a:lnTo>
                    <a:pt x="598" y="5272"/>
                  </a:lnTo>
                  <a:lnTo>
                    <a:pt x="978" y="5761"/>
                  </a:lnTo>
                  <a:lnTo>
                    <a:pt x="1467" y="6141"/>
                  </a:lnTo>
                  <a:lnTo>
                    <a:pt x="2065" y="6467"/>
                  </a:lnTo>
                  <a:lnTo>
                    <a:pt x="2391" y="6576"/>
                  </a:lnTo>
                  <a:lnTo>
                    <a:pt x="2663" y="6685"/>
                  </a:lnTo>
                  <a:lnTo>
                    <a:pt x="3043" y="6739"/>
                  </a:lnTo>
                  <a:lnTo>
                    <a:pt x="3696" y="6739"/>
                  </a:lnTo>
                  <a:lnTo>
                    <a:pt x="4076" y="6685"/>
                  </a:lnTo>
                  <a:lnTo>
                    <a:pt x="4348" y="6576"/>
                  </a:lnTo>
                  <a:lnTo>
                    <a:pt x="4674" y="6467"/>
                  </a:lnTo>
                  <a:lnTo>
                    <a:pt x="5272" y="6141"/>
                  </a:lnTo>
                  <a:lnTo>
                    <a:pt x="5761" y="5761"/>
                  </a:lnTo>
                  <a:lnTo>
                    <a:pt x="6141" y="5272"/>
                  </a:lnTo>
                  <a:lnTo>
                    <a:pt x="6467" y="4674"/>
                  </a:lnTo>
                  <a:lnTo>
                    <a:pt x="6576" y="4348"/>
                  </a:lnTo>
                  <a:lnTo>
                    <a:pt x="6685" y="4076"/>
                  </a:lnTo>
                  <a:lnTo>
                    <a:pt x="6739" y="3696"/>
                  </a:lnTo>
                  <a:lnTo>
                    <a:pt x="6739" y="3369"/>
                  </a:lnTo>
                  <a:lnTo>
                    <a:pt x="6739" y="3043"/>
                  </a:lnTo>
                  <a:lnTo>
                    <a:pt x="6685" y="2663"/>
                  </a:lnTo>
                  <a:lnTo>
                    <a:pt x="6576" y="2391"/>
                  </a:lnTo>
                  <a:lnTo>
                    <a:pt x="6467" y="2065"/>
                  </a:lnTo>
                  <a:lnTo>
                    <a:pt x="6141" y="1467"/>
                  </a:lnTo>
                  <a:lnTo>
                    <a:pt x="5761" y="978"/>
                  </a:lnTo>
                  <a:lnTo>
                    <a:pt x="5272" y="543"/>
                  </a:lnTo>
                  <a:lnTo>
                    <a:pt x="4674" y="272"/>
                  </a:lnTo>
                  <a:lnTo>
                    <a:pt x="4348" y="163"/>
                  </a:lnTo>
                  <a:lnTo>
                    <a:pt x="4076" y="54"/>
                  </a:lnTo>
                  <a:lnTo>
                    <a:pt x="36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18;p19">
              <a:extLst>
                <a:ext uri="{FF2B5EF4-FFF2-40B4-BE49-F238E27FC236}">
                  <a16:creationId xmlns:a16="http://schemas.microsoft.com/office/drawing/2014/main" id="{3AED78B1-8531-B831-C4C0-58DBF3EF7A9A}"/>
                </a:ext>
              </a:extLst>
            </p:cNvPr>
            <p:cNvSpPr/>
            <p:nvPr/>
          </p:nvSpPr>
          <p:spPr>
            <a:xfrm>
              <a:off x="3169971" y="3769595"/>
              <a:ext cx="467739" cy="477380"/>
            </a:xfrm>
            <a:custGeom>
              <a:avLst/>
              <a:gdLst/>
              <a:ahLst/>
              <a:cxnLst/>
              <a:rect l="l" t="t" r="r" b="b"/>
              <a:pathLst>
                <a:path w="6740" h="6794" extrusionOk="0">
                  <a:moveTo>
                    <a:pt x="3370" y="1"/>
                  </a:moveTo>
                  <a:lnTo>
                    <a:pt x="3044" y="55"/>
                  </a:lnTo>
                  <a:lnTo>
                    <a:pt x="2664" y="109"/>
                  </a:lnTo>
                  <a:lnTo>
                    <a:pt x="2392" y="164"/>
                  </a:lnTo>
                  <a:lnTo>
                    <a:pt x="2066" y="272"/>
                  </a:lnTo>
                  <a:lnTo>
                    <a:pt x="1468" y="598"/>
                  </a:lnTo>
                  <a:lnTo>
                    <a:pt x="979" y="1033"/>
                  </a:lnTo>
                  <a:lnTo>
                    <a:pt x="598" y="1522"/>
                  </a:lnTo>
                  <a:lnTo>
                    <a:pt x="272" y="2066"/>
                  </a:lnTo>
                  <a:lnTo>
                    <a:pt x="164" y="2392"/>
                  </a:lnTo>
                  <a:lnTo>
                    <a:pt x="55" y="2718"/>
                  </a:lnTo>
                  <a:lnTo>
                    <a:pt x="1" y="3044"/>
                  </a:lnTo>
                  <a:lnTo>
                    <a:pt x="1" y="3370"/>
                  </a:lnTo>
                  <a:lnTo>
                    <a:pt x="1" y="3750"/>
                  </a:lnTo>
                  <a:lnTo>
                    <a:pt x="55" y="4076"/>
                  </a:lnTo>
                  <a:lnTo>
                    <a:pt x="164" y="4403"/>
                  </a:lnTo>
                  <a:lnTo>
                    <a:pt x="272" y="4729"/>
                  </a:lnTo>
                  <a:lnTo>
                    <a:pt x="598" y="5272"/>
                  </a:lnTo>
                  <a:lnTo>
                    <a:pt x="979" y="5761"/>
                  </a:lnTo>
                  <a:lnTo>
                    <a:pt x="1468" y="6196"/>
                  </a:lnTo>
                  <a:lnTo>
                    <a:pt x="2066" y="6522"/>
                  </a:lnTo>
                  <a:lnTo>
                    <a:pt x="2392" y="6631"/>
                  </a:lnTo>
                  <a:lnTo>
                    <a:pt x="2664" y="6685"/>
                  </a:lnTo>
                  <a:lnTo>
                    <a:pt x="3044" y="6739"/>
                  </a:lnTo>
                  <a:lnTo>
                    <a:pt x="3370" y="6794"/>
                  </a:lnTo>
                  <a:lnTo>
                    <a:pt x="3696" y="6739"/>
                  </a:lnTo>
                  <a:lnTo>
                    <a:pt x="4077" y="6685"/>
                  </a:lnTo>
                  <a:lnTo>
                    <a:pt x="4348" y="6631"/>
                  </a:lnTo>
                  <a:lnTo>
                    <a:pt x="4674" y="6522"/>
                  </a:lnTo>
                  <a:lnTo>
                    <a:pt x="5272" y="6196"/>
                  </a:lnTo>
                  <a:lnTo>
                    <a:pt x="5761" y="5761"/>
                  </a:lnTo>
                  <a:lnTo>
                    <a:pt x="6142" y="5272"/>
                  </a:lnTo>
                  <a:lnTo>
                    <a:pt x="6468" y="4729"/>
                  </a:lnTo>
                  <a:lnTo>
                    <a:pt x="6576" y="4403"/>
                  </a:lnTo>
                  <a:lnTo>
                    <a:pt x="6685" y="4076"/>
                  </a:lnTo>
                  <a:lnTo>
                    <a:pt x="6739" y="3750"/>
                  </a:lnTo>
                  <a:lnTo>
                    <a:pt x="6739" y="3370"/>
                  </a:lnTo>
                  <a:lnTo>
                    <a:pt x="6739" y="3044"/>
                  </a:lnTo>
                  <a:lnTo>
                    <a:pt x="6685" y="2718"/>
                  </a:lnTo>
                  <a:lnTo>
                    <a:pt x="6576" y="2392"/>
                  </a:lnTo>
                  <a:lnTo>
                    <a:pt x="6468" y="2066"/>
                  </a:lnTo>
                  <a:lnTo>
                    <a:pt x="6142" y="1522"/>
                  </a:lnTo>
                  <a:lnTo>
                    <a:pt x="5761" y="1033"/>
                  </a:lnTo>
                  <a:lnTo>
                    <a:pt x="5272" y="598"/>
                  </a:lnTo>
                  <a:lnTo>
                    <a:pt x="4674" y="272"/>
                  </a:lnTo>
                  <a:lnTo>
                    <a:pt x="4348" y="164"/>
                  </a:lnTo>
                  <a:lnTo>
                    <a:pt x="4077" y="109"/>
                  </a:lnTo>
                  <a:lnTo>
                    <a:pt x="3696" y="55"/>
                  </a:lnTo>
                  <a:lnTo>
                    <a:pt x="337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19;p19">
              <a:extLst>
                <a:ext uri="{FF2B5EF4-FFF2-40B4-BE49-F238E27FC236}">
                  <a16:creationId xmlns:a16="http://schemas.microsoft.com/office/drawing/2014/main" id="{7A31815C-7019-0F7B-EA51-39EB7865794D}"/>
                </a:ext>
              </a:extLst>
            </p:cNvPr>
            <p:cNvSpPr/>
            <p:nvPr/>
          </p:nvSpPr>
          <p:spPr>
            <a:xfrm>
              <a:off x="7100382" y="2227835"/>
              <a:ext cx="467670" cy="477451"/>
            </a:xfrm>
            <a:custGeom>
              <a:avLst/>
              <a:gdLst/>
              <a:ahLst/>
              <a:cxnLst/>
              <a:rect l="l" t="t" r="r" b="b"/>
              <a:pathLst>
                <a:path w="6739" h="6795" extrusionOk="0">
                  <a:moveTo>
                    <a:pt x="3369" y="1"/>
                  </a:moveTo>
                  <a:lnTo>
                    <a:pt x="3043" y="55"/>
                  </a:lnTo>
                  <a:lnTo>
                    <a:pt x="2663" y="110"/>
                  </a:lnTo>
                  <a:lnTo>
                    <a:pt x="2391" y="164"/>
                  </a:lnTo>
                  <a:lnTo>
                    <a:pt x="2065" y="273"/>
                  </a:lnTo>
                  <a:lnTo>
                    <a:pt x="1467" y="599"/>
                  </a:lnTo>
                  <a:lnTo>
                    <a:pt x="978" y="1034"/>
                  </a:lnTo>
                  <a:lnTo>
                    <a:pt x="598" y="1523"/>
                  </a:lnTo>
                  <a:lnTo>
                    <a:pt x="272" y="2066"/>
                  </a:lnTo>
                  <a:lnTo>
                    <a:pt x="163" y="2392"/>
                  </a:lnTo>
                  <a:lnTo>
                    <a:pt x="54" y="2718"/>
                  </a:lnTo>
                  <a:lnTo>
                    <a:pt x="0" y="3044"/>
                  </a:lnTo>
                  <a:lnTo>
                    <a:pt x="0" y="3370"/>
                  </a:lnTo>
                  <a:lnTo>
                    <a:pt x="0" y="3751"/>
                  </a:lnTo>
                  <a:lnTo>
                    <a:pt x="54" y="4077"/>
                  </a:lnTo>
                  <a:lnTo>
                    <a:pt x="163" y="4403"/>
                  </a:lnTo>
                  <a:lnTo>
                    <a:pt x="272" y="4729"/>
                  </a:lnTo>
                  <a:lnTo>
                    <a:pt x="598" y="5273"/>
                  </a:lnTo>
                  <a:lnTo>
                    <a:pt x="978" y="5762"/>
                  </a:lnTo>
                  <a:lnTo>
                    <a:pt x="1467" y="6196"/>
                  </a:lnTo>
                  <a:lnTo>
                    <a:pt x="2065" y="6522"/>
                  </a:lnTo>
                  <a:lnTo>
                    <a:pt x="2391" y="6631"/>
                  </a:lnTo>
                  <a:lnTo>
                    <a:pt x="2663" y="6685"/>
                  </a:lnTo>
                  <a:lnTo>
                    <a:pt x="3043" y="6740"/>
                  </a:lnTo>
                  <a:lnTo>
                    <a:pt x="3369" y="6794"/>
                  </a:lnTo>
                  <a:lnTo>
                    <a:pt x="3696" y="6740"/>
                  </a:lnTo>
                  <a:lnTo>
                    <a:pt x="4076" y="6685"/>
                  </a:lnTo>
                  <a:lnTo>
                    <a:pt x="4348" y="6631"/>
                  </a:lnTo>
                  <a:lnTo>
                    <a:pt x="4674" y="6522"/>
                  </a:lnTo>
                  <a:lnTo>
                    <a:pt x="5272" y="6196"/>
                  </a:lnTo>
                  <a:lnTo>
                    <a:pt x="5761" y="5762"/>
                  </a:lnTo>
                  <a:lnTo>
                    <a:pt x="6141" y="5273"/>
                  </a:lnTo>
                  <a:lnTo>
                    <a:pt x="6467" y="4729"/>
                  </a:lnTo>
                  <a:lnTo>
                    <a:pt x="6576" y="4403"/>
                  </a:lnTo>
                  <a:lnTo>
                    <a:pt x="6685" y="4077"/>
                  </a:lnTo>
                  <a:lnTo>
                    <a:pt x="6739" y="3751"/>
                  </a:lnTo>
                  <a:lnTo>
                    <a:pt x="6739" y="3370"/>
                  </a:lnTo>
                  <a:lnTo>
                    <a:pt x="6739" y="3044"/>
                  </a:lnTo>
                  <a:lnTo>
                    <a:pt x="6685" y="2718"/>
                  </a:lnTo>
                  <a:lnTo>
                    <a:pt x="6576" y="2392"/>
                  </a:lnTo>
                  <a:lnTo>
                    <a:pt x="6467" y="2066"/>
                  </a:lnTo>
                  <a:lnTo>
                    <a:pt x="6141" y="1523"/>
                  </a:lnTo>
                  <a:lnTo>
                    <a:pt x="5761" y="1034"/>
                  </a:lnTo>
                  <a:lnTo>
                    <a:pt x="5272" y="599"/>
                  </a:lnTo>
                  <a:lnTo>
                    <a:pt x="4674" y="273"/>
                  </a:lnTo>
                  <a:lnTo>
                    <a:pt x="4348" y="164"/>
                  </a:lnTo>
                  <a:lnTo>
                    <a:pt x="4076" y="110"/>
                  </a:lnTo>
                  <a:lnTo>
                    <a:pt x="3696" y="55"/>
                  </a:lnTo>
                  <a:lnTo>
                    <a:pt x="33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20;p19">
              <a:extLst>
                <a:ext uri="{FF2B5EF4-FFF2-40B4-BE49-F238E27FC236}">
                  <a16:creationId xmlns:a16="http://schemas.microsoft.com/office/drawing/2014/main" id="{380128DB-164D-D664-F1DB-D658A3EC1452}"/>
                </a:ext>
              </a:extLst>
            </p:cNvPr>
            <p:cNvSpPr/>
            <p:nvPr/>
          </p:nvSpPr>
          <p:spPr>
            <a:xfrm>
              <a:off x="6125015" y="3425284"/>
              <a:ext cx="467670" cy="477451"/>
            </a:xfrm>
            <a:custGeom>
              <a:avLst/>
              <a:gdLst/>
              <a:ahLst/>
              <a:cxnLst/>
              <a:rect l="l" t="t" r="r" b="b"/>
              <a:pathLst>
                <a:path w="6739" h="6795" extrusionOk="0">
                  <a:moveTo>
                    <a:pt x="3369" y="1"/>
                  </a:moveTo>
                  <a:lnTo>
                    <a:pt x="3043" y="55"/>
                  </a:lnTo>
                  <a:lnTo>
                    <a:pt x="2663" y="110"/>
                  </a:lnTo>
                  <a:lnTo>
                    <a:pt x="2391" y="164"/>
                  </a:lnTo>
                  <a:lnTo>
                    <a:pt x="2065" y="273"/>
                  </a:lnTo>
                  <a:lnTo>
                    <a:pt x="1467" y="599"/>
                  </a:lnTo>
                  <a:lnTo>
                    <a:pt x="978" y="1034"/>
                  </a:lnTo>
                  <a:lnTo>
                    <a:pt x="598" y="1523"/>
                  </a:lnTo>
                  <a:lnTo>
                    <a:pt x="272" y="2066"/>
                  </a:lnTo>
                  <a:lnTo>
                    <a:pt x="163" y="2392"/>
                  </a:lnTo>
                  <a:lnTo>
                    <a:pt x="54" y="2718"/>
                  </a:lnTo>
                  <a:lnTo>
                    <a:pt x="0" y="3044"/>
                  </a:lnTo>
                  <a:lnTo>
                    <a:pt x="0" y="3370"/>
                  </a:lnTo>
                  <a:lnTo>
                    <a:pt x="0" y="3751"/>
                  </a:lnTo>
                  <a:lnTo>
                    <a:pt x="54" y="4077"/>
                  </a:lnTo>
                  <a:lnTo>
                    <a:pt x="163" y="4403"/>
                  </a:lnTo>
                  <a:lnTo>
                    <a:pt x="272" y="4729"/>
                  </a:lnTo>
                  <a:lnTo>
                    <a:pt x="598" y="5273"/>
                  </a:lnTo>
                  <a:lnTo>
                    <a:pt x="978" y="5762"/>
                  </a:lnTo>
                  <a:lnTo>
                    <a:pt x="1467" y="6196"/>
                  </a:lnTo>
                  <a:lnTo>
                    <a:pt x="2065" y="6522"/>
                  </a:lnTo>
                  <a:lnTo>
                    <a:pt x="2391" y="6631"/>
                  </a:lnTo>
                  <a:lnTo>
                    <a:pt x="2663" y="6685"/>
                  </a:lnTo>
                  <a:lnTo>
                    <a:pt x="3043" y="6740"/>
                  </a:lnTo>
                  <a:lnTo>
                    <a:pt x="3369" y="6794"/>
                  </a:lnTo>
                  <a:lnTo>
                    <a:pt x="3696" y="6740"/>
                  </a:lnTo>
                  <a:lnTo>
                    <a:pt x="4076" y="6685"/>
                  </a:lnTo>
                  <a:lnTo>
                    <a:pt x="4348" y="6631"/>
                  </a:lnTo>
                  <a:lnTo>
                    <a:pt x="4674" y="6522"/>
                  </a:lnTo>
                  <a:lnTo>
                    <a:pt x="5272" y="6196"/>
                  </a:lnTo>
                  <a:lnTo>
                    <a:pt x="5761" y="5762"/>
                  </a:lnTo>
                  <a:lnTo>
                    <a:pt x="6141" y="5273"/>
                  </a:lnTo>
                  <a:lnTo>
                    <a:pt x="6467" y="4729"/>
                  </a:lnTo>
                  <a:lnTo>
                    <a:pt x="6576" y="4403"/>
                  </a:lnTo>
                  <a:lnTo>
                    <a:pt x="6685" y="4077"/>
                  </a:lnTo>
                  <a:lnTo>
                    <a:pt x="6739" y="3751"/>
                  </a:lnTo>
                  <a:lnTo>
                    <a:pt x="6739" y="3370"/>
                  </a:lnTo>
                  <a:lnTo>
                    <a:pt x="6739" y="3044"/>
                  </a:lnTo>
                  <a:lnTo>
                    <a:pt x="6685" y="2718"/>
                  </a:lnTo>
                  <a:lnTo>
                    <a:pt x="6576" y="2392"/>
                  </a:lnTo>
                  <a:lnTo>
                    <a:pt x="6467" y="2066"/>
                  </a:lnTo>
                  <a:lnTo>
                    <a:pt x="6141" y="1523"/>
                  </a:lnTo>
                  <a:lnTo>
                    <a:pt x="5761" y="1034"/>
                  </a:lnTo>
                  <a:lnTo>
                    <a:pt x="5272" y="599"/>
                  </a:lnTo>
                  <a:lnTo>
                    <a:pt x="4674" y="273"/>
                  </a:lnTo>
                  <a:lnTo>
                    <a:pt x="4348" y="164"/>
                  </a:lnTo>
                  <a:lnTo>
                    <a:pt x="4076" y="110"/>
                  </a:lnTo>
                  <a:lnTo>
                    <a:pt x="3696" y="55"/>
                  </a:lnTo>
                  <a:lnTo>
                    <a:pt x="3369" y="1"/>
                  </a:lnTo>
                  <a:close/>
                </a:path>
              </a:pathLst>
            </a:custGeom>
            <a:solidFill>
              <a:srgbClr val="FFC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21;p19">
              <a:extLst>
                <a:ext uri="{FF2B5EF4-FFF2-40B4-BE49-F238E27FC236}">
                  <a16:creationId xmlns:a16="http://schemas.microsoft.com/office/drawing/2014/main" id="{EA50D1CB-A702-A426-5BFB-B761F17EEA21}"/>
                </a:ext>
              </a:extLst>
            </p:cNvPr>
            <p:cNvSpPr/>
            <p:nvPr/>
          </p:nvSpPr>
          <p:spPr>
            <a:xfrm>
              <a:off x="5551690" y="1663407"/>
              <a:ext cx="467670" cy="477380"/>
            </a:xfrm>
            <a:custGeom>
              <a:avLst/>
              <a:gdLst/>
              <a:ahLst/>
              <a:cxnLst/>
              <a:rect l="l" t="t" r="r" b="b"/>
              <a:pathLst>
                <a:path w="6739" h="6794" extrusionOk="0">
                  <a:moveTo>
                    <a:pt x="3369" y="1"/>
                  </a:moveTo>
                  <a:lnTo>
                    <a:pt x="3043" y="55"/>
                  </a:lnTo>
                  <a:lnTo>
                    <a:pt x="2663" y="109"/>
                  </a:lnTo>
                  <a:lnTo>
                    <a:pt x="2391" y="164"/>
                  </a:lnTo>
                  <a:lnTo>
                    <a:pt x="2065" y="272"/>
                  </a:lnTo>
                  <a:lnTo>
                    <a:pt x="1467" y="598"/>
                  </a:lnTo>
                  <a:lnTo>
                    <a:pt x="978" y="1033"/>
                  </a:lnTo>
                  <a:lnTo>
                    <a:pt x="598" y="1522"/>
                  </a:lnTo>
                  <a:lnTo>
                    <a:pt x="272" y="2066"/>
                  </a:lnTo>
                  <a:lnTo>
                    <a:pt x="163" y="2392"/>
                  </a:lnTo>
                  <a:lnTo>
                    <a:pt x="54" y="2718"/>
                  </a:lnTo>
                  <a:lnTo>
                    <a:pt x="0" y="3044"/>
                  </a:lnTo>
                  <a:lnTo>
                    <a:pt x="0" y="3370"/>
                  </a:lnTo>
                  <a:lnTo>
                    <a:pt x="0" y="3751"/>
                  </a:lnTo>
                  <a:lnTo>
                    <a:pt x="54" y="4077"/>
                  </a:lnTo>
                  <a:lnTo>
                    <a:pt x="163" y="4403"/>
                  </a:lnTo>
                  <a:lnTo>
                    <a:pt x="272" y="4729"/>
                  </a:lnTo>
                  <a:lnTo>
                    <a:pt x="598" y="5272"/>
                  </a:lnTo>
                  <a:lnTo>
                    <a:pt x="978" y="5761"/>
                  </a:lnTo>
                  <a:lnTo>
                    <a:pt x="1467" y="6196"/>
                  </a:lnTo>
                  <a:lnTo>
                    <a:pt x="2065" y="6522"/>
                  </a:lnTo>
                  <a:lnTo>
                    <a:pt x="2391" y="6631"/>
                  </a:lnTo>
                  <a:lnTo>
                    <a:pt x="2663" y="6685"/>
                  </a:lnTo>
                  <a:lnTo>
                    <a:pt x="3043" y="6740"/>
                  </a:lnTo>
                  <a:lnTo>
                    <a:pt x="3369" y="6794"/>
                  </a:lnTo>
                  <a:lnTo>
                    <a:pt x="3696" y="6740"/>
                  </a:lnTo>
                  <a:lnTo>
                    <a:pt x="4076" y="6685"/>
                  </a:lnTo>
                  <a:lnTo>
                    <a:pt x="4348" y="6631"/>
                  </a:lnTo>
                  <a:lnTo>
                    <a:pt x="4674" y="6522"/>
                  </a:lnTo>
                  <a:lnTo>
                    <a:pt x="5272" y="6196"/>
                  </a:lnTo>
                  <a:lnTo>
                    <a:pt x="5761" y="5761"/>
                  </a:lnTo>
                  <a:lnTo>
                    <a:pt x="6141" y="5272"/>
                  </a:lnTo>
                  <a:lnTo>
                    <a:pt x="6467" y="4729"/>
                  </a:lnTo>
                  <a:lnTo>
                    <a:pt x="6576" y="4403"/>
                  </a:lnTo>
                  <a:lnTo>
                    <a:pt x="6685" y="4077"/>
                  </a:lnTo>
                  <a:lnTo>
                    <a:pt x="6739" y="3751"/>
                  </a:lnTo>
                  <a:lnTo>
                    <a:pt x="6739" y="3370"/>
                  </a:lnTo>
                  <a:lnTo>
                    <a:pt x="6739" y="3044"/>
                  </a:lnTo>
                  <a:lnTo>
                    <a:pt x="6685" y="2718"/>
                  </a:lnTo>
                  <a:lnTo>
                    <a:pt x="6576" y="2392"/>
                  </a:lnTo>
                  <a:lnTo>
                    <a:pt x="6467" y="2066"/>
                  </a:lnTo>
                  <a:lnTo>
                    <a:pt x="6141" y="1522"/>
                  </a:lnTo>
                  <a:lnTo>
                    <a:pt x="5761" y="1033"/>
                  </a:lnTo>
                  <a:lnTo>
                    <a:pt x="5272" y="598"/>
                  </a:lnTo>
                  <a:lnTo>
                    <a:pt x="4674" y="272"/>
                  </a:lnTo>
                  <a:lnTo>
                    <a:pt x="4348" y="164"/>
                  </a:lnTo>
                  <a:lnTo>
                    <a:pt x="4076" y="109"/>
                  </a:lnTo>
                  <a:lnTo>
                    <a:pt x="3696" y="55"/>
                  </a:lnTo>
                  <a:lnTo>
                    <a:pt x="33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22;p19">
              <a:extLst>
                <a:ext uri="{FF2B5EF4-FFF2-40B4-BE49-F238E27FC236}">
                  <a16:creationId xmlns:a16="http://schemas.microsoft.com/office/drawing/2014/main" id="{52DBA2C1-BB5A-EB08-0766-808AC4DD979D}"/>
                </a:ext>
              </a:extLst>
            </p:cNvPr>
            <p:cNvSpPr/>
            <p:nvPr/>
          </p:nvSpPr>
          <p:spPr>
            <a:xfrm>
              <a:off x="4453064" y="2601433"/>
              <a:ext cx="467739" cy="477380"/>
            </a:xfrm>
            <a:custGeom>
              <a:avLst/>
              <a:gdLst/>
              <a:ahLst/>
              <a:cxnLst/>
              <a:rect l="l" t="t" r="r" b="b"/>
              <a:pathLst>
                <a:path w="6740" h="6794" extrusionOk="0">
                  <a:moveTo>
                    <a:pt x="3370" y="1"/>
                  </a:moveTo>
                  <a:lnTo>
                    <a:pt x="3044" y="55"/>
                  </a:lnTo>
                  <a:lnTo>
                    <a:pt x="2663" y="109"/>
                  </a:lnTo>
                  <a:lnTo>
                    <a:pt x="2392" y="164"/>
                  </a:lnTo>
                  <a:lnTo>
                    <a:pt x="2066" y="272"/>
                  </a:lnTo>
                  <a:lnTo>
                    <a:pt x="1468" y="599"/>
                  </a:lnTo>
                  <a:lnTo>
                    <a:pt x="979" y="1033"/>
                  </a:lnTo>
                  <a:lnTo>
                    <a:pt x="598" y="1522"/>
                  </a:lnTo>
                  <a:lnTo>
                    <a:pt x="272" y="2066"/>
                  </a:lnTo>
                  <a:lnTo>
                    <a:pt x="164" y="2392"/>
                  </a:lnTo>
                  <a:lnTo>
                    <a:pt x="55" y="2718"/>
                  </a:lnTo>
                  <a:lnTo>
                    <a:pt x="0" y="3044"/>
                  </a:lnTo>
                  <a:lnTo>
                    <a:pt x="0" y="3370"/>
                  </a:lnTo>
                  <a:lnTo>
                    <a:pt x="0" y="3751"/>
                  </a:lnTo>
                  <a:lnTo>
                    <a:pt x="55" y="4077"/>
                  </a:lnTo>
                  <a:lnTo>
                    <a:pt x="164" y="4403"/>
                  </a:lnTo>
                  <a:lnTo>
                    <a:pt x="272" y="4729"/>
                  </a:lnTo>
                  <a:lnTo>
                    <a:pt x="598" y="5272"/>
                  </a:lnTo>
                  <a:lnTo>
                    <a:pt x="979" y="5761"/>
                  </a:lnTo>
                  <a:lnTo>
                    <a:pt x="1468" y="6196"/>
                  </a:lnTo>
                  <a:lnTo>
                    <a:pt x="2066" y="6522"/>
                  </a:lnTo>
                  <a:lnTo>
                    <a:pt x="2392" y="6631"/>
                  </a:lnTo>
                  <a:lnTo>
                    <a:pt x="2663" y="6685"/>
                  </a:lnTo>
                  <a:lnTo>
                    <a:pt x="3044" y="6740"/>
                  </a:lnTo>
                  <a:lnTo>
                    <a:pt x="3370" y="6794"/>
                  </a:lnTo>
                  <a:lnTo>
                    <a:pt x="3696" y="6740"/>
                  </a:lnTo>
                  <a:lnTo>
                    <a:pt x="4076" y="6685"/>
                  </a:lnTo>
                  <a:lnTo>
                    <a:pt x="4348" y="6631"/>
                  </a:lnTo>
                  <a:lnTo>
                    <a:pt x="4674" y="6522"/>
                  </a:lnTo>
                  <a:lnTo>
                    <a:pt x="5272" y="6196"/>
                  </a:lnTo>
                  <a:lnTo>
                    <a:pt x="5761" y="5761"/>
                  </a:lnTo>
                  <a:lnTo>
                    <a:pt x="6142" y="5272"/>
                  </a:lnTo>
                  <a:lnTo>
                    <a:pt x="6468" y="4729"/>
                  </a:lnTo>
                  <a:lnTo>
                    <a:pt x="6576" y="4403"/>
                  </a:lnTo>
                  <a:lnTo>
                    <a:pt x="6685" y="4077"/>
                  </a:lnTo>
                  <a:lnTo>
                    <a:pt x="6739" y="3751"/>
                  </a:lnTo>
                  <a:lnTo>
                    <a:pt x="6739" y="3370"/>
                  </a:lnTo>
                  <a:lnTo>
                    <a:pt x="6739" y="3044"/>
                  </a:lnTo>
                  <a:lnTo>
                    <a:pt x="6685" y="2718"/>
                  </a:lnTo>
                  <a:lnTo>
                    <a:pt x="6576" y="2392"/>
                  </a:lnTo>
                  <a:lnTo>
                    <a:pt x="6468" y="2066"/>
                  </a:lnTo>
                  <a:lnTo>
                    <a:pt x="6142" y="1522"/>
                  </a:lnTo>
                  <a:lnTo>
                    <a:pt x="5761" y="1033"/>
                  </a:lnTo>
                  <a:lnTo>
                    <a:pt x="5272" y="599"/>
                  </a:lnTo>
                  <a:lnTo>
                    <a:pt x="4674" y="272"/>
                  </a:lnTo>
                  <a:lnTo>
                    <a:pt x="4348" y="164"/>
                  </a:lnTo>
                  <a:lnTo>
                    <a:pt x="4076" y="109"/>
                  </a:lnTo>
                  <a:lnTo>
                    <a:pt x="3696" y="55"/>
                  </a:lnTo>
                  <a:lnTo>
                    <a:pt x="33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23;p19">
              <a:extLst>
                <a:ext uri="{FF2B5EF4-FFF2-40B4-BE49-F238E27FC236}">
                  <a16:creationId xmlns:a16="http://schemas.microsoft.com/office/drawing/2014/main" id="{E1CF709E-4A54-16DE-43D4-82B2C74D6436}"/>
                </a:ext>
              </a:extLst>
            </p:cNvPr>
            <p:cNvSpPr/>
            <p:nvPr/>
          </p:nvSpPr>
          <p:spPr>
            <a:xfrm>
              <a:off x="3591645" y="1926494"/>
              <a:ext cx="467739" cy="477451"/>
            </a:xfrm>
            <a:custGeom>
              <a:avLst/>
              <a:gdLst/>
              <a:ahLst/>
              <a:cxnLst/>
              <a:rect l="l" t="t" r="r" b="b"/>
              <a:pathLst>
                <a:path w="6740" h="6795" extrusionOk="0">
                  <a:moveTo>
                    <a:pt x="3370" y="1"/>
                  </a:moveTo>
                  <a:lnTo>
                    <a:pt x="3044" y="55"/>
                  </a:lnTo>
                  <a:lnTo>
                    <a:pt x="2664" y="110"/>
                  </a:lnTo>
                  <a:lnTo>
                    <a:pt x="2392" y="164"/>
                  </a:lnTo>
                  <a:lnTo>
                    <a:pt x="2066" y="273"/>
                  </a:lnTo>
                  <a:lnTo>
                    <a:pt x="1468" y="599"/>
                  </a:lnTo>
                  <a:lnTo>
                    <a:pt x="979" y="1033"/>
                  </a:lnTo>
                  <a:lnTo>
                    <a:pt x="599" y="1523"/>
                  </a:lnTo>
                  <a:lnTo>
                    <a:pt x="273" y="2066"/>
                  </a:lnTo>
                  <a:lnTo>
                    <a:pt x="164" y="2392"/>
                  </a:lnTo>
                  <a:lnTo>
                    <a:pt x="55" y="2718"/>
                  </a:lnTo>
                  <a:lnTo>
                    <a:pt x="1" y="3044"/>
                  </a:lnTo>
                  <a:lnTo>
                    <a:pt x="1" y="3370"/>
                  </a:lnTo>
                  <a:lnTo>
                    <a:pt x="1" y="3751"/>
                  </a:lnTo>
                  <a:lnTo>
                    <a:pt x="55" y="4077"/>
                  </a:lnTo>
                  <a:lnTo>
                    <a:pt x="164" y="4403"/>
                  </a:lnTo>
                  <a:lnTo>
                    <a:pt x="273" y="4729"/>
                  </a:lnTo>
                  <a:lnTo>
                    <a:pt x="599" y="5272"/>
                  </a:lnTo>
                  <a:lnTo>
                    <a:pt x="979" y="5761"/>
                  </a:lnTo>
                  <a:lnTo>
                    <a:pt x="1468" y="6196"/>
                  </a:lnTo>
                  <a:lnTo>
                    <a:pt x="2066" y="6522"/>
                  </a:lnTo>
                  <a:lnTo>
                    <a:pt x="2392" y="6631"/>
                  </a:lnTo>
                  <a:lnTo>
                    <a:pt x="2664" y="6685"/>
                  </a:lnTo>
                  <a:lnTo>
                    <a:pt x="3044" y="6740"/>
                  </a:lnTo>
                  <a:lnTo>
                    <a:pt x="3370" y="6794"/>
                  </a:lnTo>
                  <a:lnTo>
                    <a:pt x="3696" y="6740"/>
                  </a:lnTo>
                  <a:lnTo>
                    <a:pt x="4077" y="6685"/>
                  </a:lnTo>
                  <a:lnTo>
                    <a:pt x="4348" y="6631"/>
                  </a:lnTo>
                  <a:lnTo>
                    <a:pt x="4675" y="6522"/>
                  </a:lnTo>
                  <a:lnTo>
                    <a:pt x="5272" y="6196"/>
                  </a:lnTo>
                  <a:lnTo>
                    <a:pt x="5761" y="5761"/>
                  </a:lnTo>
                  <a:lnTo>
                    <a:pt x="6142" y="5272"/>
                  </a:lnTo>
                  <a:lnTo>
                    <a:pt x="6468" y="4729"/>
                  </a:lnTo>
                  <a:lnTo>
                    <a:pt x="6577" y="4403"/>
                  </a:lnTo>
                  <a:lnTo>
                    <a:pt x="6685" y="4077"/>
                  </a:lnTo>
                  <a:lnTo>
                    <a:pt x="6740" y="3751"/>
                  </a:lnTo>
                  <a:lnTo>
                    <a:pt x="6740" y="3370"/>
                  </a:lnTo>
                  <a:lnTo>
                    <a:pt x="6740" y="3044"/>
                  </a:lnTo>
                  <a:lnTo>
                    <a:pt x="6685" y="2718"/>
                  </a:lnTo>
                  <a:lnTo>
                    <a:pt x="6577" y="2392"/>
                  </a:lnTo>
                  <a:lnTo>
                    <a:pt x="6468" y="2066"/>
                  </a:lnTo>
                  <a:lnTo>
                    <a:pt x="6142" y="1523"/>
                  </a:lnTo>
                  <a:lnTo>
                    <a:pt x="5761" y="1033"/>
                  </a:lnTo>
                  <a:lnTo>
                    <a:pt x="5272" y="599"/>
                  </a:lnTo>
                  <a:lnTo>
                    <a:pt x="4675" y="273"/>
                  </a:lnTo>
                  <a:lnTo>
                    <a:pt x="4348" y="164"/>
                  </a:lnTo>
                  <a:lnTo>
                    <a:pt x="4077" y="110"/>
                  </a:lnTo>
                  <a:lnTo>
                    <a:pt x="3696" y="55"/>
                  </a:lnTo>
                  <a:lnTo>
                    <a:pt x="33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324;p19">
              <a:extLst>
                <a:ext uri="{FF2B5EF4-FFF2-40B4-BE49-F238E27FC236}">
                  <a16:creationId xmlns:a16="http://schemas.microsoft.com/office/drawing/2014/main" id="{F34D4138-4FA4-B47D-79C8-285674FDF128}"/>
                </a:ext>
              </a:extLst>
            </p:cNvPr>
            <p:cNvGrpSpPr/>
            <p:nvPr/>
          </p:nvGrpSpPr>
          <p:grpSpPr>
            <a:xfrm>
              <a:off x="1352952" y="3110922"/>
              <a:ext cx="301767" cy="155199"/>
              <a:chOff x="2080675" y="352325"/>
              <a:chExt cx="485000" cy="254800"/>
            </a:xfrm>
          </p:grpSpPr>
          <p:sp>
            <p:nvSpPr>
              <p:cNvPr id="56" name="Google Shape;325;p19">
                <a:extLst>
                  <a:ext uri="{FF2B5EF4-FFF2-40B4-BE49-F238E27FC236}">
                    <a16:creationId xmlns:a16="http://schemas.microsoft.com/office/drawing/2014/main" id="{FF0B0CE3-2CFE-661B-6047-524C99388228}"/>
                  </a:ext>
                </a:extLst>
              </p:cNvPr>
              <p:cNvSpPr/>
              <p:nvPr/>
            </p:nvSpPr>
            <p:spPr>
              <a:xfrm>
                <a:off x="2080675" y="352325"/>
                <a:ext cx="485000" cy="254800"/>
              </a:xfrm>
              <a:custGeom>
                <a:avLst/>
                <a:gdLst/>
                <a:ahLst/>
                <a:cxnLst/>
                <a:rect l="l" t="t" r="r" b="b"/>
                <a:pathLst>
                  <a:path w="19400" h="10192" extrusionOk="0">
                    <a:moveTo>
                      <a:pt x="5514" y="2183"/>
                    </a:moveTo>
                    <a:cubicBezTo>
                      <a:pt x="4291" y="3932"/>
                      <a:pt x="4291" y="6254"/>
                      <a:pt x="5514" y="8002"/>
                    </a:cubicBezTo>
                    <a:cubicBezTo>
                      <a:pt x="4858" y="7685"/>
                      <a:pt x="4230" y="7320"/>
                      <a:pt x="3632" y="6909"/>
                    </a:cubicBezTo>
                    <a:cubicBezTo>
                      <a:pt x="2841" y="6368"/>
                      <a:pt x="2099" y="5762"/>
                      <a:pt x="1410" y="5097"/>
                    </a:cubicBezTo>
                    <a:cubicBezTo>
                      <a:pt x="2071" y="4454"/>
                      <a:pt x="3572" y="3126"/>
                      <a:pt x="5514" y="2183"/>
                    </a:cubicBezTo>
                    <a:close/>
                    <a:moveTo>
                      <a:pt x="13865" y="2171"/>
                    </a:moveTo>
                    <a:cubicBezTo>
                      <a:pt x="14527" y="2491"/>
                      <a:pt x="15167" y="2866"/>
                      <a:pt x="15774" y="3283"/>
                    </a:cubicBezTo>
                    <a:cubicBezTo>
                      <a:pt x="16562" y="3823"/>
                      <a:pt x="17304" y="4430"/>
                      <a:pt x="17996" y="5094"/>
                    </a:cubicBezTo>
                    <a:cubicBezTo>
                      <a:pt x="17307" y="5759"/>
                      <a:pt x="16565" y="6365"/>
                      <a:pt x="15774" y="6909"/>
                    </a:cubicBezTo>
                    <a:cubicBezTo>
                      <a:pt x="15167" y="7326"/>
                      <a:pt x="14530" y="7697"/>
                      <a:pt x="13865" y="8017"/>
                    </a:cubicBezTo>
                    <a:cubicBezTo>
                      <a:pt x="15097" y="6263"/>
                      <a:pt x="15097" y="3926"/>
                      <a:pt x="13865" y="2171"/>
                    </a:cubicBezTo>
                    <a:close/>
                    <a:moveTo>
                      <a:pt x="9801" y="1133"/>
                    </a:moveTo>
                    <a:cubicBezTo>
                      <a:pt x="11948" y="1190"/>
                      <a:pt x="13657" y="2947"/>
                      <a:pt x="13657" y="5091"/>
                    </a:cubicBezTo>
                    <a:cubicBezTo>
                      <a:pt x="13657" y="7238"/>
                      <a:pt x="11948" y="8995"/>
                      <a:pt x="9801" y="9053"/>
                    </a:cubicBezTo>
                    <a:lnTo>
                      <a:pt x="9566" y="9053"/>
                    </a:lnTo>
                    <a:cubicBezTo>
                      <a:pt x="7431" y="8983"/>
                      <a:pt x="5734" y="7232"/>
                      <a:pt x="5728" y="5094"/>
                    </a:cubicBezTo>
                    <a:cubicBezTo>
                      <a:pt x="5731" y="2947"/>
                      <a:pt x="7440" y="1190"/>
                      <a:pt x="9587" y="1133"/>
                    </a:cubicBezTo>
                    <a:close/>
                    <a:moveTo>
                      <a:pt x="9557" y="0"/>
                    </a:moveTo>
                    <a:cubicBezTo>
                      <a:pt x="7440" y="37"/>
                      <a:pt x="5166" y="852"/>
                      <a:pt x="2965" y="2362"/>
                    </a:cubicBezTo>
                    <a:cubicBezTo>
                      <a:pt x="1283" y="3518"/>
                      <a:pt x="239" y="4665"/>
                      <a:pt x="196" y="4714"/>
                    </a:cubicBezTo>
                    <a:cubicBezTo>
                      <a:pt x="0" y="4928"/>
                      <a:pt x="0" y="5257"/>
                      <a:pt x="196" y="5472"/>
                    </a:cubicBezTo>
                    <a:cubicBezTo>
                      <a:pt x="239" y="5523"/>
                      <a:pt x="1283" y="6670"/>
                      <a:pt x="2965" y="7827"/>
                    </a:cubicBezTo>
                    <a:cubicBezTo>
                      <a:pt x="5166" y="9337"/>
                      <a:pt x="7440" y="10149"/>
                      <a:pt x="9557" y="10188"/>
                    </a:cubicBezTo>
                    <a:cubicBezTo>
                      <a:pt x="9602" y="10188"/>
                      <a:pt x="9647" y="10191"/>
                      <a:pt x="9692" y="10191"/>
                    </a:cubicBezTo>
                    <a:lnTo>
                      <a:pt x="9717" y="10191"/>
                    </a:lnTo>
                    <a:cubicBezTo>
                      <a:pt x="11869" y="10185"/>
                      <a:pt x="14194" y="9367"/>
                      <a:pt x="16435" y="7827"/>
                    </a:cubicBezTo>
                    <a:cubicBezTo>
                      <a:pt x="18120" y="6670"/>
                      <a:pt x="19161" y="5523"/>
                      <a:pt x="19207" y="5475"/>
                    </a:cubicBezTo>
                    <a:cubicBezTo>
                      <a:pt x="19400" y="5257"/>
                      <a:pt x="19400" y="4931"/>
                      <a:pt x="19207" y="4714"/>
                    </a:cubicBezTo>
                    <a:cubicBezTo>
                      <a:pt x="19161" y="4665"/>
                      <a:pt x="18120" y="3521"/>
                      <a:pt x="16435" y="2365"/>
                    </a:cubicBezTo>
                    <a:cubicBezTo>
                      <a:pt x="14191" y="822"/>
                      <a:pt x="11869" y="6"/>
                      <a:pt x="97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7" name="Google Shape;326;p19">
                <a:extLst>
                  <a:ext uri="{FF2B5EF4-FFF2-40B4-BE49-F238E27FC236}">
                    <a16:creationId xmlns:a16="http://schemas.microsoft.com/office/drawing/2014/main" id="{FC3D54E0-10D8-8331-B951-E378A282BD51}"/>
                  </a:ext>
                </a:extLst>
              </p:cNvPr>
              <p:cNvSpPr/>
              <p:nvPr/>
            </p:nvSpPr>
            <p:spPr>
              <a:xfrm>
                <a:off x="2246650" y="408900"/>
                <a:ext cx="147075" cy="141600"/>
              </a:xfrm>
              <a:custGeom>
                <a:avLst/>
                <a:gdLst/>
                <a:ahLst/>
                <a:cxnLst/>
                <a:rect l="l" t="t" r="r" b="b"/>
                <a:pathLst>
                  <a:path w="5883" h="5664" extrusionOk="0">
                    <a:moveTo>
                      <a:pt x="3054" y="1132"/>
                    </a:moveTo>
                    <a:cubicBezTo>
                      <a:pt x="3495" y="1132"/>
                      <a:pt x="3930" y="1304"/>
                      <a:pt x="4255" y="1630"/>
                    </a:cubicBezTo>
                    <a:cubicBezTo>
                      <a:pt x="4738" y="2116"/>
                      <a:pt x="4886" y="2846"/>
                      <a:pt x="4624" y="3480"/>
                    </a:cubicBezTo>
                    <a:cubicBezTo>
                      <a:pt x="4358" y="4115"/>
                      <a:pt x="3739" y="4531"/>
                      <a:pt x="3053" y="4531"/>
                    </a:cubicBezTo>
                    <a:cubicBezTo>
                      <a:pt x="2114" y="4528"/>
                      <a:pt x="1357" y="3770"/>
                      <a:pt x="1353" y="2831"/>
                    </a:cubicBezTo>
                    <a:cubicBezTo>
                      <a:pt x="1353" y="2143"/>
                      <a:pt x="1767" y="1524"/>
                      <a:pt x="2404" y="1261"/>
                    </a:cubicBezTo>
                    <a:cubicBezTo>
                      <a:pt x="2614" y="1174"/>
                      <a:pt x="2835" y="1132"/>
                      <a:pt x="3054" y="1132"/>
                    </a:cubicBezTo>
                    <a:close/>
                    <a:moveTo>
                      <a:pt x="3053" y="1"/>
                    </a:moveTo>
                    <a:cubicBezTo>
                      <a:pt x="2316" y="1"/>
                      <a:pt x="1593" y="288"/>
                      <a:pt x="1052" y="829"/>
                    </a:cubicBezTo>
                    <a:cubicBezTo>
                      <a:pt x="242" y="1639"/>
                      <a:pt x="1" y="2855"/>
                      <a:pt x="439" y="3915"/>
                    </a:cubicBezTo>
                    <a:cubicBezTo>
                      <a:pt x="876" y="4972"/>
                      <a:pt x="1909" y="5663"/>
                      <a:pt x="3053" y="5663"/>
                    </a:cubicBezTo>
                    <a:cubicBezTo>
                      <a:pt x="4614" y="5660"/>
                      <a:pt x="5883" y="4395"/>
                      <a:pt x="5883" y="2831"/>
                    </a:cubicBezTo>
                    <a:cubicBezTo>
                      <a:pt x="5883" y="1687"/>
                      <a:pt x="5194" y="654"/>
                      <a:pt x="4137" y="216"/>
                    </a:cubicBezTo>
                    <a:cubicBezTo>
                      <a:pt x="3786" y="71"/>
                      <a:pt x="3418" y="1"/>
                      <a:pt x="30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 name="Google Shape;327;p19">
              <a:extLst>
                <a:ext uri="{FF2B5EF4-FFF2-40B4-BE49-F238E27FC236}">
                  <a16:creationId xmlns:a16="http://schemas.microsoft.com/office/drawing/2014/main" id="{A4DC6470-52BC-5B37-7680-D1D1F406B028}"/>
                </a:ext>
              </a:extLst>
            </p:cNvPr>
            <p:cNvGrpSpPr/>
            <p:nvPr/>
          </p:nvGrpSpPr>
          <p:grpSpPr>
            <a:xfrm>
              <a:off x="7183333" y="2328608"/>
              <a:ext cx="301775" cy="275877"/>
              <a:chOff x="3865000" y="847675"/>
              <a:chExt cx="483150" cy="452925"/>
            </a:xfrm>
          </p:grpSpPr>
          <p:sp>
            <p:nvSpPr>
              <p:cNvPr id="52" name="Google Shape;328;p19">
                <a:extLst>
                  <a:ext uri="{FF2B5EF4-FFF2-40B4-BE49-F238E27FC236}">
                    <a16:creationId xmlns:a16="http://schemas.microsoft.com/office/drawing/2014/main" id="{2F167226-895C-0015-7BDD-10DBE6D14C66}"/>
                  </a:ext>
                </a:extLst>
              </p:cNvPr>
              <p:cNvSpPr/>
              <p:nvPr/>
            </p:nvSpPr>
            <p:spPr>
              <a:xfrm>
                <a:off x="3865000" y="847675"/>
                <a:ext cx="483150" cy="452925"/>
              </a:xfrm>
              <a:custGeom>
                <a:avLst/>
                <a:gdLst/>
                <a:ahLst/>
                <a:cxnLst/>
                <a:rect l="l" t="t" r="r" b="b"/>
                <a:pathLst>
                  <a:path w="19326" h="18117" extrusionOk="0">
                    <a:moveTo>
                      <a:pt x="9627" y="1132"/>
                    </a:moveTo>
                    <a:cubicBezTo>
                      <a:pt x="14349" y="1132"/>
                      <a:pt x="18193" y="4436"/>
                      <a:pt x="18193" y="8494"/>
                    </a:cubicBezTo>
                    <a:cubicBezTo>
                      <a:pt x="18193" y="12552"/>
                      <a:pt x="14349" y="15852"/>
                      <a:pt x="9627" y="15852"/>
                    </a:cubicBezTo>
                    <a:cubicBezTo>
                      <a:pt x="9619" y="15852"/>
                      <a:pt x="9611" y="15852"/>
                      <a:pt x="9603" y="15852"/>
                    </a:cubicBezTo>
                    <a:cubicBezTo>
                      <a:pt x="8397" y="15852"/>
                      <a:pt x="7207" y="15626"/>
                      <a:pt x="6088" y="15185"/>
                    </a:cubicBezTo>
                    <a:cubicBezTo>
                      <a:pt x="6019" y="15158"/>
                      <a:pt x="5947" y="15144"/>
                      <a:pt x="5876" y="15144"/>
                    </a:cubicBezTo>
                    <a:cubicBezTo>
                      <a:pt x="5720" y="15144"/>
                      <a:pt x="5568" y="15208"/>
                      <a:pt x="5460" y="15327"/>
                    </a:cubicBezTo>
                    <a:cubicBezTo>
                      <a:pt x="4780" y="16070"/>
                      <a:pt x="3896" y="16595"/>
                      <a:pt x="2917" y="16837"/>
                    </a:cubicBezTo>
                    <a:cubicBezTo>
                      <a:pt x="3461" y="15801"/>
                      <a:pt x="3582" y="14593"/>
                      <a:pt x="3262" y="13467"/>
                    </a:cubicBezTo>
                    <a:cubicBezTo>
                      <a:pt x="3238" y="13379"/>
                      <a:pt x="3189" y="13295"/>
                      <a:pt x="3126" y="13228"/>
                    </a:cubicBezTo>
                    <a:cubicBezTo>
                      <a:pt x="1843" y="11906"/>
                      <a:pt x="1133" y="10224"/>
                      <a:pt x="1133" y="8494"/>
                    </a:cubicBezTo>
                    <a:cubicBezTo>
                      <a:pt x="1133" y="4436"/>
                      <a:pt x="4944" y="1132"/>
                      <a:pt x="9627" y="1132"/>
                    </a:cubicBezTo>
                    <a:close/>
                    <a:moveTo>
                      <a:pt x="9627" y="0"/>
                    </a:moveTo>
                    <a:cubicBezTo>
                      <a:pt x="7066" y="0"/>
                      <a:pt x="4663" y="876"/>
                      <a:pt x="2848" y="2461"/>
                    </a:cubicBezTo>
                    <a:cubicBezTo>
                      <a:pt x="1012" y="4067"/>
                      <a:pt x="1" y="6211"/>
                      <a:pt x="1" y="8494"/>
                    </a:cubicBezTo>
                    <a:cubicBezTo>
                      <a:pt x="1" y="10472"/>
                      <a:pt x="783" y="12389"/>
                      <a:pt x="2208" y="13908"/>
                    </a:cubicBezTo>
                    <a:cubicBezTo>
                      <a:pt x="2492" y="15073"/>
                      <a:pt x="2148" y="16302"/>
                      <a:pt x="1299" y="17151"/>
                    </a:cubicBezTo>
                    <a:cubicBezTo>
                      <a:pt x="943" y="17507"/>
                      <a:pt x="1193" y="18117"/>
                      <a:pt x="1701" y="18117"/>
                    </a:cubicBezTo>
                    <a:cubicBezTo>
                      <a:pt x="3313" y="18114"/>
                      <a:pt x="4862" y="17489"/>
                      <a:pt x="6024" y="16372"/>
                    </a:cubicBezTo>
                    <a:cubicBezTo>
                      <a:pt x="7173" y="16776"/>
                      <a:pt x="8380" y="16985"/>
                      <a:pt x="9600" y="16985"/>
                    </a:cubicBezTo>
                    <a:cubicBezTo>
                      <a:pt x="9609" y="16985"/>
                      <a:pt x="9618" y="16985"/>
                      <a:pt x="9627" y="16985"/>
                    </a:cubicBezTo>
                    <a:cubicBezTo>
                      <a:pt x="12184" y="16985"/>
                      <a:pt x="14606" y="16112"/>
                      <a:pt x="16439" y="14524"/>
                    </a:cubicBezTo>
                    <a:cubicBezTo>
                      <a:pt x="18302" y="12914"/>
                      <a:pt x="19325" y="10773"/>
                      <a:pt x="19325" y="8494"/>
                    </a:cubicBezTo>
                    <a:cubicBezTo>
                      <a:pt x="19325" y="6211"/>
                      <a:pt x="18302" y="4070"/>
                      <a:pt x="16439" y="2461"/>
                    </a:cubicBezTo>
                    <a:cubicBezTo>
                      <a:pt x="14606" y="873"/>
                      <a:pt x="12184" y="0"/>
                      <a:pt x="96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3" name="Google Shape;329;p19">
                <a:extLst>
                  <a:ext uri="{FF2B5EF4-FFF2-40B4-BE49-F238E27FC236}">
                    <a16:creationId xmlns:a16="http://schemas.microsoft.com/office/drawing/2014/main" id="{E59E2A48-DF88-4B8D-EDA2-0747FF7EB77A}"/>
                  </a:ext>
                </a:extLst>
              </p:cNvPr>
              <p:cNvSpPr/>
              <p:nvPr/>
            </p:nvSpPr>
            <p:spPr>
              <a:xfrm>
                <a:off x="4173600" y="1029775"/>
                <a:ext cx="78450" cy="75550"/>
              </a:xfrm>
              <a:custGeom>
                <a:avLst/>
                <a:gdLst/>
                <a:ahLst/>
                <a:cxnLst/>
                <a:rect l="l" t="t" r="r" b="b"/>
                <a:pathLst>
                  <a:path w="3138" h="3022" extrusionOk="0">
                    <a:moveTo>
                      <a:pt x="1510" y="1134"/>
                    </a:moveTo>
                    <a:cubicBezTo>
                      <a:pt x="1845" y="1134"/>
                      <a:pt x="2014" y="1539"/>
                      <a:pt x="1776" y="1777"/>
                    </a:cubicBezTo>
                    <a:cubicBezTo>
                      <a:pt x="1698" y="1855"/>
                      <a:pt x="1604" y="1889"/>
                      <a:pt x="1511" y="1889"/>
                    </a:cubicBezTo>
                    <a:cubicBezTo>
                      <a:pt x="1318" y="1889"/>
                      <a:pt x="1132" y="1738"/>
                      <a:pt x="1132" y="1512"/>
                    </a:cubicBezTo>
                    <a:cubicBezTo>
                      <a:pt x="1132" y="1300"/>
                      <a:pt x="1299" y="1134"/>
                      <a:pt x="1510" y="1134"/>
                    </a:cubicBezTo>
                    <a:close/>
                    <a:moveTo>
                      <a:pt x="1509" y="1"/>
                    </a:moveTo>
                    <a:cubicBezTo>
                      <a:pt x="1314" y="1"/>
                      <a:pt x="1118" y="39"/>
                      <a:pt x="930" y="117"/>
                    </a:cubicBezTo>
                    <a:cubicBezTo>
                      <a:pt x="366" y="349"/>
                      <a:pt x="0" y="899"/>
                      <a:pt x="0" y="1512"/>
                    </a:cubicBezTo>
                    <a:cubicBezTo>
                      <a:pt x="0" y="2345"/>
                      <a:pt x="674" y="3021"/>
                      <a:pt x="1510" y="3021"/>
                    </a:cubicBezTo>
                    <a:cubicBezTo>
                      <a:pt x="2120" y="3021"/>
                      <a:pt x="2669" y="2653"/>
                      <a:pt x="2902" y="2088"/>
                    </a:cubicBezTo>
                    <a:cubicBezTo>
                      <a:pt x="3137" y="1524"/>
                      <a:pt x="3008" y="875"/>
                      <a:pt x="2576" y="443"/>
                    </a:cubicBezTo>
                    <a:cubicBezTo>
                      <a:pt x="2287" y="154"/>
                      <a:pt x="1902" y="1"/>
                      <a:pt x="1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4" name="Google Shape;330;p19">
                <a:extLst>
                  <a:ext uri="{FF2B5EF4-FFF2-40B4-BE49-F238E27FC236}">
                    <a16:creationId xmlns:a16="http://schemas.microsoft.com/office/drawing/2014/main" id="{CD4DB6F6-356A-0C56-8E44-EC2494A4ACB6}"/>
                  </a:ext>
                </a:extLst>
              </p:cNvPr>
              <p:cNvSpPr/>
              <p:nvPr/>
            </p:nvSpPr>
            <p:spPr>
              <a:xfrm>
                <a:off x="4068825" y="1029775"/>
                <a:ext cx="78450" cy="75550"/>
              </a:xfrm>
              <a:custGeom>
                <a:avLst/>
                <a:gdLst/>
                <a:ahLst/>
                <a:cxnLst/>
                <a:rect l="l" t="t" r="r" b="b"/>
                <a:pathLst>
                  <a:path w="3138" h="3022" extrusionOk="0">
                    <a:moveTo>
                      <a:pt x="1510" y="1134"/>
                    </a:moveTo>
                    <a:cubicBezTo>
                      <a:pt x="1845" y="1134"/>
                      <a:pt x="2014" y="1539"/>
                      <a:pt x="1776" y="1777"/>
                    </a:cubicBezTo>
                    <a:cubicBezTo>
                      <a:pt x="1699" y="1855"/>
                      <a:pt x="1605" y="1889"/>
                      <a:pt x="1513" y="1889"/>
                    </a:cubicBezTo>
                    <a:cubicBezTo>
                      <a:pt x="1319" y="1889"/>
                      <a:pt x="1132" y="1738"/>
                      <a:pt x="1132" y="1512"/>
                    </a:cubicBezTo>
                    <a:cubicBezTo>
                      <a:pt x="1132" y="1300"/>
                      <a:pt x="1302" y="1134"/>
                      <a:pt x="1510" y="1134"/>
                    </a:cubicBezTo>
                    <a:close/>
                    <a:moveTo>
                      <a:pt x="1511" y="1"/>
                    </a:moveTo>
                    <a:cubicBezTo>
                      <a:pt x="1316" y="1"/>
                      <a:pt x="1120" y="39"/>
                      <a:pt x="933" y="117"/>
                    </a:cubicBezTo>
                    <a:cubicBezTo>
                      <a:pt x="369" y="349"/>
                      <a:pt x="0" y="899"/>
                      <a:pt x="0" y="1512"/>
                    </a:cubicBezTo>
                    <a:cubicBezTo>
                      <a:pt x="0" y="2345"/>
                      <a:pt x="677" y="3021"/>
                      <a:pt x="1510" y="3021"/>
                    </a:cubicBezTo>
                    <a:cubicBezTo>
                      <a:pt x="2120" y="3021"/>
                      <a:pt x="2672" y="2653"/>
                      <a:pt x="2905" y="2088"/>
                    </a:cubicBezTo>
                    <a:cubicBezTo>
                      <a:pt x="3137" y="1524"/>
                      <a:pt x="3011" y="875"/>
                      <a:pt x="2579" y="443"/>
                    </a:cubicBezTo>
                    <a:cubicBezTo>
                      <a:pt x="2290" y="154"/>
                      <a:pt x="1903" y="1"/>
                      <a:pt x="15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5" name="Google Shape;331;p19">
                <a:extLst>
                  <a:ext uri="{FF2B5EF4-FFF2-40B4-BE49-F238E27FC236}">
                    <a16:creationId xmlns:a16="http://schemas.microsoft.com/office/drawing/2014/main" id="{47BF1497-2F31-10FD-0788-042DFC157275}"/>
                  </a:ext>
                </a:extLst>
              </p:cNvPr>
              <p:cNvSpPr/>
              <p:nvPr/>
            </p:nvSpPr>
            <p:spPr>
              <a:xfrm>
                <a:off x="3964125" y="1029775"/>
                <a:ext cx="78450" cy="75550"/>
              </a:xfrm>
              <a:custGeom>
                <a:avLst/>
                <a:gdLst/>
                <a:ahLst/>
                <a:cxnLst/>
                <a:rect l="l" t="t" r="r" b="b"/>
                <a:pathLst>
                  <a:path w="3138" h="3022" extrusionOk="0">
                    <a:moveTo>
                      <a:pt x="1510" y="1134"/>
                    </a:moveTo>
                    <a:cubicBezTo>
                      <a:pt x="1845" y="1134"/>
                      <a:pt x="2014" y="1539"/>
                      <a:pt x="1776" y="1777"/>
                    </a:cubicBezTo>
                    <a:cubicBezTo>
                      <a:pt x="1698" y="1855"/>
                      <a:pt x="1604" y="1889"/>
                      <a:pt x="1511" y="1889"/>
                    </a:cubicBezTo>
                    <a:cubicBezTo>
                      <a:pt x="1318" y="1889"/>
                      <a:pt x="1133" y="1738"/>
                      <a:pt x="1133" y="1512"/>
                    </a:cubicBezTo>
                    <a:cubicBezTo>
                      <a:pt x="1133" y="1300"/>
                      <a:pt x="1299" y="1134"/>
                      <a:pt x="1510" y="1134"/>
                    </a:cubicBezTo>
                    <a:close/>
                    <a:moveTo>
                      <a:pt x="1509" y="1"/>
                    </a:moveTo>
                    <a:cubicBezTo>
                      <a:pt x="1314" y="1"/>
                      <a:pt x="1118" y="39"/>
                      <a:pt x="930" y="117"/>
                    </a:cubicBezTo>
                    <a:cubicBezTo>
                      <a:pt x="366" y="349"/>
                      <a:pt x="0" y="899"/>
                      <a:pt x="0" y="1512"/>
                    </a:cubicBezTo>
                    <a:cubicBezTo>
                      <a:pt x="0" y="2345"/>
                      <a:pt x="674" y="3021"/>
                      <a:pt x="1510" y="3021"/>
                    </a:cubicBezTo>
                    <a:cubicBezTo>
                      <a:pt x="2120" y="3021"/>
                      <a:pt x="2669" y="2653"/>
                      <a:pt x="2902" y="2088"/>
                    </a:cubicBezTo>
                    <a:cubicBezTo>
                      <a:pt x="3137" y="1524"/>
                      <a:pt x="3008" y="875"/>
                      <a:pt x="2576" y="443"/>
                    </a:cubicBezTo>
                    <a:cubicBezTo>
                      <a:pt x="2287" y="154"/>
                      <a:pt x="1902" y="1"/>
                      <a:pt x="1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6" name="Google Shape;332;p19">
              <a:extLst>
                <a:ext uri="{FF2B5EF4-FFF2-40B4-BE49-F238E27FC236}">
                  <a16:creationId xmlns:a16="http://schemas.microsoft.com/office/drawing/2014/main" id="{2F5F9902-B706-B9DA-CAEA-08661250D1E7}"/>
                </a:ext>
              </a:extLst>
            </p:cNvPr>
            <p:cNvSpPr/>
            <p:nvPr/>
          </p:nvSpPr>
          <p:spPr>
            <a:xfrm>
              <a:off x="4536050" y="2714398"/>
              <a:ext cx="301760" cy="251443"/>
            </a:xfrm>
            <a:custGeom>
              <a:avLst/>
              <a:gdLst/>
              <a:ahLst/>
              <a:cxnLst/>
              <a:rect l="l" t="t" r="r" b="b"/>
              <a:pathLst>
                <a:path w="19412" h="16526" extrusionOk="0">
                  <a:moveTo>
                    <a:pt x="8421" y="4128"/>
                  </a:moveTo>
                  <a:lnTo>
                    <a:pt x="8421" y="6791"/>
                  </a:lnTo>
                  <a:lnTo>
                    <a:pt x="5302" y="6791"/>
                  </a:lnTo>
                  <a:lnTo>
                    <a:pt x="4511" y="4128"/>
                  </a:lnTo>
                  <a:close/>
                  <a:moveTo>
                    <a:pt x="12661" y="4131"/>
                  </a:moveTo>
                  <a:lnTo>
                    <a:pt x="12661" y="6791"/>
                  </a:lnTo>
                  <a:lnTo>
                    <a:pt x="9554" y="6791"/>
                  </a:lnTo>
                  <a:lnTo>
                    <a:pt x="9554" y="4131"/>
                  </a:lnTo>
                  <a:close/>
                  <a:moveTo>
                    <a:pt x="17999" y="4131"/>
                  </a:moveTo>
                  <a:lnTo>
                    <a:pt x="17208" y="6791"/>
                  </a:lnTo>
                  <a:lnTo>
                    <a:pt x="13793" y="6791"/>
                  </a:lnTo>
                  <a:lnTo>
                    <a:pt x="13793" y="4131"/>
                  </a:lnTo>
                  <a:close/>
                  <a:moveTo>
                    <a:pt x="8421" y="7923"/>
                  </a:moveTo>
                  <a:lnTo>
                    <a:pt x="8421" y="10583"/>
                  </a:lnTo>
                  <a:lnTo>
                    <a:pt x="6432" y="10583"/>
                  </a:lnTo>
                  <a:lnTo>
                    <a:pt x="5640" y="7923"/>
                  </a:lnTo>
                  <a:close/>
                  <a:moveTo>
                    <a:pt x="12661" y="7923"/>
                  </a:moveTo>
                  <a:lnTo>
                    <a:pt x="12661" y="10583"/>
                  </a:lnTo>
                  <a:lnTo>
                    <a:pt x="9554" y="10583"/>
                  </a:lnTo>
                  <a:lnTo>
                    <a:pt x="9554" y="7923"/>
                  </a:lnTo>
                  <a:close/>
                  <a:moveTo>
                    <a:pt x="16873" y="7923"/>
                  </a:moveTo>
                  <a:lnTo>
                    <a:pt x="16076" y="10583"/>
                  </a:lnTo>
                  <a:lnTo>
                    <a:pt x="13793" y="10583"/>
                  </a:lnTo>
                  <a:lnTo>
                    <a:pt x="13793" y="7923"/>
                  </a:lnTo>
                  <a:close/>
                  <a:moveTo>
                    <a:pt x="7935" y="13570"/>
                  </a:moveTo>
                  <a:cubicBezTo>
                    <a:pt x="8744" y="13570"/>
                    <a:pt x="9152" y="14551"/>
                    <a:pt x="8578" y="15125"/>
                  </a:cubicBezTo>
                  <a:cubicBezTo>
                    <a:pt x="8393" y="15310"/>
                    <a:pt x="8165" y="15393"/>
                    <a:pt x="7941" y="15393"/>
                  </a:cubicBezTo>
                  <a:cubicBezTo>
                    <a:pt x="7473" y="15393"/>
                    <a:pt x="7023" y="15029"/>
                    <a:pt x="7023" y="14482"/>
                  </a:cubicBezTo>
                  <a:cubicBezTo>
                    <a:pt x="7023" y="13977"/>
                    <a:pt x="7431" y="13573"/>
                    <a:pt x="7932" y="13570"/>
                  </a:cubicBezTo>
                  <a:close/>
                  <a:moveTo>
                    <a:pt x="14910" y="13570"/>
                  </a:moveTo>
                  <a:cubicBezTo>
                    <a:pt x="15719" y="13570"/>
                    <a:pt x="16127" y="14551"/>
                    <a:pt x="15553" y="15125"/>
                  </a:cubicBezTo>
                  <a:cubicBezTo>
                    <a:pt x="15368" y="15310"/>
                    <a:pt x="15140" y="15393"/>
                    <a:pt x="14916" y="15393"/>
                  </a:cubicBezTo>
                  <a:cubicBezTo>
                    <a:pt x="14448" y="15393"/>
                    <a:pt x="13998" y="15029"/>
                    <a:pt x="13998" y="14482"/>
                  </a:cubicBezTo>
                  <a:cubicBezTo>
                    <a:pt x="13998" y="13977"/>
                    <a:pt x="14406" y="13570"/>
                    <a:pt x="14910" y="13570"/>
                  </a:cubicBezTo>
                  <a:close/>
                  <a:moveTo>
                    <a:pt x="568" y="0"/>
                  </a:moveTo>
                  <a:cubicBezTo>
                    <a:pt x="254" y="0"/>
                    <a:pt x="0" y="254"/>
                    <a:pt x="0" y="565"/>
                  </a:cubicBezTo>
                  <a:cubicBezTo>
                    <a:pt x="0" y="879"/>
                    <a:pt x="254" y="1133"/>
                    <a:pt x="568" y="1133"/>
                  </a:cubicBezTo>
                  <a:lnTo>
                    <a:pt x="2437" y="1133"/>
                  </a:lnTo>
                  <a:lnTo>
                    <a:pt x="3204" y="3714"/>
                  </a:lnTo>
                  <a:cubicBezTo>
                    <a:pt x="3207" y="3720"/>
                    <a:pt x="3210" y="3729"/>
                    <a:pt x="3213" y="3738"/>
                  </a:cubicBezTo>
                  <a:lnTo>
                    <a:pt x="5251" y="10589"/>
                  </a:lnTo>
                  <a:cubicBezTo>
                    <a:pt x="4052" y="10671"/>
                    <a:pt x="3131" y="11685"/>
                    <a:pt x="3171" y="12887"/>
                  </a:cubicBezTo>
                  <a:cubicBezTo>
                    <a:pt x="3210" y="14089"/>
                    <a:pt x="4194" y="15043"/>
                    <a:pt x="5396" y="15046"/>
                  </a:cubicBezTo>
                  <a:lnTo>
                    <a:pt x="5970" y="15046"/>
                  </a:lnTo>
                  <a:cubicBezTo>
                    <a:pt x="6220" y="15922"/>
                    <a:pt x="7020" y="16526"/>
                    <a:pt x="7932" y="16526"/>
                  </a:cubicBezTo>
                  <a:cubicBezTo>
                    <a:pt x="8841" y="16526"/>
                    <a:pt x="9641" y="15922"/>
                    <a:pt x="9895" y="15046"/>
                  </a:cubicBezTo>
                  <a:lnTo>
                    <a:pt x="12947" y="15046"/>
                  </a:lnTo>
                  <a:cubicBezTo>
                    <a:pt x="13198" y="15922"/>
                    <a:pt x="13998" y="16523"/>
                    <a:pt x="14910" y="16523"/>
                  </a:cubicBezTo>
                  <a:cubicBezTo>
                    <a:pt x="15819" y="16523"/>
                    <a:pt x="16619" y="15922"/>
                    <a:pt x="16873" y="15046"/>
                  </a:cubicBezTo>
                  <a:lnTo>
                    <a:pt x="17616" y="15046"/>
                  </a:lnTo>
                  <a:cubicBezTo>
                    <a:pt x="17927" y="15046"/>
                    <a:pt x="18180" y="14793"/>
                    <a:pt x="18180" y="14482"/>
                  </a:cubicBezTo>
                  <a:cubicBezTo>
                    <a:pt x="18180" y="14167"/>
                    <a:pt x="17927" y="13914"/>
                    <a:pt x="17616" y="13914"/>
                  </a:cubicBezTo>
                  <a:lnTo>
                    <a:pt x="16873" y="13914"/>
                  </a:lnTo>
                  <a:cubicBezTo>
                    <a:pt x="16619" y="13041"/>
                    <a:pt x="15819" y="12437"/>
                    <a:pt x="14910" y="12437"/>
                  </a:cubicBezTo>
                  <a:cubicBezTo>
                    <a:pt x="13998" y="12437"/>
                    <a:pt x="13198" y="13041"/>
                    <a:pt x="12947" y="13914"/>
                  </a:cubicBezTo>
                  <a:lnTo>
                    <a:pt x="9895" y="13914"/>
                  </a:lnTo>
                  <a:cubicBezTo>
                    <a:pt x="9644" y="13038"/>
                    <a:pt x="8844" y="12437"/>
                    <a:pt x="7932" y="12437"/>
                  </a:cubicBezTo>
                  <a:cubicBezTo>
                    <a:pt x="7023" y="12437"/>
                    <a:pt x="6223" y="13038"/>
                    <a:pt x="5970" y="13914"/>
                  </a:cubicBezTo>
                  <a:lnTo>
                    <a:pt x="5399" y="13914"/>
                  </a:lnTo>
                  <a:cubicBezTo>
                    <a:pt x="4798" y="13905"/>
                    <a:pt x="4318" y="13416"/>
                    <a:pt x="4318" y="12815"/>
                  </a:cubicBezTo>
                  <a:cubicBezTo>
                    <a:pt x="4318" y="12217"/>
                    <a:pt x="4798" y="11728"/>
                    <a:pt x="5399" y="11716"/>
                  </a:cubicBezTo>
                  <a:lnTo>
                    <a:pt x="16501" y="11716"/>
                  </a:lnTo>
                  <a:cubicBezTo>
                    <a:pt x="16752" y="11716"/>
                    <a:pt x="16972" y="11553"/>
                    <a:pt x="17045" y="11311"/>
                  </a:cubicBezTo>
                  <a:lnTo>
                    <a:pt x="19303" y="3726"/>
                  </a:lnTo>
                  <a:cubicBezTo>
                    <a:pt x="19412" y="3362"/>
                    <a:pt x="19140" y="2999"/>
                    <a:pt x="18765" y="2999"/>
                  </a:cubicBezTo>
                  <a:cubicBezTo>
                    <a:pt x="18763" y="2999"/>
                    <a:pt x="18761" y="2999"/>
                    <a:pt x="18760" y="2999"/>
                  </a:cubicBezTo>
                  <a:lnTo>
                    <a:pt x="4173" y="2999"/>
                  </a:lnTo>
                  <a:lnTo>
                    <a:pt x="3400" y="405"/>
                  </a:lnTo>
                  <a:cubicBezTo>
                    <a:pt x="3328" y="163"/>
                    <a:pt x="3107" y="0"/>
                    <a:pt x="28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17" name="Google Shape;333;p19">
              <a:extLst>
                <a:ext uri="{FF2B5EF4-FFF2-40B4-BE49-F238E27FC236}">
                  <a16:creationId xmlns:a16="http://schemas.microsoft.com/office/drawing/2014/main" id="{B197CC62-345E-2FE3-B5B8-DBF225F1C6DA}"/>
                </a:ext>
              </a:extLst>
            </p:cNvPr>
            <p:cNvGrpSpPr/>
            <p:nvPr/>
          </p:nvGrpSpPr>
          <p:grpSpPr>
            <a:xfrm>
              <a:off x="3674629" y="2014352"/>
              <a:ext cx="301767" cy="301737"/>
              <a:chOff x="-61354075" y="1940500"/>
              <a:chExt cx="314275" cy="312325"/>
            </a:xfrm>
          </p:grpSpPr>
          <p:sp>
            <p:nvSpPr>
              <p:cNvPr id="48" name="Google Shape;334;p19">
                <a:extLst>
                  <a:ext uri="{FF2B5EF4-FFF2-40B4-BE49-F238E27FC236}">
                    <a16:creationId xmlns:a16="http://schemas.microsoft.com/office/drawing/2014/main" id="{D7119B3A-4512-E917-AD25-7BEB7DCF6D32}"/>
                  </a:ext>
                </a:extLst>
              </p:cNvPr>
              <p:cNvSpPr/>
              <p:nvPr/>
            </p:nvSpPr>
            <p:spPr>
              <a:xfrm>
                <a:off x="-61354075" y="1940500"/>
                <a:ext cx="314275" cy="312325"/>
              </a:xfrm>
              <a:custGeom>
                <a:avLst/>
                <a:gdLst/>
                <a:ahLst/>
                <a:cxnLst/>
                <a:rect l="l" t="t" r="r" b="b"/>
                <a:pathLst>
                  <a:path w="12571" h="12493" extrusionOk="0">
                    <a:moveTo>
                      <a:pt x="6270" y="1001"/>
                    </a:moveTo>
                    <a:lnTo>
                      <a:pt x="7687" y="2419"/>
                    </a:lnTo>
                    <a:cubicBezTo>
                      <a:pt x="7750" y="2482"/>
                      <a:pt x="7876" y="2513"/>
                      <a:pt x="7971" y="2513"/>
                    </a:cubicBezTo>
                    <a:lnTo>
                      <a:pt x="9956" y="2513"/>
                    </a:lnTo>
                    <a:lnTo>
                      <a:pt x="9956" y="4529"/>
                    </a:lnTo>
                    <a:cubicBezTo>
                      <a:pt x="9956" y="4655"/>
                      <a:pt x="10019" y="4718"/>
                      <a:pt x="10082" y="4813"/>
                    </a:cubicBezTo>
                    <a:lnTo>
                      <a:pt x="11499" y="6231"/>
                    </a:lnTo>
                    <a:lnTo>
                      <a:pt x="10082" y="7648"/>
                    </a:lnTo>
                    <a:cubicBezTo>
                      <a:pt x="10019" y="7711"/>
                      <a:pt x="9956" y="7837"/>
                      <a:pt x="9956" y="7900"/>
                    </a:cubicBezTo>
                    <a:lnTo>
                      <a:pt x="9956" y="9917"/>
                    </a:lnTo>
                    <a:lnTo>
                      <a:pt x="7971" y="9917"/>
                    </a:lnTo>
                    <a:cubicBezTo>
                      <a:pt x="7845" y="9917"/>
                      <a:pt x="7750" y="9948"/>
                      <a:pt x="7687" y="10043"/>
                    </a:cubicBezTo>
                    <a:lnTo>
                      <a:pt x="6270" y="11460"/>
                    </a:lnTo>
                    <a:lnTo>
                      <a:pt x="4852" y="10043"/>
                    </a:lnTo>
                    <a:cubicBezTo>
                      <a:pt x="4757" y="9948"/>
                      <a:pt x="4631" y="9917"/>
                      <a:pt x="4568" y="9917"/>
                    </a:cubicBezTo>
                    <a:lnTo>
                      <a:pt x="2552" y="9917"/>
                    </a:lnTo>
                    <a:lnTo>
                      <a:pt x="2552" y="7900"/>
                    </a:lnTo>
                    <a:cubicBezTo>
                      <a:pt x="2552" y="7806"/>
                      <a:pt x="2521" y="7711"/>
                      <a:pt x="2426" y="7648"/>
                    </a:cubicBezTo>
                    <a:lnTo>
                      <a:pt x="1008" y="6231"/>
                    </a:lnTo>
                    <a:lnTo>
                      <a:pt x="2426" y="4813"/>
                    </a:lnTo>
                    <a:cubicBezTo>
                      <a:pt x="2521" y="4718"/>
                      <a:pt x="2552" y="4624"/>
                      <a:pt x="2552" y="4529"/>
                    </a:cubicBezTo>
                    <a:lnTo>
                      <a:pt x="2552" y="2513"/>
                    </a:lnTo>
                    <a:lnTo>
                      <a:pt x="4568" y="2513"/>
                    </a:lnTo>
                    <a:cubicBezTo>
                      <a:pt x="4694" y="2513"/>
                      <a:pt x="4757" y="2482"/>
                      <a:pt x="4852" y="2419"/>
                    </a:cubicBezTo>
                    <a:lnTo>
                      <a:pt x="6270" y="1001"/>
                    </a:lnTo>
                    <a:close/>
                    <a:moveTo>
                      <a:pt x="6285" y="1"/>
                    </a:moveTo>
                    <a:cubicBezTo>
                      <a:pt x="6175" y="1"/>
                      <a:pt x="6065" y="40"/>
                      <a:pt x="5986" y="119"/>
                    </a:cubicBezTo>
                    <a:lnTo>
                      <a:pt x="4411" y="1694"/>
                    </a:lnTo>
                    <a:lnTo>
                      <a:pt x="2174" y="1694"/>
                    </a:lnTo>
                    <a:cubicBezTo>
                      <a:pt x="1922" y="1694"/>
                      <a:pt x="1733" y="1883"/>
                      <a:pt x="1733" y="2135"/>
                    </a:cubicBezTo>
                    <a:lnTo>
                      <a:pt x="1733" y="4372"/>
                    </a:lnTo>
                    <a:lnTo>
                      <a:pt x="158" y="5947"/>
                    </a:lnTo>
                    <a:cubicBezTo>
                      <a:pt x="0" y="6105"/>
                      <a:pt x="0" y="6388"/>
                      <a:pt x="158" y="6546"/>
                    </a:cubicBezTo>
                    <a:lnTo>
                      <a:pt x="1733" y="8121"/>
                    </a:lnTo>
                    <a:lnTo>
                      <a:pt x="1733" y="10358"/>
                    </a:lnTo>
                    <a:cubicBezTo>
                      <a:pt x="1733" y="10578"/>
                      <a:pt x="1922" y="10736"/>
                      <a:pt x="2174" y="10736"/>
                    </a:cubicBezTo>
                    <a:lnTo>
                      <a:pt x="4411" y="10736"/>
                    </a:lnTo>
                    <a:lnTo>
                      <a:pt x="5986" y="12374"/>
                    </a:lnTo>
                    <a:cubicBezTo>
                      <a:pt x="6065" y="12453"/>
                      <a:pt x="6175" y="12492"/>
                      <a:pt x="6285" y="12492"/>
                    </a:cubicBezTo>
                    <a:cubicBezTo>
                      <a:pt x="6396" y="12492"/>
                      <a:pt x="6506" y="12453"/>
                      <a:pt x="6585" y="12374"/>
                    </a:cubicBezTo>
                    <a:lnTo>
                      <a:pt x="8160" y="10736"/>
                    </a:lnTo>
                    <a:lnTo>
                      <a:pt x="10397" y="10736"/>
                    </a:lnTo>
                    <a:cubicBezTo>
                      <a:pt x="10617" y="10736"/>
                      <a:pt x="10775" y="10547"/>
                      <a:pt x="10775" y="10358"/>
                    </a:cubicBezTo>
                    <a:lnTo>
                      <a:pt x="10775" y="8121"/>
                    </a:lnTo>
                    <a:lnTo>
                      <a:pt x="12413" y="6546"/>
                    </a:lnTo>
                    <a:cubicBezTo>
                      <a:pt x="12571" y="6388"/>
                      <a:pt x="12571" y="6105"/>
                      <a:pt x="12413" y="5947"/>
                    </a:cubicBezTo>
                    <a:lnTo>
                      <a:pt x="10775" y="4372"/>
                    </a:lnTo>
                    <a:lnTo>
                      <a:pt x="10775" y="2135"/>
                    </a:lnTo>
                    <a:cubicBezTo>
                      <a:pt x="10775" y="1883"/>
                      <a:pt x="10586" y="1694"/>
                      <a:pt x="10397" y="1694"/>
                    </a:cubicBezTo>
                    <a:lnTo>
                      <a:pt x="8160" y="1694"/>
                    </a:lnTo>
                    <a:lnTo>
                      <a:pt x="6585" y="119"/>
                    </a:lnTo>
                    <a:cubicBezTo>
                      <a:pt x="6506" y="40"/>
                      <a:pt x="6396" y="1"/>
                      <a:pt x="62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35;p19">
                <a:extLst>
                  <a:ext uri="{FF2B5EF4-FFF2-40B4-BE49-F238E27FC236}">
                    <a16:creationId xmlns:a16="http://schemas.microsoft.com/office/drawing/2014/main" id="{C4A25CAB-4A57-1FD4-C3F0-627BA7586C1C}"/>
                  </a:ext>
                </a:extLst>
              </p:cNvPr>
              <p:cNvSpPr/>
              <p:nvPr/>
            </p:nvSpPr>
            <p:spPr>
              <a:xfrm>
                <a:off x="-61268225" y="2024575"/>
                <a:ext cx="60650" cy="61475"/>
              </a:xfrm>
              <a:custGeom>
                <a:avLst/>
                <a:gdLst/>
                <a:ahLst/>
                <a:cxnLst/>
                <a:rect l="l" t="t" r="r" b="b"/>
                <a:pathLst>
                  <a:path w="2426" h="2459" extrusionOk="0">
                    <a:moveTo>
                      <a:pt x="1197" y="820"/>
                    </a:moveTo>
                    <a:cubicBezTo>
                      <a:pt x="1449" y="820"/>
                      <a:pt x="1607" y="1009"/>
                      <a:pt x="1607" y="1261"/>
                    </a:cubicBezTo>
                    <a:cubicBezTo>
                      <a:pt x="1607" y="1481"/>
                      <a:pt x="1418" y="1639"/>
                      <a:pt x="1197" y="1639"/>
                    </a:cubicBezTo>
                    <a:cubicBezTo>
                      <a:pt x="1008" y="1639"/>
                      <a:pt x="819" y="1450"/>
                      <a:pt x="819" y="1261"/>
                    </a:cubicBezTo>
                    <a:cubicBezTo>
                      <a:pt x="788" y="977"/>
                      <a:pt x="977" y="820"/>
                      <a:pt x="1197" y="820"/>
                    </a:cubicBezTo>
                    <a:close/>
                    <a:moveTo>
                      <a:pt x="1197" y="1"/>
                    </a:moveTo>
                    <a:cubicBezTo>
                      <a:pt x="536" y="1"/>
                      <a:pt x="0" y="536"/>
                      <a:pt x="0" y="1261"/>
                    </a:cubicBezTo>
                    <a:cubicBezTo>
                      <a:pt x="0" y="1954"/>
                      <a:pt x="504" y="2458"/>
                      <a:pt x="1197" y="2458"/>
                    </a:cubicBezTo>
                    <a:cubicBezTo>
                      <a:pt x="1890" y="2458"/>
                      <a:pt x="2426" y="1922"/>
                      <a:pt x="2426" y="1261"/>
                    </a:cubicBezTo>
                    <a:cubicBezTo>
                      <a:pt x="2426" y="568"/>
                      <a:pt x="1890" y="1"/>
                      <a:pt x="1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36;p19">
                <a:extLst>
                  <a:ext uri="{FF2B5EF4-FFF2-40B4-BE49-F238E27FC236}">
                    <a16:creationId xmlns:a16="http://schemas.microsoft.com/office/drawing/2014/main" id="{964EB84E-BA23-2454-9448-0FF236F3E8CA}"/>
                  </a:ext>
                </a:extLst>
              </p:cNvPr>
              <p:cNvSpPr/>
              <p:nvPr/>
            </p:nvSpPr>
            <p:spPr>
              <a:xfrm>
                <a:off x="-61187100" y="2107275"/>
                <a:ext cx="61450" cy="61475"/>
              </a:xfrm>
              <a:custGeom>
                <a:avLst/>
                <a:gdLst/>
                <a:ahLst/>
                <a:cxnLst/>
                <a:rect l="l" t="t" r="r" b="b"/>
                <a:pathLst>
                  <a:path w="2458" h="2459" extrusionOk="0">
                    <a:moveTo>
                      <a:pt x="1229" y="788"/>
                    </a:moveTo>
                    <a:cubicBezTo>
                      <a:pt x="1512" y="820"/>
                      <a:pt x="1670" y="977"/>
                      <a:pt x="1670" y="1198"/>
                    </a:cubicBezTo>
                    <a:cubicBezTo>
                      <a:pt x="1670" y="1450"/>
                      <a:pt x="1481" y="1639"/>
                      <a:pt x="1229" y="1639"/>
                    </a:cubicBezTo>
                    <a:cubicBezTo>
                      <a:pt x="1008" y="1639"/>
                      <a:pt x="851" y="1450"/>
                      <a:pt x="851" y="1198"/>
                    </a:cubicBezTo>
                    <a:cubicBezTo>
                      <a:pt x="851" y="977"/>
                      <a:pt x="1040" y="788"/>
                      <a:pt x="1229" y="788"/>
                    </a:cubicBezTo>
                    <a:close/>
                    <a:moveTo>
                      <a:pt x="1229" y="1"/>
                    </a:moveTo>
                    <a:cubicBezTo>
                      <a:pt x="567" y="1"/>
                      <a:pt x="0" y="536"/>
                      <a:pt x="0" y="1198"/>
                    </a:cubicBezTo>
                    <a:cubicBezTo>
                      <a:pt x="0" y="1891"/>
                      <a:pt x="567" y="2458"/>
                      <a:pt x="1229" y="2458"/>
                    </a:cubicBezTo>
                    <a:cubicBezTo>
                      <a:pt x="1922" y="2458"/>
                      <a:pt x="2458" y="1922"/>
                      <a:pt x="2458" y="1198"/>
                    </a:cubicBezTo>
                    <a:cubicBezTo>
                      <a:pt x="2458" y="536"/>
                      <a:pt x="1922" y="1"/>
                      <a:pt x="12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37;p19">
                <a:extLst>
                  <a:ext uri="{FF2B5EF4-FFF2-40B4-BE49-F238E27FC236}">
                    <a16:creationId xmlns:a16="http://schemas.microsoft.com/office/drawing/2014/main" id="{8B9C72A6-FD78-2A91-767E-F17D359AF19E}"/>
                  </a:ext>
                </a:extLst>
              </p:cNvPr>
              <p:cNvSpPr/>
              <p:nvPr/>
            </p:nvSpPr>
            <p:spPr>
              <a:xfrm>
                <a:off x="-61250125" y="2044475"/>
                <a:ext cx="105575" cy="103600"/>
              </a:xfrm>
              <a:custGeom>
                <a:avLst/>
                <a:gdLst/>
                <a:ahLst/>
                <a:cxnLst/>
                <a:rect l="l" t="t" r="r" b="b"/>
                <a:pathLst>
                  <a:path w="4223" h="4144" extrusionOk="0">
                    <a:moveTo>
                      <a:pt x="3766" y="0"/>
                    </a:moveTo>
                    <a:cubicBezTo>
                      <a:pt x="3655" y="0"/>
                      <a:pt x="3545" y="40"/>
                      <a:pt x="3466" y="118"/>
                    </a:cubicBezTo>
                    <a:lnTo>
                      <a:pt x="158" y="3426"/>
                    </a:lnTo>
                    <a:cubicBezTo>
                      <a:pt x="1" y="3615"/>
                      <a:pt x="1" y="3836"/>
                      <a:pt x="158" y="4025"/>
                    </a:cubicBezTo>
                    <a:cubicBezTo>
                      <a:pt x="237" y="4104"/>
                      <a:pt x="347" y="4143"/>
                      <a:pt x="458" y="4143"/>
                    </a:cubicBezTo>
                    <a:cubicBezTo>
                      <a:pt x="568" y="4143"/>
                      <a:pt x="678" y="4104"/>
                      <a:pt x="757" y="4025"/>
                    </a:cubicBezTo>
                    <a:lnTo>
                      <a:pt x="4065" y="717"/>
                    </a:lnTo>
                    <a:cubicBezTo>
                      <a:pt x="4222" y="559"/>
                      <a:pt x="4222" y="276"/>
                      <a:pt x="4065" y="118"/>
                    </a:cubicBezTo>
                    <a:cubicBezTo>
                      <a:pt x="3986" y="40"/>
                      <a:pt x="3876" y="0"/>
                      <a:pt x="37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338;p19">
              <a:extLst>
                <a:ext uri="{FF2B5EF4-FFF2-40B4-BE49-F238E27FC236}">
                  <a16:creationId xmlns:a16="http://schemas.microsoft.com/office/drawing/2014/main" id="{C94E83C5-9840-2327-B9FC-4547B008F2D6}"/>
                </a:ext>
              </a:extLst>
            </p:cNvPr>
            <p:cNvGrpSpPr/>
            <p:nvPr/>
          </p:nvGrpSpPr>
          <p:grpSpPr>
            <a:xfrm>
              <a:off x="5650968" y="1734594"/>
              <a:ext cx="269125" cy="301728"/>
              <a:chOff x="5733820" y="1627281"/>
              <a:chExt cx="269125" cy="301728"/>
            </a:xfrm>
          </p:grpSpPr>
          <p:sp>
            <p:nvSpPr>
              <p:cNvPr id="43" name="Google Shape;339;p19">
                <a:extLst>
                  <a:ext uri="{FF2B5EF4-FFF2-40B4-BE49-F238E27FC236}">
                    <a16:creationId xmlns:a16="http://schemas.microsoft.com/office/drawing/2014/main" id="{91707421-3992-5E64-BC6A-EB3F63B7257B}"/>
                  </a:ext>
                </a:extLst>
              </p:cNvPr>
              <p:cNvSpPr/>
              <p:nvPr/>
            </p:nvSpPr>
            <p:spPr>
              <a:xfrm>
                <a:off x="5733820" y="1680419"/>
                <a:ext cx="269125" cy="248591"/>
              </a:xfrm>
              <a:custGeom>
                <a:avLst/>
                <a:gdLst/>
                <a:ahLst/>
                <a:cxnLst/>
                <a:rect l="l" t="t" r="r" b="b"/>
                <a:pathLst>
                  <a:path w="17109" h="15892" extrusionOk="0">
                    <a:moveTo>
                      <a:pt x="3397" y="6794"/>
                    </a:moveTo>
                    <a:lnTo>
                      <a:pt x="3397" y="14759"/>
                    </a:lnTo>
                    <a:lnTo>
                      <a:pt x="1132" y="14759"/>
                    </a:lnTo>
                    <a:lnTo>
                      <a:pt x="1132" y="6794"/>
                    </a:lnTo>
                    <a:close/>
                    <a:moveTo>
                      <a:pt x="9034" y="1132"/>
                    </a:moveTo>
                    <a:cubicBezTo>
                      <a:pt x="9683" y="1175"/>
                      <a:pt x="10191" y="1712"/>
                      <a:pt x="10191" y="2364"/>
                    </a:cubicBezTo>
                    <a:cubicBezTo>
                      <a:pt x="10191" y="3346"/>
                      <a:pt x="9774" y="5275"/>
                      <a:pt x="9221" y="5828"/>
                    </a:cubicBezTo>
                    <a:cubicBezTo>
                      <a:pt x="8865" y="6184"/>
                      <a:pt x="9119" y="6794"/>
                      <a:pt x="9623" y="6794"/>
                    </a:cubicBezTo>
                    <a:lnTo>
                      <a:pt x="15285" y="6794"/>
                    </a:lnTo>
                    <a:cubicBezTo>
                      <a:pt x="15599" y="6794"/>
                      <a:pt x="15849" y="7047"/>
                      <a:pt x="15849" y="7361"/>
                    </a:cubicBezTo>
                    <a:cubicBezTo>
                      <a:pt x="15849" y="7672"/>
                      <a:pt x="15599" y="7926"/>
                      <a:pt x="15285" y="7926"/>
                    </a:cubicBezTo>
                    <a:lnTo>
                      <a:pt x="11888" y="7926"/>
                    </a:lnTo>
                    <a:cubicBezTo>
                      <a:pt x="11574" y="7926"/>
                      <a:pt x="11323" y="8180"/>
                      <a:pt x="11323" y="8494"/>
                    </a:cubicBezTo>
                    <a:cubicBezTo>
                      <a:pt x="11323" y="8805"/>
                      <a:pt x="11574" y="9058"/>
                      <a:pt x="11888" y="9058"/>
                    </a:cubicBezTo>
                    <a:lnTo>
                      <a:pt x="15285" y="9058"/>
                    </a:lnTo>
                    <a:cubicBezTo>
                      <a:pt x="15586" y="9058"/>
                      <a:pt x="15852" y="9342"/>
                      <a:pt x="15852" y="9662"/>
                    </a:cubicBezTo>
                    <a:cubicBezTo>
                      <a:pt x="15852" y="9976"/>
                      <a:pt x="15599" y="10230"/>
                      <a:pt x="15285" y="10230"/>
                    </a:cubicBezTo>
                    <a:lnTo>
                      <a:pt x="11888" y="10230"/>
                    </a:lnTo>
                    <a:cubicBezTo>
                      <a:pt x="11574" y="10230"/>
                      <a:pt x="11323" y="10484"/>
                      <a:pt x="11323" y="10795"/>
                    </a:cubicBezTo>
                    <a:cubicBezTo>
                      <a:pt x="11323" y="11109"/>
                      <a:pt x="11574" y="11362"/>
                      <a:pt x="11888" y="11362"/>
                    </a:cubicBezTo>
                    <a:lnTo>
                      <a:pt x="14152" y="11362"/>
                    </a:lnTo>
                    <a:cubicBezTo>
                      <a:pt x="14466" y="11362"/>
                      <a:pt x="14717" y="11616"/>
                      <a:pt x="14717" y="11927"/>
                    </a:cubicBezTo>
                    <a:cubicBezTo>
                      <a:pt x="14717" y="12241"/>
                      <a:pt x="14466" y="12494"/>
                      <a:pt x="14152" y="12494"/>
                    </a:cubicBezTo>
                    <a:lnTo>
                      <a:pt x="11888" y="12494"/>
                    </a:lnTo>
                    <a:cubicBezTo>
                      <a:pt x="11574" y="12494"/>
                      <a:pt x="11323" y="12748"/>
                      <a:pt x="11323" y="13059"/>
                    </a:cubicBezTo>
                    <a:cubicBezTo>
                      <a:pt x="11323" y="13373"/>
                      <a:pt x="11574" y="13627"/>
                      <a:pt x="11888" y="13627"/>
                    </a:cubicBezTo>
                    <a:lnTo>
                      <a:pt x="13020" y="13627"/>
                    </a:lnTo>
                    <a:cubicBezTo>
                      <a:pt x="13334" y="13627"/>
                      <a:pt x="13585" y="13880"/>
                      <a:pt x="13585" y="14191"/>
                    </a:cubicBezTo>
                    <a:cubicBezTo>
                      <a:pt x="13585" y="14505"/>
                      <a:pt x="13334" y="14759"/>
                      <a:pt x="13020" y="14759"/>
                    </a:cubicBezTo>
                    <a:lnTo>
                      <a:pt x="9197" y="14759"/>
                    </a:lnTo>
                    <a:cubicBezTo>
                      <a:pt x="8041" y="14759"/>
                      <a:pt x="6890" y="14572"/>
                      <a:pt x="5794" y="14207"/>
                    </a:cubicBezTo>
                    <a:lnTo>
                      <a:pt x="4529" y="13784"/>
                    </a:lnTo>
                    <a:lnTo>
                      <a:pt x="4529" y="7712"/>
                    </a:lnTo>
                    <a:lnTo>
                      <a:pt x="5686" y="7132"/>
                    </a:lnTo>
                    <a:cubicBezTo>
                      <a:pt x="6265" y="6842"/>
                      <a:pt x="6797" y="6459"/>
                      <a:pt x="7253" y="6003"/>
                    </a:cubicBezTo>
                    <a:lnTo>
                      <a:pt x="7289" y="5963"/>
                    </a:lnTo>
                    <a:cubicBezTo>
                      <a:pt x="8352" y="4901"/>
                      <a:pt x="8917" y="2654"/>
                      <a:pt x="9034" y="1132"/>
                    </a:cubicBezTo>
                    <a:close/>
                    <a:moveTo>
                      <a:pt x="8491" y="0"/>
                    </a:moveTo>
                    <a:cubicBezTo>
                      <a:pt x="8177" y="0"/>
                      <a:pt x="7926" y="254"/>
                      <a:pt x="7926" y="568"/>
                    </a:cubicBezTo>
                    <a:cubicBezTo>
                      <a:pt x="7926" y="1887"/>
                      <a:pt x="7380" y="4276"/>
                      <a:pt x="6492" y="5166"/>
                    </a:cubicBezTo>
                    <a:lnTo>
                      <a:pt x="6456" y="5203"/>
                    </a:lnTo>
                    <a:cubicBezTo>
                      <a:pt x="6081" y="5574"/>
                      <a:pt x="5652" y="5885"/>
                      <a:pt x="5181" y="6120"/>
                    </a:cubicBezTo>
                    <a:lnTo>
                      <a:pt x="4529" y="6444"/>
                    </a:lnTo>
                    <a:lnTo>
                      <a:pt x="4529" y="6229"/>
                    </a:lnTo>
                    <a:cubicBezTo>
                      <a:pt x="4529" y="5915"/>
                      <a:pt x="4276" y="5661"/>
                      <a:pt x="3962" y="5661"/>
                    </a:cubicBezTo>
                    <a:lnTo>
                      <a:pt x="565" y="5661"/>
                    </a:lnTo>
                    <a:cubicBezTo>
                      <a:pt x="251" y="5661"/>
                      <a:pt x="0" y="5915"/>
                      <a:pt x="0" y="6229"/>
                    </a:cubicBezTo>
                    <a:lnTo>
                      <a:pt x="0" y="15324"/>
                    </a:lnTo>
                    <a:cubicBezTo>
                      <a:pt x="0" y="15638"/>
                      <a:pt x="251" y="15891"/>
                      <a:pt x="565" y="15891"/>
                    </a:cubicBezTo>
                    <a:lnTo>
                      <a:pt x="3962" y="15891"/>
                    </a:lnTo>
                    <a:cubicBezTo>
                      <a:pt x="4276" y="15891"/>
                      <a:pt x="4529" y="15638"/>
                      <a:pt x="4529" y="15324"/>
                    </a:cubicBezTo>
                    <a:lnTo>
                      <a:pt x="4529" y="14976"/>
                    </a:lnTo>
                    <a:lnTo>
                      <a:pt x="5435" y="15278"/>
                    </a:lnTo>
                    <a:cubicBezTo>
                      <a:pt x="6649" y="15683"/>
                      <a:pt x="7917" y="15888"/>
                      <a:pt x="9197" y="15888"/>
                    </a:cubicBezTo>
                    <a:lnTo>
                      <a:pt x="13020" y="15888"/>
                    </a:lnTo>
                    <a:cubicBezTo>
                      <a:pt x="14219" y="15888"/>
                      <a:pt x="15040" y="14681"/>
                      <a:pt x="14599" y="13566"/>
                    </a:cubicBezTo>
                    <a:cubicBezTo>
                      <a:pt x="15577" y="13298"/>
                      <a:pt x="16106" y="12241"/>
                      <a:pt x="15731" y="11302"/>
                    </a:cubicBezTo>
                    <a:cubicBezTo>
                      <a:pt x="16468" y="11100"/>
                      <a:pt x="16981" y="10429"/>
                      <a:pt x="16984" y="9662"/>
                    </a:cubicBezTo>
                    <a:cubicBezTo>
                      <a:pt x="16981" y="9233"/>
                      <a:pt x="16824" y="8823"/>
                      <a:pt x="16541" y="8503"/>
                    </a:cubicBezTo>
                    <a:cubicBezTo>
                      <a:pt x="16994" y="8005"/>
                      <a:pt x="17108" y="7289"/>
                      <a:pt x="16837" y="6673"/>
                    </a:cubicBezTo>
                    <a:cubicBezTo>
                      <a:pt x="16565" y="6060"/>
                      <a:pt x="15958" y="5661"/>
                      <a:pt x="15285" y="5661"/>
                    </a:cubicBezTo>
                    <a:lnTo>
                      <a:pt x="10635" y="5661"/>
                    </a:lnTo>
                    <a:cubicBezTo>
                      <a:pt x="11109" y="4577"/>
                      <a:pt x="11323" y="3104"/>
                      <a:pt x="11323" y="2364"/>
                    </a:cubicBezTo>
                    <a:cubicBezTo>
                      <a:pt x="11320" y="1060"/>
                      <a:pt x="10263" y="3"/>
                      <a:pt x="89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 name="Google Shape;340;p19">
                <a:extLst>
                  <a:ext uri="{FF2B5EF4-FFF2-40B4-BE49-F238E27FC236}">
                    <a16:creationId xmlns:a16="http://schemas.microsoft.com/office/drawing/2014/main" id="{E2A57B1C-559B-9634-A699-0C936DAFA9B0}"/>
                  </a:ext>
                </a:extLst>
              </p:cNvPr>
              <p:cNvSpPr/>
              <p:nvPr/>
            </p:nvSpPr>
            <p:spPr>
              <a:xfrm>
                <a:off x="5839399" y="1627281"/>
                <a:ext cx="29274" cy="35446"/>
              </a:xfrm>
              <a:custGeom>
                <a:avLst/>
                <a:gdLst/>
                <a:ahLst/>
                <a:cxnLst/>
                <a:rect l="l" t="t" r="r" b="b"/>
                <a:pathLst>
                  <a:path w="1861" h="2266" extrusionOk="0">
                    <a:moveTo>
                      <a:pt x="646" y="1"/>
                    </a:moveTo>
                    <a:cubicBezTo>
                      <a:pt x="561" y="1"/>
                      <a:pt x="475" y="20"/>
                      <a:pt x="393" y="61"/>
                    </a:cubicBezTo>
                    <a:cubicBezTo>
                      <a:pt x="112" y="199"/>
                      <a:pt x="0" y="541"/>
                      <a:pt x="139" y="821"/>
                    </a:cubicBezTo>
                    <a:lnTo>
                      <a:pt x="707" y="1954"/>
                    </a:lnTo>
                    <a:cubicBezTo>
                      <a:pt x="805" y="2150"/>
                      <a:pt x="1005" y="2265"/>
                      <a:pt x="1212" y="2265"/>
                    </a:cubicBezTo>
                    <a:cubicBezTo>
                      <a:pt x="1297" y="2265"/>
                      <a:pt x="1384" y="2246"/>
                      <a:pt x="1465" y="2204"/>
                    </a:cubicBezTo>
                    <a:cubicBezTo>
                      <a:pt x="1746" y="2065"/>
                      <a:pt x="1860" y="1727"/>
                      <a:pt x="1718" y="1446"/>
                    </a:cubicBezTo>
                    <a:lnTo>
                      <a:pt x="1154" y="314"/>
                    </a:lnTo>
                    <a:cubicBezTo>
                      <a:pt x="1053" y="115"/>
                      <a:pt x="854" y="1"/>
                      <a:pt x="6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 name="Google Shape;341;p19">
                <a:extLst>
                  <a:ext uri="{FF2B5EF4-FFF2-40B4-BE49-F238E27FC236}">
                    <a16:creationId xmlns:a16="http://schemas.microsoft.com/office/drawing/2014/main" id="{2D5B8BCA-B14A-3044-28BD-7D6CB36A6701}"/>
                  </a:ext>
                </a:extLst>
              </p:cNvPr>
              <p:cNvSpPr/>
              <p:nvPr/>
            </p:nvSpPr>
            <p:spPr>
              <a:xfrm>
                <a:off x="5901706" y="1627281"/>
                <a:ext cx="29274" cy="35462"/>
              </a:xfrm>
              <a:custGeom>
                <a:avLst/>
                <a:gdLst/>
                <a:ahLst/>
                <a:cxnLst/>
                <a:rect l="l" t="t" r="r" b="b"/>
                <a:pathLst>
                  <a:path w="1861" h="2267" extrusionOk="0">
                    <a:moveTo>
                      <a:pt x="1215" y="1"/>
                    </a:moveTo>
                    <a:cubicBezTo>
                      <a:pt x="1007" y="1"/>
                      <a:pt x="808" y="115"/>
                      <a:pt x="707" y="314"/>
                    </a:cubicBezTo>
                    <a:lnTo>
                      <a:pt x="143" y="1446"/>
                    </a:lnTo>
                    <a:cubicBezTo>
                      <a:pt x="1" y="1727"/>
                      <a:pt x="116" y="2065"/>
                      <a:pt x="396" y="2207"/>
                    </a:cubicBezTo>
                    <a:cubicBezTo>
                      <a:pt x="477" y="2247"/>
                      <a:pt x="562" y="2266"/>
                      <a:pt x="646" y="2266"/>
                    </a:cubicBezTo>
                    <a:cubicBezTo>
                      <a:pt x="854" y="2266"/>
                      <a:pt x="1055" y="2151"/>
                      <a:pt x="1154" y="1954"/>
                    </a:cubicBezTo>
                    <a:lnTo>
                      <a:pt x="1722" y="821"/>
                    </a:lnTo>
                    <a:cubicBezTo>
                      <a:pt x="1861" y="541"/>
                      <a:pt x="1749" y="199"/>
                      <a:pt x="1468" y="61"/>
                    </a:cubicBezTo>
                    <a:cubicBezTo>
                      <a:pt x="1387" y="20"/>
                      <a:pt x="1300" y="1"/>
                      <a:pt x="1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 name="Google Shape;342;p19">
                <a:extLst>
                  <a:ext uri="{FF2B5EF4-FFF2-40B4-BE49-F238E27FC236}">
                    <a16:creationId xmlns:a16="http://schemas.microsoft.com/office/drawing/2014/main" id="{0C2312F4-5091-734C-6E7E-37A999166D9A}"/>
                  </a:ext>
                </a:extLst>
              </p:cNvPr>
              <p:cNvSpPr/>
              <p:nvPr/>
            </p:nvSpPr>
            <p:spPr>
              <a:xfrm>
                <a:off x="5929737" y="1680419"/>
                <a:ext cx="35581" cy="17723"/>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 name="Google Shape;343;p19">
                <a:extLst>
                  <a:ext uri="{FF2B5EF4-FFF2-40B4-BE49-F238E27FC236}">
                    <a16:creationId xmlns:a16="http://schemas.microsoft.com/office/drawing/2014/main" id="{5BBE874C-B33C-77CF-38F9-C77B2CC56EAD}"/>
                  </a:ext>
                </a:extLst>
              </p:cNvPr>
              <p:cNvSpPr/>
              <p:nvPr/>
            </p:nvSpPr>
            <p:spPr>
              <a:xfrm>
                <a:off x="5805061" y="1680419"/>
                <a:ext cx="35581" cy="17723"/>
              </a:xfrm>
              <a:custGeom>
                <a:avLst/>
                <a:gdLst/>
                <a:ahLst/>
                <a:cxnLst/>
                <a:rect l="l" t="t" r="r" b="b"/>
                <a:pathLst>
                  <a:path w="2262" h="1133" extrusionOk="0">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9" name="Google Shape;344;p19">
              <a:extLst>
                <a:ext uri="{FF2B5EF4-FFF2-40B4-BE49-F238E27FC236}">
                  <a16:creationId xmlns:a16="http://schemas.microsoft.com/office/drawing/2014/main" id="{14DE1E80-58FC-5D68-09BC-BE29A02ED215}"/>
                </a:ext>
              </a:extLst>
            </p:cNvPr>
            <p:cNvGrpSpPr/>
            <p:nvPr/>
          </p:nvGrpSpPr>
          <p:grpSpPr>
            <a:xfrm>
              <a:off x="3252950" y="3857407"/>
              <a:ext cx="301757" cy="301764"/>
              <a:chOff x="-4932650" y="2046625"/>
              <a:chExt cx="293025" cy="291250"/>
            </a:xfrm>
          </p:grpSpPr>
          <p:sp>
            <p:nvSpPr>
              <p:cNvPr id="41" name="Google Shape;345;p19">
                <a:extLst>
                  <a:ext uri="{FF2B5EF4-FFF2-40B4-BE49-F238E27FC236}">
                    <a16:creationId xmlns:a16="http://schemas.microsoft.com/office/drawing/2014/main" id="{87E8A0AE-AE27-7045-099C-1B44AAEC5528}"/>
                  </a:ext>
                </a:extLst>
              </p:cNvPr>
              <p:cNvSpPr/>
              <p:nvPr/>
            </p:nvSpPr>
            <p:spPr>
              <a:xfrm>
                <a:off x="-4932650" y="2046625"/>
                <a:ext cx="293025" cy="291250"/>
              </a:xfrm>
              <a:custGeom>
                <a:avLst/>
                <a:gdLst/>
                <a:ahLst/>
                <a:cxnLst/>
                <a:rect l="l" t="t" r="r" b="b"/>
                <a:pathLst>
                  <a:path w="11721" h="11650" extrusionOk="0">
                    <a:moveTo>
                      <a:pt x="7625" y="694"/>
                    </a:moveTo>
                    <a:cubicBezTo>
                      <a:pt x="9515" y="694"/>
                      <a:pt x="11059" y="2206"/>
                      <a:pt x="11059" y="4096"/>
                    </a:cubicBezTo>
                    <a:cubicBezTo>
                      <a:pt x="11059" y="5987"/>
                      <a:pt x="9515" y="7530"/>
                      <a:pt x="7625" y="7530"/>
                    </a:cubicBezTo>
                    <a:cubicBezTo>
                      <a:pt x="5735" y="7530"/>
                      <a:pt x="4223" y="5987"/>
                      <a:pt x="4223" y="4096"/>
                    </a:cubicBezTo>
                    <a:cubicBezTo>
                      <a:pt x="4223" y="2206"/>
                      <a:pt x="5735" y="694"/>
                      <a:pt x="7625" y="694"/>
                    </a:cubicBezTo>
                    <a:close/>
                    <a:moveTo>
                      <a:pt x="3344" y="8066"/>
                    </a:moveTo>
                    <a:cubicBezTo>
                      <a:pt x="3435" y="8066"/>
                      <a:pt x="3529" y="8098"/>
                      <a:pt x="3593" y="8161"/>
                    </a:cubicBezTo>
                    <a:cubicBezTo>
                      <a:pt x="3719" y="8287"/>
                      <a:pt x="3719" y="8507"/>
                      <a:pt x="3593" y="8633"/>
                    </a:cubicBezTo>
                    <a:lnTo>
                      <a:pt x="1324" y="10870"/>
                    </a:lnTo>
                    <a:cubicBezTo>
                      <a:pt x="1277" y="10933"/>
                      <a:pt x="1190" y="10964"/>
                      <a:pt x="1100" y="10964"/>
                    </a:cubicBezTo>
                    <a:cubicBezTo>
                      <a:pt x="1009" y="10964"/>
                      <a:pt x="915" y="10933"/>
                      <a:pt x="852" y="10870"/>
                    </a:cubicBezTo>
                    <a:cubicBezTo>
                      <a:pt x="757" y="10744"/>
                      <a:pt x="757" y="10523"/>
                      <a:pt x="852" y="10397"/>
                    </a:cubicBezTo>
                    <a:lnTo>
                      <a:pt x="3120" y="8161"/>
                    </a:lnTo>
                    <a:cubicBezTo>
                      <a:pt x="3167" y="8098"/>
                      <a:pt x="3254" y="8066"/>
                      <a:pt x="3344" y="8066"/>
                    </a:cubicBezTo>
                    <a:close/>
                    <a:moveTo>
                      <a:pt x="7625" y="1"/>
                    </a:moveTo>
                    <a:cubicBezTo>
                      <a:pt x="5357" y="1"/>
                      <a:pt x="3529" y="1860"/>
                      <a:pt x="3529" y="4096"/>
                    </a:cubicBezTo>
                    <a:cubicBezTo>
                      <a:pt x="3529" y="5136"/>
                      <a:pt x="3908" y="6050"/>
                      <a:pt x="4538" y="6743"/>
                    </a:cubicBezTo>
                    <a:lnTo>
                      <a:pt x="3813" y="7467"/>
                    </a:lnTo>
                    <a:cubicBezTo>
                      <a:pt x="3673" y="7386"/>
                      <a:pt x="3520" y="7347"/>
                      <a:pt x="3367" y="7347"/>
                    </a:cubicBezTo>
                    <a:cubicBezTo>
                      <a:pt x="3106" y="7347"/>
                      <a:pt x="2846" y="7458"/>
                      <a:pt x="2647" y="7656"/>
                    </a:cubicBezTo>
                    <a:lnTo>
                      <a:pt x="379" y="9893"/>
                    </a:lnTo>
                    <a:cubicBezTo>
                      <a:pt x="1" y="10271"/>
                      <a:pt x="1" y="10964"/>
                      <a:pt x="379" y="11343"/>
                    </a:cubicBezTo>
                    <a:cubicBezTo>
                      <a:pt x="584" y="11547"/>
                      <a:pt x="852" y="11650"/>
                      <a:pt x="1119" y="11650"/>
                    </a:cubicBezTo>
                    <a:cubicBezTo>
                      <a:pt x="1387" y="11650"/>
                      <a:pt x="1655" y="11547"/>
                      <a:pt x="1860" y="11343"/>
                    </a:cubicBezTo>
                    <a:lnTo>
                      <a:pt x="4097" y="9106"/>
                    </a:lnTo>
                    <a:cubicBezTo>
                      <a:pt x="4412" y="8791"/>
                      <a:pt x="4506" y="8318"/>
                      <a:pt x="4286" y="7909"/>
                    </a:cubicBezTo>
                    <a:lnTo>
                      <a:pt x="5010" y="7215"/>
                    </a:lnTo>
                    <a:cubicBezTo>
                      <a:pt x="5703" y="7814"/>
                      <a:pt x="6648" y="8192"/>
                      <a:pt x="7625" y="8192"/>
                    </a:cubicBezTo>
                    <a:cubicBezTo>
                      <a:pt x="9925" y="8192"/>
                      <a:pt x="11721" y="6333"/>
                      <a:pt x="11721" y="4096"/>
                    </a:cubicBezTo>
                    <a:cubicBezTo>
                      <a:pt x="11721" y="1828"/>
                      <a:pt x="9893" y="1"/>
                      <a:pt x="76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46;p19">
                <a:extLst>
                  <a:ext uri="{FF2B5EF4-FFF2-40B4-BE49-F238E27FC236}">
                    <a16:creationId xmlns:a16="http://schemas.microsoft.com/office/drawing/2014/main" id="{8390BF4A-0FAF-4A31-9A53-17A891F398D5}"/>
                  </a:ext>
                </a:extLst>
              </p:cNvPr>
              <p:cNvSpPr/>
              <p:nvPr/>
            </p:nvSpPr>
            <p:spPr>
              <a:xfrm>
                <a:off x="-4802675" y="2115050"/>
                <a:ext cx="122100" cy="86075"/>
              </a:xfrm>
              <a:custGeom>
                <a:avLst/>
                <a:gdLst/>
                <a:ahLst/>
                <a:cxnLst/>
                <a:rect l="l" t="t" r="r" b="b"/>
                <a:pathLst>
                  <a:path w="4884" h="3443" extrusionOk="0">
                    <a:moveTo>
                      <a:pt x="2428" y="1"/>
                    </a:moveTo>
                    <a:cubicBezTo>
                      <a:pt x="2301" y="1"/>
                      <a:pt x="2172" y="72"/>
                      <a:pt x="2111" y="225"/>
                    </a:cubicBezTo>
                    <a:lnTo>
                      <a:pt x="1418" y="2116"/>
                    </a:lnTo>
                    <a:lnTo>
                      <a:pt x="693" y="225"/>
                    </a:lnTo>
                    <a:cubicBezTo>
                      <a:pt x="645" y="105"/>
                      <a:pt x="524" y="4"/>
                      <a:pt x="400" y="4"/>
                    </a:cubicBezTo>
                    <a:cubicBezTo>
                      <a:pt x="361" y="4"/>
                      <a:pt x="321" y="14"/>
                      <a:pt x="284" y="36"/>
                    </a:cubicBezTo>
                    <a:cubicBezTo>
                      <a:pt x="126" y="99"/>
                      <a:pt x="0" y="288"/>
                      <a:pt x="63" y="446"/>
                    </a:cubicBezTo>
                    <a:lnTo>
                      <a:pt x="1103" y="3218"/>
                    </a:lnTo>
                    <a:cubicBezTo>
                      <a:pt x="1168" y="3364"/>
                      <a:pt x="1299" y="3443"/>
                      <a:pt x="1428" y="3443"/>
                    </a:cubicBezTo>
                    <a:cubicBezTo>
                      <a:pt x="1551" y="3443"/>
                      <a:pt x="1672" y="3372"/>
                      <a:pt x="1733" y="3218"/>
                    </a:cubicBezTo>
                    <a:lnTo>
                      <a:pt x="2426" y="1328"/>
                    </a:lnTo>
                    <a:lnTo>
                      <a:pt x="3151" y="3218"/>
                    </a:lnTo>
                    <a:cubicBezTo>
                      <a:pt x="3215" y="3364"/>
                      <a:pt x="3346" y="3443"/>
                      <a:pt x="3476" y="3443"/>
                    </a:cubicBezTo>
                    <a:cubicBezTo>
                      <a:pt x="3598" y="3443"/>
                      <a:pt x="3719" y="3372"/>
                      <a:pt x="3781" y="3218"/>
                    </a:cubicBezTo>
                    <a:lnTo>
                      <a:pt x="4789" y="446"/>
                    </a:lnTo>
                    <a:cubicBezTo>
                      <a:pt x="4884" y="257"/>
                      <a:pt x="4789" y="68"/>
                      <a:pt x="4600" y="36"/>
                    </a:cubicBezTo>
                    <a:cubicBezTo>
                      <a:pt x="4562" y="14"/>
                      <a:pt x="4521" y="4"/>
                      <a:pt x="4479" y="4"/>
                    </a:cubicBezTo>
                    <a:cubicBezTo>
                      <a:pt x="4346" y="4"/>
                      <a:pt x="4207" y="105"/>
                      <a:pt x="4159" y="225"/>
                    </a:cubicBezTo>
                    <a:lnTo>
                      <a:pt x="3466" y="2116"/>
                    </a:lnTo>
                    <a:lnTo>
                      <a:pt x="2741" y="225"/>
                    </a:lnTo>
                    <a:cubicBezTo>
                      <a:pt x="2693" y="80"/>
                      <a:pt x="2561" y="1"/>
                      <a:pt x="24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347;p19">
              <a:extLst>
                <a:ext uri="{FF2B5EF4-FFF2-40B4-BE49-F238E27FC236}">
                  <a16:creationId xmlns:a16="http://schemas.microsoft.com/office/drawing/2014/main" id="{2122F5B3-84F2-F797-B76E-697A34718B7E}"/>
                </a:ext>
              </a:extLst>
            </p:cNvPr>
            <p:cNvSpPr/>
            <p:nvPr/>
          </p:nvSpPr>
          <p:spPr>
            <a:xfrm>
              <a:off x="6207996" y="3558378"/>
              <a:ext cx="301738" cy="211231"/>
            </a:xfrm>
            <a:custGeom>
              <a:avLst/>
              <a:gdLst/>
              <a:ahLst/>
              <a:cxnLst/>
              <a:rect l="l" t="t" r="r" b="b"/>
              <a:pathLst>
                <a:path w="11658" h="8192" extrusionOk="0">
                  <a:moveTo>
                    <a:pt x="10429" y="662"/>
                  </a:moveTo>
                  <a:cubicBezTo>
                    <a:pt x="10114" y="1008"/>
                    <a:pt x="6207" y="4915"/>
                    <a:pt x="6081" y="5072"/>
                  </a:cubicBezTo>
                  <a:cubicBezTo>
                    <a:pt x="6018" y="5135"/>
                    <a:pt x="5916" y="5167"/>
                    <a:pt x="5813" y="5167"/>
                  </a:cubicBezTo>
                  <a:cubicBezTo>
                    <a:pt x="5711" y="5167"/>
                    <a:pt x="5608" y="5135"/>
                    <a:pt x="5545" y="5072"/>
                  </a:cubicBezTo>
                  <a:lnTo>
                    <a:pt x="1135" y="662"/>
                  </a:lnTo>
                  <a:close/>
                  <a:moveTo>
                    <a:pt x="662" y="1134"/>
                  </a:moveTo>
                  <a:lnTo>
                    <a:pt x="3624" y="4096"/>
                  </a:lnTo>
                  <a:lnTo>
                    <a:pt x="662" y="7057"/>
                  </a:lnTo>
                  <a:lnTo>
                    <a:pt x="662" y="1134"/>
                  </a:lnTo>
                  <a:close/>
                  <a:moveTo>
                    <a:pt x="10996" y="1134"/>
                  </a:moveTo>
                  <a:lnTo>
                    <a:pt x="10996" y="7057"/>
                  </a:lnTo>
                  <a:lnTo>
                    <a:pt x="8034" y="4096"/>
                  </a:lnTo>
                  <a:lnTo>
                    <a:pt x="10996" y="1134"/>
                  </a:lnTo>
                  <a:close/>
                  <a:moveTo>
                    <a:pt x="7562" y="4568"/>
                  </a:moveTo>
                  <a:lnTo>
                    <a:pt x="10492" y="7530"/>
                  </a:lnTo>
                  <a:lnTo>
                    <a:pt x="1198" y="7530"/>
                  </a:lnTo>
                  <a:lnTo>
                    <a:pt x="4096" y="4568"/>
                  </a:lnTo>
                  <a:lnTo>
                    <a:pt x="5073" y="5545"/>
                  </a:lnTo>
                  <a:cubicBezTo>
                    <a:pt x="5278" y="5750"/>
                    <a:pt x="5553" y="5852"/>
                    <a:pt x="5829" y="5852"/>
                  </a:cubicBezTo>
                  <a:cubicBezTo>
                    <a:pt x="6105" y="5852"/>
                    <a:pt x="6380" y="5750"/>
                    <a:pt x="6585" y="5545"/>
                  </a:cubicBezTo>
                  <a:lnTo>
                    <a:pt x="7562" y="4568"/>
                  </a:lnTo>
                  <a:close/>
                  <a:moveTo>
                    <a:pt x="1009" y="0"/>
                  </a:moveTo>
                  <a:cubicBezTo>
                    <a:pt x="473" y="0"/>
                    <a:pt x="1" y="473"/>
                    <a:pt x="1" y="1008"/>
                  </a:cubicBezTo>
                  <a:lnTo>
                    <a:pt x="1" y="7152"/>
                  </a:lnTo>
                  <a:cubicBezTo>
                    <a:pt x="1" y="7719"/>
                    <a:pt x="473" y="8191"/>
                    <a:pt x="1009" y="8191"/>
                  </a:cubicBezTo>
                  <a:lnTo>
                    <a:pt x="10618" y="8191"/>
                  </a:lnTo>
                  <a:cubicBezTo>
                    <a:pt x="11185" y="8191"/>
                    <a:pt x="11657" y="7719"/>
                    <a:pt x="11657" y="7152"/>
                  </a:cubicBezTo>
                  <a:lnTo>
                    <a:pt x="11657" y="1008"/>
                  </a:lnTo>
                  <a:cubicBezTo>
                    <a:pt x="11657" y="441"/>
                    <a:pt x="11185" y="0"/>
                    <a:pt x="106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 name="Google Shape;348;p19">
              <a:extLst>
                <a:ext uri="{FF2B5EF4-FFF2-40B4-BE49-F238E27FC236}">
                  <a16:creationId xmlns:a16="http://schemas.microsoft.com/office/drawing/2014/main" id="{9DEC0179-AA4B-5C77-695D-254DCBD31CF8}"/>
                </a:ext>
              </a:extLst>
            </p:cNvPr>
            <p:cNvGrpSpPr/>
            <p:nvPr/>
          </p:nvGrpSpPr>
          <p:grpSpPr>
            <a:xfrm>
              <a:off x="6108400" y="1284282"/>
              <a:ext cx="210108" cy="609260"/>
              <a:chOff x="6215336" y="1495425"/>
              <a:chExt cx="210108" cy="437813"/>
            </a:xfrm>
          </p:grpSpPr>
          <p:cxnSp>
            <p:nvCxnSpPr>
              <p:cNvPr id="39" name="Google Shape;349;p19">
                <a:extLst>
                  <a:ext uri="{FF2B5EF4-FFF2-40B4-BE49-F238E27FC236}">
                    <a16:creationId xmlns:a16="http://schemas.microsoft.com/office/drawing/2014/main" id="{01720A56-1370-D8C9-D7A0-03B03CDABEAB}"/>
                  </a:ext>
                </a:extLst>
              </p:cNvPr>
              <p:cNvCxnSpPr/>
              <p:nvPr/>
            </p:nvCxnSpPr>
            <p:spPr>
              <a:xfrm>
                <a:off x="6425444" y="1495425"/>
                <a:ext cx="0" cy="435600"/>
              </a:xfrm>
              <a:prstGeom prst="straightConnector1">
                <a:avLst/>
              </a:prstGeom>
              <a:noFill/>
              <a:ln w="19050" cap="flat" cmpd="sng">
                <a:solidFill>
                  <a:srgbClr val="434343"/>
                </a:solidFill>
                <a:prstDash val="dot"/>
                <a:round/>
                <a:headEnd type="none" w="med" len="med"/>
                <a:tailEnd type="none" w="med" len="med"/>
              </a:ln>
            </p:spPr>
          </p:cxnSp>
          <p:cxnSp>
            <p:nvCxnSpPr>
              <p:cNvPr id="40" name="Google Shape;350;p19">
                <a:extLst>
                  <a:ext uri="{FF2B5EF4-FFF2-40B4-BE49-F238E27FC236}">
                    <a16:creationId xmlns:a16="http://schemas.microsoft.com/office/drawing/2014/main" id="{870A14CF-9C7D-801A-5674-69322215ED8C}"/>
                  </a:ext>
                </a:extLst>
              </p:cNvPr>
              <p:cNvCxnSpPr/>
              <p:nvPr/>
            </p:nvCxnSpPr>
            <p:spPr>
              <a:xfrm>
                <a:off x="6215336" y="1931138"/>
                <a:ext cx="194700" cy="2100"/>
              </a:xfrm>
              <a:prstGeom prst="straightConnector1">
                <a:avLst/>
              </a:prstGeom>
              <a:noFill/>
              <a:ln w="19050" cap="flat" cmpd="sng">
                <a:solidFill>
                  <a:srgbClr val="434343"/>
                </a:solidFill>
                <a:prstDash val="dot"/>
                <a:round/>
                <a:headEnd type="none" w="med" len="med"/>
                <a:tailEnd type="none" w="med" len="med"/>
              </a:ln>
            </p:spPr>
          </p:cxnSp>
        </p:grpSp>
        <p:grpSp>
          <p:nvGrpSpPr>
            <p:cNvPr id="23" name="Google Shape;352;p19">
              <a:extLst>
                <a:ext uri="{FF2B5EF4-FFF2-40B4-BE49-F238E27FC236}">
                  <a16:creationId xmlns:a16="http://schemas.microsoft.com/office/drawing/2014/main" id="{BDEA231D-C2D9-2DE2-CF05-B626F373A4AD}"/>
                </a:ext>
              </a:extLst>
            </p:cNvPr>
            <p:cNvGrpSpPr/>
            <p:nvPr/>
          </p:nvGrpSpPr>
          <p:grpSpPr>
            <a:xfrm>
              <a:off x="3726873" y="4004379"/>
              <a:ext cx="566887" cy="264001"/>
              <a:chOff x="3833686" y="3914913"/>
              <a:chExt cx="327000" cy="314100"/>
            </a:xfrm>
          </p:grpSpPr>
          <p:cxnSp>
            <p:nvCxnSpPr>
              <p:cNvPr id="37" name="Google Shape;353;p19">
                <a:extLst>
                  <a:ext uri="{FF2B5EF4-FFF2-40B4-BE49-F238E27FC236}">
                    <a16:creationId xmlns:a16="http://schemas.microsoft.com/office/drawing/2014/main" id="{570A5242-DBCA-11B8-75F2-E609CE91C72B}"/>
                  </a:ext>
                </a:extLst>
              </p:cNvPr>
              <p:cNvCxnSpPr/>
              <p:nvPr/>
            </p:nvCxnSpPr>
            <p:spPr>
              <a:xfrm rot="10800000">
                <a:off x="4160686" y="3914913"/>
                <a:ext cx="0" cy="314100"/>
              </a:xfrm>
              <a:prstGeom prst="straightConnector1">
                <a:avLst/>
              </a:prstGeom>
              <a:noFill/>
              <a:ln w="19050" cap="flat" cmpd="sng">
                <a:solidFill>
                  <a:srgbClr val="434343"/>
                </a:solidFill>
                <a:prstDash val="dot"/>
                <a:round/>
                <a:headEnd type="none" w="med" len="med"/>
                <a:tailEnd type="none" w="med" len="med"/>
              </a:ln>
            </p:spPr>
          </p:cxnSp>
          <p:cxnSp>
            <p:nvCxnSpPr>
              <p:cNvPr id="38" name="Google Shape;354;p19">
                <a:extLst>
                  <a:ext uri="{FF2B5EF4-FFF2-40B4-BE49-F238E27FC236}">
                    <a16:creationId xmlns:a16="http://schemas.microsoft.com/office/drawing/2014/main" id="{84A5C2E7-8A7B-67DF-445C-0A4BA589EA24}"/>
                  </a:ext>
                </a:extLst>
              </p:cNvPr>
              <p:cNvCxnSpPr/>
              <p:nvPr/>
            </p:nvCxnSpPr>
            <p:spPr>
              <a:xfrm>
                <a:off x="3833686" y="3917125"/>
                <a:ext cx="327000" cy="0"/>
              </a:xfrm>
              <a:prstGeom prst="straightConnector1">
                <a:avLst/>
              </a:prstGeom>
              <a:noFill/>
              <a:ln w="19050" cap="flat" cmpd="sng">
                <a:solidFill>
                  <a:srgbClr val="434343"/>
                </a:solidFill>
                <a:prstDash val="dot"/>
                <a:round/>
                <a:headEnd type="none" w="med" len="med"/>
                <a:tailEnd type="none" w="med" len="med"/>
              </a:ln>
            </p:spPr>
          </p:cxnSp>
        </p:grpSp>
        <p:cxnSp>
          <p:nvCxnSpPr>
            <p:cNvPr id="24" name="Google Shape;355;p19">
              <a:extLst>
                <a:ext uri="{FF2B5EF4-FFF2-40B4-BE49-F238E27FC236}">
                  <a16:creationId xmlns:a16="http://schemas.microsoft.com/office/drawing/2014/main" id="{11138DB6-11CC-564D-1760-49FDBE48A19A}"/>
                </a:ext>
              </a:extLst>
            </p:cNvPr>
            <p:cNvCxnSpPr/>
            <p:nvPr/>
          </p:nvCxnSpPr>
          <p:spPr>
            <a:xfrm>
              <a:off x="4686921" y="3124513"/>
              <a:ext cx="0" cy="290400"/>
            </a:xfrm>
            <a:prstGeom prst="straightConnector1">
              <a:avLst/>
            </a:prstGeom>
            <a:noFill/>
            <a:ln w="19050" cap="flat" cmpd="sng">
              <a:solidFill>
                <a:srgbClr val="434343"/>
              </a:solidFill>
              <a:prstDash val="dot"/>
              <a:round/>
              <a:headEnd type="none" w="med" len="med"/>
              <a:tailEnd type="none" w="med" len="med"/>
            </a:ln>
          </p:spPr>
        </p:cxnSp>
        <p:cxnSp>
          <p:nvCxnSpPr>
            <p:cNvPr id="25" name="Google Shape;356;p19">
              <a:extLst>
                <a:ext uri="{FF2B5EF4-FFF2-40B4-BE49-F238E27FC236}">
                  <a16:creationId xmlns:a16="http://schemas.microsoft.com/office/drawing/2014/main" id="{C36773C4-EB5A-0D8B-4193-72126DD2ABEB}"/>
                </a:ext>
              </a:extLst>
            </p:cNvPr>
            <p:cNvCxnSpPr/>
            <p:nvPr/>
          </p:nvCxnSpPr>
          <p:spPr>
            <a:xfrm>
              <a:off x="1503449" y="3521063"/>
              <a:ext cx="0" cy="264000"/>
            </a:xfrm>
            <a:prstGeom prst="straightConnector1">
              <a:avLst/>
            </a:prstGeom>
            <a:noFill/>
            <a:ln w="19050" cap="flat" cmpd="sng">
              <a:solidFill>
                <a:srgbClr val="434343"/>
              </a:solidFill>
              <a:prstDash val="dot"/>
              <a:round/>
              <a:headEnd type="none" w="med" len="med"/>
              <a:tailEnd type="none" w="med" len="med"/>
            </a:ln>
          </p:spPr>
        </p:cxnSp>
        <p:cxnSp>
          <p:nvCxnSpPr>
            <p:cNvPr id="26" name="Google Shape;357;p19">
              <a:extLst>
                <a:ext uri="{FF2B5EF4-FFF2-40B4-BE49-F238E27FC236}">
                  <a16:creationId xmlns:a16="http://schemas.microsoft.com/office/drawing/2014/main" id="{BED8854F-AE35-A054-B350-93C163750672}"/>
                </a:ext>
              </a:extLst>
            </p:cNvPr>
            <p:cNvCxnSpPr>
              <a:cxnSpLocks/>
            </p:cNvCxnSpPr>
            <p:nvPr/>
          </p:nvCxnSpPr>
          <p:spPr>
            <a:xfrm>
              <a:off x="6787861" y="3532000"/>
              <a:ext cx="0" cy="472379"/>
            </a:xfrm>
            <a:prstGeom prst="straightConnector1">
              <a:avLst/>
            </a:prstGeom>
            <a:noFill/>
            <a:ln w="19050" cap="flat" cmpd="sng">
              <a:solidFill>
                <a:srgbClr val="434343"/>
              </a:solidFill>
              <a:prstDash val="dot"/>
              <a:round/>
              <a:headEnd type="none" w="med" len="med"/>
              <a:tailEnd type="none" w="med" len="med"/>
            </a:ln>
          </p:spPr>
        </p:cxnSp>
        <p:grpSp>
          <p:nvGrpSpPr>
            <p:cNvPr id="27" name="Google Shape;358;p19">
              <a:extLst>
                <a:ext uri="{FF2B5EF4-FFF2-40B4-BE49-F238E27FC236}">
                  <a16:creationId xmlns:a16="http://schemas.microsoft.com/office/drawing/2014/main" id="{3C6098EF-8CC1-508B-CCB9-73A24833D76D}"/>
                </a:ext>
              </a:extLst>
            </p:cNvPr>
            <p:cNvGrpSpPr/>
            <p:nvPr/>
          </p:nvGrpSpPr>
          <p:grpSpPr>
            <a:xfrm>
              <a:off x="3477032" y="1642673"/>
              <a:ext cx="349517" cy="194702"/>
              <a:chOff x="3583957" y="1671123"/>
              <a:chExt cx="349517" cy="194702"/>
            </a:xfrm>
          </p:grpSpPr>
          <p:cxnSp>
            <p:nvCxnSpPr>
              <p:cNvPr id="35" name="Google Shape;359;p19">
                <a:extLst>
                  <a:ext uri="{FF2B5EF4-FFF2-40B4-BE49-F238E27FC236}">
                    <a16:creationId xmlns:a16="http://schemas.microsoft.com/office/drawing/2014/main" id="{C50B9DD1-10EE-4A67-6679-E670BC568C03}"/>
                  </a:ext>
                </a:extLst>
              </p:cNvPr>
              <p:cNvCxnSpPr/>
              <p:nvPr/>
            </p:nvCxnSpPr>
            <p:spPr>
              <a:xfrm>
                <a:off x="3583957" y="1671123"/>
                <a:ext cx="327000" cy="0"/>
              </a:xfrm>
              <a:prstGeom prst="straightConnector1">
                <a:avLst/>
              </a:prstGeom>
              <a:noFill/>
              <a:ln w="19050" cap="flat" cmpd="sng">
                <a:solidFill>
                  <a:srgbClr val="434343"/>
                </a:solidFill>
                <a:prstDash val="dot"/>
                <a:round/>
                <a:headEnd type="none" w="med" len="med"/>
                <a:tailEnd type="none" w="med" len="med"/>
              </a:ln>
            </p:spPr>
          </p:cxnSp>
          <p:cxnSp>
            <p:nvCxnSpPr>
              <p:cNvPr id="36" name="Google Shape;360;p19">
                <a:extLst>
                  <a:ext uri="{FF2B5EF4-FFF2-40B4-BE49-F238E27FC236}">
                    <a16:creationId xmlns:a16="http://schemas.microsoft.com/office/drawing/2014/main" id="{7E9FE753-D6BB-3C8B-C900-A30AF3E9F0BB}"/>
                  </a:ext>
                </a:extLst>
              </p:cNvPr>
              <p:cNvCxnSpPr/>
              <p:nvPr/>
            </p:nvCxnSpPr>
            <p:spPr>
              <a:xfrm rot="5400000">
                <a:off x="3835074" y="1767425"/>
                <a:ext cx="194700" cy="2100"/>
              </a:xfrm>
              <a:prstGeom prst="straightConnector1">
                <a:avLst/>
              </a:prstGeom>
              <a:noFill/>
              <a:ln w="19050" cap="flat" cmpd="sng">
                <a:solidFill>
                  <a:srgbClr val="434343"/>
                </a:solidFill>
                <a:prstDash val="dot"/>
                <a:round/>
                <a:headEnd type="none" w="med" len="med"/>
                <a:tailEnd type="none" w="med" len="med"/>
              </a:ln>
            </p:spPr>
          </p:cxnSp>
        </p:grpSp>
        <p:sp>
          <p:nvSpPr>
            <p:cNvPr id="28" name="Google Shape;361;p19">
              <a:extLst>
                <a:ext uri="{FF2B5EF4-FFF2-40B4-BE49-F238E27FC236}">
                  <a16:creationId xmlns:a16="http://schemas.microsoft.com/office/drawing/2014/main" id="{F9D65762-4084-DE0C-920F-31543BA33795}"/>
                </a:ext>
              </a:extLst>
            </p:cNvPr>
            <p:cNvSpPr txBox="1"/>
            <p:nvPr/>
          </p:nvSpPr>
          <p:spPr>
            <a:xfrm>
              <a:off x="2134562" y="1437813"/>
              <a:ext cx="1490400" cy="399600"/>
            </a:xfrm>
            <a:prstGeom prst="rect">
              <a:avLst/>
            </a:prstGeom>
            <a:noFill/>
            <a:ln>
              <a:noFill/>
            </a:ln>
          </p:spPr>
          <p:txBody>
            <a:bodyPr spcFirstLastPara="1" wrap="square" lIns="91425" tIns="91425" rIns="91425" bIns="91425" anchor="ctr" anchorCtr="0">
              <a:noAutofit/>
            </a:bodyPr>
            <a:lstStyle/>
            <a:p>
              <a:pPr algn="ctr"/>
              <a:r>
                <a:rPr lang="en-GB" sz="2000" dirty="0">
                  <a:latin typeface="Georgia Pro Light" panose="02040302050405020303" pitchFamily="18" charset="0"/>
                </a:rPr>
                <a:t>Setting up of Project Governance </a:t>
              </a:r>
              <a:r>
                <a:rPr lang="en-GB" sz="2000" u="sng" dirty="0">
                  <a:latin typeface="Georgia Pro Light" panose="02040302050405020303" pitchFamily="18" charset="0"/>
                </a:rPr>
                <a:t>Structure</a:t>
              </a:r>
            </a:p>
            <a:p>
              <a:pPr algn="ctr"/>
              <a:r>
                <a:rPr lang="en-GB" sz="1600" dirty="0">
                  <a:solidFill>
                    <a:schemeClr val="accent1"/>
                  </a:solidFill>
                  <a:latin typeface="Georgia Pro Light" panose="02040302050405020303" pitchFamily="18" charset="0"/>
                </a:rPr>
                <a:t>2019</a:t>
              </a:r>
              <a:endParaRPr lang="en-US" sz="1600" dirty="0">
                <a:solidFill>
                  <a:schemeClr val="accent1"/>
                </a:solidFill>
                <a:latin typeface="Georgia Pro Light" panose="02040302050405020303" pitchFamily="18" charset="0"/>
              </a:endParaRPr>
            </a:p>
          </p:txBody>
        </p:sp>
        <p:sp>
          <p:nvSpPr>
            <p:cNvPr id="29" name="Google Shape;362;p19">
              <a:extLst>
                <a:ext uri="{FF2B5EF4-FFF2-40B4-BE49-F238E27FC236}">
                  <a16:creationId xmlns:a16="http://schemas.microsoft.com/office/drawing/2014/main" id="{CAE53CE5-911A-395C-BEC2-3F6834E72454}"/>
                </a:ext>
              </a:extLst>
            </p:cNvPr>
            <p:cNvSpPr txBox="1"/>
            <p:nvPr/>
          </p:nvSpPr>
          <p:spPr>
            <a:xfrm>
              <a:off x="7533918" y="880585"/>
              <a:ext cx="1261143" cy="1334305"/>
            </a:xfrm>
            <a:prstGeom prst="rect">
              <a:avLst/>
            </a:prstGeom>
            <a:noFill/>
            <a:ln w="15875">
              <a:solidFill>
                <a:schemeClr val="accent1"/>
              </a:solidFill>
              <a:prstDash val="sysDash"/>
            </a:ln>
          </p:spPr>
          <p:txBody>
            <a:bodyPr spcFirstLastPara="1" wrap="square" lIns="91425" tIns="91425" rIns="91425" bIns="91425" anchor="ctr" anchorCtr="0">
              <a:noAutofit/>
            </a:bodyPr>
            <a:lstStyle/>
            <a:p>
              <a:pPr algn="ctr"/>
              <a:r>
                <a:rPr lang="en-GB" sz="2000" dirty="0">
                  <a:latin typeface="Georgia Pro Light" panose="02040302050405020303" pitchFamily="18" charset="0"/>
                </a:rPr>
                <a:t>First Consolidated Accrual Financial </a:t>
              </a:r>
              <a:r>
                <a:rPr lang="en-GB" sz="2000" u="sng" dirty="0">
                  <a:latin typeface="Georgia Pro Light" panose="02040302050405020303" pitchFamily="18" charset="0"/>
                </a:rPr>
                <a:t>Statements</a:t>
              </a:r>
            </a:p>
            <a:p>
              <a:pPr algn="ctr"/>
              <a:r>
                <a:rPr lang="en-GB" sz="1600" dirty="0">
                  <a:solidFill>
                    <a:schemeClr val="accent1"/>
                  </a:solidFill>
                  <a:latin typeface="Georgia Pro Light" panose="02040302050405020303" pitchFamily="18" charset="0"/>
                </a:rPr>
                <a:t>Fy 2023/24</a:t>
              </a:r>
              <a:endParaRPr lang="en-US" sz="1600" dirty="0">
                <a:solidFill>
                  <a:schemeClr val="accent1"/>
                </a:solidFill>
                <a:latin typeface="Georgia Pro Light" panose="02040302050405020303" pitchFamily="18" charset="0"/>
              </a:endParaRPr>
            </a:p>
          </p:txBody>
        </p:sp>
        <p:sp>
          <p:nvSpPr>
            <p:cNvPr id="30" name="Google Shape;363;p19">
              <a:extLst>
                <a:ext uri="{FF2B5EF4-FFF2-40B4-BE49-F238E27FC236}">
                  <a16:creationId xmlns:a16="http://schemas.microsoft.com/office/drawing/2014/main" id="{870572C2-5758-76D9-C314-F1B5EBBE5E0C}"/>
                </a:ext>
              </a:extLst>
            </p:cNvPr>
            <p:cNvSpPr txBox="1"/>
            <p:nvPr/>
          </p:nvSpPr>
          <p:spPr>
            <a:xfrm>
              <a:off x="6919852" y="3453275"/>
              <a:ext cx="1491000" cy="399600"/>
            </a:xfrm>
            <a:prstGeom prst="rect">
              <a:avLst/>
            </a:prstGeom>
            <a:noFill/>
            <a:ln>
              <a:noFill/>
            </a:ln>
          </p:spPr>
          <p:txBody>
            <a:bodyPr spcFirstLastPara="1" wrap="square" lIns="91425" tIns="91425" rIns="91425" bIns="91425" anchor="ctr" anchorCtr="0">
              <a:noAutofit/>
            </a:bodyPr>
            <a:lstStyle/>
            <a:p>
              <a:pPr algn="ctr"/>
              <a:r>
                <a:rPr lang="en-GB" sz="2000" dirty="0">
                  <a:latin typeface="Georgia Pro Light" panose="02040302050405020303" pitchFamily="18" charset="0"/>
                </a:rPr>
                <a:t>Asset &amp; Liability Identification;</a:t>
              </a:r>
            </a:p>
            <a:p>
              <a:pPr algn="ctr"/>
              <a:r>
                <a:rPr lang="en-GB" sz="2000" dirty="0">
                  <a:latin typeface="Georgia Pro Light" panose="02040302050405020303" pitchFamily="18" charset="0"/>
                </a:rPr>
                <a:t>Valuation &amp; </a:t>
              </a:r>
              <a:r>
                <a:rPr lang="en-GB" sz="2000" u="sng" dirty="0">
                  <a:latin typeface="Georgia Pro Light" panose="02040302050405020303" pitchFamily="18" charset="0"/>
                </a:rPr>
                <a:t>Recognition</a:t>
              </a:r>
            </a:p>
            <a:p>
              <a:pPr algn="ctr"/>
              <a:r>
                <a:rPr lang="en-GB" sz="1600" dirty="0">
                  <a:solidFill>
                    <a:schemeClr val="accent1"/>
                  </a:solidFill>
                  <a:latin typeface="Georgia Pro Light" panose="02040302050405020303" pitchFamily="18" charset="0"/>
                </a:rPr>
                <a:t>Fy 2022/23/24</a:t>
              </a:r>
              <a:endParaRPr lang="en-US" sz="1600" dirty="0">
                <a:solidFill>
                  <a:schemeClr val="accent1"/>
                </a:solidFill>
                <a:latin typeface="Georgia Pro Light" panose="02040302050405020303" pitchFamily="18" charset="0"/>
              </a:endParaRPr>
            </a:p>
          </p:txBody>
        </p:sp>
        <p:sp>
          <p:nvSpPr>
            <p:cNvPr id="31" name="Google Shape;364;p19">
              <a:extLst>
                <a:ext uri="{FF2B5EF4-FFF2-40B4-BE49-F238E27FC236}">
                  <a16:creationId xmlns:a16="http://schemas.microsoft.com/office/drawing/2014/main" id="{C93D5DC6-5352-44D4-B0AF-1BCC924B1842}"/>
                </a:ext>
              </a:extLst>
            </p:cNvPr>
            <p:cNvSpPr txBox="1"/>
            <p:nvPr/>
          </p:nvSpPr>
          <p:spPr>
            <a:xfrm>
              <a:off x="3515378" y="4331492"/>
              <a:ext cx="1718264" cy="399600"/>
            </a:xfrm>
            <a:prstGeom prst="rect">
              <a:avLst/>
            </a:prstGeom>
            <a:noFill/>
            <a:ln>
              <a:noFill/>
            </a:ln>
          </p:spPr>
          <p:txBody>
            <a:bodyPr spcFirstLastPara="1" wrap="square" lIns="91425" tIns="91425" rIns="91425" bIns="91425" anchor="ctr" anchorCtr="0">
              <a:noAutofit/>
            </a:bodyPr>
            <a:lstStyle/>
            <a:p>
              <a:pPr algn="ctr"/>
              <a:r>
                <a:rPr lang="en-GB" sz="2000" dirty="0">
                  <a:latin typeface="Georgia Pro Light" panose="02040302050405020303" pitchFamily="18" charset="0"/>
                </a:rPr>
                <a:t>Development of IPSAS Accrual </a:t>
              </a:r>
              <a:r>
                <a:rPr lang="en-GB" sz="2000" u="sng" dirty="0">
                  <a:latin typeface="Georgia Pro Light" panose="02040302050405020303" pitchFamily="18" charset="0"/>
                </a:rPr>
                <a:t>Blueprint</a:t>
              </a:r>
            </a:p>
            <a:p>
              <a:pPr algn="ctr"/>
              <a:r>
                <a:rPr lang="en-GB" sz="1600" dirty="0">
                  <a:solidFill>
                    <a:schemeClr val="accent1"/>
                  </a:solidFill>
                  <a:latin typeface="Georgia Pro Light" panose="02040302050405020303" pitchFamily="18" charset="0"/>
                </a:rPr>
                <a:t>2018</a:t>
              </a:r>
              <a:endParaRPr lang="en-US" sz="1600" dirty="0">
                <a:solidFill>
                  <a:schemeClr val="accent1"/>
                </a:solidFill>
                <a:latin typeface="Georgia Pro Light" panose="02040302050405020303" pitchFamily="18" charset="0"/>
              </a:endParaRPr>
            </a:p>
          </p:txBody>
        </p:sp>
        <p:sp>
          <p:nvSpPr>
            <p:cNvPr id="32" name="Google Shape;365;p19">
              <a:extLst>
                <a:ext uri="{FF2B5EF4-FFF2-40B4-BE49-F238E27FC236}">
                  <a16:creationId xmlns:a16="http://schemas.microsoft.com/office/drawing/2014/main" id="{32BF9D49-AA36-8251-15FD-9C572AB3E576}"/>
                </a:ext>
              </a:extLst>
            </p:cNvPr>
            <p:cNvSpPr txBox="1"/>
            <p:nvPr/>
          </p:nvSpPr>
          <p:spPr>
            <a:xfrm>
              <a:off x="5312969" y="598983"/>
              <a:ext cx="1900122" cy="686996"/>
            </a:xfrm>
            <a:prstGeom prst="rect">
              <a:avLst/>
            </a:prstGeom>
            <a:noFill/>
            <a:ln>
              <a:noFill/>
            </a:ln>
          </p:spPr>
          <p:txBody>
            <a:bodyPr spcFirstLastPara="1" wrap="square" lIns="91425" tIns="91425" rIns="91425" bIns="91425" anchor="ctr" anchorCtr="0">
              <a:noAutofit/>
            </a:bodyPr>
            <a:lstStyle/>
            <a:p>
              <a:pPr algn="ctr"/>
              <a:r>
                <a:rPr lang="en-US" sz="2000" dirty="0">
                  <a:latin typeface="Georgia Pro Light" panose="02040302050405020303" pitchFamily="18" charset="0"/>
                </a:rPr>
                <a:t>IFMIS upgrades;</a:t>
              </a:r>
            </a:p>
            <a:p>
              <a:pPr algn="ctr"/>
              <a:r>
                <a:rPr lang="en-US" sz="2000" dirty="0">
                  <a:latin typeface="Georgia Pro Light" panose="02040302050405020303" pitchFamily="18" charset="0"/>
                </a:rPr>
                <a:t>PFM Law revised:</a:t>
              </a:r>
            </a:p>
            <a:p>
              <a:pPr algn="ctr"/>
              <a:r>
                <a:rPr lang="en-US" sz="2000" u="sng" dirty="0">
                  <a:latin typeface="Georgia Pro Light" panose="02040302050405020303" pitchFamily="18" charset="0"/>
                </a:rPr>
                <a:t>CoA updates; </a:t>
              </a:r>
            </a:p>
            <a:p>
              <a:pPr algn="ctr"/>
              <a:r>
                <a:rPr lang="en-US" sz="1600" dirty="0">
                  <a:solidFill>
                    <a:schemeClr val="accent1"/>
                  </a:solidFill>
                  <a:latin typeface="Georgia Pro Light" panose="02040302050405020303" pitchFamily="18" charset="0"/>
                </a:rPr>
                <a:t>Progressive to-date</a:t>
              </a:r>
            </a:p>
          </p:txBody>
        </p:sp>
        <p:sp>
          <p:nvSpPr>
            <p:cNvPr id="33" name="Google Shape;366;p19">
              <a:extLst>
                <a:ext uri="{FF2B5EF4-FFF2-40B4-BE49-F238E27FC236}">
                  <a16:creationId xmlns:a16="http://schemas.microsoft.com/office/drawing/2014/main" id="{5498C62E-304C-36D4-905D-DEDD752C582A}"/>
                </a:ext>
              </a:extLst>
            </p:cNvPr>
            <p:cNvSpPr txBox="1"/>
            <p:nvPr/>
          </p:nvSpPr>
          <p:spPr>
            <a:xfrm>
              <a:off x="3941421" y="3321849"/>
              <a:ext cx="1491000" cy="399600"/>
            </a:xfrm>
            <a:prstGeom prst="rect">
              <a:avLst/>
            </a:prstGeom>
            <a:noFill/>
            <a:ln>
              <a:noFill/>
            </a:ln>
          </p:spPr>
          <p:txBody>
            <a:bodyPr spcFirstLastPara="1" wrap="square" lIns="91425" tIns="91425" rIns="91425" bIns="91425" anchor="ctr" anchorCtr="0">
              <a:noAutofit/>
            </a:bodyPr>
            <a:lstStyle/>
            <a:p>
              <a:pPr algn="ctr"/>
              <a:r>
                <a:rPr lang="en-GB" sz="2000" dirty="0">
                  <a:latin typeface="Georgia Pro Light" panose="02040302050405020303" pitchFamily="18" charset="0"/>
                </a:rPr>
                <a:t>Securing resources</a:t>
              </a:r>
              <a:endParaRPr lang="en-US" sz="2000" dirty="0">
                <a:latin typeface="Georgia Pro Light" panose="02040302050405020303" pitchFamily="18" charset="0"/>
              </a:endParaRPr>
            </a:p>
          </p:txBody>
        </p:sp>
        <p:sp>
          <p:nvSpPr>
            <p:cNvPr id="34" name="Google Shape;367;p19">
              <a:extLst>
                <a:ext uri="{FF2B5EF4-FFF2-40B4-BE49-F238E27FC236}">
                  <a16:creationId xmlns:a16="http://schemas.microsoft.com/office/drawing/2014/main" id="{690FE8D7-6520-10EF-8EA1-134D6318CD6B}"/>
                </a:ext>
              </a:extLst>
            </p:cNvPr>
            <p:cNvSpPr txBox="1"/>
            <p:nvPr/>
          </p:nvSpPr>
          <p:spPr>
            <a:xfrm>
              <a:off x="1213931" y="4068580"/>
              <a:ext cx="1491000" cy="399600"/>
            </a:xfrm>
            <a:prstGeom prst="rect">
              <a:avLst/>
            </a:prstGeom>
            <a:noFill/>
            <a:ln>
              <a:noFill/>
            </a:ln>
          </p:spPr>
          <p:txBody>
            <a:bodyPr spcFirstLastPara="1" wrap="square" lIns="91425" tIns="91425" rIns="91425" bIns="91425" anchor="ctr" anchorCtr="0">
              <a:noAutofit/>
            </a:bodyPr>
            <a:lstStyle/>
            <a:p>
              <a:pPr algn="ctr"/>
              <a:r>
                <a:rPr lang="en-GB" sz="2000" u="sng" dirty="0">
                  <a:latin typeface="Georgia Pro Light" panose="02040302050405020303" pitchFamily="18" charset="0"/>
                </a:rPr>
                <a:t>Modified cash IPSAS</a:t>
              </a:r>
            </a:p>
          </p:txBody>
        </p:sp>
      </p:grpSp>
      <p:sp>
        <p:nvSpPr>
          <p:cNvPr id="7" name="Arrow: Right 6">
            <a:extLst>
              <a:ext uri="{FF2B5EF4-FFF2-40B4-BE49-F238E27FC236}">
                <a16:creationId xmlns:a16="http://schemas.microsoft.com/office/drawing/2014/main" id="{6F2D8B5E-9C60-5EDC-B3A2-DE57D734607F}"/>
              </a:ext>
            </a:extLst>
          </p:cNvPr>
          <p:cNvSpPr/>
          <p:nvPr/>
        </p:nvSpPr>
        <p:spPr>
          <a:xfrm>
            <a:off x="8336267" y="3346107"/>
            <a:ext cx="3707713" cy="213513"/>
          </a:xfrm>
          <a:prstGeom prst="rightArrow">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 name="Google Shape;362;p19">
            <a:extLst>
              <a:ext uri="{FF2B5EF4-FFF2-40B4-BE49-F238E27FC236}">
                <a16:creationId xmlns:a16="http://schemas.microsoft.com/office/drawing/2014/main" id="{012B989A-A4D5-12DE-7F7C-C6DFBEA6D106}"/>
              </a:ext>
            </a:extLst>
          </p:cNvPr>
          <p:cNvSpPr txBox="1"/>
          <p:nvPr/>
        </p:nvSpPr>
        <p:spPr>
          <a:xfrm>
            <a:off x="10529253" y="3640944"/>
            <a:ext cx="1663114" cy="2054244"/>
          </a:xfrm>
          <a:prstGeom prst="rect">
            <a:avLst/>
          </a:prstGeom>
          <a:noFill/>
          <a:ln w="15875">
            <a:solidFill>
              <a:srgbClr val="00B050"/>
            </a:solidFill>
            <a:prstDash val="sysDash"/>
          </a:ln>
        </p:spPr>
        <p:txBody>
          <a:bodyPr spcFirstLastPara="1" wrap="square" lIns="91425" tIns="91425" rIns="91425" bIns="91425" anchor="ctr" anchorCtr="0">
            <a:noAutofit/>
          </a:bodyPr>
          <a:lstStyle/>
          <a:p>
            <a:pPr algn="ctr"/>
            <a:r>
              <a:rPr lang="en-GB" sz="2000" dirty="0">
                <a:latin typeface="Georgia Pro Light" panose="02040302050405020303" pitchFamily="18" charset="0"/>
              </a:rPr>
              <a:t>IPSAS ACCRUAL</a:t>
            </a:r>
          </a:p>
          <a:p>
            <a:pPr algn="ctr"/>
            <a:endParaRPr lang="en-GB" sz="2000" dirty="0">
              <a:latin typeface="Georgia Pro Light" panose="02040302050405020303" pitchFamily="18" charset="0"/>
            </a:endParaRPr>
          </a:p>
          <a:p>
            <a:pPr algn="ctr"/>
            <a:r>
              <a:rPr lang="en-GB" sz="2000" dirty="0">
                <a:latin typeface="Georgia Pro Light" panose="02040302050405020303" pitchFamily="18" charset="0"/>
              </a:rPr>
              <a:t>Per IPSAS 33</a:t>
            </a:r>
            <a:endParaRPr lang="en-GB" sz="2000" u="sng" dirty="0">
              <a:latin typeface="Georgia Pro Light" panose="02040302050405020303" pitchFamily="18" charset="0"/>
            </a:endParaRPr>
          </a:p>
          <a:p>
            <a:pPr algn="ctr"/>
            <a:r>
              <a:rPr lang="en-GB" sz="1600" dirty="0">
                <a:solidFill>
                  <a:schemeClr val="accent1"/>
                </a:solidFill>
                <a:latin typeface="Georgia Pro Light" panose="02040302050405020303" pitchFamily="18" charset="0"/>
              </a:rPr>
              <a:t>Fy 2024/25/26/27</a:t>
            </a:r>
            <a:endParaRPr lang="en-US" sz="1600" dirty="0">
              <a:solidFill>
                <a:schemeClr val="accent1"/>
              </a:solidFill>
              <a:latin typeface="Georgia Pro Light" panose="02040302050405020303" pitchFamily="18" charset="0"/>
            </a:endParaRPr>
          </a:p>
        </p:txBody>
      </p:sp>
    </p:spTree>
    <p:extLst>
      <p:ext uri="{BB962C8B-B14F-4D97-AF65-F5344CB8AC3E}">
        <p14:creationId xmlns:p14="http://schemas.microsoft.com/office/powerpoint/2010/main" val="2083513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2EAAEED3-C825-5566-DFE4-7DBA222D45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DDD6E1-19A0-1A16-8EAC-A512F45490A9}"/>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7</a:t>
            </a:fld>
            <a:endParaRPr lang="en-GB" dirty="0"/>
          </a:p>
        </p:txBody>
      </p:sp>
      <p:pic>
        <p:nvPicPr>
          <p:cNvPr id="3" name="Picture 2">
            <a:extLst>
              <a:ext uri="{FF2B5EF4-FFF2-40B4-BE49-F238E27FC236}">
                <a16:creationId xmlns:a16="http://schemas.microsoft.com/office/drawing/2014/main" id="{656E46E3-F723-AEB9-7C9B-EDE081851067}"/>
              </a:ext>
            </a:extLst>
          </p:cNvPr>
          <p:cNvPicPr>
            <a:picLocks noChangeAspect="1"/>
          </p:cNvPicPr>
          <p:nvPr/>
        </p:nvPicPr>
        <p:blipFill>
          <a:blip r:embed="rId3"/>
          <a:srcRect r="26471"/>
          <a:stretch>
            <a:fillRect/>
          </a:stretch>
        </p:blipFill>
        <p:spPr>
          <a:xfrm flipH="1">
            <a:off x="-19771" y="4861379"/>
            <a:ext cx="970190" cy="1153140"/>
          </a:xfrm>
          <a:custGeom>
            <a:avLst/>
            <a:gdLst>
              <a:gd name="connsiteX0" fmla="*/ 0 w 2266950"/>
              <a:gd name="connsiteY0" fmla="*/ 0 h 1981200"/>
              <a:gd name="connsiteX1" fmla="*/ 2266950 w 2266950"/>
              <a:gd name="connsiteY1" fmla="*/ 0 h 1981200"/>
              <a:gd name="connsiteX2" fmla="*/ 2266950 w 2266950"/>
              <a:gd name="connsiteY2" fmla="*/ 1981200 h 1981200"/>
              <a:gd name="connsiteX3" fmla="*/ 0 w 2266950"/>
              <a:gd name="connsiteY3" fmla="*/ 1981200 h 1981200"/>
            </a:gdLst>
            <a:ahLst/>
            <a:cxnLst>
              <a:cxn ang="0">
                <a:pos x="connsiteX0" y="connsiteY0"/>
              </a:cxn>
              <a:cxn ang="0">
                <a:pos x="connsiteX1" y="connsiteY1"/>
              </a:cxn>
              <a:cxn ang="0">
                <a:pos x="connsiteX2" y="connsiteY2"/>
              </a:cxn>
              <a:cxn ang="0">
                <a:pos x="connsiteX3" y="connsiteY3"/>
              </a:cxn>
            </a:cxnLst>
            <a:rect l="l" t="t" r="r" b="b"/>
            <a:pathLst>
              <a:path w="2266950" h="1981200">
                <a:moveTo>
                  <a:pt x="0" y="0"/>
                </a:moveTo>
                <a:lnTo>
                  <a:pt x="2266950" y="0"/>
                </a:lnTo>
                <a:lnTo>
                  <a:pt x="2266950" y="1981200"/>
                </a:lnTo>
                <a:lnTo>
                  <a:pt x="0" y="1981200"/>
                </a:lnTo>
                <a:close/>
              </a:path>
            </a:pathLst>
          </a:custGeom>
        </p:spPr>
      </p:pic>
      <p:grpSp>
        <p:nvGrpSpPr>
          <p:cNvPr id="5" name="Group 4">
            <a:extLst>
              <a:ext uri="{FF2B5EF4-FFF2-40B4-BE49-F238E27FC236}">
                <a16:creationId xmlns:a16="http://schemas.microsoft.com/office/drawing/2014/main" id="{F273EC82-E7A6-8702-DC25-025D57729E3E}"/>
              </a:ext>
            </a:extLst>
          </p:cNvPr>
          <p:cNvGrpSpPr/>
          <p:nvPr/>
        </p:nvGrpSpPr>
        <p:grpSpPr>
          <a:xfrm>
            <a:off x="824812" y="119007"/>
            <a:ext cx="6918960" cy="4841961"/>
            <a:chOff x="970739" y="-26054"/>
            <a:chExt cx="6918960" cy="4841961"/>
          </a:xfrm>
        </p:grpSpPr>
        <p:sp>
          <p:nvSpPr>
            <p:cNvPr id="6" name="TextBox 5">
              <a:extLst>
                <a:ext uri="{FF2B5EF4-FFF2-40B4-BE49-F238E27FC236}">
                  <a16:creationId xmlns:a16="http://schemas.microsoft.com/office/drawing/2014/main" id="{3C03863B-9242-3FF0-3262-8782ABD87E29}"/>
                </a:ext>
              </a:extLst>
            </p:cNvPr>
            <p:cNvSpPr txBox="1"/>
            <p:nvPr/>
          </p:nvSpPr>
          <p:spPr>
            <a:xfrm>
              <a:off x="1793699" y="-26054"/>
              <a:ext cx="6096000" cy="707886"/>
            </a:xfrm>
            <a:prstGeom prst="rect">
              <a:avLst/>
            </a:prstGeom>
            <a:noFill/>
          </p:spPr>
          <p:txBody>
            <a:bodyPr wrap="square">
              <a:spAutoFit/>
            </a:bodyPr>
            <a:lstStyle/>
            <a:p>
              <a:r>
                <a:rPr lang="en-IN" sz="4000" dirty="0">
                  <a:solidFill>
                    <a:srgbClr val="FF6319"/>
                  </a:solidFill>
                  <a:latin typeface="Cambria" panose="02040503050406030204" pitchFamily="18" charset="0"/>
                  <a:ea typeface="+mj-ea"/>
                  <a:cs typeface="+mj-cs"/>
                </a:rPr>
                <a:t>What is IPSAS 33?</a:t>
              </a:r>
            </a:p>
          </p:txBody>
        </p:sp>
        <p:sp>
          <p:nvSpPr>
            <p:cNvPr id="7" name="TextBox 6">
              <a:extLst>
                <a:ext uri="{FF2B5EF4-FFF2-40B4-BE49-F238E27FC236}">
                  <a16:creationId xmlns:a16="http://schemas.microsoft.com/office/drawing/2014/main" id="{DC43412F-6419-6723-E147-307D8E27F6DC}"/>
                </a:ext>
              </a:extLst>
            </p:cNvPr>
            <p:cNvSpPr txBox="1"/>
            <p:nvPr/>
          </p:nvSpPr>
          <p:spPr>
            <a:xfrm>
              <a:off x="970739" y="2013280"/>
              <a:ext cx="5698859" cy="280262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GB" sz="2400" dirty="0"/>
                <a:t>First-time Adoption of Accrual Basis IPSAS</a:t>
              </a:r>
            </a:p>
            <a:p>
              <a:pPr marL="342900" indent="-342900">
                <a:lnSpc>
                  <a:spcPct val="150000"/>
                </a:lnSpc>
                <a:buFont typeface="Wingdings" panose="05000000000000000000" pitchFamily="2" charset="2"/>
                <a:buChar char="v"/>
              </a:pPr>
              <a:endParaRPr lang="en-GB" sz="2400" dirty="0"/>
            </a:p>
            <a:p>
              <a:pPr marL="342900" indent="-342900">
                <a:lnSpc>
                  <a:spcPct val="150000"/>
                </a:lnSpc>
                <a:buFont typeface="Wingdings" panose="05000000000000000000" pitchFamily="2" charset="2"/>
                <a:buChar char="v"/>
              </a:pPr>
              <a:r>
                <a:rPr lang="en-GB" sz="2400" dirty="0"/>
                <a:t>Issued</a:t>
              </a:r>
              <a:r>
                <a:rPr lang="en-GB" sz="2400" dirty="0">
                  <a:latin typeface="Segoe UI" panose="020B0502040204020203" pitchFamily="34" charset="0"/>
                  <a:cs typeface="Segoe UI" panose="020B0502040204020203" pitchFamily="34" charset="0"/>
                </a:rPr>
                <a:t> by IPSASB in 2017</a:t>
              </a:r>
            </a:p>
            <a:p>
              <a:pPr marL="342900" indent="-342900">
                <a:lnSpc>
                  <a:spcPct val="150000"/>
                </a:lnSpc>
                <a:buFont typeface="Wingdings" panose="05000000000000000000" pitchFamily="2" charset="2"/>
                <a:buChar char="v"/>
              </a:pPr>
              <a:endParaRPr lang="en-GB" sz="2400" dirty="0">
                <a:latin typeface="Segoe UI" panose="020B0502040204020203" pitchFamily="34" charset="0"/>
                <a:cs typeface="Segoe UI" panose="020B0502040204020203" pitchFamily="34" charset="0"/>
              </a:endParaRPr>
            </a:p>
            <a:p>
              <a:pPr marL="342900" indent="-342900">
                <a:lnSpc>
                  <a:spcPct val="150000"/>
                </a:lnSpc>
                <a:buFont typeface="Wingdings" panose="05000000000000000000" pitchFamily="2" charset="2"/>
                <a:buChar char="v"/>
              </a:pPr>
              <a:r>
                <a:rPr lang="en-GB" sz="2400" dirty="0"/>
                <a:t>Based on a transitional approach</a:t>
              </a:r>
              <a:endParaRPr lang="en-GB" sz="2400" dirty="0">
                <a:latin typeface="Segoe UI" panose="020B0502040204020203" pitchFamily="34" charset="0"/>
                <a:cs typeface="Segoe UI" panose="020B0502040204020203" pitchFamily="34" charset="0"/>
              </a:endParaRPr>
            </a:p>
          </p:txBody>
        </p:sp>
      </p:grpSp>
      <p:pic>
        <p:nvPicPr>
          <p:cNvPr id="8" name="Picture 7">
            <a:extLst>
              <a:ext uri="{FF2B5EF4-FFF2-40B4-BE49-F238E27FC236}">
                <a16:creationId xmlns:a16="http://schemas.microsoft.com/office/drawing/2014/main" id="{E03F4194-DB16-5C9D-747B-C4663B18EF97}"/>
              </a:ext>
            </a:extLst>
          </p:cNvPr>
          <p:cNvPicPr>
            <a:picLocks noChangeAspect="1"/>
          </p:cNvPicPr>
          <p:nvPr/>
        </p:nvPicPr>
        <p:blipFill>
          <a:blip r:embed="rId4"/>
          <a:stretch>
            <a:fillRect/>
          </a:stretch>
        </p:blipFill>
        <p:spPr>
          <a:xfrm>
            <a:off x="6754564" y="1878496"/>
            <a:ext cx="5437435" cy="3559453"/>
          </a:xfrm>
          <a:prstGeom prst="rect">
            <a:avLst/>
          </a:prstGeom>
        </p:spPr>
      </p:pic>
    </p:spTree>
    <p:extLst>
      <p:ext uri="{BB962C8B-B14F-4D97-AF65-F5344CB8AC3E}">
        <p14:creationId xmlns:p14="http://schemas.microsoft.com/office/powerpoint/2010/main" val="610148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0F26FE4B-9536-0E79-EBEF-8A105DFACF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80A80F-1241-351C-1835-663A50CA454D}"/>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8</a:t>
            </a:fld>
            <a:endParaRPr lang="en-GB" dirty="0"/>
          </a:p>
        </p:txBody>
      </p:sp>
      <p:pic>
        <p:nvPicPr>
          <p:cNvPr id="3" name="Picture 2">
            <a:extLst>
              <a:ext uri="{FF2B5EF4-FFF2-40B4-BE49-F238E27FC236}">
                <a16:creationId xmlns:a16="http://schemas.microsoft.com/office/drawing/2014/main" id="{B000F4E7-1EEF-4F70-132B-5F94381A1F8A}"/>
              </a:ext>
            </a:extLst>
          </p:cNvPr>
          <p:cNvPicPr>
            <a:picLocks noChangeAspect="1"/>
          </p:cNvPicPr>
          <p:nvPr/>
        </p:nvPicPr>
        <p:blipFill>
          <a:blip r:embed="rId3"/>
          <a:srcRect r="26471"/>
          <a:stretch>
            <a:fillRect/>
          </a:stretch>
        </p:blipFill>
        <p:spPr>
          <a:xfrm flipH="1">
            <a:off x="-19771" y="4861379"/>
            <a:ext cx="970190" cy="1153140"/>
          </a:xfrm>
          <a:custGeom>
            <a:avLst/>
            <a:gdLst>
              <a:gd name="connsiteX0" fmla="*/ 0 w 2266950"/>
              <a:gd name="connsiteY0" fmla="*/ 0 h 1981200"/>
              <a:gd name="connsiteX1" fmla="*/ 2266950 w 2266950"/>
              <a:gd name="connsiteY1" fmla="*/ 0 h 1981200"/>
              <a:gd name="connsiteX2" fmla="*/ 2266950 w 2266950"/>
              <a:gd name="connsiteY2" fmla="*/ 1981200 h 1981200"/>
              <a:gd name="connsiteX3" fmla="*/ 0 w 2266950"/>
              <a:gd name="connsiteY3" fmla="*/ 1981200 h 1981200"/>
            </a:gdLst>
            <a:ahLst/>
            <a:cxnLst>
              <a:cxn ang="0">
                <a:pos x="connsiteX0" y="connsiteY0"/>
              </a:cxn>
              <a:cxn ang="0">
                <a:pos x="connsiteX1" y="connsiteY1"/>
              </a:cxn>
              <a:cxn ang="0">
                <a:pos x="connsiteX2" y="connsiteY2"/>
              </a:cxn>
              <a:cxn ang="0">
                <a:pos x="connsiteX3" y="connsiteY3"/>
              </a:cxn>
            </a:cxnLst>
            <a:rect l="l" t="t" r="r" b="b"/>
            <a:pathLst>
              <a:path w="2266950" h="1981200">
                <a:moveTo>
                  <a:pt x="0" y="0"/>
                </a:moveTo>
                <a:lnTo>
                  <a:pt x="2266950" y="0"/>
                </a:lnTo>
                <a:lnTo>
                  <a:pt x="2266950" y="1981200"/>
                </a:lnTo>
                <a:lnTo>
                  <a:pt x="0" y="1981200"/>
                </a:lnTo>
                <a:close/>
              </a:path>
            </a:pathLst>
          </a:custGeom>
        </p:spPr>
      </p:pic>
      <p:sp>
        <p:nvSpPr>
          <p:cNvPr id="6" name="TextBox 5">
            <a:extLst>
              <a:ext uri="{FF2B5EF4-FFF2-40B4-BE49-F238E27FC236}">
                <a16:creationId xmlns:a16="http://schemas.microsoft.com/office/drawing/2014/main" id="{D70E0C45-053E-13B9-AAC0-6FC35C95884A}"/>
              </a:ext>
            </a:extLst>
          </p:cNvPr>
          <p:cNvSpPr txBox="1"/>
          <p:nvPr/>
        </p:nvSpPr>
        <p:spPr>
          <a:xfrm>
            <a:off x="1367545" y="53441"/>
            <a:ext cx="7774545" cy="661720"/>
          </a:xfrm>
          <a:prstGeom prst="rect">
            <a:avLst/>
          </a:prstGeom>
          <a:noFill/>
        </p:spPr>
        <p:txBody>
          <a:bodyPr wrap="square">
            <a:spAutoFit/>
          </a:bodyPr>
          <a:lstStyle/>
          <a:p>
            <a:r>
              <a:rPr lang="en-IN" sz="3700" dirty="0">
                <a:solidFill>
                  <a:srgbClr val="FF6319"/>
                </a:solidFill>
                <a:latin typeface="Cambria" panose="02040503050406030204" pitchFamily="18" charset="0"/>
                <a:ea typeface="+mj-ea"/>
                <a:cs typeface="+mj-cs"/>
              </a:rPr>
              <a:t>Transitional Pathway by IPSAS 33</a:t>
            </a:r>
          </a:p>
        </p:txBody>
      </p:sp>
      <p:grpSp>
        <p:nvGrpSpPr>
          <p:cNvPr id="5" name="Group 4">
            <a:extLst>
              <a:ext uri="{FF2B5EF4-FFF2-40B4-BE49-F238E27FC236}">
                <a16:creationId xmlns:a16="http://schemas.microsoft.com/office/drawing/2014/main" id="{79E6A225-6452-07B2-86EE-9967B70EE3D1}"/>
              </a:ext>
            </a:extLst>
          </p:cNvPr>
          <p:cNvGrpSpPr/>
          <p:nvPr/>
        </p:nvGrpSpPr>
        <p:grpSpPr>
          <a:xfrm>
            <a:off x="914979" y="1732629"/>
            <a:ext cx="10362042" cy="4171214"/>
            <a:chOff x="914979" y="1747869"/>
            <a:chExt cx="10362042" cy="4450894"/>
          </a:xfrm>
        </p:grpSpPr>
        <p:sp>
          <p:nvSpPr>
            <p:cNvPr id="7" name="Freeform: Shape 162">
              <a:extLst>
                <a:ext uri="{FF2B5EF4-FFF2-40B4-BE49-F238E27FC236}">
                  <a16:creationId xmlns:a16="http://schemas.microsoft.com/office/drawing/2014/main" id="{78379584-DA8E-C5FF-62BB-0167FB2F7911}"/>
                </a:ext>
              </a:extLst>
            </p:cNvPr>
            <p:cNvSpPr/>
            <p:nvPr/>
          </p:nvSpPr>
          <p:spPr>
            <a:xfrm rot="18900000">
              <a:off x="1763727" y="5061641"/>
              <a:ext cx="1137122" cy="1137122"/>
            </a:xfrm>
            <a:custGeom>
              <a:avLst/>
              <a:gdLst>
                <a:gd name="connsiteX0" fmla="*/ 1315401 w 1315824"/>
                <a:gd name="connsiteY0" fmla="*/ 657361 h 1315824"/>
                <a:gd name="connsiteX1" fmla="*/ 657489 w 1315824"/>
                <a:gd name="connsiteY1" fmla="*/ 1315273 h 1315824"/>
                <a:gd name="connsiteX2" fmla="*/ -423 w 1315824"/>
                <a:gd name="connsiteY2" fmla="*/ 657361 h 1315824"/>
                <a:gd name="connsiteX3" fmla="*/ 657489 w 1315824"/>
                <a:gd name="connsiteY3" fmla="*/ -552 h 1315824"/>
                <a:gd name="connsiteX4" fmla="*/ 1315401 w 1315824"/>
                <a:gd name="connsiteY4" fmla="*/ 657361 h 131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24" h="1315824">
                  <a:moveTo>
                    <a:pt x="1315401" y="657361"/>
                  </a:moveTo>
                  <a:cubicBezTo>
                    <a:pt x="1315401" y="1020715"/>
                    <a:pt x="1020844" y="1315273"/>
                    <a:pt x="657489" y="1315273"/>
                  </a:cubicBezTo>
                  <a:cubicBezTo>
                    <a:pt x="294134" y="1315273"/>
                    <a:pt x="-423" y="1020716"/>
                    <a:pt x="-423" y="657361"/>
                  </a:cubicBezTo>
                  <a:cubicBezTo>
                    <a:pt x="-423" y="294006"/>
                    <a:pt x="294134" y="-552"/>
                    <a:pt x="657489" y="-552"/>
                  </a:cubicBezTo>
                  <a:cubicBezTo>
                    <a:pt x="1020844" y="-552"/>
                    <a:pt x="1315401" y="294005"/>
                    <a:pt x="1315401" y="657361"/>
                  </a:cubicBezTo>
                  <a:close/>
                </a:path>
              </a:pathLst>
            </a:custGeom>
            <a:gradFill>
              <a:gsLst>
                <a:gs pos="0">
                  <a:srgbClr val="E6E6E6"/>
                </a:gs>
                <a:gs pos="50000">
                  <a:srgbClr val="F2F2F2"/>
                </a:gs>
                <a:gs pos="100000">
                  <a:srgbClr val="FFFFFF"/>
                </a:gs>
              </a:gsLst>
              <a:lin ang="2700000" scaled="1"/>
            </a:gra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8" name="Freeform: Shape 163">
              <a:extLst>
                <a:ext uri="{FF2B5EF4-FFF2-40B4-BE49-F238E27FC236}">
                  <a16:creationId xmlns:a16="http://schemas.microsoft.com/office/drawing/2014/main" id="{3B28BC2F-8AE9-89BB-67A8-C2C87BF0AA00}"/>
                </a:ext>
              </a:extLst>
            </p:cNvPr>
            <p:cNvSpPr/>
            <p:nvPr/>
          </p:nvSpPr>
          <p:spPr>
            <a:xfrm>
              <a:off x="1877616" y="5175538"/>
              <a:ext cx="909285" cy="909285"/>
            </a:xfrm>
            <a:custGeom>
              <a:avLst/>
              <a:gdLst>
                <a:gd name="connsiteX0" fmla="*/ 1052182 w 1052182"/>
                <a:gd name="connsiteY0" fmla="*/ 526091 h 1052182"/>
                <a:gd name="connsiteX1" fmla="*/ 526091 w 1052182"/>
                <a:gd name="connsiteY1" fmla="*/ 1052182 h 1052182"/>
                <a:gd name="connsiteX2" fmla="*/ 0 w 1052182"/>
                <a:gd name="connsiteY2" fmla="*/ 526091 h 1052182"/>
                <a:gd name="connsiteX3" fmla="*/ 526091 w 1052182"/>
                <a:gd name="connsiteY3" fmla="*/ 0 h 1052182"/>
                <a:gd name="connsiteX4" fmla="*/ 1052182 w 1052182"/>
                <a:gd name="connsiteY4" fmla="*/ 526091 h 1052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2182" h="1052182">
                  <a:moveTo>
                    <a:pt x="1052182" y="526091"/>
                  </a:moveTo>
                  <a:cubicBezTo>
                    <a:pt x="1052182" y="816643"/>
                    <a:pt x="816643" y="1052182"/>
                    <a:pt x="526091" y="1052182"/>
                  </a:cubicBezTo>
                  <a:cubicBezTo>
                    <a:pt x="235539" y="1052182"/>
                    <a:pt x="0" y="816643"/>
                    <a:pt x="0" y="526091"/>
                  </a:cubicBezTo>
                  <a:cubicBezTo>
                    <a:pt x="0" y="235539"/>
                    <a:pt x="235539" y="0"/>
                    <a:pt x="526091" y="0"/>
                  </a:cubicBezTo>
                  <a:cubicBezTo>
                    <a:pt x="816643" y="0"/>
                    <a:pt x="1052182" y="235539"/>
                    <a:pt x="1052182" y="526091"/>
                  </a:cubicBezTo>
                  <a:close/>
                </a:path>
              </a:pathLst>
            </a:custGeom>
            <a:gradFill>
              <a:gsLst>
                <a:gs pos="0">
                  <a:srgbClr val="FFFFFF"/>
                </a:gs>
                <a:gs pos="50000">
                  <a:srgbClr val="F8F8F8"/>
                </a:gs>
                <a:gs pos="100000">
                  <a:srgbClr val="F2F2F2"/>
                </a:gs>
              </a:gsLst>
              <a:lin ang="0" scaled="1"/>
            </a:gra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7" name="Freeform: Shape 164">
              <a:extLst>
                <a:ext uri="{FF2B5EF4-FFF2-40B4-BE49-F238E27FC236}">
                  <a16:creationId xmlns:a16="http://schemas.microsoft.com/office/drawing/2014/main" id="{9D85EC3A-381A-C1F5-B1B1-7F2841CCEF3F}"/>
                </a:ext>
              </a:extLst>
            </p:cNvPr>
            <p:cNvSpPr/>
            <p:nvPr/>
          </p:nvSpPr>
          <p:spPr>
            <a:xfrm>
              <a:off x="1898223" y="5196145"/>
              <a:ext cx="868072" cy="868072"/>
            </a:xfrm>
            <a:custGeom>
              <a:avLst/>
              <a:gdLst>
                <a:gd name="connsiteX0" fmla="*/ 1004492 w 1004492"/>
                <a:gd name="connsiteY0" fmla="*/ 502246 h 1004492"/>
                <a:gd name="connsiteX1" fmla="*/ 502246 w 1004492"/>
                <a:gd name="connsiteY1" fmla="*/ 1004492 h 1004492"/>
                <a:gd name="connsiteX2" fmla="*/ 0 w 1004492"/>
                <a:gd name="connsiteY2" fmla="*/ 502246 h 1004492"/>
                <a:gd name="connsiteX3" fmla="*/ 502246 w 1004492"/>
                <a:gd name="connsiteY3" fmla="*/ 0 h 1004492"/>
                <a:gd name="connsiteX4" fmla="*/ 1004492 w 1004492"/>
                <a:gd name="connsiteY4" fmla="*/ 502246 h 1004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492" h="1004492">
                  <a:moveTo>
                    <a:pt x="1004492" y="502246"/>
                  </a:moveTo>
                  <a:cubicBezTo>
                    <a:pt x="1004492" y="779629"/>
                    <a:pt x="779629" y="1004492"/>
                    <a:pt x="502246" y="1004492"/>
                  </a:cubicBezTo>
                  <a:cubicBezTo>
                    <a:pt x="224863" y="1004492"/>
                    <a:pt x="0" y="779629"/>
                    <a:pt x="0" y="502246"/>
                  </a:cubicBezTo>
                  <a:cubicBezTo>
                    <a:pt x="0" y="224863"/>
                    <a:pt x="224863" y="0"/>
                    <a:pt x="502246" y="0"/>
                  </a:cubicBezTo>
                  <a:cubicBezTo>
                    <a:pt x="779629" y="0"/>
                    <a:pt x="1004492" y="224863"/>
                    <a:pt x="1004492" y="502246"/>
                  </a:cubicBezTo>
                  <a:close/>
                </a:path>
              </a:pathLst>
            </a:custGeom>
            <a:solidFill>
              <a:srgbClr val="156082"/>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8" name="Freeform: Shape 165">
              <a:extLst>
                <a:ext uri="{FF2B5EF4-FFF2-40B4-BE49-F238E27FC236}">
                  <a16:creationId xmlns:a16="http://schemas.microsoft.com/office/drawing/2014/main" id="{7112EF81-B803-30E4-A30B-15452A3F437A}"/>
                </a:ext>
              </a:extLst>
            </p:cNvPr>
            <p:cNvSpPr/>
            <p:nvPr/>
          </p:nvSpPr>
          <p:spPr>
            <a:xfrm>
              <a:off x="914979" y="1747869"/>
              <a:ext cx="3060784" cy="4019748"/>
            </a:xfrm>
            <a:custGeom>
              <a:avLst/>
              <a:gdLst>
                <a:gd name="connsiteX0" fmla="*/ 3541374 w 3541796"/>
                <a:gd name="connsiteY0" fmla="*/ 4479905 h 4651465"/>
                <a:gd name="connsiteX1" fmla="*/ 3245593 w 3541796"/>
                <a:gd name="connsiteY1" fmla="*/ 4309155 h 4651465"/>
                <a:gd name="connsiteX2" fmla="*/ 3245593 w 3541796"/>
                <a:gd name="connsiteY2" fmla="*/ 4468864 h 4651465"/>
                <a:gd name="connsiteX3" fmla="*/ 2522937 w 3541796"/>
                <a:gd name="connsiteY3" fmla="*/ 4468864 h 4651465"/>
                <a:gd name="connsiteX4" fmla="*/ 1643631 w 3541796"/>
                <a:gd name="connsiteY4" fmla="*/ 3611847 h 4651465"/>
                <a:gd name="connsiteX5" fmla="*/ 764273 w 3541796"/>
                <a:gd name="connsiteY5" fmla="*/ 4472700 h 4651465"/>
                <a:gd name="connsiteX6" fmla="*/ 252748 w 3541796"/>
                <a:gd name="connsiteY6" fmla="*/ 4472700 h 4651465"/>
                <a:gd name="connsiteX7" fmla="*/ 44779 w 3541796"/>
                <a:gd name="connsiteY7" fmla="*/ 4264731 h 4651465"/>
                <a:gd name="connsiteX8" fmla="*/ 44779 w 3541796"/>
                <a:gd name="connsiteY8" fmla="*/ 252567 h 4651465"/>
                <a:gd name="connsiteX9" fmla="*/ 252748 w 3541796"/>
                <a:gd name="connsiteY9" fmla="*/ 44598 h 4651465"/>
                <a:gd name="connsiteX10" fmla="*/ 3034514 w 3541796"/>
                <a:gd name="connsiteY10" fmla="*/ 44598 h 4651465"/>
                <a:gd name="connsiteX11" fmla="*/ 3242535 w 3541796"/>
                <a:gd name="connsiteY11" fmla="*/ 252567 h 4651465"/>
                <a:gd name="connsiteX12" fmla="*/ 3242535 w 3541796"/>
                <a:gd name="connsiteY12" fmla="*/ 3479404 h 4651465"/>
                <a:gd name="connsiteX13" fmla="*/ 3158042 w 3541796"/>
                <a:gd name="connsiteY13" fmla="*/ 3605471 h 4651465"/>
                <a:gd name="connsiteX14" fmla="*/ 3284108 w 3541796"/>
                <a:gd name="connsiteY14" fmla="*/ 3689965 h 4651465"/>
                <a:gd name="connsiteX15" fmla="*/ 3368602 w 3541796"/>
                <a:gd name="connsiteY15" fmla="*/ 3563898 h 4651465"/>
                <a:gd name="connsiteX16" fmla="*/ 3287736 w 3541796"/>
                <a:gd name="connsiteY16" fmla="*/ 3480181 h 4651465"/>
                <a:gd name="connsiteX17" fmla="*/ 3287736 w 3541796"/>
                <a:gd name="connsiteY17" fmla="*/ 252619 h 4651465"/>
                <a:gd name="connsiteX18" fmla="*/ 3034514 w 3541796"/>
                <a:gd name="connsiteY18" fmla="*/ -551 h 4651465"/>
                <a:gd name="connsiteX19" fmla="*/ 252748 w 3541796"/>
                <a:gd name="connsiteY19" fmla="*/ -551 h 4651465"/>
                <a:gd name="connsiteX20" fmla="*/ -423 w 3541796"/>
                <a:gd name="connsiteY20" fmla="*/ 252619 h 4651465"/>
                <a:gd name="connsiteX21" fmla="*/ -423 w 3541796"/>
                <a:gd name="connsiteY21" fmla="*/ 4264783 h 4651465"/>
                <a:gd name="connsiteX22" fmla="*/ 252748 w 3541796"/>
                <a:gd name="connsiteY22" fmla="*/ 4517953 h 4651465"/>
                <a:gd name="connsiteX23" fmla="*/ 810044 w 3541796"/>
                <a:gd name="connsiteY23" fmla="*/ 4517953 h 4651465"/>
                <a:gd name="connsiteX24" fmla="*/ 809267 w 3541796"/>
                <a:gd name="connsiteY24" fmla="*/ 4491153 h 4651465"/>
                <a:gd name="connsiteX25" fmla="*/ 1643838 w 3541796"/>
                <a:gd name="connsiteY25" fmla="*/ 3657100 h 4651465"/>
                <a:gd name="connsiteX26" fmla="*/ 2478410 w 3541796"/>
                <a:gd name="connsiteY26" fmla="*/ 4491672 h 4651465"/>
                <a:gd name="connsiteX27" fmla="*/ 2478410 w 3541796"/>
                <a:gd name="connsiteY27" fmla="*/ 4514273 h 4651465"/>
                <a:gd name="connsiteX28" fmla="*/ 3245593 w 3541796"/>
                <a:gd name="connsiteY28" fmla="*/ 4514273 h 4651465"/>
                <a:gd name="connsiteX29" fmla="*/ 3245593 w 3541796"/>
                <a:gd name="connsiteY29" fmla="*/ 4650915 h 4651465"/>
                <a:gd name="connsiteX30" fmla="*/ 3325422 w 3541796"/>
                <a:gd name="connsiteY30" fmla="*/ 3584529 h 4651465"/>
                <a:gd name="connsiteX31" fmla="*/ 3263218 w 3541796"/>
                <a:gd name="connsiteY31" fmla="*/ 3646733 h 4651465"/>
                <a:gd name="connsiteX32" fmla="*/ 3201014 w 3541796"/>
                <a:gd name="connsiteY32" fmla="*/ 3584529 h 4651465"/>
                <a:gd name="connsiteX33" fmla="*/ 3263218 w 3541796"/>
                <a:gd name="connsiteY33" fmla="*/ 3522325 h 4651465"/>
                <a:gd name="connsiteX34" fmla="*/ 3263477 w 3541796"/>
                <a:gd name="connsiteY34" fmla="*/ 3522325 h 4651465"/>
                <a:gd name="connsiteX35" fmla="*/ 3325422 w 3541796"/>
                <a:gd name="connsiteY35" fmla="*/ 3584529 h 4651465"/>
                <a:gd name="connsiteX36" fmla="*/ 3290743 w 3541796"/>
                <a:gd name="connsiteY36" fmla="*/ 4387636 h 4651465"/>
                <a:gd name="connsiteX37" fmla="*/ 3450970 w 3541796"/>
                <a:gd name="connsiteY37" fmla="*/ 4480112 h 4651465"/>
                <a:gd name="connsiteX38" fmla="*/ 3290743 w 3541796"/>
                <a:gd name="connsiteY38" fmla="*/ 4572641 h 465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41796" h="4651465">
                  <a:moveTo>
                    <a:pt x="3541374" y="4479905"/>
                  </a:moveTo>
                  <a:lnTo>
                    <a:pt x="3245593" y="4309155"/>
                  </a:lnTo>
                  <a:lnTo>
                    <a:pt x="3245593" y="4468864"/>
                  </a:lnTo>
                  <a:lnTo>
                    <a:pt x="2522937" y="4468864"/>
                  </a:lnTo>
                  <a:cubicBezTo>
                    <a:pt x="2510911" y="3994246"/>
                    <a:pt x="2121099" y="3611847"/>
                    <a:pt x="1643631" y="3611847"/>
                  </a:cubicBezTo>
                  <a:cubicBezTo>
                    <a:pt x="1164919" y="3611847"/>
                    <a:pt x="774277" y="3996320"/>
                    <a:pt x="764273" y="4472700"/>
                  </a:cubicBezTo>
                  <a:lnTo>
                    <a:pt x="252748" y="4472700"/>
                  </a:lnTo>
                  <a:cubicBezTo>
                    <a:pt x="137950" y="4472544"/>
                    <a:pt x="44924" y="4379549"/>
                    <a:pt x="44779" y="4264731"/>
                  </a:cubicBezTo>
                  <a:lnTo>
                    <a:pt x="44779" y="252567"/>
                  </a:lnTo>
                  <a:cubicBezTo>
                    <a:pt x="44924" y="137769"/>
                    <a:pt x="137950" y="44743"/>
                    <a:pt x="252748" y="44598"/>
                  </a:cubicBezTo>
                  <a:lnTo>
                    <a:pt x="3034514" y="44598"/>
                  </a:lnTo>
                  <a:cubicBezTo>
                    <a:pt x="3149333" y="44712"/>
                    <a:pt x="3242379" y="137749"/>
                    <a:pt x="3242535" y="252567"/>
                  </a:cubicBezTo>
                  <a:lnTo>
                    <a:pt x="3242535" y="3479404"/>
                  </a:lnTo>
                  <a:cubicBezTo>
                    <a:pt x="3184374" y="3490912"/>
                    <a:pt x="3146585" y="3547310"/>
                    <a:pt x="3158042" y="3605471"/>
                  </a:cubicBezTo>
                  <a:cubicBezTo>
                    <a:pt x="3169549" y="3663632"/>
                    <a:pt x="3225999" y="3701421"/>
                    <a:pt x="3284108" y="3689965"/>
                  </a:cubicBezTo>
                  <a:cubicBezTo>
                    <a:pt x="3342269" y="3678457"/>
                    <a:pt x="3380110" y="3622007"/>
                    <a:pt x="3368602" y="3563898"/>
                  </a:cubicBezTo>
                  <a:cubicBezTo>
                    <a:pt x="3360412" y="3522532"/>
                    <a:pt x="3328791" y="3489772"/>
                    <a:pt x="3287736" y="3480181"/>
                  </a:cubicBezTo>
                  <a:lnTo>
                    <a:pt x="3287736" y="252619"/>
                  </a:lnTo>
                  <a:cubicBezTo>
                    <a:pt x="3287581" y="112846"/>
                    <a:pt x="3174266" y="-407"/>
                    <a:pt x="3034514" y="-551"/>
                  </a:cubicBezTo>
                  <a:lnTo>
                    <a:pt x="252748" y="-551"/>
                  </a:lnTo>
                  <a:cubicBezTo>
                    <a:pt x="112996" y="-381"/>
                    <a:pt x="-252" y="112867"/>
                    <a:pt x="-423" y="252619"/>
                  </a:cubicBezTo>
                  <a:lnTo>
                    <a:pt x="-423" y="4264783"/>
                  </a:lnTo>
                  <a:cubicBezTo>
                    <a:pt x="-252" y="4404534"/>
                    <a:pt x="112996" y="4517798"/>
                    <a:pt x="252748" y="4517953"/>
                  </a:cubicBezTo>
                  <a:lnTo>
                    <a:pt x="810044" y="4517953"/>
                  </a:lnTo>
                  <a:lnTo>
                    <a:pt x="809267" y="4491153"/>
                  </a:lnTo>
                  <a:cubicBezTo>
                    <a:pt x="809267" y="4031206"/>
                    <a:pt x="1183684" y="3657100"/>
                    <a:pt x="1643838" y="3657100"/>
                  </a:cubicBezTo>
                  <a:cubicBezTo>
                    <a:pt x="2103993" y="3657100"/>
                    <a:pt x="2478410" y="4031414"/>
                    <a:pt x="2478410" y="4491672"/>
                  </a:cubicBezTo>
                  <a:lnTo>
                    <a:pt x="2478410" y="4514273"/>
                  </a:lnTo>
                  <a:lnTo>
                    <a:pt x="3245593" y="4514273"/>
                  </a:lnTo>
                  <a:lnTo>
                    <a:pt x="3245593" y="4650915"/>
                  </a:lnTo>
                  <a:close/>
                  <a:moveTo>
                    <a:pt x="3325422" y="3584529"/>
                  </a:moveTo>
                  <a:cubicBezTo>
                    <a:pt x="3325422" y="3618896"/>
                    <a:pt x="3297586" y="3646733"/>
                    <a:pt x="3263218" y="3646733"/>
                  </a:cubicBezTo>
                  <a:cubicBezTo>
                    <a:pt x="3228850" y="3646733"/>
                    <a:pt x="3201014" y="3618896"/>
                    <a:pt x="3201014" y="3584529"/>
                  </a:cubicBezTo>
                  <a:cubicBezTo>
                    <a:pt x="3201014" y="3550161"/>
                    <a:pt x="3228850" y="3522325"/>
                    <a:pt x="3263218" y="3522325"/>
                  </a:cubicBezTo>
                  <a:cubicBezTo>
                    <a:pt x="3263322" y="3522325"/>
                    <a:pt x="3263373" y="3522325"/>
                    <a:pt x="3263477" y="3522325"/>
                  </a:cubicBezTo>
                  <a:cubicBezTo>
                    <a:pt x="3297741" y="3522480"/>
                    <a:pt x="3325422" y="3550265"/>
                    <a:pt x="3325422" y="3584529"/>
                  </a:cubicBezTo>
                  <a:close/>
                  <a:moveTo>
                    <a:pt x="3290743" y="4387636"/>
                  </a:moveTo>
                  <a:lnTo>
                    <a:pt x="3450970" y="4480112"/>
                  </a:lnTo>
                  <a:lnTo>
                    <a:pt x="3290743" y="4572641"/>
                  </a:lnTo>
                  <a:close/>
                </a:path>
              </a:pathLst>
            </a:custGeom>
            <a:solidFill>
              <a:srgbClr val="156082"/>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39" name="Freeform: Shape 166">
              <a:extLst>
                <a:ext uri="{FF2B5EF4-FFF2-40B4-BE49-F238E27FC236}">
                  <a16:creationId xmlns:a16="http://schemas.microsoft.com/office/drawing/2014/main" id="{0BB39DF1-309C-8CFB-8CDA-DAA762B424E2}"/>
                </a:ext>
              </a:extLst>
            </p:cNvPr>
            <p:cNvSpPr/>
            <p:nvPr/>
          </p:nvSpPr>
          <p:spPr>
            <a:xfrm>
              <a:off x="1138515" y="1941928"/>
              <a:ext cx="2415353" cy="3467897"/>
            </a:xfrm>
            <a:custGeom>
              <a:avLst/>
              <a:gdLst>
                <a:gd name="connsiteX0" fmla="*/ 2794510 w 2794933"/>
                <a:gd name="connsiteY0" fmla="*/ 150915 h 4012889"/>
                <a:gd name="connsiteX1" fmla="*/ 2794510 w 2794933"/>
                <a:gd name="connsiteY1" fmla="*/ 3860870 h 4012889"/>
                <a:gd name="connsiteX2" fmla="*/ 2643147 w 2794933"/>
                <a:gd name="connsiteY2" fmla="*/ 4012338 h 4012889"/>
                <a:gd name="connsiteX3" fmla="*/ 2643095 w 2794933"/>
                <a:gd name="connsiteY3" fmla="*/ 4012338 h 4012889"/>
                <a:gd name="connsiteX4" fmla="*/ 2428439 w 2794933"/>
                <a:gd name="connsiteY4" fmla="*/ 4012338 h 4012889"/>
                <a:gd name="connsiteX5" fmla="*/ 1381907 w 2794933"/>
                <a:gd name="connsiteY5" fmla="*/ 3156720 h 4012889"/>
                <a:gd name="connsiteX6" fmla="*/ 335375 w 2794933"/>
                <a:gd name="connsiteY6" fmla="*/ 4012338 h 4012889"/>
                <a:gd name="connsiteX7" fmla="*/ 151044 w 2794933"/>
                <a:gd name="connsiteY7" fmla="*/ 4012338 h 4012889"/>
                <a:gd name="connsiteX8" fmla="*/ -423 w 2794933"/>
                <a:gd name="connsiteY8" fmla="*/ 3860870 h 4012889"/>
                <a:gd name="connsiteX9" fmla="*/ -423 w 2794933"/>
                <a:gd name="connsiteY9" fmla="*/ 150915 h 4012889"/>
                <a:gd name="connsiteX10" fmla="*/ 151044 w 2794933"/>
                <a:gd name="connsiteY10" fmla="*/ -551 h 4012889"/>
                <a:gd name="connsiteX11" fmla="*/ 2643095 w 2794933"/>
                <a:gd name="connsiteY11" fmla="*/ -551 h 4012889"/>
                <a:gd name="connsiteX12" fmla="*/ 2794510 w 2794933"/>
                <a:gd name="connsiteY12" fmla="*/ 150863 h 4012889"/>
                <a:gd name="connsiteX13" fmla="*/ 2794510 w 2794933"/>
                <a:gd name="connsiteY13" fmla="*/ 150915 h 401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94933" h="4012889">
                  <a:moveTo>
                    <a:pt x="2794510" y="150915"/>
                  </a:moveTo>
                  <a:lnTo>
                    <a:pt x="2794510" y="3860870"/>
                  </a:lnTo>
                  <a:cubicBezTo>
                    <a:pt x="2794562" y="3944483"/>
                    <a:pt x="2726770" y="4012286"/>
                    <a:pt x="2643147" y="4012338"/>
                  </a:cubicBezTo>
                  <a:cubicBezTo>
                    <a:pt x="2643131" y="4012338"/>
                    <a:pt x="2643111" y="4012338"/>
                    <a:pt x="2643095" y="4012338"/>
                  </a:cubicBezTo>
                  <a:lnTo>
                    <a:pt x="2428439" y="4012338"/>
                  </a:lnTo>
                  <a:cubicBezTo>
                    <a:pt x="2329950" y="3524243"/>
                    <a:pt x="1898875" y="3156720"/>
                    <a:pt x="1381907" y="3156720"/>
                  </a:cubicBezTo>
                  <a:cubicBezTo>
                    <a:pt x="864940" y="3156720"/>
                    <a:pt x="433761" y="3524243"/>
                    <a:pt x="335375" y="4012338"/>
                  </a:cubicBezTo>
                  <a:lnTo>
                    <a:pt x="151044" y="4012338"/>
                  </a:lnTo>
                  <a:cubicBezTo>
                    <a:pt x="67390" y="4012338"/>
                    <a:pt x="-423" y="3944535"/>
                    <a:pt x="-423" y="3860870"/>
                  </a:cubicBezTo>
                  <a:lnTo>
                    <a:pt x="-423" y="150915"/>
                  </a:lnTo>
                  <a:cubicBezTo>
                    <a:pt x="-423" y="67261"/>
                    <a:pt x="67390" y="-551"/>
                    <a:pt x="151044" y="-551"/>
                  </a:cubicBezTo>
                  <a:lnTo>
                    <a:pt x="2643095" y="-551"/>
                  </a:lnTo>
                  <a:cubicBezTo>
                    <a:pt x="2726718" y="-551"/>
                    <a:pt x="2794510" y="67240"/>
                    <a:pt x="2794510" y="150863"/>
                  </a:cubicBezTo>
                  <a:cubicBezTo>
                    <a:pt x="2794510" y="150879"/>
                    <a:pt x="2794510" y="150900"/>
                    <a:pt x="2794510" y="150915"/>
                  </a:cubicBezTo>
                  <a:close/>
                </a:path>
              </a:pathLst>
            </a:custGeom>
            <a:solidFill>
              <a:sysClr val="window" lastClr="FFFFFF"/>
            </a:solidFill>
            <a:ln w="5184" cap="flat">
              <a:noFill/>
              <a:prstDash val="solid"/>
              <a:miter/>
            </a:ln>
            <a:effectLst>
              <a:outerShdw blurRad="127000" sx="102000" sy="102000" algn="ctr" rotWithShape="0">
                <a:prstClr val="black">
                  <a:alpha val="1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0" name="Freeform: Shape 168">
              <a:extLst>
                <a:ext uri="{FF2B5EF4-FFF2-40B4-BE49-F238E27FC236}">
                  <a16:creationId xmlns:a16="http://schemas.microsoft.com/office/drawing/2014/main" id="{80D233D9-E26E-1B82-5291-4A4CFAED47B4}"/>
                </a:ext>
              </a:extLst>
            </p:cNvPr>
            <p:cNvSpPr/>
            <p:nvPr/>
          </p:nvSpPr>
          <p:spPr>
            <a:xfrm>
              <a:off x="1530262" y="1751677"/>
              <a:ext cx="1614296" cy="702485"/>
            </a:xfrm>
            <a:custGeom>
              <a:avLst/>
              <a:gdLst>
                <a:gd name="connsiteX0" fmla="*/ 1623985 w 1867988"/>
                <a:gd name="connsiteY0" fmla="*/ 435862 h 436413"/>
                <a:gd name="connsiteX1" fmla="*/ 243158 w 1867988"/>
                <a:gd name="connsiteY1" fmla="*/ 435862 h 436413"/>
                <a:gd name="connsiteX2" fmla="*/ 73548 w 1867988"/>
                <a:gd name="connsiteY2" fmla="*/ 302693 h 436413"/>
                <a:gd name="connsiteX3" fmla="*/ -423 w 1867988"/>
                <a:gd name="connsiteY3" fmla="*/ -551 h 436413"/>
                <a:gd name="connsiteX4" fmla="*/ 1867566 w 1867988"/>
                <a:gd name="connsiteY4" fmla="*/ -551 h 436413"/>
                <a:gd name="connsiteX5" fmla="*/ 1793595 w 1867988"/>
                <a:gd name="connsiteY5" fmla="*/ 302693 h 436413"/>
                <a:gd name="connsiteX6" fmla="*/ 1623985 w 1867988"/>
                <a:gd name="connsiteY6" fmla="*/ 435862 h 43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7988" h="436413">
                  <a:moveTo>
                    <a:pt x="1623985" y="435862"/>
                  </a:moveTo>
                  <a:lnTo>
                    <a:pt x="243158" y="435862"/>
                  </a:lnTo>
                  <a:cubicBezTo>
                    <a:pt x="162686" y="435867"/>
                    <a:pt x="92640" y="380868"/>
                    <a:pt x="73548" y="302693"/>
                  </a:cubicBezTo>
                  <a:lnTo>
                    <a:pt x="-423" y="-551"/>
                  </a:lnTo>
                  <a:lnTo>
                    <a:pt x="1867566" y="-551"/>
                  </a:lnTo>
                  <a:lnTo>
                    <a:pt x="1793595" y="302693"/>
                  </a:lnTo>
                  <a:cubicBezTo>
                    <a:pt x="1774519" y="380879"/>
                    <a:pt x="1704461" y="435883"/>
                    <a:pt x="1623985" y="435862"/>
                  </a:cubicBezTo>
                  <a:close/>
                </a:path>
              </a:pathLst>
            </a:custGeom>
            <a:solidFill>
              <a:srgbClr val="156082"/>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1" name="Freeform: Shape 324">
              <a:extLst>
                <a:ext uri="{FF2B5EF4-FFF2-40B4-BE49-F238E27FC236}">
                  <a16:creationId xmlns:a16="http://schemas.microsoft.com/office/drawing/2014/main" id="{057ED8F3-11CD-E2C2-B2B4-3839C09C637F}"/>
                </a:ext>
              </a:extLst>
            </p:cNvPr>
            <p:cNvSpPr/>
            <p:nvPr/>
          </p:nvSpPr>
          <p:spPr>
            <a:xfrm rot="18900000">
              <a:off x="5488258" y="5061632"/>
              <a:ext cx="1137122" cy="1137121"/>
            </a:xfrm>
            <a:custGeom>
              <a:avLst/>
              <a:gdLst>
                <a:gd name="connsiteX0" fmla="*/ 1315401 w 1315824"/>
                <a:gd name="connsiteY0" fmla="*/ 657361 h 1315824"/>
                <a:gd name="connsiteX1" fmla="*/ 657489 w 1315824"/>
                <a:gd name="connsiteY1" fmla="*/ 1315273 h 1315824"/>
                <a:gd name="connsiteX2" fmla="*/ -423 w 1315824"/>
                <a:gd name="connsiteY2" fmla="*/ 657361 h 1315824"/>
                <a:gd name="connsiteX3" fmla="*/ 657489 w 1315824"/>
                <a:gd name="connsiteY3" fmla="*/ -552 h 1315824"/>
                <a:gd name="connsiteX4" fmla="*/ 1315401 w 1315824"/>
                <a:gd name="connsiteY4" fmla="*/ 657361 h 131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24" h="1315824">
                  <a:moveTo>
                    <a:pt x="1315401" y="657361"/>
                  </a:moveTo>
                  <a:cubicBezTo>
                    <a:pt x="1315401" y="1020715"/>
                    <a:pt x="1020844" y="1315273"/>
                    <a:pt x="657489" y="1315273"/>
                  </a:cubicBezTo>
                  <a:cubicBezTo>
                    <a:pt x="294135" y="1315273"/>
                    <a:pt x="-423" y="1020716"/>
                    <a:pt x="-423" y="657361"/>
                  </a:cubicBezTo>
                  <a:cubicBezTo>
                    <a:pt x="-423" y="294006"/>
                    <a:pt x="294134" y="-552"/>
                    <a:pt x="657489" y="-552"/>
                  </a:cubicBezTo>
                  <a:cubicBezTo>
                    <a:pt x="1020844" y="-552"/>
                    <a:pt x="1315401" y="294005"/>
                    <a:pt x="1315401" y="657361"/>
                  </a:cubicBezTo>
                  <a:close/>
                </a:path>
              </a:pathLst>
            </a:custGeom>
            <a:gradFill>
              <a:gsLst>
                <a:gs pos="0">
                  <a:srgbClr val="E6E6E6"/>
                </a:gs>
                <a:gs pos="50000">
                  <a:srgbClr val="F2F2F2"/>
                </a:gs>
                <a:gs pos="100000">
                  <a:srgbClr val="FFFFFF"/>
                </a:gs>
              </a:gsLst>
              <a:lin ang="2700000" scaled="1"/>
            </a:gra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2" name="Freeform: Shape 325">
              <a:extLst>
                <a:ext uri="{FF2B5EF4-FFF2-40B4-BE49-F238E27FC236}">
                  <a16:creationId xmlns:a16="http://schemas.microsoft.com/office/drawing/2014/main" id="{F40FE16C-3832-CA37-8BF0-649E02EB23E9}"/>
                </a:ext>
              </a:extLst>
            </p:cNvPr>
            <p:cNvSpPr/>
            <p:nvPr/>
          </p:nvSpPr>
          <p:spPr>
            <a:xfrm>
              <a:off x="5602172" y="5175548"/>
              <a:ext cx="909285" cy="909285"/>
            </a:xfrm>
            <a:custGeom>
              <a:avLst/>
              <a:gdLst>
                <a:gd name="connsiteX0" fmla="*/ 1052182 w 1052182"/>
                <a:gd name="connsiteY0" fmla="*/ 526091 h 1052182"/>
                <a:gd name="connsiteX1" fmla="*/ 526091 w 1052182"/>
                <a:gd name="connsiteY1" fmla="*/ 1052182 h 1052182"/>
                <a:gd name="connsiteX2" fmla="*/ 0 w 1052182"/>
                <a:gd name="connsiteY2" fmla="*/ 526091 h 1052182"/>
                <a:gd name="connsiteX3" fmla="*/ 526091 w 1052182"/>
                <a:gd name="connsiteY3" fmla="*/ 0 h 1052182"/>
                <a:gd name="connsiteX4" fmla="*/ 1052182 w 1052182"/>
                <a:gd name="connsiteY4" fmla="*/ 526091 h 1052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2182" h="1052182">
                  <a:moveTo>
                    <a:pt x="1052182" y="526091"/>
                  </a:moveTo>
                  <a:cubicBezTo>
                    <a:pt x="1052182" y="816643"/>
                    <a:pt x="816643" y="1052182"/>
                    <a:pt x="526091" y="1052182"/>
                  </a:cubicBezTo>
                  <a:cubicBezTo>
                    <a:pt x="235539" y="1052182"/>
                    <a:pt x="0" y="816643"/>
                    <a:pt x="0" y="526091"/>
                  </a:cubicBezTo>
                  <a:cubicBezTo>
                    <a:pt x="0" y="235539"/>
                    <a:pt x="235539" y="0"/>
                    <a:pt x="526091" y="0"/>
                  </a:cubicBezTo>
                  <a:cubicBezTo>
                    <a:pt x="816643" y="0"/>
                    <a:pt x="1052182" y="235539"/>
                    <a:pt x="1052182" y="526091"/>
                  </a:cubicBezTo>
                  <a:close/>
                </a:path>
              </a:pathLst>
            </a:custGeom>
            <a:gradFill>
              <a:gsLst>
                <a:gs pos="0">
                  <a:srgbClr val="FFFFFF"/>
                </a:gs>
                <a:gs pos="50000">
                  <a:srgbClr val="F8F8F8"/>
                </a:gs>
                <a:gs pos="100000">
                  <a:srgbClr val="F2F2F2"/>
                </a:gs>
              </a:gsLst>
              <a:lin ang="0" scaled="1"/>
            </a:gra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3" name="Freeform: Shape 326">
              <a:extLst>
                <a:ext uri="{FF2B5EF4-FFF2-40B4-BE49-F238E27FC236}">
                  <a16:creationId xmlns:a16="http://schemas.microsoft.com/office/drawing/2014/main" id="{181642B2-49A4-FFFC-8FF6-B7FB317A102F}"/>
                </a:ext>
              </a:extLst>
            </p:cNvPr>
            <p:cNvSpPr/>
            <p:nvPr/>
          </p:nvSpPr>
          <p:spPr>
            <a:xfrm>
              <a:off x="5622779" y="5196155"/>
              <a:ext cx="868072" cy="868072"/>
            </a:xfrm>
            <a:custGeom>
              <a:avLst/>
              <a:gdLst>
                <a:gd name="connsiteX0" fmla="*/ 1004492 w 1004492"/>
                <a:gd name="connsiteY0" fmla="*/ 502246 h 1004492"/>
                <a:gd name="connsiteX1" fmla="*/ 502246 w 1004492"/>
                <a:gd name="connsiteY1" fmla="*/ 1004492 h 1004492"/>
                <a:gd name="connsiteX2" fmla="*/ 0 w 1004492"/>
                <a:gd name="connsiteY2" fmla="*/ 502246 h 1004492"/>
                <a:gd name="connsiteX3" fmla="*/ 502246 w 1004492"/>
                <a:gd name="connsiteY3" fmla="*/ 0 h 1004492"/>
                <a:gd name="connsiteX4" fmla="*/ 1004492 w 1004492"/>
                <a:gd name="connsiteY4" fmla="*/ 502246 h 1004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492" h="1004492">
                  <a:moveTo>
                    <a:pt x="1004492" y="502246"/>
                  </a:moveTo>
                  <a:cubicBezTo>
                    <a:pt x="1004492" y="779629"/>
                    <a:pt x="779629" y="1004492"/>
                    <a:pt x="502246" y="1004492"/>
                  </a:cubicBezTo>
                  <a:cubicBezTo>
                    <a:pt x="224863" y="1004492"/>
                    <a:pt x="0" y="779629"/>
                    <a:pt x="0" y="502246"/>
                  </a:cubicBezTo>
                  <a:cubicBezTo>
                    <a:pt x="0" y="224863"/>
                    <a:pt x="224863" y="0"/>
                    <a:pt x="502246" y="0"/>
                  </a:cubicBezTo>
                  <a:cubicBezTo>
                    <a:pt x="779629" y="0"/>
                    <a:pt x="1004492" y="224863"/>
                    <a:pt x="1004492" y="502246"/>
                  </a:cubicBezTo>
                  <a:close/>
                </a:path>
              </a:pathLst>
            </a:custGeom>
            <a:solidFill>
              <a:srgbClr val="E97132"/>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4" name="Freeform: Shape 327">
              <a:extLst>
                <a:ext uri="{FF2B5EF4-FFF2-40B4-BE49-F238E27FC236}">
                  <a16:creationId xmlns:a16="http://schemas.microsoft.com/office/drawing/2014/main" id="{25AA8435-69E7-25EA-1BF8-86AD677B7314}"/>
                </a:ext>
              </a:extLst>
            </p:cNvPr>
            <p:cNvSpPr/>
            <p:nvPr/>
          </p:nvSpPr>
          <p:spPr>
            <a:xfrm>
              <a:off x="4639535" y="1747879"/>
              <a:ext cx="3060695" cy="4019882"/>
            </a:xfrm>
            <a:custGeom>
              <a:avLst/>
              <a:gdLst>
                <a:gd name="connsiteX0" fmla="*/ 3541270 w 3541693"/>
                <a:gd name="connsiteY0" fmla="*/ 4479905 h 4651620"/>
                <a:gd name="connsiteX1" fmla="*/ 3245801 w 3541693"/>
                <a:gd name="connsiteY1" fmla="*/ 4309155 h 4651620"/>
                <a:gd name="connsiteX2" fmla="*/ 3245801 w 3541693"/>
                <a:gd name="connsiteY2" fmla="*/ 4468864 h 4651620"/>
                <a:gd name="connsiteX3" fmla="*/ 2523197 w 3541693"/>
                <a:gd name="connsiteY3" fmla="*/ 4468864 h 4651620"/>
                <a:gd name="connsiteX4" fmla="*/ 1643890 w 3541693"/>
                <a:gd name="connsiteY4" fmla="*/ 3611847 h 4651620"/>
                <a:gd name="connsiteX5" fmla="*/ 764480 w 3541693"/>
                <a:gd name="connsiteY5" fmla="*/ 4472700 h 4651620"/>
                <a:gd name="connsiteX6" fmla="*/ 252747 w 3541693"/>
                <a:gd name="connsiteY6" fmla="*/ 4472700 h 4651620"/>
                <a:gd name="connsiteX7" fmla="*/ 44778 w 3541693"/>
                <a:gd name="connsiteY7" fmla="*/ 4264731 h 4651620"/>
                <a:gd name="connsiteX8" fmla="*/ 44778 w 3541693"/>
                <a:gd name="connsiteY8" fmla="*/ 252567 h 4651620"/>
                <a:gd name="connsiteX9" fmla="*/ 252747 w 3541693"/>
                <a:gd name="connsiteY9" fmla="*/ 44598 h 4651620"/>
                <a:gd name="connsiteX10" fmla="*/ 3034514 w 3541693"/>
                <a:gd name="connsiteY10" fmla="*/ 44598 h 4651620"/>
                <a:gd name="connsiteX11" fmla="*/ 3242483 w 3541693"/>
                <a:gd name="connsiteY11" fmla="*/ 252567 h 4651620"/>
                <a:gd name="connsiteX12" fmla="*/ 3242483 w 3541693"/>
                <a:gd name="connsiteY12" fmla="*/ 3479404 h 4651620"/>
                <a:gd name="connsiteX13" fmla="*/ 3157938 w 3541693"/>
                <a:gd name="connsiteY13" fmla="*/ 3605523 h 4651620"/>
                <a:gd name="connsiteX14" fmla="*/ 3284056 w 3541693"/>
                <a:gd name="connsiteY14" fmla="*/ 3690069 h 4651620"/>
                <a:gd name="connsiteX15" fmla="*/ 3368602 w 3541693"/>
                <a:gd name="connsiteY15" fmla="*/ 3563950 h 4651620"/>
                <a:gd name="connsiteX16" fmla="*/ 3287685 w 3541693"/>
                <a:gd name="connsiteY16" fmla="*/ 3480181 h 4651620"/>
                <a:gd name="connsiteX17" fmla="*/ 3287685 w 3541693"/>
                <a:gd name="connsiteY17" fmla="*/ 252619 h 4651620"/>
                <a:gd name="connsiteX18" fmla="*/ 3034514 w 3541693"/>
                <a:gd name="connsiteY18" fmla="*/ -551 h 4651620"/>
                <a:gd name="connsiteX19" fmla="*/ 252747 w 3541693"/>
                <a:gd name="connsiteY19" fmla="*/ -551 h 4651620"/>
                <a:gd name="connsiteX20" fmla="*/ -423 w 3541693"/>
                <a:gd name="connsiteY20" fmla="*/ 252619 h 4651620"/>
                <a:gd name="connsiteX21" fmla="*/ -423 w 3541693"/>
                <a:gd name="connsiteY21" fmla="*/ 4264783 h 4651620"/>
                <a:gd name="connsiteX22" fmla="*/ 252747 w 3541693"/>
                <a:gd name="connsiteY22" fmla="*/ 4517953 h 4651620"/>
                <a:gd name="connsiteX23" fmla="*/ 810044 w 3541693"/>
                <a:gd name="connsiteY23" fmla="*/ 4517953 h 4651620"/>
                <a:gd name="connsiteX24" fmla="*/ 809474 w 3541693"/>
                <a:gd name="connsiteY24" fmla="*/ 4491309 h 4651620"/>
                <a:gd name="connsiteX25" fmla="*/ 1644046 w 3541693"/>
                <a:gd name="connsiteY25" fmla="*/ 3657256 h 4651620"/>
                <a:gd name="connsiteX26" fmla="*/ 2478617 w 3541693"/>
                <a:gd name="connsiteY26" fmla="*/ 4491827 h 4651620"/>
                <a:gd name="connsiteX27" fmla="*/ 2478617 w 3541693"/>
                <a:gd name="connsiteY27" fmla="*/ 4514428 h 4651620"/>
                <a:gd name="connsiteX28" fmla="*/ 3245801 w 3541693"/>
                <a:gd name="connsiteY28" fmla="*/ 4514428 h 4651620"/>
                <a:gd name="connsiteX29" fmla="*/ 3245801 w 3541693"/>
                <a:gd name="connsiteY29" fmla="*/ 4651070 h 4651620"/>
                <a:gd name="connsiteX30" fmla="*/ 3325318 w 3541693"/>
                <a:gd name="connsiteY30" fmla="*/ 3584529 h 4651620"/>
                <a:gd name="connsiteX31" fmla="*/ 3263114 w 3541693"/>
                <a:gd name="connsiteY31" fmla="*/ 3646733 h 4651620"/>
                <a:gd name="connsiteX32" fmla="*/ 3200910 w 3541693"/>
                <a:gd name="connsiteY32" fmla="*/ 3584529 h 4651620"/>
                <a:gd name="connsiteX33" fmla="*/ 3263114 w 3541693"/>
                <a:gd name="connsiteY33" fmla="*/ 3522325 h 4651620"/>
                <a:gd name="connsiteX34" fmla="*/ 3263373 w 3541693"/>
                <a:gd name="connsiteY34" fmla="*/ 3522325 h 4651620"/>
                <a:gd name="connsiteX35" fmla="*/ 3325422 w 3541693"/>
                <a:gd name="connsiteY35" fmla="*/ 3584529 h 4651620"/>
                <a:gd name="connsiteX36" fmla="*/ 3290743 w 3541693"/>
                <a:gd name="connsiteY36" fmla="*/ 4387636 h 4651620"/>
                <a:gd name="connsiteX37" fmla="*/ 3450970 w 3541693"/>
                <a:gd name="connsiteY37" fmla="*/ 4480112 h 4651620"/>
                <a:gd name="connsiteX38" fmla="*/ 3290743 w 3541693"/>
                <a:gd name="connsiteY38" fmla="*/ 4572641 h 465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41693" h="4651620">
                  <a:moveTo>
                    <a:pt x="3541270" y="4479905"/>
                  </a:moveTo>
                  <a:lnTo>
                    <a:pt x="3245801" y="4309155"/>
                  </a:lnTo>
                  <a:lnTo>
                    <a:pt x="3245801" y="4468864"/>
                  </a:lnTo>
                  <a:lnTo>
                    <a:pt x="2523197" y="4468864"/>
                  </a:lnTo>
                  <a:cubicBezTo>
                    <a:pt x="2511171" y="3994246"/>
                    <a:pt x="2121358" y="3611847"/>
                    <a:pt x="1643890" y="3611847"/>
                  </a:cubicBezTo>
                  <a:cubicBezTo>
                    <a:pt x="1165178" y="3611847"/>
                    <a:pt x="774536" y="3996320"/>
                    <a:pt x="764480" y="4472700"/>
                  </a:cubicBezTo>
                  <a:lnTo>
                    <a:pt x="252747" y="4472700"/>
                  </a:lnTo>
                  <a:cubicBezTo>
                    <a:pt x="137929" y="4472596"/>
                    <a:pt x="44882" y="4379549"/>
                    <a:pt x="44778" y="4264731"/>
                  </a:cubicBezTo>
                  <a:lnTo>
                    <a:pt x="44778" y="252567"/>
                  </a:lnTo>
                  <a:cubicBezTo>
                    <a:pt x="44882" y="137754"/>
                    <a:pt x="137929" y="44712"/>
                    <a:pt x="252747" y="44598"/>
                  </a:cubicBezTo>
                  <a:lnTo>
                    <a:pt x="3034514" y="44598"/>
                  </a:lnTo>
                  <a:cubicBezTo>
                    <a:pt x="3149333" y="44712"/>
                    <a:pt x="3242379" y="137754"/>
                    <a:pt x="3242483" y="252567"/>
                  </a:cubicBezTo>
                  <a:lnTo>
                    <a:pt x="3242483" y="3479404"/>
                  </a:lnTo>
                  <a:cubicBezTo>
                    <a:pt x="3184322" y="3490912"/>
                    <a:pt x="3146481" y="3547362"/>
                    <a:pt x="3157938" y="3605523"/>
                  </a:cubicBezTo>
                  <a:cubicBezTo>
                    <a:pt x="3169445" y="3663683"/>
                    <a:pt x="3225896" y="3701525"/>
                    <a:pt x="3284056" y="3690069"/>
                  </a:cubicBezTo>
                  <a:cubicBezTo>
                    <a:pt x="3342217" y="3678561"/>
                    <a:pt x="3380110" y="3622110"/>
                    <a:pt x="3368602" y="3563950"/>
                  </a:cubicBezTo>
                  <a:cubicBezTo>
                    <a:pt x="3360412" y="3522532"/>
                    <a:pt x="3328791" y="3489772"/>
                    <a:pt x="3287685" y="3480181"/>
                  </a:cubicBezTo>
                  <a:lnTo>
                    <a:pt x="3287685" y="252619"/>
                  </a:lnTo>
                  <a:cubicBezTo>
                    <a:pt x="3287530" y="112867"/>
                    <a:pt x="3174266" y="-381"/>
                    <a:pt x="3034514" y="-551"/>
                  </a:cubicBezTo>
                  <a:lnTo>
                    <a:pt x="252747" y="-551"/>
                  </a:lnTo>
                  <a:cubicBezTo>
                    <a:pt x="112996" y="-381"/>
                    <a:pt x="-267" y="112867"/>
                    <a:pt x="-423" y="252619"/>
                  </a:cubicBezTo>
                  <a:lnTo>
                    <a:pt x="-423" y="4264783"/>
                  </a:lnTo>
                  <a:cubicBezTo>
                    <a:pt x="-267" y="4404534"/>
                    <a:pt x="112996" y="4517798"/>
                    <a:pt x="252747" y="4517953"/>
                  </a:cubicBezTo>
                  <a:lnTo>
                    <a:pt x="810044" y="4517953"/>
                  </a:lnTo>
                  <a:lnTo>
                    <a:pt x="809474" y="4491309"/>
                  </a:lnTo>
                  <a:cubicBezTo>
                    <a:pt x="809474" y="4031362"/>
                    <a:pt x="1183943" y="3657256"/>
                    <a:pt x="1644046" y="3657256"/>
                  </a:cubicBezTo>
                  <a:cubicBezTo>
                    <a:pt x="2104149" y="3657256"/>
                    <a:pt x="2478617" y="4031569"/>
                    <a:pt x="2478617" y="4491827"/>
                  </a:cubicBezTo>
                  <a:lnTo>
                    <a:pt x="2478617" y="4514428"/>
                  </a:lnTo>
                  <a:lnTo>
                    <a:pt x="3245801" y="4514428"/>
                  </a:lnTo>
                  <a:lnTo>
                    <a:pt x="3245801" y="4651070"/>
                  </a:lnTo>
                  <a:close/>
                  <a:moveTo>
                    <a:pt x="3325318" y="3584529"/>
                  </a:moveTo>
                  <a:cubicBezTo>
                    <a:pt x="3325318" y="3618896"/>
                    <a:pt x="3297482" y="3646733"/>
                    <a:pt x="3263114" y="3646733"/>
                  </a:cubicBezTo>
                  <a:cubicBezTo>
                    <a:pt x="3228746" y="3646733"/>
                    <a:pt x="3200910" y="3618896"/>
                    <a:pt x="3200910" y="3584529"/>
                  </a:cubicBezTo>
                  <a:cubicBezTo>
                    <a:pt x="3200910" y="3550161"/>
                    <a:pt x="3228746" y="3522325"/>
                    <a:pt x="3263114" y="3522325"/>
                  </a:cubicBezTo>
                  <a:cubicBezTo>
                    <a:pt x="3263218" y="3522325"/>
                    <a:pt x="3263270" y="3522325"/>
                    <a:pt x="3263373" y="3522325"/>
                  </a:cubicBezTo>
                  <a:cubicBezTo>
                    <a:pt x="3297689" y="3522428"/>
                    <a:pt x="3325422" y="3550213"/>
                    <a:pt x="3325422" y="3584529"/>
                  </a:cubicBezTo>
                  <a:close/>
                  <a:moveTo>
                    <a:pt x="3290743" y="4387636"/>
                  </a:moveTo>
                  <a:lnTo>
                    <a:pt x="3450970" y="4480112"/>
                  </a:lnTo>
                  <a:lnTo>
                    <a:pt x="3290743" y="4572641"/>
                  </a:lnTo>
                  <a:close/>
                </a:path>
              </a:pathLst>
            </a:custGeom>
            <a:solidFill>
              <a:srgbClr val="E97132"/>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5" name="Freeform: Shape 328">
              <a:extLst>
                <a:ext uri="{FF2B5EF4-FFF2-40B4-BE49-F238E27FC236}">
                  <a16:creationId xmlns:a16="http://schemas.microsoft.com/office/drawing/2014/main" id="{818B74EC-FF1C-D5E0-1B57-9EFECA440778}"/>
                </a:ext>
              </a:extLst>
            </p:cNvPr>
            <p:cNvSpPr/>
            <p:nvPr/>
          </p:nvSpPr>
          <p:spPr>
            <a:xfrm>
              <a:off x="4863071" y="1941938"/>
              <a:ext cx="2415352" cy="3467897"/>
            </a:xfrm>
            <a:custGeom>
              <a:avLst/>
              <a:gdLst>
                <a:gd name="connsiteX0" fmla="*/ 2794510 w 2794932"/>
                <a:gd name="connsiteY0" fmla="*/ 150915 h 4012889"/>
                <a:gd name="connsiteX1" fmla="*/ 2794510 w 2794932"/>
                <a:gd name="connsiteY1" fmla="*/ 3860870 h 4012889"/>
                <a:gd name="connsiteX2" fmla="*/ 2643043 w 2794932"/>
                <a:gd name="connsiteY2" fmla="*/ 4012338 h 4012889"/>
                <a:gd name="connsiteX3" fmla="*/ 2428439 w 2794932"/>
                <a:gd name="connsiteY3" fmla="*/ 4012338 h 4012889"/>
                <a:gd name="connsiteX4" fmla="*/ 1381907 w 2794932"/>
                <a:gd name="connsiteY4" fmla="*/ 3156720 h 4012889"/>
                <a:gd name="connsiteX5" fmla="*/ 335375 w 2794932"/>
                <a:gd name="connsiteY5" fmla="*/ 4012338 h 4012889"/>
                <a:gd name="connsiteX6" fmla="*/ 150992 w 2794932"/>
                <a:gd name="connsiteY6" fmla="*/ 4012338 h 4012889"/>
                <a:gd name="connsiteX7" fmla="*/ -423 w 2794932"/>
                <a:gd name="connsiteY7" fmla="*/ 3860922 h 4012889"/>
                <a:gd name="connsiteX8" fmla="*/ -423 w 2794932"/>
                <a:gd name="connsiteY8" fmla="*/ 3860870 h 4012889"/>
                <a:gd name="connsiteX9" fmla="*/ -423 w 2794932"/>
                <a:gd name="connsiteY9" fmla="*/ 150915 h 4012889"/>
                <a:gd name="connsiteX10" fmla="*/ 150940 w 2794932"/>
                <a:gd name="connsiteY10" fmla="*/ -551 h 4012889"/>
                <a:gd name="connsiteX11" fmla="*/ 150992 w 2794932"/>
                <a:gd name="connsiteY11" fmla="*/ -551 h 4012889"/>
                <a:gd name="connsiteX12" fmla="*/ 2643043 w 2794932"/>
                <a:gd name="connsiteY12" fmla="*/ -551 h 4012889"/>
                <a:gd name="connsiteX13" fmla="*/ 2794510 w 2794932"/>
                <a:gd name="connsiteY13" fmla="*/ 150915 h 401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94932" h="4012889">
                  <a:moveTo>
                    <a:pt x="2794510" y="150915"/>
                  </a:moveTo>
                  <a:lnTo>
                    <a:pt x="2794510" y="3860870"/>
                  </a:lnTo>
                  <a:cubicBezTo>
                    <a:pt x="2794510" y="3944535"/>
                    <a:pt x="2726708" y="4012338"/>
                    <a:pt x="2643043" y="4012338"/>
                  </a:cubicBezTo>
                  <a:lnTo>
                    <a:pt x="2428439" y="4012338"/>
                  </a:lnTo>
                  <a:cubicBezTo>
                    <a:pt x="2329949" y="3524243"/>
                    <a:pt x="1898875" y="3156720"/>
                    <a:pt x="1381907" y="3156720"/>
                  </a:cubicBezTo>
                  <a:cubicBezTo>
                    <a:pt x="864939" y="3156720"/>
                    <a:pt x="433710" y="3524243"/>
                    <a:pt x="335375" y="4012338"/>
                  </a:cubicBezTo>
                  <a:lnTo>
                    <a:pt x="150992" y="4012338"/>
                  </a:lnTo>
                  <a:cubicBezTo>
                    <a:pt x="67379" y="4012338"/>
                    <a:pt x="-423" y="3944535"/>
                    <a:pt x="-423" y="3860922"/>
                  </a:cubicBezTo>
                  <a:cubicBezTo>
                    <a:pt x="-423" y="3860922"/>
                    <a:pt x="-423" y="3860870"/>
                    <a:pt x="-423" y="3860870"/>
                  </a:cubicBezTo>
                  <a:lnTo>
                    <a:pt x="-423" y="150915"/>
                  </a:lnTo>
                  <a:cubicBezTo>
                    <a:pt x="-475" y="67292"/>
                    <a:pt x="67327" y="-520"/>
                    <a:pt x="150940" y="-551"/>
                  </a:cubicBezTo>
                  <a:cubicBezTo>
                    <a:pt x="150940" y="-551"/>
                    <a:pt x="150992" y="-551"/>
                    <a:pt x="150992" y="-551"/>
                  </a:cubicBezTo>
                  <a:lnTo>
                    <a:pt x="2643043" y="-551"/>
                  </a:lnTo>
                  <a:cubicBezTo>
                    <a:pt x="2726708" y="-551"/>
                    <a:pt x="2794510" y="67261"/>
                    <a:pt x="2794510" y="150915"/>
                  </a:cubicBezTo>
                  <a:close/>
                </a:path>
              </a:pathLst>
            </a:custGeom>
            <a:solidFill>
              <a:sysClr val="window" lastClr="FFFFFF"/>
            </a:solidFill>
            <a:ln w="5184" cap="flat">
              <a:noFill/>
              <a:prstDash val="solid"/>
              <a:miter/>
            </a:ln>
            <a:effectLst>
              <a:outerShdw blurRad="127000" sx="102000" sy="102000" algn="ctr" rotWithShape="0">
                <a:prstClr val="black">
                  <a:alpha val="1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6" name="Freeform: Shape 330">
              <a:extLst>
                <a:ext uri="{FF2B5EF4-FFF2-40B4-BE49-F238E27FC236}">
                  <a16:creationId xmlns:a16="http://schemas.microsoft.com/office/drawing/2014/main" id="{E7141F19-5486-B231-A10F-ADB7414874B8}"/>
                </a:ext>
              </a:extLst>
            </p:cNvPr>
            <p:cNvSpPr/>
            <p:nvPr/>
          </p:nvSpPr>
          <p:spPr>
            <a:xfrm>
              <a:off x="5254818" y="1751687"/>
              <a:ext cx="1614296" cy="643269"/>
            </a:xfrm>
            <a:custGeom>
              <a:avLst/>
              <a:gdLst>
                <a:gd name="connsiteX0" fmla="*/ 1623985 w 1867988"/>
                <a:gd name="connsiteY0" fmla="*/ 435862 h 436413"/>
                <a:gd name="connsiteX1" fmla="*/ 243158 w 1867988"/>
                <a:gd name="connsiteY1" fmla="*/ 435862 h 436413"/>
                <a:gd name="connsiteX2" fmla="*/ 73548 w 1867988"/>
                <a:gd name="connsiteY2" fmla="*/ 302693 h 436413"/>
                <a:gd name="connsiteX3" fmla="*/ -423 w 1867988"/>
                <a:gd name="connsiteY3" fmla="*/ -551 h 436413"/>
                <a:gd name="connsiteX4" fmla="*/ 1867566 w 1867988"/>
                <a:gd name="connsiteY4" fmla="*/ -551 h 436413"/>
                <a:gd name="connsiteX5" fmla="*/ 1793594 w 1867988"/>
                <a:gd name="connsiteY5" fmla="*/ 302693 h 436413"/>
                <a:gd name="connsiteX6" fmla="*/ 1623985 w 1867988"/>
                <a:gd name="connsiteY6" fmla="*/ 435862 h 43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7988" h="436413">
                  <a:moveTo>
                    <a:pt x="1623985" y="435862"/>
                  </a:moveTo>
                  <a:lnTo>
                    <a:pt x="243158" y="435862"/>
                  </a:lnTo>
                  <a:cubicBezTo>
                    <a:pt x="162655" y="435883"/>
                    <a:pt x="92624" y="380879"/>
                    <a:pt x="73548" y="302693"/>
                  </a:cubicBezTo>
                  <a:lnTo>
                    <a:pt x="-423" y="-551"/>
                  </a:lnTo>
                  <a:lnTo>
                    <a:pt x="1867566" y="-551"/>
                  </a:lnTo>
                  <a:lnTo>
                    <a:pt x="1793594" y="302693"/>
                  </a:lnTo>
                  <a:cubicBezTo>
                    <a:pt x="1774519" y="380879"/>
                    <a:pt x="1704487" y="435883"/>
                    <a:pt x="1623985" y="435862"/>
                  </a:cubicBezTo>
                  <a:close/>
                </a:path>
              </a:pathLst>
            </a:custGeom>
            <a:solidFill>
              <a:srgbClr val="E97132"/>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7" name="Freeform: Shape 331">
              <a:extLst>
                <a:ext uri="{FF2B5EF4-FFF2-40B4-BE49-F238E27FC236}">
                  <a16:creationId xmlns:a16="http://schemas.microsoft.com/office/drawing/2014/main" id="{80095B31-6CCE-96B9-A81A-35CD27C07D29}"/>
                </a:ext>
              </a:extLst>
            </p:cNvPr>
            <p:cNvSpPr/>
            <p:nvPr/>
          </p:nvSpPr>
          <p:spPr>
            <a:xfrm>
              <a:off x="8587358" y="1941937"/>
              <a:ext cx="2415306" cy="3467897"/>
            </a:xfrm>
            <a:custGeom>
              <a:avLst/>
              <a:gdLst>
                <a:gd name="connsiteX0" fmla="*/ 2794458 w 2794880"/>
                <a:gd name="connsiteY0" fmla="*/ 150915 h 4012889"/>
                <a:gd name="connsiteX1" fmla="*/ 2794458 w 2794880"/>
                <a:gd name="connsiteY1" fmla="*/ 3860870 h 4012889"/>
                <a:gd name="connsiteX2" fmla="*/ 2643095 w 2794880"/>
                <a:gd name="connsiteY2" fmla="*/ 4012338 h 4012889"/>
                <a:gd name="connsiteX3" fmla="*/ 2643043 w 2794880"/>
                <a:gd name="connsiteY3" fmla="*/ 4012338 h 4012889"/>
                <a:gd name="connsiteX4" fmla="*/ 2428388 w 2794880"/>
                <a:gd name="connsiteY4" fmla="*/ 4012338 h 4012889"/>
                <a:gd name="connsiteX5" fmla="*/ 1381855 w 2794880"/>
                <a:gd name="connsiteY5" fmla="*/ 3156720 h 4012889"/>
                <a:gd name="connsiteX6" fmla="*/ 335376 w 2794880"/>
                <a:gd name="connsiteY6" fmla="*/ 4012338 h 4012889"/>
                <a:gd name="connsiteX7" fmla="*/ 150992 w 2794880"/>
                <a:gd name="connsiteY7" fmla="*/ 4012338 h 4012889"/>
                <a:gd name="connsiteX8" fmla="*/ -423 w 2794880"/>
                <a:gd name="connsiteY8" fmla="*/ 3860922 h 4012889"/>
                <a:gd name="connsiteX9" fmla="*/ -423 w 2794880"/>
                <a:gd name="connsiteY9" fmla="*/ 3860870 h 4012889"/>
                <a:gd name="connsiteX10" fmla="*/ -423 w 2794880"/>
                <a:gd name="connsiteY10" fmla="*/ 150915 h 4012889"/>
                <a:gd name="connsiteX11" fmla="*/ 150940 w 2794880"/>
                <a:gd name="connsiteY11" fmla="*/ -551 h 4012889"/>
                <a:gd name="connsiteX12" fmla="*/ 150992 w 2794880"/>
                <a:gd name="connsiteY12" fmla="*/ -551 h 4012889"/>
                <a:gd name="connsiteX13" fmla="*/ 2643147 w 2794880"/>
                <a:gd name="connsiteY13" fmla="*/ -551 h 4012889"/>
                <a:gd name="connsiteX14" fmla="*/ 2794458 w 2794880"/>
                <a:gd name="connsiteY14" fmla="*/ 150915 h 401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94880" h="4012889">
                  <a:moveTo>
                    <a:pt x="2794458" y="150915"/>
                  </a:moveTo>
                  <a:lnTo>
                    <a:pt x="2794458" y="3860870"/>
                  </a:lnTo>
                  <a:cubicBezTo>
                    <a:pt x="2794510" y="3944483"/>
                    <a:pt x="2726708" y="4012286"/>
                    <a:pt x="2643095" y="4012338"/>
                  </a:cubicBezTo>
                  <a:cubicBezTo>
                    <a:pt x="2643095" y="4012338"/>
                    <a:pt x="2643043" y="4012338"/>
                    <a:pt x="2643043" y="4012338"/>
                  </a:cubicBezTo>
                  <a:lnTo>
                    <a:pt x="2428388" y="4012338"/>
                  </a:lnTo>
                  <a:cubicBezTo>
                    <a:pt x="2329898" y="3524243"/>
                    <a:pt x="1898875" y="3156720"/>
                    <a:pt x="1381855" y="3156720"/>
                  </a:cubicBezTo>
                  <a:cubicBezTo>
                    <a:pt x="864835" y="3156720"/>
                    <a:pt x="433710" y="3524243"/>
                    <a:pt x="335376" y="4012338"/>
                  </a:cubicBezTo>
                  <a:lnTo>
                    <a:pt x="150992" y="4012338"/>
                  </a:lnTo>
                  <a:cubicBezTo>
                    <a:pt x="67380" y="4012338"/>
                    <a:pt x="-423" y="3944535"/>
                    <a:pt x="-423" y="3860922"/>
                  </a:cubicBezTo>
                  <a:cubicBezTo>
                    <a:pt x="-423" y="3860922"/>
                    <a:pt x="-423" y="3860870"/>
                    <a:pt x="-423" y="3860870"/>
                  </a:cubicBezTo>
                  <a:lnTo>
                    <a:pt x="-423" y="150915"/>
                  </a:lnTo>
                  <a:cubicBezTo>
                    <a:pt x="-475" y="67292"/>
                    <a:pt x="67328" y="-520"/>
                    <a:pt x="150940" y="-551"/>
                  </a:cubicBezTo>
                  <a:cubicBezTo>
                    <a:pt x="150940" y="-551"/>
                    <a:pt x="150992" y="-551"/>
                    <a:pt x="150992" y="-551"/>
                  </a:cubicBezTo>
                  <a:lnTo>
                    <a:pt x="2643147" y="-551"/>
                  </a:lnTo>
                  <a:cubicBezTo>
                    <a:pt x="2726759" y="-495"/>
                    <a:pt x="2794510" y="67313"/>
                    <a:pt x="2794458" y="150915"/>
                  </a:cubicBezTo>
                  <a:close/>
                </a:path>
              </a:pathLst>
            </a:custGeom>
            <a:solidFill>
              <a:sysClr val="window" lastClr="FFFFFF"/>
            </a:solidFill>
            <a:ln w="5184" cap="flat">
              <a:noFill/>
              <a:prstDash val="solid"/>
              <a:miter/>
            </a:ln>
            <a:effectLst>
              <a:outerShdw blurRad="127000" sx="102000" sy="102000" algn="ctr" rotWithShape="0">
                <a:prstClr val="black">
                  <a:alpha val="1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8" name="Freeform: Shape 488">
              <a:extLst>
                <a:ext uri="{FF2B5EF4-FFF2-40B4-BE49-F238E27FC236}">
                  <a16:creationId xmlns:a16="http://schemas.microsoft.com/office/drawing/2014/main" id="{3E969C75-7BED-6B42-F5A8-13344373F2E1}"/>
                </a:ext>
              </a:extLst>
            </p:cNvPr>
            <p:cNvSpPr/>
            <p:nvPr/>
          </p:nvSpPr>
          <p:spPr>
            <a:xfrm rot="18900000">
              <a:off x="9212497" y="5061632"/>
              <a:ext cx="1137121" cy="1137122"/>
            </a:xfrm>
            <a:custGeom>
              <a:avLst/>
              <a:gdLst>
                <a:gd name="connsiteX0" fmla="*/ 1315401 w 1315824"/>
                <a:gd name="connsiteY0" fmla="*/ 657361 h 1315824"/>
                <a:gd name="connsiteX1" fmla="*/ 657489 w 1315824"/>
                <a:gd name="connsiteY1" fmla="*/ 1315273 h 1315824"/>
                <a:gd name="connsiteX2" fmla="*/ -423 w 1315824"/>
                <a:gd name="connsiteY2" fmla="*/ 657361 h 1315824"/>
                <a:gd name="connsiteX3" fmla="*/ 657489 w 1315824"/>
                <a:gd name="connsiteY3" fmla="*/ -552 h 1315824"/>
                <a:gd name="connsiteX4" fmla="*/ 1315401 w 1315824"/>
                <a:gd name="connsiteY4" fmla="*/ 657361 h 131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824" h="1315824">
                  <a:moveTo>
                    <a:pt x="1315401" y="657361"/>
                  </a:moveTo>
                  <a:cubicBezTo>
                    <a:pt x="1315401" y="1020715"/>
                    <a:pt x="1020844" y="1315273"/>
                    <a:pt x="657489" y="1315273"/>
                  </a:cubicBezTo>
                  <a:cubicBezTo>
                    <a:pt x="294134" y="1315273"/>
                    <a:pt x="-423" y="1020716"/>
                    <a:pt x="-423" y="657361"/>
                  </a:cubicBezTo>
                  <a:cubicBezTo>
                    <a:pt x="-423" y="294006"/>
                    <a:pt x="294134" y="-552"/>
                    <a:pt x="657489" y="-552"/>
                  </a:cubicBezTo>
                  <a:cubicBezTo>
                    <a:pt x="1020844" y="-552"/>
                    <a:pt x="1315401" y="294005"/>
                    <a:pt x="1315401" y="657361"/>
                  </a:cubicBezTo>
                  <a:close/>
                </a:path>
              </a:pathLst>
            </a:custGeom>
            <a:gradFill>
              <a:gsLst>
                <a:gs pos="0">
                  <a:srgbClr val="E6E6E6"/>
                </a:gs>
                <a:gs pos="50000">
                  <a:srgbClr val="F2F2F2"/>
                </a:gs>
                <a:gs pos="100000">
                  <a:srgbClr val="FFFFFF"/>
                </a:gs>
              </a:gsLst>
              <a:lin ang="2700000" scaled="1"/>
            </a:gra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49" name="Freeform: Shape 489">
              <a:extLst>
                <a:ext uri="{FF2B5EF4-FFF2-40B4-BE49-F238E27FC236}">
                  <a16:creationId xmlns:a16="http://schemas.microsoft.com/office/drawing/2014/main" id="{864C0CBB-FB53-A788-3C1F-AB67EB71F271}"/>
                </a:ext>
              </a:extLst>
            </p:cNvPr>
            <p:cNvSpPr/>
            <p:nvPr/>
          </p:nvSpPr>
          <p:spPr>
            <a:xfrm>
              <a:off x="9326415" y="5175547"/>
              <a:ext cx="909285" cy="909285"/>
            </a:xfrm>
            <a:custGeom>
              <a:avLst/>
              <a:gdLst>
                <a:gd name="connsiteX0" fmla="*/ 1052182 w 1052182"/>
                <a:gd name="connsiteY0" fmla="*/ 526091 h 1052182"/>
                <a:gd name="connsiteX1" fmla="*/ 526091 w 1052182"/>
                <a:gd name="connsiteY1" fmla="*/ 1052182 h 1052182"/>
                <a:gd name="connsiteX2" fmla="*/ 0 w 1052182"/>
                <a:gd name="connsiteY2" fmla="*/ 526091 h 1052182"/>
                <a:gd name="connsiteX3" fmla="*/ 526091 w 1052182"/>
                <a:gd name="connsiteY3" fmla="*/ 0 h 1052182"/>
                <a:gd name="connsiteX4" fmla="*/ 1052182 w 1052182"/>
                <a:gd name="connsiteY4" fmla="*/ 526091 h 1052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2182" h="1052182">
                  <a:moveTo>
                    <a:pt x="1052182" y="526091"/>
                  </a:moveTo>
                  <a:cubicBezTo>
                    <a:pt x="1052182" y="816643"/>
                    <a:pt x="816642" y="1052182"/>
                    <a:pt x="526091" y="1052182"/>
                  </a:cubicBezTo>
                  <a:cubicBezTo>
                    <a:pt x="235539" y="1052182"/>
                    <a:pt x="0" y="816643"/>
                    <a:pt x="0" y="526091"/>
                  </a:cubicBezTo>
                  <a:cubicBezTo>
                    <a:pt x="0" y="235539"/>
                    <a:pt x="235539" y="0"/>
                    <a:pt x="526091" y="0"/>
                  </a:cubicBezTo>
                  <a:cubicBezTo>
                    <a:pt x="816642" y="0"/>
                    <a:pt x="1052182" y="235539"/>
                    <a:pt x="1052182" y="526091"/>
                  </a:cubicBezTo>
                  <a:close/>
                </a:path>
              </a:pathLst>
            </a:custGeom>
            <a:gradFill>
              <a:gsLst>
                <a:gs pos="0">
                  <a:srgbClr val="FFFFFF"/>
                </a:gs>
                <a:gs pos="50000">
                  <a:srgbClr val="F8F8F8"/>
                </a:gs>
                <a:gs pos="100000">
                  <a:srgbClr val="F2F2F2"/>
                </a:gs>
              </a:gsLst>
              <a:lin ang="0" scaled="1"/>
            </a:gra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50" name="Freeform: Shape 490">
              <a:extLst>
                <a:ext uri="{FF2B5EF4-FFF2-40B4-BE49-F238E27FC236}">
                  <a16:creationId xmlns:a16="http://schemas.microsoft.com/office/drawing/2014/main" id="{5CCE279E-811D-07A7-4F1B-D24F2D08A101}"/>
                </a:ext>
              </a:extLst>
            </p:cNvPr>
            <p:cNvSpPr/>
            <p:nvPr/>
          </p:nvSpPr>
          <p:spPr>
            <a:xfrm>
              <a:off x="9347021" y="5196154"/>
              <a:ext cx="868072" cy="868072"/>
            </a:xfrm>
            <a:custGeom>
              <a:avLst/>
              <a:gdLst>
                <a:gd name="connsiteX0" fmla="*/ 1004492 w 1004492"/>
                <a:gd name="connsiteY0" fmla="*/ 502246 h 1004492"/>
                <a:gd name="connsiteX1" fmla="*/ 502245 w 1004492"/>
                <a:gd name="connsiteY1" fmla="*/ 1004492 h 1004492"/>
                <a:gd name="connsiteX2" fmla="*/ -1 w 1004492"/>
                <a:gd name="connsiteY2" fmla="*/ 502246 h 1004492"/>
                <a:gd name="connsiteX3" fmla="*/ 502245 w 1004492"/>
                <a:gd name="connsiteY3" fmla="*/ 0 h 1004492"/>
                <a:gd name="connsiteX4" fmla="*/ 1004492 w 1004492"/>
                <a:gd name="connsiteY4" fmla="*/ 502246 h 1004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492" h="1004492">
                  <a:moveTo>
                    <a:pt x="1004492" y="502246"/>
                  </a:moveTo>
                  <a:cubicBezTo>
                    <a:pt x="1004492" y="779629"/>
                    <a:pt x="779628" y="1004492"/>
                    <a:pt x="502245" y="1004492"/>
                  </a:cubicBezTo>
                  <a:cubicBezTo>
                    <a:pt x="224863" y="1004492"/>
                    <a:pt x="-1" y="779629"/>
                    <a:pt x="-1" y="502246"/>
                  </a:cubicBezTo>
                  <a:cubicBezTo>
                    <a:pt x="-1" y="224863"/>
                    <a:pt x="224863" y="0"/>
                    <a:pt x="502245" y="0"/>
                  </a:cubicBezTo>
                  <a:cubicBezTo>
                    <a:pt x="779628" y="0"/>
                    <a:pt x="1004492" y="224863"/>
                    <a:pt x="1004492" y="502246"/>
                  </a:cubicBezTo>
                  <a:close/>
                </a:path>
              </a:pathLst>
            </a:custGeom>
            <a:solidFill>
              <a:srgbClr val="196B24"/>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51" name="Freeform: Shape 491">
              <a:extLst>
                <a:ext uri="{FF2B5EF4-FFF2-40B4-BE49-F238E27FC236}">
                  <a16:creationId xmlns:a16="http://schemas.microsoft.com/office/drawing/2014/main" id="{E9EAF987-10D9-206B-E6AF-897F8A77B2CD}"/>
                </a:ext>
              </a:extLst>
            </p:cNvPr>
            <p:cNvSpPr/>
            <p:nvPr/>
          </p:nvSpPr>
          <p:spPr>
            <a:xfrm>
              <a:off x="8979105" y="1751686"/>
              <a:ext cx="1614297" cy="640692"/>
            </a:xfrm>
            <a:custGeom>
              <a:avLst/>
              <a:gdLst>
                <a:gd name="connsiteX0" fmla="*/ 1623985 w 1867989"/>
                <a:gd name="connsiteY0" fmla="*/ 435862 h 436413"/>
                <a:gd name="connsiteX1" fmla="*/ 243158 w 1867989"/>
                <a:gd name="connsiteY1" fmla="*/ 435862 h 436413"/>
                <a:gd name="connsiteX2" fmla="*/ 73548 w 1867989"/>
                <a:gd name="connsiteY2" fmla="*/ 302693 h 436413"/>
                <a:gd name="connsiteX3" fmla="*/ -423 w 1867989"/>
                <a:gd name="connsiteY3" fmla="*/ -551 h 436413"/>
                <a:gd name="connsiteX4" fmla="*/ 1867566 w 1867989"/>
                <a:gd name="connsiteY4" fmla="*/ -551 h 436413"/>
                <a:gd name="connsiteX5" fmla="*/ 1793595 w 1867989"/>
                <a:gd name="connsiteY5" fmla="*/ 302693 h 436413"/>
                <a:gd name="connsiteX6" fmla="*/ 1623985 w 1867989"/>
                <a:gd name="connsiteY6" fmla="*/ 435862 h 43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7989" h="436413">
                  <a:moveTo>
                    <a:pt x="1623985" y="435862"/>
                  </a:moveTo>
                  <a:lnTo>
                    <a:pt x="243158" y="435862"/>
                  </a:lnTo>
                  <a:cubicBezTo>
                    <a:pt x="162655" y="435883"/>
                    <a:pt x="92624" y="380879"/>
                    <a:pt x="73548" y="302693"/>
                  </a:cubicBezTo>
                  <a:lnTo>
                    <a:pt x="-423" y="-551"/>
                  </a:lnTo>
                  <a:lnTo>
                    <a:pt x="1867566" y="-551"/>
                  </a:lnTo>
                  <a:lnTo>
                    <a:pt x="1793595" y="302693"/>
                  </a:lnTo>
                  <a:cubicBezTo>
                    <a:pt x="1774518" y="380868"/>
                    <a:pt x="1704436" y="435867"/>
                    <a:pt x="1623985" y="435862"/>
                  </a:cubicBezTo>
                  <a:close/>
                </a:path>
              </a:pathLst>
            </a:custGeom>
            <a:solidFill>
              <a:srgbClr val="196B24"/>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52" name="Freeform: Shape 492">
              <a:extLst>
                <a:ext uri="{FF2B5EF4-FFF2-40B4-BE49-F238E27FC236}">
                  <a16:creationId xmlns:a16="http://schemas.microsoft.com/office/drawing/2014/main" id="{E0ECEF3F-7DCC-B5EA-649E-285F95BFA28B}"/>
                </a:ext>
              </a:extLst>
            </p:cNvPr>
            <p:cNvSpPr/>
            <p:nvPr/>
          </p:nvSpPr>
          <p:spPr>
            <a:xfrm>
              <a:off x="8364001" y="1747878"/>
              <a:ext cx="2913020" cy="3973233"/>
            </a:xfrm>
            <a:custGeom>
              <a:avLst/>
              <a:gdLst>
                <a:gd name="connsiteX0" fmla="*/ 3263634 w 3370811"/>
                <a:gd name="connsiteY0" fmla="*/ 4384888 h 4597640"/>
                <a:gd name="connsiteX1" fmla="*/ 3159960 w 3370811"/>
                <a:gd name="connsiteY1" fmla="*/ 4468812 h 4597640"/>
                <a:gd name="connsiteX2" fmla="*/ 2522730 w 3370811"/>
                <a:gd name="connsiteY2" fmla="*/ 4468812 h 4597640"/>
                <a:gd name="connsiteX3" fmla="*/ 1643372 w 3370811"/>
                <a:gd name="connsiteY3" fmla="*/ 3611847 h 4597640"/>
                <a:gd name="connsiteX4" fmla="*/ 763963 w 3370811"/>
                <a:gd name="connsiteY4" fmla="*/ 4472700 h 4597640"/>
                <a:gd name="connsiteX5" fmla="*/ 252748 w 3370811"/>
                <a:gd name="connsiteY5" fmla="*/ 4472700 h 4597640"/>
                <a:gd name="connsiteX6" fmla="*/ 44778 w 3370811"/>
                <a:gd name="connsiteY6" fmla="*/ 4264731 h 4597640"/>
                <a:gd name="connsiteX7" fmla="*/ 44778 w 3370811"/>
                <a:gd name="connsiteY7" fmla="*/ 252567 h 4597640"/>
                <a:gd name="connsiteX8" fmla="*/ 252748 w 3370811"/>
                <a:gd name="connsiteY8" fmla="*/ 44598 h 4597640"/>
                <a:gd name="connsiteX9" fmla="*/ 3034308 w 3370811"/>
                <a:gd name="connsiteY9" fmla="*/ 44598 h 4597640"/>
                <a:gd name="connsiteX10" fmla="*/ 3242328 w 3370811"/>
                <a:gd name="connsiteY10" fmla="*/ 252619 h 4597640"/>
                <a:gd name="connsiteX11" fmla="*/ 3242328 w 3370811"/>
                <a:gd name="connsiteY11" fmla="*/ 3479456 h 4597640"/>
                <a:gd name="connsiteX12" fmla="*/ 3157886 w 3370811"/>
                <a:gd name="connsiteY12" fmla="*/ 3605471 h 4597640"/>
                <a:gd name="connsiteX13" fmla="*/ 3283849 w 3370811"/>
                <a:gd name="connsiteY13" fmla="*/ 3689913 h 4597640"/>
                <a:gd name="connsiteX14" fmla="*/ 3368343 w 3370811"/>
                <a:gd name="connsiteY14" fmla="*/ 3563898 h 4597640"/>
                <a:gd name="connsiteX15" fmla="*/ 3287478 w 3370811"/>
                <a:gd name="connsiteY15" fmla="*/ 3480233 h 4597640"/>
                <a:gd name="connsiteX16" fmla="*/ 3287478 w 3370811"/>
                <a:gd name="connsiteY16" fmla="*/ 252619 h 4597640"/>
                <a:gd name="connsiteX17" fmla="*/ 3034308 w 3370811"/>
                <a:gd name="connsiteY17" fmla="*/ -551 h 4597640"/>
                <a:gd name="connsiteX18" fmla="*/ 252748 w 3370811"/>
                <a:gd name="connsiteY18" fmla="*/ -551 h 4597640"/>
                <a:gd name="connsiteX19" fmla="*/ -423 w 3370811"/>
                <a:gd name="connsiteY19" fmla="*/ 252619 h 4597640"/>
                <a:gd name="connsiteX20" fmla="*/ -423 w 3370811"/>
                <a:gd name="connsiteY20" fmla="*/ 4264783 h 4597640"/>
                <a:gd name="connsiteX21" fmla="*/ 252748 w 3370811"/>
                <a:gd name="connsiteY21" fmla="*/ 4517953 h 4597640"/>
                <a:gd name="connsiteX22" fmla="*/ 810097 w 3370811"/>
                <a:gd name="connsiteY22" fmla="*/ 4517953 h 4597640"/>
                <a:gd name="connsiteX23" fmla="*/ 809268 w 3370811"/>
                <a:gd name="connsiteY23" fmla="*/ 4491153 h 4597640"/>
                <a:gd name="connsiteX24" fmla="*/ 1643839 w 3370811"/>
                <a:gd name="connsiteY24" fmla="*/ 3657100 h 4597640"/>
                <a:gd name="connsiteX25" fmla="*/ 2478411 w 3370811"/>
                <a:gd name="connsiteY25" fmla="*/ 4491672 h 4597640"/>
                <a:gd name="connsiteX26" fmla="*/ 2478411 w 3370811"/>
                <a:gd name="connsiteY26" fmla="*/ 4514273 h 4597640"/>
                <a:gd name="connsiteX27" fmla="*/ 3160270 w 3370811"/>
                <a:gd name="connsiteY27" fmla="*/ 4514273 h 4597640"/>
                <a:gd name="connsiteX28" fmla="*/ 3286856 w 3370811"/>
                <a:gd name="connsiteY28" fmla="*/ 4594516 h 4597640"/>
                <a:gd name="connsiteX29" fmla="*/ 3367048 w 3370811"/>
                <a:gd name="connsiteY29" fmla="*/ 4467931 h 4597640"/>
                <a:gd name="connsiteX30" fmla="*/ 3263634 w 3370811"/>
                <a:gd name="connsiteY30" fmla="*/ 4385148 h 4597640"/>
                <a:gd name="connsiteX31" fmla="*/ 3325163 w 3370811"/>
                <a:gd name="connsiteY31" fmla="*/ 3584477 h 4597640"/>
                <a:gd name="connsiteX32" fmla="*/ 3263270 w 3370811"/>
                <a:gd name="connsiteY32" fmla="*/ 3646474 h 4597640"/>
                <a:gd name="connsiteX33" fmla="*/ 3201274 w 3370811"/>
                <a:gd name="connsiteY33" fmla="*/ 3584581 h 4597640"/>
                <a:gd name="connsiteX34" fmla="*/ 3263167 w 3370811"/>
                <a:gd name="connsiteY34" fmla="*/ 3522584 h 4597640"/>
                <a:gd name="connsiteX35" fmla="*/ 3263218 w 3370811"/>
                <a:gd name="connsiteY35" fmla="*/ 3522584 h 4597640"/>
                <a:gd name="connsiteX36" fmla="*/ 3325163 w 3370811"/>
                <a:gd name="connsiteY36" fmla="*/ 3584477 h 4597640"/>
                <a:gd name="connsiteX37" fmla="*/ 3263634 w 3370811"/>
                <a:gd name="connsiteY37" fmla="*/ 4554498 h 4597640"/>
                <a:gd name="connsiteX38" fmla="*/ 3200030 w 3370811"/>
                <a:gd name="connsiteY38" fmla="*/ 4490895 h 4597640"/>
                <a:gd name="connsiteX39" fmla="*/ 3263634 w 3370811"/>
                <a:gd name="connsiteY39" fmla="*/ 4427291 h 4597640"/>
                <a:gd name="connsiteX40" fmla="*/ 3327237 w 3370811"/>
                <a:gd name="connsiteY40" fmla="*/ 4490895 h 4597640"/>
                <a:gd name="connsiteX41" fmla="*/ 3263634 w 3370811"/>
                <a:gd name="connsiteY41" fmla="*/ 4554498 h 459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370811" h="4597640">
                  <a:moveTo>
                    <a:pt x="3263634" y="4384888"/>
                  </a:moveTo>
                  <a:cubicBezTo>
                    <a:pt x="3213610" y="4384940"/>
                    <a:pt x="3170431" y="4419930"/>
                    <a:pt x="3159960" y="4468812"/>
                  </a:cubicBezTo>
                  <a:lnTo>
                    <a:pt x="2522730" y="4468812"/>
                  </a:lnTo>
                  <a:cubicBezTo>
                    <a:pt x="2510705" y="3994246"/>
                    <a:pt x="2120892" y="3611847"/>
                    <a:pt x="1643372" y="3611847"/>
                  </a:cubicBezTo>
                  <a:cubicBezTo>
                    <a:pt x="1164660" y="3611847"/>
                    <a:pt x="774019" y="3996320"/>
                    <a:pt x="763963" y="4472700"/>
                  </a:cubicBezTo>
                  <a:lnTo>
                    <a:pt x="252748" y="4472700"/>
                  </a:lnTo>
                  <a:cubicBezTo>
                    <a:pt x="137930" y="4472544"/>
                    <a:pt x="44934" y="4379549"/>
                    <a:pt x="44778" y="4264731"/>
                  </a:cubicBezTo>
                  <a:lnTo>
                    <a:pt x="44778" y="252567"/>
                  </a:lnTo>
                  <a:cubicBezTo>
                    <a:pt x="44934" y="137769"/>
                    <a:pt x="137930" y="44743"/>
                    <a:pt x="252748" y="44598"/>
                  </a:cubicBezTo>
                  <a:lnTo>
                    <a:pt x="3034308" y="44598"/>
                  </a:lnTo>
                  <a:cubicBezTo>
                    <a:pt x="3149126" y="44743"/>
                    <a:pt x="3242172" y="137790"/>
                    <a:pt x="3242328" y="252619"/>
                  </a:cubicBezTo>
                  <a:lnTo>
                    <a:pt x="3242328" y="3479456"/>
                  </a:lnTo>
                  <a:cubicBezTo>
                    <a:pt x="3184219" y="3490912"/>
                    <a:pt x="3146430" y="3547310"/>
                    <a:pt x="3157886" y="3605471"/>
                  </a:cubicBezTo>
                  <a:cubicBezTo>
                    <a:pt x="3169342" y="3663580"/>
                    <a:pt x="3225741" y="3701369"/>
                    <a:pt x="3283849" y="3689913"/>
                  </a:cubicBezTo>
                  <a:cubicBezTo>
                    <a:pt x="3341958" y="3678406"/>
                    <a:pt x="3379799" y="3622007"/>
                    <a:pt x="3368343" y="3563898"/>
                  </a:cubicBezTo>
                  <a:cubicBezTo>
                    <a:pt x="3360153" y="3522532"/>
                    <a:pt x="3328533" y="3489824"/>
                    <a:pt x="3287478" y="3480233"/>
                  </a:cubicBezTo>
                  <a:lnTo>
                    <a:pt x="3287478" y="252619"/>
                  </a:lnTo>
                  <a:cubicBezTo>
                    <a:pt x="3287322" y="112867"/>
                    <a:pt x="3174060" y="-381"/>
                    <a:pt x="3034308" y="-551"/>
                  </a:cubicBezTo>
                  <a:lnTo>
                    <a:pt x="252748" y="-551"/>
                  </a:lnTo>
                  <a:cubicBezTo>
                    <a:pt x="112996" y="-381"/>
                    <a:pt x="-267" y="112867"/>
                    <a:pt x="-423" y="252619"/>
                  </a:cubicBezTo>
                  <a:lnTo>
                    <a:pt x="-423" y="4264783"/>
                  </a:lnTo>
                  <a:cubicBezTo>
                    <a:pt x="-267" y="4404534"/>
                    <a:pt x="112996" y="4517798"/>
                    <a:pt x="252748" y="4517953"/>
                  </a:cubicBezTo>
                  <a:lnTo>
                    <a:pt x="810097" y="4517953"/>
                  </a:lnTo>
                  <a:lnTo>
                    <a:pt x="809268" y="4491153"/>
                  </a:lnTo>
                  <a:cubicBezTo>
                    <a:pt x="809268" y="4031258"/>
                    <a:pt x="1183736" y="3657100"/>
                    <a:pt x="1643839" y="3657100"/>
                  </a:cubicBezTo>
                  <a:cubicBezTo>
                    <a:pt x="2103942" y="3657100"/>
                    <a:pt x="2478411" y="4031414"/>
                    <a:pt x="2478411" y="4491672"/>
                  </a:cubicBezTo>
                  <a:lnTo>
                    <a:pt x="2478411" y="4514273"/>
                  </a:lnTo>
                  <a:lnTo>
                    <a:pt x="3160270" y="4514273"/>
                  </a:lnTo>
                  <a:cubicBezTo>
                    <a:pt x="3173075" y="4571397"/>
                    <a:pt x="3229732" y="4607268"/>
                    <a:pt x="3286856" y="4594516"/>
                  </a:cubicBezTo>
                  <a:cubicBezTo>
                    <a:pt x="3343929" y="4581712"/>
                    <a:pt x="3379851" y="4525055"/>
                    <a:pt x="3367048" y="4467931"/>
                  </a:cubicBezTo>
                  <a:cubicBezTo>
                    <a:pt x="3356213" y="4419515"/>
                    <a:pt x="3313240" y="4385148"/>
                    <a:pt x="3263634" y="4385148"/>
                  </a:cubicBezTo>
                  <a:close/>
                  <a:moveTo>
                    <a:pt x="3325163" y="3584477"/>
                  </a:moveTo>
                  <a:cubicBezTo>
                    <a:pt x="3325215" y="3618690"/>
                    <a:pt x="3297483" y="3646422"/>
                    <a:pt x="3263270" y="3646474"/>
                  </a:cubicBezTo>
                  <a:cubicBezTo>
                    <a:pt x="3229058" y="3646526"/>
                    <a:pt x="3201326" y="3618793"/>
                    <a:pt x="3201274" y="3584581"/>
                  </a:cubicBezTo>
                  <a:cubicBezTo>
                    <a:pt x="3201222" y="3550368"/>
                    <a:pt x="3228954" y="3522636"/>
                    <a:pt x="3263167" y="3522584"/>
                  </a:cubicBezTo>
                  <a:cubicBezTo>
                    <a:pt x="3263167" y="3522584"/>
                    <a:pt x="3263218" y="3522584"/>
                    <a:pt x="3263218" y="3522584"/>
                  </a:cubicBezTo>
                  <a:cubicBezTo>
                    <a:pt x="3297327" y="3522740"/>
                    <a:pt x="3325007" y="3550368"/>
                    <a:pt x="3325163" y="3584477"/>
                  </a:cubicBezTo>
                  <a:close/>
                  <a:moveTo>
                    <a:pt x="3263634" y="4554498"/>
                  </a:moveTo>
                  <a:cubicBezTo>
                    <a:pt x="3228488" y="4554498"/>
                    <a:pt x="3200030" y="4526039"/>
                    <a:pt x="3200030" y="4490895"/>
                  </a:cubicBezTo>
                  <a:cubicBezTo>
                    <a:pt x="3200030" y="4455749"/>
                    <a:pt x="3228488" y="4427291"/>
                    <a:pt x="3263634" y="4427291"/>
                  </a:cubicBezTo>
                  <a:cubicBezTo>
                    <a:pt x="3298779" y="4427291"/>
                    <a:pt x="3327237" y="4455749"/>
                    <a:pt x="3327237" y="4490895"/>
                  </a:cubicBezTo>
                  <a:cubicBezTo>
                    <a:pt x="3327185" y="4525988"/>
                    <a:pt x="3298727" y="4554447"/>
                    <a:pt x="3263634" y="4554498"/>
                  </a:cubicBezTo>
                  <a:close/>
                </a:path>
              </a:pathLst>
            </a:custGeom>
            <a:solidFill>
              <a:srgbClr val="196B24"/>
            </a:solidFill>
            <a:ln w="518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Aptos" panose="02110004020202020204"/>
              </a:endParaRPr>
            </a:p>
          </p:txBody>
        </p:sp>
        <p:sp>
          <p:nvSpPr>
            <p:cNvPr id="53" name="TextBox 52">
              <a:extLst>
                <a:ext uri="{FF2B5EF4-FFF2-40B4-BE49-F238E27FC236}">
                  <a16:creationId xmlns:a16="http://schemas.microsoft.com/office/drawing/2014/main" id="{FD14BE26-0BF7-4050-2774-B1D41EC9ED2C}"/>
                </a:ext>
              </a:extLst>
            </p:cNvPr>
            <p:cNvSpPr txBox="1"/>
            <p:nvPr/>
          </p:nvSpPr>
          <p:spPr>
            <a:xfrm>
              <a:off x="1253213" y="2755657"/>
              <a:ext cx="2115653" cy="2036161"/>
            </a:xfrm>
            <a:prstGeom prst="rect">
              <a:avLst/>
            </a:prstGeom>
            <a:noFill/>
          </p:spPr>
          <p:txBody>
            <a:bodyPr wrap="square">
              <a:spAutoFit/>
            </a:bodyPr>
            <a:lstStyle/>
            <a:p>
              <a:pPr marR="0" lvl="0" algn="ctr" defTabSz="914400" eaLnBrk="1" fontAlgn="auto" latinLnBrk="0" hangingPunct="1">
                <a:lnSpc>
                  <a:spcPct val="100000"/>
                </a:lnSpc>
                <a:spcBef>
                  <a:spcPts val="0"/>
                </a:spcBef>
                <a:spcAft>
                  <a:spcPts val="600"/>
                </a:spcAft>
                <a:buClrTx/>
                <a:buSzTx/>
                <a:tabLst/>
                <a:defRPr/>
              </a:pPr>
              <a:r>
                <a:rPr kumimoji="0" lang="en-IN" b="0"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cs typeface="Segoe UI" panose="020B0502040204020203" pitchFamily="34" charset="0"/>
                </a:rPr>
                <a:t>Limited view of Financial Position.</a:t>
              </a:r>
            </a:p>
            <a:p>
              <a:pPr marR="0" lvl="0" algn="ctr" defTabSz="914400" eaLnBrk="1" fontAlgn="auto" latinLnBrk="0" hangingPunct="1">
                <a:lnSpc>
                  <a:spcPct val="100000"/>
                </a:lnSpc>
                <a:spcBef>
                  <a:spcPts val="0"/>
                </a:spcBef>
                <a:spcAft>
                  <a:spcPts val="600"/>
                </a:spcAft>
                <a:buClrTx/>
                <a:buSzTx/>
                <a:tabLst/>
                <a:defRPr/>
              </a:pPr>
              <a:endParaRPr kumimoji="0" lang="en-IN" b="0"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cs typeface="Segoe UI" panose="020B0502040204020203" pitchFamily="34" charset="0"/>
              </a:endParaRPr>
            </a:p>
            <a:p>
              <a:pPr marR="0" lvl="0" algn="ctr" defTabSz="914400" eaLnBrk="1" fontAlgn="auto" latinLnBrk="0" hangingPunct="1">
                <a:lnSpc>
                  <a:spcPct val="100000"/>
                </a:lnSpc>
                <a:spcBef>
                  <a:spcPts val="0"/>
                </a:spcBef>
                <a:spcAft>
                  <a:spcPts val="600"/>
                </a:spcAft>
                <a:buClrTx/>
                <a:buSzTx/>
                <a:tabLst/>
                <a:defRPr/>
              </a:pPr>
              <a:r>
                <a:rPr kumimoji="0" lang="en-IN" b="0"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cs typeface="Segoe UI" panose="020B0502040204020203" pitchFamily="34" charset="0"/>
                </a:rPr>
                <a:t>Low compliance to accrual IPSAS Standards</a:t>
              </a:r>
            </a:p>
          </p:txBody>
        </p:sp>
        <p:sp>
          <p:nvSpPr>
            <p:cNvPr id="54" name="TextBox 53">
              <a:extLst>
                <a:ext uri="{FF2B5EF4-FFF2-40B4-BE49-F238E27FC236}">
                  <a16:creationId xmlns:a16="http://schemas.microsoft.com/office/drawing/2014/main" id="{D92ADB7A-71EE-4FEB-821D-871AC3AF9C61}"/>
                </a:ext>
              </a:extLst>
            </p:cNvPr>
            <p:cNvSpPr txBox="1"/>
            <p:nvPr/>
          </p:nvSpPr>
          <p:spPr>
            <a:xfrm>
              <a:off x="5082310" y="2886731"/>
              <a:ext cx="2052268" cy="1280811"/>
            </a:xfrm>
            <a:prstGeom prst="rect">
              <a:avLst/>
            </a:prstGeom>
            <a:noFill/>
          </p:spPr>
          <p:txBody>
            <a:bodyPr wrap="square">
              <a:spAutoFit/>
            </a:bodyPr>
            <a:lstStyle/>
            <a:p>
              <a:pPr marR="0" lvl="0" algn="ctr" defTabSz="914400" eaLnBrk="1" fontAlgn="auto" latinLnBrk="0" hangingPunct="1">
                <a:lnSpc>
                  <a:spcPct val="100000"/>
                </a:lnSpc>
                <a:spcBef>
                  <a:spcPts val="0"/>
                </a:spcBef>
                <a:spcAft>
                  <a:spcPts val="600"/>
                </a:spcAft>
                <a:buClrTx/>
                <a:buSzTx/>
                <a:tabLst/>
                <a:defRPr/>
              </a:pPr>
              <a:r>
                <a:rPr kumimoji="0" lang="en-IN" b="0"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cs typeface="Segoe UI" panose="020B0502040204020203" pitchFamily="34" charset="0"/>
                </a:rPr>
                <a:t>Gradual recognition of assets and liabilities.</a:t>
              </a:r>
            </a:p>
          </p:txBody>
        </p:sp>
        <p:sp>
          <p:nvSpPr>
            <p:cNvPr id="55" name="TextBox 54">
              <a:extLst>
                <a:ext uri="{FF2B5EF4-FFF2-40B4-BE49-F238E27FC236}">
                  <a16:creationId xmlns:a16="http://schemas.microsoft.com/office/drawing/2014/main" id="{AAC0E746-D7DE-7138-62D0-F3650001EAF7}"/>
                </a:ext>
              </a:extLst>
            </p:cNvPr>
            <p:cNvSpPr txBox="1"/>
            <p:nvPr/>
          </p:nvSpPr>
          <p:spPr>
            <a:xfrm>
              <a:off x="8831189" y="2920965"/>
              <a:ext cx="1862270" cy="1280811"/>
            </a:xfrm>
            <a:prstGeom prst="rect">
              <a:avLst/>
            </a:prstGeom>
            <a:noFill/>
          </p:spPr>
          <p:txBody>
            <a:bodyPr wrap="square">
              <a:spAutoFit/>
            </a:bodyPr>
            <a:lstStyle/>
            <a:p>
              <a:pPr marR="0" lvl="0" algn="ctr" defTabSz="914400" eaLnBrk="1" fontAlgn="auto" latinLnBrk="0" hangingPunct="1">
                <a:lnSpc>
                  <a:spcPct val="100000"/>
                </a:lnSpc>
                <a:spcBef>
                  <a:spcPts val="0"/>
                </a:spcBef>
                <a:spcAft>
                  <a:spcPts val="600"/>
                </a:spcAft>
                <a:buClrTx/>
                <a:buSzTx/>
                <a:tabLst/>
                <a:defRPr/>
              </a:pPr>
              <a:r>
                <a:rPr kumimoji="0" lang="en-IN" b="0" i="0" u="none" strike="noStrike" kern="0" cap="none" spc="0" normalizeH="0" baseline="0" noProof="0" dirty="0">
                  <a:ln>
                    <a:noFill/>
                  </a:ln>
                  <a:solidFill>
                    <a:prstClr val="black">
                      <a:lumMod val="75000"/>
                      <a:lumOff val="25000"/>
                    </a:prstClr>
                  </a:solidFill>
                  <a:effectLst/>
                  <a:uLnTx/>
                  <a:uFillTx/>
                  <a:latin typeface="Segoe UI" panose="020B0502040204020203" pitchFamily="34" charset="0"/>
                  <a:cs typeface="Segoe UI" panose="020B0502040204020203" pitchFamily="34" charset="0"/>
                </a:rPr>
                <a:t>Complete compliance with all IPSAS standards</a:t>
              </a:r>
            </a:p>
          </p:txBody>
        </p:sp>
        <p:sp>
          <p:nvSpPr>
            <p:cNvPr id="56" name="TextBox 55">
              <a:extLst>
                <a:ext uri="{FF2B5EF4-FFF2-40B4-BE49-F238E27FC236}">
                  <a16:creationId xmlns:a16="http://schemas.microsoft.com/office/drawing/2014/main" id="{F555049F-B92A-D7E5-0D9F-9B91D9D33BDD}"/>
                </a:ext>
              </a:extLst>
            </p:cNvPr>
            <p:cNvSpPr txBox="1"/>
            <p:nvPr/>
          </p:nvSpPr>
          <p:spPr>
            <a:xfrm>
              <a:off x="1496657" y="1858758"/>
              <a:ext cx="1728291" cy="36125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kern="0" dirty="0">
                  <a:solidFill>
                    <a:prstClr val="white"/>
                  </a:solidFill>
                  <a:latin typeface="Segoe UI" panose="020B0502040204020203" pitchFamily="34" charset="0"/>
                  <a:cs typeface="Segoe UI" panose="020B0502040204020203" pitchFamily="34" charset="0"/>
                </a:rPr>
                <a:t>Cash Basis</a:t>
              </a:r>
              <a:endParaRPr kumimoji="0" lang="en-IN" sz="1600" b="1" i="0" u="none" strike="noStrike" kern="0" cap="none" spc="0" normalizeH="0" baseline="0" noProof="0" dirty="0">
                <a:ln>
                  <a:noFill/>
                </a:ln>
                <a:solidFill>
                  <a:prstClr val="white"/>
                </a:solidFill>
                <a:effectLst/>
                <a:uLnTx/>
                <a:uFillTx/>
                <a:latin typeface="Aptos" panose="02110004020202020204"/>
              </a:endParaRPr>
            </a:p>
          </p:txBody>
        </p:sp>
        <p:sp>
          <p:nvSpPr>
            <p:cNvPr id="57" name="TextBox 56">
              <a:extLst>
                <a:ext uri="{FF2B5EF4-FFF2-40B4-BE49-F238E27FC236}">
                  <a16:creationId xmlns:a16="http://schemas.microsoft.com/office/drawing/2014/main" id="{82335C94-36E9-8E77-C395-5461427569A4}"/>
                </a:ext>
              </a:extLst>
            </p:cNvPr>
            <p:cNvSpPr txBox="1"/>
            <p:nvPr/>
          </p:nvSpPr>
          <p:spPr>
            <a:xfrm>
              <a:off x="5232616" y="1858758"/>
              <a:ext cx="1614296" cy="36125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kern="0" dirty="0">
                  <a:solidFill>
                    <a:prstClr val="white"/>
                  </a:solidFill>
                  <a:latin typeface="Segoe UI" panose="020B0502040204020203" pitchFamily="34" charset="0"/>
                  <a:cs typeface="Segoe UI" panose="020B0502040204020203" pitchFamily="34" charset="0"/>
                </a:rPr>
                <a:t>Transitional</a:t>
              </a:r>
              <a:endParaRPr kumimoji="0" lang="en-IN" sz="1600" b="1" i="0" u="none" strike="noStrike" kern="0" cap="none" spc="0" normalizeH="0" baseline="0" noProof="0" dirty="0">
                <a:ln>
                  <a:noFill/>
                </a:ln>
                <a:solidFill>
                  <a:prstClr val="white"/>
                </a:solidFill>
                <a:effectLst/>
                <a:uLnTx/>
                <a:uFillTx/>
                <a:latin typeface="Aptos" panose="02110004020202020204"/>
              </a:endParaRPr>
            </a:p>
          </p:txBody>
        </p:sp>
        <p:sp>
          <p:nvSpPr>
            <p:cNvPr id="58" name="TextBox 57">
              <a:extLst>
                <a:ext uri="{FF2B5EF4-FFF2-40B4-BE49-F238E27FC236}">
                  <a16:creationId xmlns:a16="http://schemas.microsoft.com/office/drawing/2014/main" id="{C1E9AF0D-B41B-75C9-F82F-51EC9C4FE6EE}"/>
                </a:ext>
              </a:extLst>
            </p:cNvPr>
            <p:cNvSpPr txBox="1"/>
            <p:nvPr/>
          </p:nvSpPr>
          <p:spPr>
            <a:xfrm>
              <a:off x="9026163" y="1766045"/>
              <a:ext cx="1472322" cy="62398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kern="0" dirty="0">
                  <a:solidFill>
                    <a:prstClr val="white"/>
                  </a:solidFill>
                  <a:latin typeface="Segoe UI" panose="020B0502040204020203" pitchFamily="34" charset="0"/>
                  <a:cs typeface="Segoe UI" panose="020B0502040204020203" pitchFamily="34" charset="0"/>
                </a:rPr>
                <a:t>Full </a:t>
              </a:r>
            </a:p>
            <a:p>
              <a:pPr marL="0" marR="0" lvl="0" indent="0" algn="ctr" defTabSz="914400" eaLnBrk="1" fontAlgn="auto" latinLnBrk="0" hangingPunct="1">
                <a:lnSpc>
                  <a:spcPct val="100000"/>
                </a:lnSpc>
                <a:spcBef>
                  <a:spcPts val="0"/>
                </a:spcBef>
                <a:spcAft>
                  <a:spcPts val="0"/>
                </a:spcAft>
                <a:buClrTx/>
                <a:buSzTx/>
                <a:buFontTx/>
                <a:buNone/>
                <a:tabLst/>
                <a:defRPr/>
              </a:pPr>
              <a:r>
                <a:rPr lang="en-IN" sz="1600" b="1" kern="0" dirty="0">
                  <a:solidFill>
                    <a:prstClr val="white"/>
                  </a:solidFill>
                  <a:latin typeface="Segoe UI" panose="020B0502040204020203" pitchFamily="34" charset="0"/>
                  <a:cs typeface="Segoe UI" panose="020B0502040204020203" pitchFamily="34" charset="0"/>
                </a:rPr>
                <a:t>Accrual</a:t>
              </a:r>
              <a:endParaRPr kumimoji="0" lang="en-IN" sz="1600" b="1" i="0" u="none" strike="noStrike" kern="0" cap="none" spc="0" normalizeH="0" baseline="0" noProof="0" dirty="0">
                <a:ln>
                  <a:noFill/>
                </a:ln>
                <a:solidFill>
                  <a:prstClr val="white"/>
                </a:solidFill>
                <a:effectLst/>
                <a:uLnTx/>
                <a:uFillTx/>
                <a:latin typeface="Aptos" panose="02110004020202020204"/>
              </a:endParaRPr>
            </a:p>
          </p:txBody>
        </p:sp>
        <p:pic>
          <p:nvPicPr>
            <p:cNvPr id="59" name="Picture 58">
              <a:extLst>
                <a:ext uri="{FF2B5EF4-FFF2-40B4-BE49-F238E27FC236}">
                  <a16:creationId xmlns:a16="http://schemas.microsoft.com/office/drawing/2014/main" id="{C9608A72-0506-B68D-49D9-9F05B5E32AD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2066614" y="5364536"/>
              <a:ext cx="531290" cy="531290"/>
            </a:xfrm>
            <a:prstGeom prst="rect">
              <a:avLst/>
            </a:prstGeom>
          </p:spPr>
        </p:pic>
        <p:pic>
          <p:nvPicPr>
            <p:cNvPr id="60" name="Picture 59">
              <a:extLst>
                <a:ext uri="{FF2B5EF4-FFF2-40B4-BE49-F238E27FC236}">
                  <a16:creationId xmlns:a16="http://schemas.microsoft.com/office/drawing/2014/main" id="{2E7637DA-8C2A-9DC9-4152-DB312E8B0B9B}"/>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5798766" y="5359088"/>
              <a:ext cx="481996" cy="481996"/>
            </a:xfrm>
            <a:prstGeom prst="rect">
              <a:avLst/>
            </a:prstGeom>
          </p:spPr>
        </p:pic>
        <p:pic>
          <p:nvPicPr>
            <p:cNvPr id="61" name="Picture 60">
              <a:extLst>
                <a:ext uri="{FF2B5EF4-FFF2-40B4-BE49-F238E27FC236}">
                  <a16:creationId xmlns:a16="http://schemas.microsoft.com/office/drawing/2014/main" id="{4EF4E733-AC47-64F6-9DC8-6967BE48E188}"/>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9549434" y="5398567"/>
              <a:ext cx="463246" cy="463246"/>
            </a:xfrm>
            <a:prstGeom prst="rect">
              <a:avLst/>
            </a:prstGeom>
          </p:spPr>
        </p:pic>
      </p:grpSp>
    </p:spTree>
    <p:extLst>
      <p:ext uri="{BB962C8B-B14F-4D97-AF65-F5344CB8AC3E}">
        <p14:creationId xmlns:p14="http://schemas.microsoft.com/office/powerpoint/2010/main" val="592229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33FD7E-7DAE-201E-54C2-1BDAFF0F7E63}"/>
              </a:ext>
            </a:extLst>
          </p:cNvPr>
          <p:cNvSpPr>
            <a:spLocks noGrp="1"/>
          </p:cNvSpPr>
          <p:nvPr>
            <p:ph type="sldNum" sz="quarter" idx="12"/>
          </p:nvPr>
        </p:nvSpPr>
        <p:spPr/>
        <p:txBody>
          <a:bodyPr/>
          <a:lstStyle/>
          <a:p>
            <a:fld id="{F4F1A20C-7DC5-494D-B520-FA7BD522BECA}" type="slidenum">
              <a:rPr lang="en-US" smtClean="0"/>
              <a:t>9</a:t>
            </a:fld>
            <a:endParaRPr lang="en-US"/>
          </a:p>
        </p:txBody>
      </p:sp>
      <p:grpSp>
        <p:nvGrpSpPr>
          <p:cNvPr id="50" name="Group 49">
            <a:extLst>
              <a:ext uri="{FF2B5EF4-FFF2-40B4-BE49-F238E27FC236}">
                <a16:creationId xmlns:a16="http://schemas.microsoft.com/office/drawing/2014/main" id="{09A43D35-543E-E346-1B37-F90D44461879}"/>
              </a:ext>
            </a:extLst>
          </p:cNvPr>
          <p:cNvGrpSpPr/>
          <p:nvPr/>
        </p:nvGrpSpPr>
        <p:grpSpPr>
          <a:xfrm>
            <a:off x="141111" y="1027289"/>
            <a:ext cx="11909778" cy="5150140"/>
            <a:chOff x="654268" y="1544251"/>
            <a:chExt cx="11644576" cy="4710846"/>
          </a:xfrm>
        </p:grpSpPr>
        <p:grpSp>
          <p:nvGrpSpPr>
            <p:cNvPr id="51" name="Group 50">
              <a:extLst>
                <a:ext uri="{FF2B5EF4-FFF2-40B4-BE49-F238E27FC236}">
                  <a16:creationId xmlns:a16="http://schemas.microsoft.com/office/drawing/2014/main" id="{443BD971-2CA9-594A-69FD-A279C819E4DD}"/>
                </a:ext>
              </a:extLst>
            </p:cNvPr>
            <p:cNvGrpSpPr/>
            <p:nvPr/>
          </p:nvGrpSpPr>
          <p:grpSpPr>
            <a:xfrm>
              <a:off x="654268" y="1544251"/>
              <a:ext cx="11644576" cy="4710846"/>
              <a:chOff x="920844" y="1458526"/>
              <a:chExt cx="11644576" cy="4710846"/>
            </a:xfrm>
          </p:grpSpPr>
          <p:grpSp>
            <p:nvGrpSpPr>
              <p:cNvPr id="53" name="Group 52">
                <a:extLst>
                  <a:ext uri="{FF2B5EF4-FFF2-40B4-BE49-F238E27FC236}">
                    <a16:creationId xmlns:a16="http://schemas.microsoft.com/office/drawing/2014/main" id="{D1F68583-8BF4-C598-69AC-905F9F2C13F4}"/>
                  </a:ext>
                </a:extLst>
              </p:cNvPr>
              <p:cNvGrpSpPr/>
              <p:nvPr/>
            </p:nvGrpSpPr>
            <p:grpSpPr>
              <a:xfrm>
                <a:off x="8433609" y="2265596"/>
                <a:ext cx="4131811" cy="3903776"/>
                <a:chOff x="8418786" y="2265596"/>
                <a:chExt cx="4131811" cy="3903776"/>
              </a:xfrm>
            </p:grpSpPr>
            <p:sp>
              <p:nvSpPr>
                <p:cNvPr id="80" name="Freeform: Shape 17">
                  <a:extLst>
                    <a:ext uri="{FF2B5EF4-FFF2-40B4-BE49-F238E27FC236}">
                      <a16:creationId xmlns:a16="http://schemas.microsoft.com/office/drawing/2014/main" id="{5ED2333B-0AAA-A57A-F596-C229A9043F15}"/>
                    </a:ext>
                  </a:extLst>
                </p:cNvPr>
                <p:cNvSpPr/>
                <p:nvPr/>
              </p:nvSpPr>
              <p:spPr>
                <a:xfrm>
                  <a:off x="8418786" y="2969223"/>
                  <a:ext cx="561674" cy="16149"/>
                </a:xfrm>
                <a:custGeom>
                  <a:avLst/>
                  <a:gdLst>
                    <a:gd name="connsiteX0" fmla="*/ 412089 w 412088"/>
                    <a:gd name="connsiteY0" fmla="*/ 0 h 11848"/>
                    <a:gd name="connsiteX1" fmla="*/ 0 w 412088"/>
                    <a:gd name="connsiteY1" fmla="*/ 0 h 11848"/>
                  </a:gdLst>
                  <a:ahLst/>
                  <a:cxnLst>
                    <a:cxn ang="0">
                      <a:pos x="connsiteX0" y="connsiteY0"/>
                    </a:cxn>
                    <a:cxn ang="0">
                      <a:pos x="connsiteX1" y="connsiteY1"/>
                    </a:cxn>
                  </a:cxnLst>
                  <a:rect l="l" t="t" r="r" b="b"/>
                  <a:pathLst>
                    <a:path w="412088" h="11848">
                      <a:moveTo>
                        <a:pt x="412089" y="0"/>
                      </a:moveTo>
                      <a:lnTo>
                        <a:pt x="0" y="0"/>
                      </a:lnTo>
                    </a:path>
                  </a:pathLst>
                </a:custGeom>
                <a:ln w="9706" cap="flat">
                  <a:solidFill>
                    <a:srgbClr val="A7A9AC"/>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81" name="Freeform: Shape 19">
                  <a:extLst>
                    <a:ext uri="{FF2B5EF4-FFF2-40B4-BE49-F238E27FC236}">
                      <a16:creationId xmlns:a16="http://schemas.microsoft.com/office/drawing/2014/main" id="{60B0EF5B-E7F5-02EC-31BA-04F2FFE82870}"/>
                    </a:ext>
                  </a:extLst>
                </p:cNvPr>
                <p:cNvSpPr/>
                <p:nvPr/>
              </p:nvSpPr>
              <p:spPr>
                <a:xfrm>
                  <a:off x="8418786" y="3873427"/>
                  <a:ext cx="561674" cy="16149"/>
                </a:xfrm>
                <a:custGeom>
                  <a:avLst/>
                  <a:gdLst>
                    <a:gd name="connsiteX0" fmla="*/ 412089 w 412088"/>
                    <a:gd name="connsiteY0" fmla="*/ 0 h 11848"/>
                    <a:gd name="connsiteX1" fmla="*/ 0 w 412088"/>
                    <a:gd name="connsiteY1" fmla="*/ 0 h 11848"/>
                  </a:gdLst>
                  <a:ahLst/>
                  <a:cxnLst>
                    <a:cxn ang="0">
                      <a:pos x="connsiteX0" y="connsiteY0"/>
                    </a:cxn>
                    <a:cxn ang="0">
                      <a:pos x="connsiteX1" y="connsiteY1"/>
                    </a:cxn>
                  </a:cxnLst>
                  <a:rect l="l" t="t" r="r" b="b"/>
                  <a:pathLst>
                    <a:path w="412088" h="11848">
                      <a:moveTo>
                        <a:pt x="412089" y="0"/>
                      </a:moveTo>
                      <a:lnTo>
                        <a:pt x="0" y="0"/>
                      </a:lnTo>
                    </a:path>
                  </a:pathLst>
                </a:custGeom>
                <a:ln w="9706" cap="flat">
                  <a:solidFill>
                    <a:srgbClr val="A7A9AC"/>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82" name="Freeform: Shape 21">
                  <a:extLst>
                    <a:ext uri="{FF2B5EF4-FFF2-40B4-BE49-F238E27FC236}">
                      <a16:creationId xmlns:a16="http://schemas.microsoft.com/office/drawing/2014/main" id="{425E980E-65B3-CDB7-C8C3-C147473748C3}"/>
                    </a:ext>
                  </a:extLst>
                </p:cNvPr>
                <p:cNvSpPr/>
                <p:nvPr/>
              </p:nvSpPr>
              <p:spPr>
                <a:xfrm>
                  <a:off x="8418786" y="4777792"/>
                  <a:ext cx="561674" cy="16149"/>
                </a:xfrm>
                <a:custGeom>
                  <a:avLst/>
                  <a:gdLst>
                    <a:gd name="connsiteX0" fmla="*/ 412089 w 412088"/>
                    <a:gd name="connsiteY0" fmla="*/ 0 h 11848"/>
                    <a:gd name="connsiteX1" fmla="*/ 0 w 412088"/>
                    <a:gd name="connsiteY1" fmla="*/ 0 h 11848"/>
                  </a:gdLst>
                  <a:ahLst/>
                  <a:cxnLst>
                    <a:cxn ang="0">
                      <a:pos x="connsiteX0" y="connsiteY0"/>
                    </a:cxn>
                    <a:cxn ang="0">
                      <a:pos x="connsiteX1" y="connsiteY1"/>
                    </a:cxn>
                  </a:cxnLst>
                  <a:rect l="l" t="t" r="r" b="b"/>
                  <a:pathLst>
                    <a:path w="412088" h="11848">
                      <a:moveTo>
                        <a:pt x="412089" y="0"/>
                      </a:moveTo>
                      <a:lnTo>
                        <a:pt x="0" y="0"/>
                      </a:lnTo>
                    </a:path>
                  </a:pathLst>
                </a:custGeom>
                <a:ln w="9706" cap="flat">
                  <a:solidFill>
                    <a:srgbClr val="A7A9AC"/>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83" name="Freeform: Shape 24">
                  <a:extLst>
                    <a:ext uri="{FF2B5EF4-FFF2-40B4-BE49-F238E27FC236}">
                      <a16:creationId xmlns:a16="http://schemas.microsoft.com/office/drawing/2014/main" id="{0230C4A1-1639-E82C-0BEA-3E4FEE61A739}"/>
                    </a:ext>
                  </a:extLst>
                </p:cNvPr>
                <p:cNvSpPr/>
                <p:nvPr/>
              </p:nvSpPr>
              <p:spPr>
                <a:xfrm>
                  <a:off x="8418787" y="2265596"/>
                  <a:ext cx="561674" cy="3416559"/>
                </a:xfrm>
                <a:custGeom>
                  <a:avLst/>
                  <a:gdLst>
                    <a:gd name="connsiteX0" fmla="*/ 0 w 412088"/>
                    <a:gd name="connsiteY0" fmla="*/ 0 h 2506656"/>
                    <a:gd name="connsiteX1" fmla="*/ 0 w 412088"/>
                    <a:gd name="connsiteY1" fmla="*/ 2506657 h 2506656"/>
                    <a:gd name="connsiteX2" fmla="*/ 412089 w 412088"/>
                    <a:gd name="connsiteY2" fmla="*/ 2506657 h 2506656"/>
                  </a:gdLst>
                  <a:ahLst/>
                  <a:cxnLst>
                    <a:cxn ang="0">
                      <a:pos x="connsiteX0" y="connsiteY0"/>
                    </a:cxn>
                    <a:cxn ang="0">
                      <a:pos x="connsiteX1" y="connsiteY1"/>
                    </a:cxn>
                    <a:cxn ang="0">
                      <a:pos x="connsiteX2" y="connsiteY2"/>
                    </a:cxn>
                  </a:cxnLst>
                  <a:rect l="l" t="t" r="r" b="b"/>
                  <a:pathLst>
                    <a:path w="412088" h="2506656">
                      <a:moveTo>
                        <a:pt x="0" y="0"/>
                      </a:moveTo>
                      <a:lnTo>
                        <a:pt x="0" y="2506657"/>
                      </a:lnTo>
                      <a:lnTo>
                        <a:pt x="412089" y="2506657"/>
                      </a:lnTo>
                    </a:path>
                  </a:pathLst>
                </a:custGeom>
                <a:noFill/>
                <a:ln w="9706" cap="flat">
                  <a:solidFill>
                    <a:srgbClr val="A7A9AC"/>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84" name="TextBox 83">
                  <a:extLst>
                    <a:ext uri="{FF2B5EF4-FFF2-40B4-BE49-F238E27FC236}">
                      <a16:creationId xmlns:a16="http://schemas.microsoft.com/office/drawing/2014/main" id="{B4F98CBC-7916-8DE1-2B70-20C1C70A052C}"/>
                    </a:ext>
                  </a:extLst>
                </p:cNvPr>
                <p:cNvSpPr txBox="1"/>
                <p:nvPr/>
              </p:nvSpPr>
              <p:spPr>
                <a:xfrm>
                  <a:off x="9342855" y="2752192"/>
                  <a:ext cx="2931805" cy="506743"/>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500" b="0" i="0" u="none" strike="noStrike" kern="0" cap="none" spc="0" normalizeH="0" baseline="0" noProof="0" dirty="0">
                      <a:ln>
                        <a:noFill/>
                      </a:ln>
                      <a:solidFill>
                        <a:srgbClr val="000000"/>
                      </a:solidFill>
                      <a:effectLst/>
                      <a:uLnTx/>
                      <a:uFillTx/>
                      <a:latin typeface="Lora" pitchFamily="2" charset="0"/>
                    </a:rPr>
                    <a:t>Allows temporary exemption from full compliance</a:t>
                  </a:r>
                </a:p>
              </p:txBody>
            </p:sp>
            <p:sp>
              <p:nvSpPr>
                <p:cNvPr id="85" name="Freeform: Shape 18">
                  <a:extLst>
                    <a:ext uri="{FF2B5EF4-FFF2-40B4-BE49-F238E27FC236}">
                      <a16:creationId xmlns:a16="http://schemas.microsoft.com/office/drawing/2014/main" id="{41C6E15C-78A7-DFC9-A909-E9FE1362B0EE}"/>
                    </a:ext>
                  </a:extLst>
                </p:cNvPr>
                <p:cNvSpPr/>
                <p:nvPr/>
              </p:nvSpPr>
              <p:spPr>
                <a:xfrm>
                  <a:off x="8725057" y="2713979"/>
                  <a:ext cx="510486" cy="510486"/>
                </a:xfrm>
                <a:custGeom>
                  <a:avLst/>
                  <a:gdLst>
                    <a:gd name="connsiteX0" fmla="*/ 69432 w 69431"/>
                    <a:gd name="connsiteY0" fmla="*/ 34716 h 69431"/>
                    <a:gd name="connsiteX1" fmla="*/ 34716 w 69431"/>
                    <a:gd name="connsiteY1" fmla="*/ 69432 h 69431"/>
                    <a:gd name="connsiteX2" fmla="*/ 0 w 69431"/>
                    <a:gd name="connsiteY2" fmla="*/ 34716 h 69431"/>
                    <a:gd name="connsiteX3" fmla="*/ 34716 w 69431"/>
                    <a:gd name="connsiteY3" fmla="*/ 0 h 69431"/>
                    <a:gd name="connsiteX4" fmla="*/ 34834 w 69431"/>
                    <a:gd name="connsiteY4" fmla="*/ 0 h 69431"/>
                    <a:gd name="connsiteX5" fmla="*/ 69432 w 69431"/>
                    <a:gd name="connsiteY5" fmla="*/ 34597 h 69431"/>
                    <a:gd name="connsiteX6" fmla="*/ 69432 w 69431"/>
                    <a:gd name="connsiteY6" fmla="*/ 34716 h 6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31" h="69431">
                      <a:moveTo>
                        <a:pt x="69432" y="34716"/>
                      </a:moveTo>
                      <a:cubicBezTo>
                        <a:pt x="69432" y="53887"/>
                        <a:pt x="53887" y="69432"/>
                        <a:pt x="34716" y="69432"/>
                      </a:cubicBezTo>
                      <a:cubicBezTo>
                        <a:pt x="15545" y="69432"/>
                        <a:pt x="0" y="53887"/>
                        <a:pt x="0" y="34716"/>
                      </a:cubicBezTo>
                      <a:cubicBezTo>
                        <a:pt x="0" y="15545"/>
                        <a:pt x="15545" y="0"/>
                        <a:pt x="34716" y="0"/>
                      </a:cubicBezTo>
                      <a:cubicBezTo>
                        <a:pt x="34751" y="0"/>
                        <a:pt x="34799" y="0"/>
                        <a:pt x="34834" y="0"/>
                      </a:cubicBezTo>
                      <a:cubicBezTo>
                        <a:pt x="53946" y="0"/>
                        <a:pt x="69432" y="15486"/>
                        <a:pt x="69432" y="34597"/>
                      </a:cubicBezTo>
                      <a:cubicBezTo>
                        <a:pt x="69432" y="34633"/>
                        <a:pt x="69432" y="34680"/>
                        <a:pt x="69432" y="34716"/>
                      </a:cubicBezTo>
                      <a:close/>
                    </a:path>
                  </a:pathLst>
                </a:custGeom>
                <a:solidFill>
                  <a:srgbClr val="F7FCFC"/>
                </a:solidFill>
                <a:ln w="19050" cap="flat">
                  <a:solidFill>
                    <a:srgbClr val="FFC94A"/>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86" name="Freeform: Shape 20">
                  <a:extLst>
                    <a:ext uri="{FF2B5EF4-FFF2-40B4-BE49-F238E27FC236}">
                      <a16:creationId xmlns:a16="http://schemas.microsoft.com/office/drawing/2014/main" id="{524CCFC9-5BA3-1194-44FE-0758C4329B9C}"/>
                    </a:ext>
                  </a:extLst>
                </p:cNvPr>
                <p:cNvSpPr/>
                <p:nvPr/>
              </p:nvSpPr>
              <p:spPr>
                <a:xfrm>
                  <a:off x="8725051" y="3618343"/>
                  <a:ext cx="510500" cy="510490"/>
                </a:xfrm>
                <a:custGeom>
                  <a:avLst/>
                  <a:gdLst>
                    <a:gd name="connsiteX0" fmla="*/ 69432 w 69432"/>
                    <a:gd name="connsiteY0" fmla="*/ 34598 h 69432"/>
                    <a:gd name="connsiteX1" fmla="*/ 34835 w 69432"/>
                    <a:gd name="connsiteY1" fmla="*/ 69432 h 69432"/>
                    <a:gd name="connsiteX2" fmla="*/ 0 w 69432"/>
                    <a:gd name="connsiteY2" fmla="*/ 34834 h 69432"/>
                    <a:gd name="connsiteX3" fmla="*/ 34597 w 69432"/>
                    <a:gd name="connsiteY3" fmla="*/ 0 h 69432"/>
                    <a:gd name="connsiteX4" fmla="*/ 34835 w 69432"/>
                    <a:gd name="connsiteY4" fmla="*/ 0 h 69432"/>
                    <a:gd name="connsiteX5" fmla="*/ 69432 w 69432"/>
                    <a:gd name="connsiteY5" fmla="*/ 34598 h 69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32" h="69432">
                      <a:moveTo>
                        <a:pt x="69432" y="34598"/>
                      </a:moveTo>
                      <a:cubicBezTo>
                        <a:pt x="69491" y="53768"/>
                        <a:pt x="54005" y="69361"/>
                        <a:pt x="34835" y="69432"/>
                      </a:cubicBezTo>
                      <a:cubicBezTo>
                        <a:pt x="15664" y="69503"/>
                        <a:pt x="72" y="54005"/>
                        <a:pt x="0" y="34834"/>
                      </a:cubicBezTo>
                      <a:cubicBezTo>
                        <a:pt x="-59" y="15664"/>
                        <a:pt x="15427" y="71"/>
                        <a:pt x="34597" y="0"/>
                      </a:cubicBezTo>
                      <a:cubicBezTo>
                        <a:pt x="34681" y="0"/>
                        <a:pt x="34751" y="0"/>
                        <a:pt x="34835" y="0"/>
                      </a:cubicBezTo>
                      <a:cubicBezTo>
                        <a:pt x="53910" y="59"/>
                        <a:pt x="69361" y="15521"/>
                        <a:pt x="69432" y="34598"/>
                      </a:cubicBezTo>
                      <a:close/>
                    </a:path>
                  </a:pathLst>
                </a:custGeom>
                <a:solidFill>
                  <a:srgbClr val="F7FCFC"/>
                </a:solidFill>
                <a:ln w="19050" cap="flat">
                  <a:solidFill>
                    <a:srgbClr val="FFC94A"/>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87" name="Freeform: Shape 22">
                  <a:extLst>
                    <a:ext uri="{FF2B5EF4-FFF2-40B4-BE49-F238E27FC236}">
                      <a16:creationId xmlns:a16="http://schemas.microsoft.com/office/drawing/2014/main" id="{A433ED2E-134D-E9E6-2F21-CECF668C985B}"/>
                    </a:ext>
                  </a:extLst>
                </p:cNvPr>
                <p:cNvSpPr/>
                <p:nvPr/>
              </p:nvSpPr>
              <p:spPr>
                <a:xfrm>
                  <a:off x="8725051" y="4522708"/>
                  <a:ext cx="510500" cy="510490"/>
                </a:xfrm>
                <a:custGeom>
                  <a:avLst/>
                  <a:gdLst>
                    <a:gd name="connsiteX0" fmla="*/ 69432 w 69432"/>
                    <a:gd name="connsiteY0" fmla="*/ 34598 h 69432"/>
                    <a:gd name="connsiteX1" fmla="*/ 34835 w 69432"/>
                    <a:gd name="connsiteY1" fmla="*/ 69432 h 69432"/>
                    <a:gd name="connsiteX2" fmla="*/ 0 w 69432"/>
                    <a:gd name="connsiteY2" fmla="*/ 34834 h 69432"/>
                    <a:gd name="connsiteX3" fmla="*/ 34597 w 69432"/>
                    <a:gd name="connsiteY3" fmla="*/ 0 h 69432"/>
                    <a:gd name="connsiteX4" fmla="*/ 34835 w 69432"/>
                    <a:gd name="connsiteY4" fmla="*/ 0 h 69432"/>
                    <a:gd name="connsiteX5" fmla="*/ 69432 w 69432"/>
                    <a:gd name="connsiteY5" fmla="*/ 34598 h 69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32" h="69432">
                      <a:moveTo>
                        <a:pt x="69432" y="34598"/>
                      </a:moveTo>
                      <a:cubicBezTo>
                        <a:pt x="69491" y="53768"/>
                        <a:pt x="54005" y="69361"/>
                        <a:pt x="34835" y="69432"/>
                      </a:cubicBezTo>
                      <a:cubicBezTo>
                        <a:pt x="15664" y="69503"/>
                        <a:pt x="72" y="54005"/>
                        <a:pt x="0" y="34834"/>
                      </a:cubicBezTo>
                      <a:cubicBezTo>
                        <a:pt x="-59" y="15664"/>
                        <a:pt x="15427" y="71"/>
                        <a:pt x="34597" y="0"/>
                      </a:cubicBezTo>
                      <a:cubicBezTo>
                        <a:pt x="34681" y="0"/>
                        <a:pt x="34751" y="0"/>
                        <a:pt x="34835" y="0"/>
                      </a:cubicBezTo>
                      <a:cubicBezTo>
                        <a:pt x="53910" y="59"/>
                        <a:pt x="69361" y="15521"/>
                        <a:pt x="69432" y="34598"/>
                      </a:cubicBezTo>
                      <a:close/>
                    </a:path>
                  </a:pathLst>
                </a:custGeom>
                <a:solidFill>
                  <a:srgbClr val="F7FCFC"/>
                </a:solidFill>
                <a:ln w="19050" cap="flat">
                  <a:solidFill>
                    <a:srgbClr val="FFC94A"/>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88" name="Freeform: Shape 23">
                  <a:extLst>
                    <a:ext uri="{FF2B5EF4-FFF2-40B4-BE49-F238E27FC236}">
                      <a16:creationId xmlns:a16="http://schemas.microsoft.com/office/drawing/2014/main" id="{BD144E93-2EB4-4FF8-99F0-62C8DEB77D56}"/>
                    </a:ext>
                  </a:extLst>
                </p:cNvPr>
                <p:cNvSpPr/>
                <p:nvPr/>
              </p:nvSpPr>
              <p:spPr>
                <a:xfrm>
                  <a:off x="8725051" y="5427073"/>
                  <a:ext cx="510500" cy="510490"/>
                </a:xfrm>
                <a:custGeom>
                  <a:avLst/>
                  <a:gdLst>
                    <a:gd name="connsiteX0" fmla="*/ 69432 w 69432"/>
                    <a:gd name="connsiteY0" fmla="*/ 34598 h 69432"/>
                    <a:gd name="connsiteX1" fmla="*/ 34835 w 69432"/>
                    <a:gd name="connsiteY1" fmla="*/ 69432 h 69432"/>
                    <a:gd name="connsiteX2" fmla="*/ 0 w 69432"/>
                    <a:gd name="connsiteY2" fmla="*/ 34834 h 69432"/>
                    <a:gd name="connsiteX3" fmla="*/ 34597 w 69432"/>
                    <a:gd name="connsiteY3" fmla="*/ 0 h 69432"/>
                    <a:gd name="connsiteX4" fmla="*/ 34835 w 69432"/>
                    <a:gd name="connsiteY4" fmla="*/ 0 h 69432"/>
                    <a:gd name="connsiteX5" fmla="*/ 69432 w 69432"/>
                    <a:gd name="connsiteY5" fmla="*/ 34598 h 69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32" h="69432">
                      <a:moveTo>
                        <a:pt x="69432" y="34598"/>
                      </a:moveTo>
                      <a:cubicBezTo>
                        <a:pt x="69491" y="53768"/>
                        <a:pt x="54005" y="69361"/>
                        <a:pt x="34835" y="69432"/>
                      </a:cubicBezTo>
                      <a:cubicBezTo>
                        <a:pt x="15664" y="69503"/>
                        <a:pt x="72" y="54005"/>
                        <a:pt x="0" y="34834"/>
                      </a:cubicBezTo>
                      <a:cubicBezTo>
                        <a:pt x="-59" y="15664"/>
                        <a:pt x="15427" y="71"/>
                        <a:pt x="34597" y="0"/>
                      </a:cubicBezTo>
                      <a:cubicBezTo>
                        <a:pt x="34681" y="0"/>
                        <a:pt x="34751" y="0"/>
                        <a:pt x="34835" y="0"/>
                      </a:cubicBezTo>
                      <a:cubicBezTo>
                        <a:pt x="53910" y="59"/>
                        <a:pt x="69361" y="15521"/>
                        <a:pt x="69432" y="34598"/>
                      </a:cubicBezTo>
                      <a:close/>
                    </a:path>
                  </a:pathLst>
                </a:custGeom>
                <a:solidFill>
                  <a:srgbClr val="F7FCFC"/>
                </a:solidFill>
                <a:ln w="19050" cap="flat">
                  <a:solidFill>
                    <a:srgbClr val="FFC94A"/>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pic>
              <p:nvPicPr>
                <p:cNvPr id="89" name="Picture 2" descr="Checkmark PNG, Checkmark Transparent Background - FreeIconsPNG">
                  <a:extLst>
                    <a:ext uri="{FF2B5EF4-FFF2-40B4-BE49-F238E27FC236}">
                      <a16:creationId xmlns:a16="http://schemas.microsoft.com/office/drawing/2014/main" id="{131E325D-4128-788B-7AE6-12F0197575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22670" y="2823907"/>
                  <a:ext cx="315260" cy="29063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Checkmark PNG, Checkmark Transparent Background - FreeIconsPNG">
                  <a:extLst>
                    <a:ext uri="{FF2B5EF4-FFF2-40B4-BE49-F238E27FC236}">
                      <a16:creationId xmlns:a16="http://schemas.microsoft.com/office/drawing/2014/main" id="{562FF899-5746-1555-7AAB-93AAE4412E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22671" y="3728273"/>
                  <a:ext cx="315260" cy="2906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 descr="Checkmark PNG, Checkmark Transparent Background - FreeIconsPNG">
                  <a:extLst>
                    <a:ext uri="{FF2B5EF4-FFF2-40B4-BE49-F238E27FC236}">
                      <a16:creationId xmlns:a16="http://schemas.microsoft.com/office/drawing/2014/main" id="{4E9C8985-8AB7-E7A3-2B57-579D74874B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22671" y="4632638"/>
                  <a:ext cx="315260" cy="2906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Checkmark PNG, Checkmark Transparent Background - FreeIconsPNG">
                  <a:extLst>
                    <a:ext uri="{FF2B5EF4-FFF2-40B4-BE49-F238E27FC236}">
                      <a16:creationId xmlns:a16="http://schemas.microsoft.com/office/drawing/2014/main" id="{5B9996E3-4804-1A78-E475-E7D7BC2966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22671" y="5537003"/>
                  <a:ext cx="315260" cy="290630"/>
                </a:xfrm>
                <a:prstGeom prst="rect">
                  <a:avLst/>
                </a:prstGeom>
                <a:noFill/>
                <a:extLst>
                  <a:ext uri="{909E8E84-426E-40DD-AFC4-6F175D3DCCD1}">
                    <a14:hiddenFill xmlns:a14="http://schemas.microsoft.com/office/drawing/2010/main">
                      <a:solidFill>
                        <a:srgbClr val="FFFFFF"/>
                      </a:solidFill>
                    </a14:hiddenFill>
                  </a:ext>
                </a:extLst>
              </p:spPr>
            </p:pic>
            <p:sp>
              <p:nvSpPr>
                <p:cNvPr id="93" name="TextBox 92">
                  <a:extLst>
                    <a:ext uri="{FF2B5EF4-FFF2-40B4-BE49-F238E27FC236}">
                      <a16:creationId xmlns:a16="http://schemas.microsoft.com/office/drawing/2014/main" id="{ACF9CFC8-22A9-B324-0617-BA3B0E82C960}"/>
                    </a:ext>
                  </a:extLst>
                </p:cNvPr>
                <p:cNvSpPr txBox="1"/>
                <p:nvPr/>
              </p:nvSpPr>
              <p:spPr>
                <a:xfrm>
                  <a:off x="9342854" y="5451486"/>
                  <a:ext cx="3207743" cy="71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500" b="0" i="0" u="none" strike="noStrike" kern="0" cap="none" spc="0" normalizeH="0" baseline="0" noProof="0" dirty="0">
                      <a:ln>
                        <a:noFill/>
                      </a:ln>
                      <a:solidFill>
                        <a:srgbClr val="000000"/>
                      </a:solidFill>
                      <a:effectLst/>
                      <a:uLnTx/>
                      <a:uFillTx/>
                      <a:latin typeface="Lora" pitchFamily="2" charset="0"/>
                    </a:rPr>
                    <a:t>Best for governments due to complexity of valuations, capacity &amp; systems</a:t>
                  </a:r>
                </a:p>
              </p:txBody>
            </p:sp>
            <p:sp>
              <p:nvSpPr>
                <p:cNvPr id="94" name="TextBox 93">
                  <a:extLst>
                    <a:ext uri="{FF2B5EF4-FFF2-40B4-BE49-F238E27FC236}">
                      <a16:creationId xmlns:a16="http://schemas.microsoft.com/office/drawing/2014/main" id="{755DD63F-E350-5B19-23D4-E3FC31065FB6}"/>
                    </a:ext>
                  </a:extLst>
                </p:cNvPr>
                <p:cNvSpPr txBox="1"/>
                <p:nvPr/>
              </p:nvSpPr>
              <p:spPr>
                <a:xfrm>
                  <a:off x="9342854" y="3628853"/>
                  <a:ext cx="2799353" cy="506743"/>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500" b="0" i="0" u="none" strike="noStrike" kern="0" cap="none" spc="0" normalizeH="0" baseline="0" noProof="0" dirty="0">
                      <a:ln>
                        <a:noFill/>
                      </a:ln>
                      <a:solidFill>
                        <a:srgbClr val="000000"/>
                      </a:solidFill>
                      <a:effectLst/>
                      <a:uLnTx/>
                      <a:uFillTx/>
                      <a:latin typeface="Lora" pitchFamily="2" charset="0"/>
                    </a:rPr>
                    <a:t>Allows for deemed cost for initial recognition</a:t>
                  </a:r>
                </a:p>
              </p:txBody>
            </p:sp>
            <p:sp>
              <p:nvSpPr>
                <p:cNvPr id="95" name="TextBox 94">
                  <a:extLst>
                    <a:ext uri="{FF2B5EF4-FFF2-40B4-BE49-F238E27FC236}">
                      <a16:creationId xmlns:a16="http://schemas.microsoft.com/office/drawing/2014/main" id="{F5055E58-7903-0797-1822-9D40E70A2BFD}"/>
                    </a:ext>
                  </a:extLst>
                </p:cNvPr>
                <p:cNvSpPr txBox="1"/>
                <p:nvPr/>
              </p:nvSpPr>
              <p:spPr>
                <a:xfrm>
                  <a:off x="9342854" y="4520897"/>
                  <a:ext cx="3009069" cy="71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lang="en-IN" sz="1500" kern="0" dirty="0">
                      <a:solidFill>
                        <a:srgbClr val="000000"/>
                      </a:solidFill>
                      <a:latin typeface="Lora" pitchFamily="2" charset="0"/>
                    </a:rPr>
                    <a:t>Restatement not required for assets and liabilities recognized during transitional period</a:t>
                  </a:r>
                  <a:endParaRPr kumimoji="0" lang="en-IN" sz="1500" b="0" i="0" u="none" strike="noStrike" kern="0" cap="none" spc="0" normalizeH="0" baseline="0" noProof="0" dirty="0">
                    <a:ln>
                      <a:noFill/>
                    </a:ln>
                    <a:solidFill>
                      <a:srgbClr val="000000"/>
                    </a:solidFill>
                    <a:effectLst/>
                    <a:uLnTx/>
                    <a:uFillTx/>
                    <a:latin typeface="Lora" pitchFamily="2" charset="0"/>
                  </a:endParaRPr>
                </a:p>
              </p:txBody>
            </p:sp>
          </p:grpSp>
          <p:sp>
            <p:nvSpPr>
              <p:cNvPr id="54" name="Freeform: Shape 34">
                <a:extLst>
                  <a:ext uri="{FF2B5EF4-FFF2-40B4-BE49-F238E27FC236}">
                    <a16:creationId xmlns:a16="http://schemas.microsoft.com/office/drawing/2014/main" id="{E11C4E2B-7A76-115B-70F7-D5F2BB77A07A}"/>
                  </a:ext>
                </a:extLst>
              </p:cNvPr>
              <p:cNvSpPr/>
              <p:nvPr/>
            </p:nvSpPr>
            <p:spPr>
              <a:xfrm>
                <a:off x="4733640" y="2399150"/>
                <a:ext cx="2735057" cy="2735057"/>
              </a:xfrm>
              <a:custGeom>
                <a:avLst/>
                <a:gdLst>
                  <a:gd name="connsiteX0" fmla="*/ 1003682 w 2006652"/>
                  <a:gd name="connsiteY0" fmla="*/ 0 h 2006652"/>
                  <a:gd name="connsiteX1" fmla="*/ 0 w 2006652"/>
                  <a:gd name="connsiteY1" fmla="*/ 1002971 h 2006652"/>
                  <a:gd name="connsiteX2" fmla="*/ 1002971 w 2006652"/>
                  <a:gd name="connsiteY2" fmla="*/ 2006652 h 2006652"/>
                  <a:gd name="connsiteX3" fmla="*/ 2006653 w 2006652"/>
                  <a:gd name="connsiteY3" fmla="*/ 1003682 h 2006652"/>
                  <a:gd name="connsiteX4" fmla="*/ 1003682 w 2006652"/>
                  <a:gd name="connsiteY4" fmla="*/ 0 h 20066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6652" h="2006652">
                    <a:moveTo>
                      <a:pt x="1003682" y="0"/>
                    </a:moveTo>
                    <a:cubicBezTo>
                      <a:pt x="449566" y="-201"/>
                      <a:pt x="201" y="448855"/>
                      <a:pt x="0" y="1002971"/>
                    </a:cubicBezTo>
                    <a:cubicBezTo>
                      <a:pt x="-202" y="1557087"/>
                      <a:pt x="448855" y="2006451"/>
                      <a:pt x="1002971" y="2006652"/>
                    </a:cubicBezTo>
                    <a:cubicBezTo>
                      <a:pt x="1557087" y="2006854"/>
                      <a:pt x="2006451" y="1557798"/>
                      <a:pt x="2006653" y="1003682"/>
                    </a:cubicBezTo>
                    <a:cubicBezTo>
                      <a:pt x="2006854" y="449566"/>
                      <a:pt x="1557798" y="201"/>
                      <a:pt x="1003682" y="0"/>
                    </a:cubicBezTo>
                    <a:close/>
                  </a:path>
                </a:pathLst>
              </a:custGeom>
              <a:solidFill>
                <a:srgbClr val="FFFFFF"/>
              </a:solidFill>
              <a:ln w="11836"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55" name="Freeform: Shape 33">
                <a:extLst>
                  <a:ext uri="{FF2B5EF4-FFF2-40B4-BE49-F238E27FC236}">
                    <a16:creationId xmlns:a16="http://schemas.microsoft.com/office/drawing/2014/main" id="{121D355F-65E3-4657-33A8-32DF8028AD7E}"/>
                  </a:ext>
                </a:extLst>
              </p:cNvPr>
              <p:cNvSpPr/>
              <p:nvPr/>
            </p:nvSpPr>
            <p:spPr>
              <a:xfrm>
                <a:off x="4574479" y="2253806"/>
                <a:ext cx="3026391" cy="3026391"/>
              </a:xfrm>
              <a:custGeom>
                <a:avLst/>
                <a:gdLst>
                  <a:gd name="connsiteX0" fmla="*/ 1110318 w 2220398"/>
                  <a:gd name="connsiteY0" fmla="*/ 0 h 2220398"/>
                  <a:gd name="connsiteX1" fmla="*/ 0 w 2220398"/>
                  <a:gd name="connsiteY1" fmla="*/ 1110081 h 2220398"/>
                  <a:gd name="connsiteX2" fmla="*/ 1110081 w 2220398"/>
                  <a:gd name="connsiteY2" fmla="*/ 2220398 h 2220398"/>
                  <a:gd name="connsiteX3" fmla="*/ 2220399 w 2220398"/>
                  <a:gd name="connsiteY3" fmla="*/ 1110318 h 2220398"/>
                  <a:gd name="connsiteX4" fmla="*/ 2220399 w 2220398"/>
                  <a:gd name="connsiteY4" fmla="*/ 1109844 h 2220398"/>
                  <a:gd name="connsiteX5" fmla="*/ 1110318 w 2220398"/>
                  <a:gd name="connsiteY5" fmla="*/ 0 h 2220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0398" h="2220398">
                    <a:moveTo>
                      <a:pt x="1110318" y="0"/>
                    </a:moveTo>
                    <a:cubicBezTo>
                      <a:pt x="497173" y="-71"/>
                      <a:pt x="71" y="496936"/>
                      <a:pt x="0" y="1110081"/>
                    </a:cubicBezTo>
                    <a:cubicBezTo>
                      <a:pt x="-71" y="1723226"/>
                      <a:pt x="496935" y="2220328"/>
                      <a:pt x="1110081" y="2220398"/>
                    </a:cubicBezTo>
                    <a:cubicBezTo>
                      <a:pt x="1723226" y="2220470"/>
                      <a:pt x="2220327" y="1723463"/>
                      <a:pt x="2220399" y="1110318"/>
                    </a:cubicBezTo>
                    <a:cubicBezTo>
                      <a:pt x="2220399" y="1110164"/>
                      <a:pt x="2220399" y="1109998"/>
                      <a:pt x="2220399" y="1109844"/>
                    </a:cubicBezTo>
                    <a:cubicBezTo>
                      <a:pt x="2220138" y="496912"/>
                      <a:pt x="1723250" y="130"/>
                      <a:pt x="1110318" y="0"/>
                    </a:cubicBezTo>
                    <a:close/>
                  </a:path>
                </a:pathLst>
              </a:custGeom>
              <a:solidFill>
                <a:srgbClr val="FFFFFF">
                  <a:lumMod val="95000"/>
                </a:srgbClr>
              </a:solidFill>
              <a:ln w="11836"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56" name="Freeform: Shape 35">
                <a:extLst>
                  <a:ext uri="{FF2B5EF4-FFF2-40B4-BE49-F238E27FC236}">
                    <a16:creationId xmlns:a16="http://schemas.microsoft.com/office/drawing/2014/main" id="{44DF2BA1-AB09-E9C3-DF8C-5F2BDD01B73C}"/>
                  </a:ext>
                </a:extLst>
              </p:cNvPr>
              <p:cNvSpPr/>
              <p:nvPr/>
            </p:nvSpPr>
            <p:spPr>
              <a:xfrm>
                <a:off x="4959318" y="1954882"/>
                <a:ext cx="3474214" cy="1885115"/>
              </a:xfrm>
              <a:custGeom>
                <a:avLst/>
                <a:gdLst>
                  <a:gd name="connsiteX0" fmla="*/ 2259380 w 2548956"/>
                  <a:gd name="connsiteY0" fmla="*/ 1383069 h 1383068"/>
                  <a:gd name="connsiteX1" fmla="*/ 1831414 w 2548956"/>
                  <a:gd name="connsiteY1" fmla="*/ 1383069 h 1383068"/>
                  <a:gd name="connsiteX2" fmla="*/ 1831414 w 2548956"/>
                  <a:gd name="connsiteY2" fmla="*/ 1329751 h 1383068"/>
                  <a:gd name="connsiteX3" fmla="*/ 827981 w 2548956"/>
                  <a:gd name="connsiteY3" fmla="*/ 326294 h 1383068"/>
                  <a:gd name="connsiteX4" fmla="*/ 79503 w 2548956"/>
                  <a:gd name="connsiteY4" fmla="*/ 661380 h 1383068"/>
                  <a:gd name="connsiteX5" fmla="*/ 0 w 2548956"/>
                  <a:gd name="connsiteY5" fmla="*/ 590289 h 1383068"/>
                  <a:gd name="connsiteX6" fmla="*/ 1567384 w 2548956"/>
                  <a:gd name="connsiteY6" fmla="*/ 501556 h 1383068"/>
                  <a:gd name="connsiteX7" fmla="*/ 1936865 w 2548956"/>
                  <a:gd name="connsiteY7" fmla="*/ 1276433 h 1383068"/>
                  <a:gd name="connsiteX8" fmla="*/ 2152744 w 2548956"/>
                  <a:gd name="connsiteY8" fmla="*/ 1276433 h 1383068"/>
                  <a:gd name="connsiteX9" fmla="*/ 2152744 w 2548956"/>
                  <a:gd name="connsiteY9" fmla="*/ 0 h 1383068"/>
                  <a:gd name="connsiteX10" fmla="*/ 2548956 w 2548956"/>
                  <a:gd name="connsiteY10" fmla="*/ 0 h 1383068"/>
                  <a:gd name="connsiteX11" fmla="*/ 2548956 w 2548956"/>
                  <a:gd name="connsiteY11" fmla="*/ 106636 h 1383068"/>
                  <a:gd name="connsiteX12" fmla="*/ 2259380 w 2548956"/>
                  <a:gd name="connsiteY12" fmla="*/ 106636 h 138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48956" h="1383068">
                    <a:moveTo>
                      <a:pt x="2259380" y="1383069"/>
                    </a:moveTo>
                    <a:lnTo>
                      <a:pt x="1831414" y="1383069"/>
                    </a:lnTo>
                    <a:lnTo>
                      <a:pt x="1831414" y="1329751"/>
                    </a:lnTo>
                    <a:cubicBezTo>
                      <a:pt x="1831426" y="775564"/>
                      <a:pt x="1382169" y="326294"/>
                      <a:pt x="827981" y="326294"/>
                    </a:cubicBezTo>
                    <a:cubicBezTo>
                      <a:pt x="542150" y="326282"/>
                      <a:pt x="269884" y="448179"/>
                      <a:pt x="79503" y="661380"/>
                    </a:cubicBezTo>
                    <a:lnTo>
                      <a:pt x="0" y="590289"/>
                    </a:lnTo>
                    <a:cubicBezTo>
                      <a:pt x="408321" y="132963"/>
                      <a:pt x="1110057" y="93235"/>
                      <a:pt x="1567384" y="501556"/>
                    </a:cubicBezTo>
                    <a:cubicBezTo>
                      <a:pt x="1789471" y="699840"/>
                      <a:pt x="1922600" y="979037"/>
                      <a:pt x="1936865" y="1276433"/>
                    </a:cubicBezTo>
                    <a:lnTo>
                      <a:pt x="2152744" y="1276433"/>
                    </a:lnTo>
                    <a:lnTo>
                      <a:pt x="2152744" y="0"/>
                    </a:lnTo>
                    <a:lnTo>
                      <a:pt x="2548956" y="0"/>
                    </a:lnTo>
                    <a:lnTo>
                      <a:pt x="2548956" y="106636"/>
                    </a:lnTo>
                    <a:lnTo>
                      <a:pt x="2259380" y="106636"/>
                    </a:lnTo>
                    <a:close/>
                  </a:path>
                </a:pathLst>
              </a:custGeom>
              <a:solidFill>
                <a:srgbClr val="92D050"/>
              </a:solidFill>
              <a:ln w="11836"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57" name="Freeform: Shape 36">
                <a:extLst>
                  <a:ext uri="{FF2B5EF4-FFF2-40B4-BE49-F238E27FC236}">
                    <a16:creationId xmlns:a16="http://schemas.microsoft.com/office/drawing/2014/main" id="{6B223B13-B305-0108-C0CA-D521E0858C94}"/>
                  </a:ext>
                </a:extLst>
              </p:cNvPr>
              <p:cNvSpPr/>
              <p:nvPr/>
            </p:nvSpPr>
            <p:spPr>
              <a:xfrm>
                <a:off x="8427417" y="1638677"/>
                <a:ext cx="2834214" cy="1094846"/>
              </a:xfrm>
              <a:custGeom>
                <a:avLst/>
                <a:gdLst>
                  <a:gd name="connsiteX0" fmla="*/ 2079402 w 2079402"/>
                  <a:gd name="connsiteY0" fmla="*/ 470857 h 803265"/>
                  <a:gd name="connsiteX1" fmla="*/ 1998951 w 2079402"/>
                  <a:gd name="connsiteY1" fmla="*/ 573939 h 803265"/>
                  <a:gd name="connsiteX2" fmla="*/ 1120152 w 2079402"/>
                  <a:gd name="connsiteY2" fmla="*/ 794912 h 803265"/>
                  <a:gd name="connsiteX3" fmla="*/ 959250 w 2079402"/>
                  <a:gd name="connsiteY3" fmla="*/ 794912 h 803265"/>
                  <a:gd name="connsiteX4" fmla="*/ 80451 w 2079402"/>
                  <a:gd name="connsiteY4" fmla="*/ 574531 h 803265"/>
                  <a:gd name="connsiteX5" fmla="*/ 0 w 2079402"/>
                  <a:gd name="connsiteY5" fmla="*/ 471450 h 803265"/>
                  <a:gd name="connsiteX6" fmla="*/ 0 w 2079402"/>
                  <a:gd name="connsiteY6" fmla="*/ 82939 h 803265"/>
                  <a:gd name="connsiteX7" fmla="*/ 82939 w 2079402"/>
                  <a:gd name="connsiteY7" fmla="*/ 0 h 803265"/>
                  <a:gd name="connsiteX8" fmla="*/ 1996463 w 2079402"/>
                  <a:gd name="connsiteY8" fmla="*/ 0 h 803265"/>
                  <a:gd name="connsiteX9" fmla="*/ 2079402 w 2079402"/>
                  <a:gd name="connsiteY9" fmla="*/ 82939 h 803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9402" h="803265">
                    <a:moveTo>
                      <a:pt x="2079402" y="470857"/>
                    </a:moveTo>
                    <a:cubicBezTo>
                      <a:pt x="2077483" y="518926"/>
                      <a:pt x="2045112" y="560396"/>
                      <a:pt x="1998951" y="573939"/>
                    </a:cubicBezTo>
                    <a:lnTo>
                      <a:pt x="1120152" y="794912"/>
                    </a:lnTo>
                    <a:cubicBezTo>
                      <a:pt x="1067095" y="806050"/>
                      <a:pt x="1012307" y="806050"/>
                      <a:pt x="959250" y="794912"/>
                    </a:cubicBezTo>
                    <a:lnTo>
                      <a:pt x="80451" y="574531"/>
                    </a:lnTo>
                    <a:cubicBezTo>
                      <a:pt x="34289" y="560988"/>
                      <a:pt x="1919" y="519519"/>
                      <a:pt x="0" y="471450"/>
                    </a:cubicBezTo>
                    <a:lnTo>
                      <a:pt x="0" y="82939"/>
                    </a:lnTo>
                    <a:cubicBezTo>
                      <a:pt x="0" y="37133"/>
                      <a:pt x="37133" y="0"/>
                      <a:pt x="82939" y="0"/>
                    </a:cubicBezTo>
                    <a:lnTo>
                      <a:pt x="1996463" y="0"/>
                    </a:lnTo>
                    <a:cubicBezTo>
                      <a:pt x="2042269" y="0"/>
                      <a:pt x="2079402" y="37133"/>
                      <a:pt x="2079402" y="82939"/>
                    </a:cubicBezTo>
                    <a:close/>
                  </a:path>
                </a:pathLst>
              </a:custGeom>
              <a:solidFill>
                <a:srgbClr val="92D050"/>
              </a:solidFill>
              <a:ln w="11836"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58" name="Freeform: Shape 48">
                <a:extLst>
                  <a:ext uri="{FF2B5EF4-FFF2-40B4-BE49-F238E27FC236}">
                    <a16:creationId xmlns:a16="http://schemas.microsoft.com/office/drawing/2014/main" id="{7064C574-5BE6-0206-2FC6-BF2F6A7C666B}"/>
                  </a:ext>
                </a:extLst>
              </p:cNvPr>
              <p:cNvSpPr/>
              <p:nvPr/>
            </p:nvSpPr>
            <p:spPr>
              <a:xfrm>
                <a:off x="3731481" y="3692877"/>
                <a:ext cx="3483258" cy="2120411"/>
              </a:xfrm>
              <a:custGeom>
                <a:avLst/>
                <a:gdLst>
                  <a:gd name="connsiteX0" fmla="*/ 402847 w 2555591"/>
                  <a:gd name="connsiteY0" fmla="*/ 1555701 h 1555700"/>
                  <a:gd name="connsiteX1" fmla="*/ 0 w 2555591"/>
                  <a:gd name="connsiteY1" fmla="*/ 1555701 h 1555700"/>
                  <a:gd name="connsiteX2" fmla="*/ 0 w 2555591"/>
                  <a:gd name="connsiteY2" fmla="*/ 1449065 h 1555700"/>
                  <a:gd name="connsiteX3" fmla="*/ 296211 w 2555591"/>
                  <a:gd name="connsiteY3" fmla="*/ 1449065 h 1555700"/>
                  <a:gd name="connsiteX4" fmla="*/ 296211 w 2555591"/>
                  <a:gd name="connsiteY4" fmla="*/ 0 h 1555700"/>
                  <a:gd name="connsiteX5" fmla="*/ 724177 w 2555591"/>
                  <a:gd name="connsiteY5" fmla="*/ 0 h 1555700"/>
                  <a:gd name="connsiteX6" fmla="*/ 724177 w 2555591"/>
                  <a:gd name="connsiteY6" fmla="*/ 53318 h 1555700"/>
                  <a:gd name="connsiteX7" fmla="*/ 1727847 w 2555591"/>
                  <a:gd name="connsiteY7" fmla="*/ 1056538 h 1555700"/>
                  <a:gd name="connsiteX8" fmla="*/ 2476088 w 2555591"/>
                  <a:gd name="connsiteY8" fmla="*/ 721452 h 1555700"/>
                  <a:gd name="connsiteX9" fmla="*/ 2555591 w 2555591"/>
                  <a:gd name="connsiteY9" fmla="*/ 792543 h 1555700"/>
                  <a:gd name="connsiteX10" fmla="*/ 988196 w 2555591"/>
                  <a:gd name="connsiteY10" fmla="*/ 881039 h 1555700"/>
                  <a:gd name="connsiteX11" fmla="*/ 618844 w 2555591"/>
                  <a:gd name="connsiteY11" fmla="*/ 106399 h 1555700"/>
                  <a:gd name="connsiteX12" fmla="*/ 402847 w 2555591"/>
                  <a:gd name="connsiteY12" fmla="*/ 106399 h 15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55591" h="1555700">
                    <a:moveTo>
                      <a:pt x="402847" y="1555701"/>
                    </a:moveTo>
                    <a:lnTo>
                      <a:pt x="0" y="1555701"/>
                    </a:lnTo>
                    <a:lnTo>
                      <a:pt x="0" y="1449065"/>
                    </a:lnTo>
                    <a:lnTo>
                      <a:pt x="296211" y="1449065"/>
                    </a:lnTo>
                    <a:lnTo>
                      <a:pt x="296211" y="0"/>
                    </a:lnTo>
                    <a:lnTo>
                      <a:pt x="724177" y="0"/>
                    </a:lnTo>
                    <a:lnTo>
                      <a:pt x="724177" y="53318"/>
                    </a:lnTo>
                    <a:cubicBezTo>
                      <a:pt x="724296" y="607505"/>
                      <a:pt x="1173660" y="1056668"/>
                      <a:pt x="1727847" y="1056538"/>
                    </a:cubicBezTo>
                    <a:cubicBezTo>
                      <a:pt x="2013596" y="1056479"/>
                      <a:pt x="2285767" y="934594"/>
                      <a:pt x="2476088" y="721452"/>
                    </a:cubicBezTo>
                    <a:lnTo>
                      <a:pt x="2555591" y="792543"/>
                    </a:lnTo>
                    <a:cubicBezTo>
                      <a:pt x="2147211" y="1249810"/>
                      <a:pt x="1445463" y="1289431"/>
                      <a:pt x="988196" y="881039"/>
                    </a:cubicBezTo>
                    <a:cubicBezTo>
                      <a:pt x="766215" y="682779"/>
                      <a:pt x="633134" y="403689"/>
                      <a:pt x="618844" y="106399"/>
                    </a:cubicBezTo>
                    <a:lnTo>
                      <a:pt x="402847" y="106399"/>
                    </a:lnTo>
                    <a:close/>
                  </a:path>
                </a:pathLst>
              </a:custGeom>
              <a:solidFill>
                <a:srgbClr val="42C3C9"/>
              </a:solidFill>
              <a:ln w="11836"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59" name="Freeform: Shape 49">
                <a:extLst>
                  <a:ext uri="{FF2B5EF4-FFF2-40B4-BE49-F238E27FC236}">
                    <a16:creationId xmlns:a16="http://schemas.microsoft.com/office/drawing/2014/main" id="{99E0B78F-40A9-04CC-F8BF-3A9EC203A879}"/>
                  </a:ext>
                </a:extLst>
              </p:cNvPr>
              <p:cNvSpPr/>
              <p:nvPr/>
            </p:nvSpPr>
            <p:spPr>
              <a:xfrm>
                <a:off x="920844" y="5052532"/>
                <a:ext cx="2834214" cy="1094079"/>
              </a:xfrm>
              <a:custGeom>
                <a:avLst/>
                <a:gdLst>
                  <a:gd name="connsiteX0" fmla="*/ 2079402 w 2079402"/>
                  <a:gd name="connsiteY0" fmla="*/ 332082 h 802702"/>
                  <a:gd name="connsiteX1" fmla="*/ 1998951 w 2079402"/>
                  <a:gd name="connsiteY1" fmla="*/ 229001 h 802702"/>
                  <a:gd name="connsiteX2" fmla="*/ 1120152 w 2079402"/>
                  <a:gd name="connsiteY2" fmla="*/ 8264 h 802702"/>
                  <a:gd name="connsiteX3" fmla="*/ 959250 w 2079402"/>
                  <a:gd name="connsiteY3" fmla="*/ 8264 h 802702"/>
                  <a:gd name="connsiteX4" fmla="*/ 80451 w 2079402"/>
                  <a:gd name="connsiteY4" fmla="*/ 228645 h 802702"/>
                  <a:gd name="connsiteX5" fmla="*/ 0 w 2079402"/>
                  <a:gd name="connsiteY5" fmla="*/ 331727 h 802702"/>
                  <a:gd name="connsiteX6" fmla="*/ 0 w 2079402"/>
                  <a:gd name="connsiteY6" fmla="*/ 719763 h 802702"/>
                  <a:gd name="connsiteX7" fmla="*/ 82939 w 2079402"/>
                  <a:gd name="connsiteY7" fmla="*/ 802702 h 802702"/>
                  <a:gd name="connsiteX8" fmla="*/ 1996463 w 2079402"/>
                  <a:gd name="connsiteY8" fmla="*/ 802702 h 802702"/>
                  <a:gd name="connsiteX9" fmla="*/ 2079402 w 2079402"/>
                  <a:gd name="connsiteY9" fmla="*/ 719763 h 80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9402" h="802702">
                    <a:moveTo>
                      <a:pt x="2079402" y="332082"/>
                    </a:moveTo>
                    <a:cubicBezTo>
                      <a:pt x="2077447" y="284037"/>
                      <a:pt x="2045089" y="242567"/>
                      <a:pt x="1998951" y="229001"/>
                    </a:cubicBezTo>
                    <a:lnTo>
                      <a:pt x="1120152" y="8264"/>
                    </a:lnTo>
                    <a:cubicBezTo>
                      <a:pt x="1067083" y="-2755"/>
                      <a:pt x="1012319" y="-2755"/>
                      <a:pt x="959250" y="8264"/>
                    </a:cubicBezTo>
                    <a:lnTo>
                      <a:pt x="80451" y="228645"/>
                    </a:lnTo>
                    <a:cubicBezTo>
                      <a:pt x="34314" y="242212"/>
                      <a:pt x="1956" y="283681"/>
                      <a:pt x="0" y="331727"/>
                    </a:cubicBezTo>
                    <a:lnTo>
                      <a:pt x="0" y="719763"/>
                    </a:lnTo>
                    <a:cubicBezTo>
                      <a:pt x="0" y="765569"/>
                      <a:pt x="37133" y="802702"/>
                      <a:pt x="82939" y="802702"/>
                    </a:cubicBezTo>
                    <a:lnTo>
                      <a:pt x="1996463" y="802702"/>
                    </a:lnTo>
                    <a:cubicBezTo>
                      <a:pt x="2042269" y="802702"/>
                      <a:pt x="2079402" y="765569"/>
                      <a:pt x="2079402" y="719763"/>
                    </a:cubicBezTo>
                    <a:close/>
                  </a:path>
                </a:pathLst>
              </a:custGeom>
              <a:solidFill>
                <a:srgbClr val="42C3C9"/>
              </a:solidFill>
              <a:ln w="11836"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60" name="TextBox 59">
                <a:extLst>
                  <a:ext uri="{FF2B5EF4-FFF2-40B4-BE49-F238E27FC236}">
                    <a16:creationId xmlns:a16="http://schemas.microsoft.com/office/drawing/2014/main" id="{FBDE3823-2842-D4AF-C440-71676D32896E}"/>
                  </a:ext>
                </a:extLst>
              </p:cNvPr>
              <p:cNvSpPr txBox="1"/>
              <p:nvPr/>
            </p:nvSpPr>
            <p:spPr>
              <a:xfrm>
                <a:off x="1026186" y="5210732"/>
                <a:ext cx="2563892" cy="929029"/>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srgbClr val="FFFFFF"/>
                    </a:solidFill>
                    <a:effectLst/>
                    <a:uLnTx/>
                    <a:uFillTx/>
                    <a:latin typeface="Lora" pitchFamily="2" charset="0"/>
                  </a:rPr>
                  <a:t>Full retrospective/big bang</a:t>
                </a:r>
              </a:p>
            </p:txBody>
          </p:sp>
          <p:sp>
            <p:nvSpPr>
              <p:cNvPr id="61" name="TextBox 60">
                <a:extLst>
                  <a:ext uri="{FF2B5EF4-FFF2-40B4-BE49-F238E27FC236}">
                    <a16:creationId xmlns:a16="http://schemas.microsoft.com/office/drawing/2014/main" id="{606F057F-C469-5AF6-E0E6-C7D98242CFA5}"/>
                  </a:ext>
                </a:extLst>
              </p:cNvPr>
              <p:cNvSpPr txBox="1"/>
              <p:nvPr/>
            </p:nvSpPr>
            <p:spPr>
              <a:xfrm>
                <a:off x="8580819" y="1877609"/>
                <a:ext cx="2527411" cy="647505"/>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lang="en-IN" sz="2000" b="1" kern="0" dirty="0">
                    <a:solidFill>
                      <a:srgbClr val="FFFFFF"/>
                    </a:solidFill>
                    <a:latin typeface="Lora" pitchFamily="2" charset="0"/>
                  </a:rPr>
                  <a:t>Transitional under IPSAS 33</a:t>
                </a:r>
                <a:endParaRPr kumimoji="0" lang="en-IN" sz="2000" b="1" i="0" u="none" strike="noStrike" kern="0" cap="none" spc="0" normalizeH="0" baseline="0" noProof="0" dirty="0">
                  <a:ln>
                    <a:noFill/>
                  </a:ln>
                  <a:solidFill>
                    <a:srgbClr val="FFFFFF"/>
                  </a:solidFill>
                  <a:effectLst/>
                  <a:uLnTx/>
                  <a:uFillTx/>
                  <a:latin typeface="Lora" pitchFamily="2" charset="0"/>
                </a:endParaRPr>
              </a:p>
            </p:txBody>
          </p:sp>
          <p:grpSp>
            <p:nvGrpSpPr>
              <p:cNvPr id="62" name="Group 61">
                <a:extLst>
                  <a:ext uri="{FF2B5EF4-FFF2-40B4-BE49-F238E27FC236}">
                    <a16:creationId xmlns:a16="http://schemas.microsoft.com/office/drawing/2014/main" id="{825A3A75-D987-0133-68B0-AF66D505A359}"/>
                  </a:ext>
                </a:extLst>
              </p:cNvPr>
              <p:cNvGrpSpPr/>
              <p:nvPr/>
            </p:nvGrpSpPr>
            <p:grpSpPr>
              <a:xfrm>
                <a:off x="930618" y="1458526"/>
                <a:ext cx="3633754" cy="3989302"/>
                <a:chOff x="1001520" y="1458526"/>
                <a:chExt cx="3633754" cy="3989302"/>
              </a:xfrm>
            </p:grpSpPr>
            <p:grpSp>
              <p:nvGrpSpPr>
                <p:cNvPr id="63" name="Group 62">
                  <a:extLst>
                    <a:ext uri="{FF2B5EF4-FFF2-40B4-BE49-F238E27FC236}">
                      <a16:creationId xmlns:a16="http://schemas.microsoft.com/office/drawing/2014/main" id="{DB964336-6BE3-B99F-0680-C7800B6E77F8}"/>
                    </a:ext>
                  </a:extLst>
                </p:cNvPr>
                <p:cNvGrpSpPr/>
                <p:nvPr/>
              </p:nvGrpSpPr>
              <p:grpSpPr>
                <a:xfrm>
                  <a:off x="1001520" y="1458526"/>
                  <a:ext cx="816763" cy="3989302"/>
                  <a:chOff x="1001520" y="1458526"/>
                  <a:chExt cx="816763" cy="3989302"/>
                </a:xfrm>
              </p:grpSpPr>
              <p:sp>
                <p:nvSpPr>
                  <p:cNvPr id="68" name="Freeform: Shape 25">
                    <a:extLst>
                      <a:ext uri="{FF2B5EF4-FFF2-40B4-BE49-F238E27FC236}">
                        <a16:creationId xmlns:a16="http://schemas.microsoft.com/office/drawing/2014/main" id="{BEB7144E-9527-7BF7-936D-5DF39CFAC5F9}"/>
                      </a:ext>
                    </a:extLst>
                  </p:cNvPr>
                  <p:cNvSpPr/>
                  <p:nvPr/>
                </p:nvSpPr>
                <p:spPr>
                  <a:xfrm>
                    <a:off x="1001520" y="4427350"/>
                    <a:ext cx="561513" cy="16149"/>
                  </a:xfrm>
                  <a:custGeom>
                    <a:avLst/>
                    <a:gdLst>
                      <a:gd name="connsiteX0" fmla="*/ 411970 w 411970"/>
                      <a:gd name="connsiteY0" fmla="*/ 0 h 11848"/>
                      <a:gd name="connsiteX1" fmla="*/ 0 w 411970"/>
                      <a:gd name="connsiteY1" fmla="*/ 0 h 11848"/>
                    </a:gdLst>
                    <a:ahLst/>
                    <a:cxnLst>
                      <a:cxn ang="0">
                        <a:pos x="connsiteX0" y="connsiteY0"/>
                      </a:cxn>
                      <a:cxn ang="0">
                        <a:pos x="connsiteX1" y="connsiteY1"/>
                      </a:cxn>
                    </a:cxnLst>
                    <a:rect l="l" t="t" r="r" b="b"/>
                    <a:pathLst>
                      <a:path w="411970" h="11848">
                        <a:moveTo>
                          <a:pt x="411970" y="0"/>
                        </a:moveTo>
                        <a:lnTo>
                          <a:pt x="0" y="0"/>
                        </a:lnTo>
                      </a:path>
                    </a:pathLst>
                  </a:custGeom>
                  <a:ln w="9706" cap="flat">
                    <a:solidFill>
                      <a:srgbClr val="A7A9AC"/>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69" name="Freeform: Shape 27">
                    <a:extLst>
                      <a:ext uri="{FF2B5EF4-FFF2-40B4-BE49-F238E27FC236}">
                        <a16:creationId xmlns:a16="http://schemas.microsoft.com/office/drawing/2014/main" id="{B755BFEF-BCB6-7A23-1271-66F512FEDBB8}"/>
                      </a:ext>
                    </a:extLst>
                  </p:cNvPr>
                  <p:cNvSpPr/>
                  <p:nvPr/>
                </p:nvSpPr>
                <p:spPr>
                  <a:xfrm>
                    <a:off x="1001520" y="3522824"/>
                    <a:ext cx="561513" cy="16149"/>
                  </a:xfrm>
                  <a:custGeom>
                    <a:avLst/>
                    <a:gdLst>
                      <a:gd name="connsiteX0" fmla="*/ 411970 w 411970"/>
                      <a:gd name="connsiteY0" fmla="*/ 0 h 11848"/>
                      <a:gd name="connsiteX1" fmla="*/ 0 w 411970"/>
                      <a:gd name="connsiteY1" fmla="*/ 0 h 11848"/>
                    </a:gdLst>
                    <a:ahLst/>
                    <a:cxnLst>
                      <a:cxn ang="0">
                        <a:pos x="connsiteX0" y="connsiteY0"/>
                      </a:cxn>
                      <a:cxn ang="0">
                        <a:pos x="connsiteX1" y="connsiteY1"/>
                      </a:cxn>
                    </a:cxnLst>
                    <a:rect l="l" t="t" r="r" b="b"/>
                    <a:pathLst>
                      <a:path w="411970" h="11848">
                        <a:moveTo>
                          <a:pt x="411970" y="0"/>
                        </a:moveTo>
                        <a:lnTo>
                          <a:pt x="0" y="0"/>
                        </a:lnTo>
                      </a:path>
                    </a:pathLst>
                  </a:custGeom>
                  <a:ln w="9706" cap="flat">
                    <a:solidFill>
                      <a:srgbClr val="A7A9AC"/>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70" name="Freeform: Shape 29">
                    <a:extLst>
                      <a:ext uri="{FF2B5EF4-FFF2-40B4-BE49-F238E27FC236}">
                        <a16:creationId xmlns:a16="http://schemas.microsoft.com/office/drawing/2014/main" id="{6D4760D6-2DD3-8C02-8535-1726EA0C8C95}"/>
                      </a:ext>
                    </a:extLst>
                  </p:cNvPr>
                  <p:cNvSpPr/>
                  <p:nvPr/>
                </p:nvSpPr>
                <p:spPr>
                  <a:xfrm>
                    <a:off x="1001520" y="2618459"/>
                    <a:ext cx="561513" cy="16149"/>
                  </a:xfrm>
                  <a:custGeom>
                    <a:avLst/>
                    <a:gdLst>
                      <a:gd name="connsiteX0" fmla="*/ 411970 w 411970"/>
                      <a:gd name="connsiteY0" fmla="*/ 0 h 11848"/>
                      <a:gd name="connsiteX1" fmla="*/ 0 w 411970"/>
                      <a:gd name="connsiteY1" fmla="*/ 0 h 11848"/>
                    </a:gdLst>
                    <a:ahLst/>
                    <a:cxnLst>
                      <a:cxn ang="0">
                        <a:pos x="connsiteX0" y="connsiteY0"/>
                      </a:cxn>
                      <a:cxn ang="0">
                        <a:pos x="connsiteX1" y="connsiteY1"/>
                      </a:cxn>
                    </a:cxnLst>
                    <a:rect l="l" t="t" r="r" b="b"/>
                    <a:pathLst>
                      <a:path w="411970" h="11848">
                        <a:moveTo>
                          <a:pt x="411970" y="0"/>
                        </a:moveTo>
                        <a:lnTo>
                          <a:pt x="0" y="0"/>
                        </a:lnTo>
                      </a:path>
                    </a:pathLst>
                  </a:custGeom>
                  <a:ln w="9706" cap="flat">
                    <a:solidFill>
                      <a:srgbClr val="A7A9AC"/>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71" name="Freeform: Shape 32">
                    <a:extLst>
                      <a:ext uri="{FF2B5EF4-FFF2-40B4-BE49-F238E27FC236}">
                        <a16:creationId xmlns:a16="http://schemas.microsoft.com/office/drawing/2014/main" id="{56444D6A-6DFA-291B-B960-AB821D7744B5}"/>
                      </a:ext>
                    </a:extLst>
                  </p:cNvPr>
                  <p:cNvSpPr/>
                  <p:nvPr/>
                </p:nvSpPr>
                <p:spPr>
                  <a:xfrm>
                    <a:off x="1001520" y="1714094"/>
                    <a:ext cx="561513" cy="3733734"/>
                  </a:xfrm>
                  <a:custGeom>
                    <a:avLst/>
                    <a:gdLst>
                      <a:gd name="connsiteX0" fmla="*/ 0 w 411970"/>
                      <a:gd name="connsiteY0" fmla="*/ 2739360 h 2739360"/>
                      <a:gd name="connsiteX1" fmla="*/ 0 w 411970"/>
                      <a:gd name="connsiteY1" fmla="*/ 0 h 2739360"/>
                      <a:gd name="connsiteX2" fmla="*/ 411970 w 411970"/>
                      <a:gd name="connsiteY2" fmla="*/ 0 h 2739360"/>
                    </a:gdLst>
                    <a:ahLst/>
                    <a:cxnLst>
                      <a:cxn ang="0">
                        <a:pos x="connsiteX0" y="connsiteY0"/>
                      </a:cxn>
                      <a:cxn ang="0">
                        <a:pos x="connsiteX1" y="connsiteY1"/>
                      </a:cxn>
                      <a:cxn ang="0">
                        <a:pos x="connsiteX2" y="connsiteY2"/>
                      </a:cxn>
                    </a:cxnLst>
                    <a:rect l="l" t="t" r="r" b="b"/>
                    <a:pathLst>
                      <a:path w="411970" h="2739360">
                        <a:moveTo>
                          <a:pt x="0" y="2739360"/>
                        </a:moveTo>
                        <a:lnTo>
                          <a:pt x="0" y="0"/>
                        </a:lnTo>
                        <a:lnTo>
                          <a:pt x="411970" y="0"/>
                        </a:lnTo>
                      </a:path>
                    </a:pathLst>
                  </a:custGeom>
                  <a:noFill/>
                  <a:ln w="9706" cap="flat">
                    <a:solidFill>
                      <a:srgbClr val="A7A9AC"/>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72" name="Freeform: Shape 26">
                    <a:extLst>
                      <a:ext uri="{FF2B5EF4-FFF2-40B4-BE49-F238E27FC236}">
                        <a16:creationId xmlns:a16="http://schemas.microsoft.com/office/drawing/2014/main" id="{8E62E856-2B45-EFA0-1948-D75FB7EE43F4}"/>
                      </a:ext>
                    </a:extLst>
                  </p:cNvPr>
                  <p:cNvSpPr/>
                  <p:nvPr/>
                </p:nvSpPr>
                <p:spPr>
                  <a:xfrm>
                    <a:off x="1307783" y="4171944"/>
                    <a:ext cx="510500" cy="510490"/>
                  </a:xfrm>
                  <a:custGeom>
                    <a:avLst/>
                    <a:gdLst>
                      <a:gd name="connsiteX0" fmla="*/ 69432 w 69432"/>
                      <a:gd name="connsiteY0" fmla="*/ 34835 h 69432"/>
                      <a:gd name="connsiteX1" fmla="*/ 34835 w 69432"/>
                      <a:gd name="connsiteY1" fmla="*/ 0 h 69432"/>
                      <a:gd name="connsiteX2" fmla="*/ 0 w 69432"/>
                      <a:gd name="connsiteY2" fmla="*/ 34598 h 69432"/>
                      <a:gd name="connsiteX3" fmla="*/ 34598 w 69432"/>
                      <a:gd name="connsiteY3" fmla="*/ 69432 h 69432"/>
                      <a:gd name="connsiteX4" fmla="*/ 34716 w 69432"/>
                      <a:gd name="connsiteY4" fmla="*/ 69432 h 69432"/>
                      <a:gd name="connsiteX5" fmla="*/ 69432 w 69432"/>
                      <a:gd name="connsiteY5" fmla="*/ 34835 h 69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32" h="69432">
                        <a:moveTo>
                          <a:pt x="69432" y="34835"/>
                        </a:moveTo>
                        <a:cubicBezTo>
                          <a:pt x="69497" y="15664"/>
                          <a:pt x="54008" y="71"/>
                          <a:pt x="34835" y="0"/>
                        </a:cubicBezTo>
                        <a:cubicBezTo>
                          <a:pt x="15661" y="-59"/>
                          <a:pt x="67" y="15427"/>
                          <a:pt x="0" y="34598"/>
                        </a:cubicBezTo>
                        <a:cubicBezTo>
                          <a:pt x="-65" y="53768"/>
                          <a:pt x="15425" y="69361"/>
                          <a:pt x="34598" y="69432"/>
                        </a:cubicBezTo>
                        <a:cubicBezTo>
                          <a:pt x="34637" y="69432"/>
                          <a:pt x="34677" y="69432"/>
                          <a:pt x="34716" y="69432"/>
                        </a:cubicBezTo>
                        <a:cubicBezTo>
                          <a:pt x="53843" y="69432"/>
                          <a:pt x="69367" y="53958"/>
                          <a:pt x="69432" y="34835"/>
                        </a:cubicBezTo>
                        <a:close/>
                      </a:path>
                    </a:pathLst>
                  </a:custGeom>
                  <a:solidFill>
                    <a:srgbClr val="F7FCFC"/>
                  </a:solidFill>
                  <a:ln w="19050" cap="flat">
                    <a:solidFill>
                      <a:srgbClr val="42C3C9"/>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73" name="Freeform: Shape 28">
                    <a:extLst>
                      <a:ext uri="{FF2B5EF4-FFF2-40B4-BE49-F238E27FC236}">
                        <a16:creationId xmlns:a16="http://schemas.microsoft.com/office/drawing/2014/main" id="{ACBE4DD6-78FA-5065-EE3A-C2F4F88A03D4}"/>
                      </a:ext>
                    </a:extLst>
                  </p:cNvPr>
                  <p:cNvSpPr/>
                  <p:nvPr/>
                </p:nvSpPr>
                <p:spPr>
                  <a:xfrm>
                    <a:off x="1307787" y="3267579"/>
                    <a:ext cx="510490" cy="510490"/>
                  </a:xfrm>
                  <a:custGeom>
                    <a:avLst/>
                    <a:gdLst>
                      <a:gd name="connsiteX0" fmla="*/ 69432 w 69431"/>
                      <a:gd name="connsiteY0" fmla="*/ 34716 h 69432"/>
                      <a:gd name="connsiteX1" fmla="*/ 34716 w 69431"/>
                      <a:gd name="connsiteY1" fmla="*/ 0 h 69432"/>
                      <a:gd name="connsiteX2" fmla="*/ 0 w 69431"/>
                      <a:gd name="connsiteY2" fmla="*/ 34716 h 69432"/>
                      <a:gd name="connsiteX3" fmla="*/ 34716 w 69431"/>
                      <a:gd name="connsiteY3" fmla="*/ 69432 h 69432"/>
                      <a:gd name="connsiteX4" fmla="*/ 69432 w 69431"/>
                      <a:gd name="connsiteY4" fmla="*/ 34716 h 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31" h="69432">
                        <a:moveTo>
                          <a:pt x="69432" y="34716"/>
                        </a:moveTo>
                        <a:cubicBezTo>
                          <a:pt x="69432" y="15545"/>
                          <a:pt x="53889" y="0"/>
                          <a:pt x="34716" y="0"/>
                        </a:cubicBezTo>
                        <a:cubicBezTo>
                          <a:pt x="15543" y="0"/>
                          <a:pt x="0" y="15545"/>
                          <a:pt x="0" y="34716"/>
                        </a:cubicBezTo>
                        <a:cubicBezTo>
                          <a:pt x="0" y="53887"/>
                          <a:pt x="15543" y="69432"/>
                          <a:pt x="34716" y="69432"/>
                        </a:cubicBezTo>
                        <a:cubicBezTo>
                          <a:pt x="53889" y="69432"/>
                          <a:pt x="69432" y="53887"/>
                          <a:pt x="69432" y="34716"/>
                        </a:cubicBezTo>
                        <a:close/>
                      </a:path>
                    </a:pathLst>
                  </a:custGeom>
                  <a:solidFill>
                    <a:srgbClr val="F7FCFC"/>
                  </a:solidFill>
                  <a:ln w="19050" cap="flat">
                    <a:solidFill>
                      <a:srgbClr val="42C3C9"/>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74" name="Freeform: Shape 30">
                    <a:extLst>
                      <a:ext uri="{FF2B5EF4-FFF2-40B4-BE49-F238E27FC236}">
                        <a16:creationId xmlns:a16="http://schemas.microsoft.com/office/drawing/2014/main" id="{0F1B22F7-0ADD-D335-359A-04933C75B020}"/>
                      </a:ext>
                    </a:extLst>
                  </p:cNvPr>
                  <p:cNvSpPr/>
                  <p:nvPr/>
                </p:nvSpPr>
                <p:spPr>
                  <a:xfrm>
                    <a:off x="1307789" y="2363215"/>
                    <a:ext cx="510486" cy="510486"/>
                  </a:xfrm>
                  <a:custGeom>
                    <a:avLst/>
                    <a:gdLst>
                      <a:gd name="connsiteX0" fmla="*/ 69432 w 69431"/>
                      <a:gd name="connsiteY0" fmla="*/ 34716 h 69431"/>
                      <a:gd name="connsiteX1" fmla="*/ 34716 w 69431"/>
                      <a:gd name="connsiteY1" fmla="*/ 0 h 69431"/>
                      <a:gd name="connsiteX2" fmla="*/ 0 w 69431"/>
                      <a:gd name="connsiteY2" fmla="*/ 34716 h 69431"/>
                      <a:gd name="connsiteX3" fmla="*/ 34716 w 69431"/>
                      <a:gd name="connsiteY3" fmla="*/ 69432 h 69431"/>
                      <a:gd name="connsiteX4" fmla="*/ 69432 w 69431"/>
                      <a:gd name="connsiteY4" fmla="*/ 34716 h 69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31" h="69431">
                        <a:moveTo>
                          <a:pt x="69432" y="34716"/>
                        </a:moveTo>
                        <a:cubicBezTo>
                          <a:pt x="69432" y="15545"/>
                          <a:pt x="53889" y="0"/>
                          <a:pt x="34716" y="0"/>
                        </a:cubicBezTo>
                        <a:cubicBezTo>
                          <a:pt x="15543" y="0"/>
                          <a:pt x="0" y="15545"/>
                          <a:pt x="0" y="34716"/>
                        </a:cubicBezTo>
                        <a:cubicBezTo>
                          <a:pt x="0" y="53887"/>
                          <a:pt x="15543" y="69432"/>
                          <a:pt x="34716" y="69432"/>
                        </a:cubicBezTo>
                        <a:cubicBezTo>
                          <a:pt x="53889" y="69432"/>
                          <a:pt x="69432" y="53887"/>
                          <a:pt x="69432" y="34716"/>
                        </a:cubicBezTo>
                        <a:close/>
                      </a:path>
                    </a:pathLst>
                  </a:custGeom>
                  <a:solidFill>
                    <a:srgbClr val="F7FCFC"/>
                  </a:solidFill>
                  <a:ln w="19050" cap="flat">
                    <a:solidFill>
                      <a:srgbClr val="42C3C9"/>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sp>
                <p:nvSpPr>
                  <p:cNvPr id="75" name="Freeform: Shape 31">
                    <a:extLst>
                      <a:ext uri="{FF2B5EF4-FFF2-40B4-BE49-F238E27FC236}">
                        <a16:creationId xmlns:a16="http://schemas.microsoft.com/office/drawing/2014/main" id="{C0E53003-D896-B4B0-CA3A-A2221433CC48}"/>
                      </a:ext>
                    </a:extLst>
                  </p:cNvPr>
                  <p:cNvSpPr/>
                  <p:nvPr/>
                </p:nvSpPr>
                <p:spPr>
                  <a:xfrm>
                    <a:off x="1307783" y="1458526"/>
                    <a:ext cx="510500" cy="510490"/>
                  </a:xfrm>
                  <a:custGeom>
                    <a:avLst/>
                    <a:gdLst>
                      <a:gd name="connsiteX0" fmla="*/ 69432 w 69432"/>
                      <a:gd name="connsiteY0" fmla="*/ 34835 h 69432"/>
                      <a:gd name="connsiteX1" fmla="*/ 34835 w 69432"/>
                      <a:gd name="connsiteY1" fmla="*/ 0 h 69432"/>
                      <a:gd name="connsiteX2" fmla="*/ 0 w 69432"/>
                      <a:gd name="connsiteY2" fmla="*/ 34598 h 69432"/>
                      <a:gd name="connsiteX3" fmla="*/ 34598 w 69432"/>
                      <a:gd name="connsiteY3" fmla="*/ 69432 h 69432"/>
                      <a:gd name="connsiteX4" fmla="*/ 34716 w 69432"/>
                      <a:gd name="connsiteY4" fmla="*/ 69432 h 69432"/>
                      <a:gd name="connsiteX5" fmla="*/ 69432 w 69432"/>
                      <a:gd name="connsiteY5" fmla="*/ 34953 h 69432"/>
                      <a:gd name="connsiteX6" fmla="*/ 69432 w 69432"/>
                      <a:gd name="connsiteY6" fmla="*/ 34835 h 69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432" h="69432">
                        <a:moveTo>
                          <a:pt x="69432" y="34835"/>
                        </a:moveTo>
                        <a:cubicBezTo>
                          <a:pt x="69497" y="15664"/>
                          <a:pt x="54008" y="71"/>
                          <a:pt x="34835" y="0"/>
                        </a:cubicBezTo>
                        <a:cubicBezTo>
                          <a:pt x="15661" y="-71"/>
                          <a:pt x="67" y="15427"/>
                          <a:pt x="0" y="34598"/>
                        </a:cubicBezTo>
                        <a:cubicBezTo>
                          <a:pt x="-65" y="53768"/>
                          <a:pt x="15425" y="69361"/>
                          <a:pt x="34598" y="69432"/>
                        </a:cubicBezTo>
                        <a:cubicBezTo>
                          <a:pt x="34637" y="69432"/>
                          <a:pt x="34677" y="69432"/>
                          <a:pt x="34716" y="69432"/>
                        </a:cubicBezTo>
                        <a:cubicBezTo>
                          <a:pt x="53824" y="69503"/>
                          <a:pt x="69367" y="54065"/>
                          <a:pt x="69432" y="34953"/>
                        </a:cubicBezTo>
                        <a:cubicBezTo>
                          <a:pt x="69432" y="34918"/>
                          <a:pt x="69432" y="34870"/>
                          <a:pt x="69432" y="34835"/>
                        </a:cubicBezTo>
                        <a:close/>
                      </a:path>
                    </a:pathLst>
                  </a:custGeom>
                  <a:solidFill>
                    <a:srgbClr val="F7FCFC"/>
                  </a:solidFill>
                  <a:ln w="19050" cap="flat">
                    <a:solidFill>
                      <a:srgbClr val="42C3C9"/>
                    </a:solid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IN" sz="1500" b="0" i="0" u="none" strike="noStrike" kern="0" cap="none" spc="0" normalizeH="0" baseline="0" noProof="0">
                      <a:ln>
                        <a:noFill/>
                      </a:ln>
                      <a:solidFill>
                        <a:srgbClr val="000000"/>
                      </a:solidFill>
                      <a:effectLst/>
                      <a:uLnTx/>
                      <a:uFillTx/>
                    </a:endParaRPr>
                  </a:p>
                </p:txBody>
              </p:sp>
              <p:pic>
                <p:nvPicPr>
                  <p:cNvPr id="76" name="Picture 2" descr="Checkmark PNG, Checkmark Transparent Background - FreeIconsPNG">
                    <a:extLst>
                      <a:ext uri="{FF2B5EF4-FFF2-40B4-BE49-F238E27FC236}">
                        <a16:creationId xmlns:a16="http://schemas.microsoft.com/office/drawing/2014/main" id="{86A781D9-31FC-3E6C-DC1B-AF0E26FFAA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5403" y="1568456"/>
                    <a:ext cx="315260" cy="290630"/>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Checkmark PNG, Checkmark Transparent Background - FreeIconsPNG">
                    <a:extLst>
                      <a:ext uri="{FF2B5EF4-FFF2-40B4-BE49-F238E27FC236}">
                        <a16:creationId xmlns:a16="http://schemas.microsoft.com/office/drawing/2014/main" id="{F9BB6F46-4263-B0B5-F85A-16EB0A5E794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5402" y="2473143"/>
                    <a:ext cx="315260" cy="290630"/>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Checkmark PNG, Checkmark Transparent Background - FreeIconsPNG">
                    <a:extLst>
                      <a:ext uri="{FF2B5EF4-FFF2-40B4-BE49-F238E27FC236}">
                        <a16:creationId xmlns:a16="http://schemas.microsoft.com/office/drawing/2014/main" id="{1D5715BE-439D-6070-ED93-08F10B7E5B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5402" y="3377509"/>
                    <a:ext cx="315260" cy="290630"/>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Checkmark PNG, Checkmark Transparent Background - FreeIconsPNG">
                    <a:extLst>
                      <a:ext uri="{FF2B5EF4-FFF2-40B4-BE49-F238E27FC236}">
                        <a16:creationId xmlns:a16="http://schemas.microsoft.com/office/drawing/2014/main" id="{10AD1832-F6EF-251A-8A84-8C4F1561BF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5403" y="4281874"/>
                    <a:ext cx="315260" cy="290630"/>
                  </a:xfrm>
                  <a:prstGeom prst="rect">
                    <a:avLst/>
                  </a:prstGeom>
                  <a:noFill/>
                  <a:extLst>
                    <a:ext uri="{909E8E84-426E-40DD-AFC4-6F175D3DCCD1}">
                      <a14:hiddenFill xmlns:a14="http://schemas.microsoft.com/office/drawing/2010/main">
                        <a:solidFill>
                          <a:srgbClr val="FFFFFF"/>
                        </a:solidFill>
                      </a14:hiddenFill>
                    </a:ext>
                  </a:extLst>
                </p:spPr>
              </p:pic>
            </p:grpSp>
            <p:sp>
              <p:nvSpPr>
                <p:cNvPr id="64" name="TextBox 63">
                  <a:extLst>
                    <a:ext uri="{FF2B5EF4-FFF2-40B4-BE49-F238E27FC236}">
                      <a16:creationId xmlns:a16="http://schemas.microsoft.com/office/drawing/2014/main" id="{DCA18806-F96F-4CEC-57F4-ADEA69EAACFF}"/>
                    </a:ext>
                  </a:extLst>
                </p:cNvPr>
                <p:cNvSpPr txBox="1"/>
                <p:nvPr/>
              </p:nvSpPr>
              <p:spPr>
                <a:xfrm>
                  <a:off x="1934923" y="1584804"/>
                  <a:ext cx="2700351" cy="506743"/>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500" b="0" i="0" u="none" strike="noStrike" kern="0" cap="none" spc="0" normalizeH="0" baseline="0" noProof="0" dirty="0">
                      <a:ln>
                        <a:noFill/>
                      </a:ln>
                      <a:solidFill>
                        <a:srgbClr val="000000"/>
                      </a:solidFill>
                      <a:effectLst/>
                      <a:uLnTx/>
                      <a:uFillTx/>
                      <a:latin typeface="Lora" pitchFamily="2" charset="0"/>
                    </a:rPr>
                    <a:t>Full IPSAS compliance from date of adoption</a:t>
                  </a:r>
                </a:p>
              </p:txBody>
            </p:sp>
            <p:sp>
              <p:nvSpPr>
                <p:cNvPr id="65" name="TextBox 64">
                  <a:extLst>
                    <a:ext uri="{FF2B5EF4-FFF2-40B4-BE49-F238E27FC236}">
                      <a16:creationId xmlns:a16="http://schemas.microsoft.com/office/drawing/2014/main" id="{F7665FE4-6A19-BF26-EF27-DEC14696446D}"/>
                    </a:ext>
                  </a:extLst>
                </p:cNvPr>
                <p:cNvSpPr txBox="1"/>
                <p:nvPr/>
              </p:nvSpPr>
              <p:spPr>
                <a:xfrm>
                  <a:off x="1934923" y="2486099"/>
                  <a:ext cx="2700351" cy="71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lang="en-IN" sz="1500" kern="0" dirty="0">
                      <a:solidFill>
                        <a:srgbClr val="000000"/>
                      </a:solidFill>
                      <a:latin typeface="Lora" pitchFamily="2" charset="0"/>
                    </a:rPr>
                    <a:t>Requires historical data for all assets and liabilities recognized</a:t>
                  </a:r>
                  <a:endParaRPr kumimoji="0" lang="en-IN" sz="1500" b="0" i="0" u="none" strike="noStrike" kern="0" cap="none" spc="0" normalizeH="0" baseline="0" noProof="0" dirty="0">
                    <a:ln>
                      <a:noFill/>
                    </a:ln>
                    <a:solidFill>
                      <a:srgbClr val="000000"/>
                    </a:solidFill>
                    <a:effectLst/>
                    <a:uLnTx/>
                    <a:uFillTx/>
                    <a:latin typeface="Lora" pitchFamily="2" charset="0"/>
                  </a:endParaRPr>
                </a:p>
              </p:txBody>
            </p:sp>
            <p:sp>
              <p:nvSpPr>
                <p:cNvPr id="66" name="TextBox 65">
                  <a:extLst>
                    <a:ext uri="{FF2B5EF4-FFF2-40B4-BE49-F238E27FC236}">
                      <a16:creationId xmlns:a16="http://schemas.microsoft.com/office/drawing/2014/main" id="{33E844A5-574B-4E42-BA2A-5145C882E5E0}"/>
                    </a:ext>
                  </a:extLst>
                </p:cNvPr>
                <p:cNvSpPr txBox="1"/>
                <p:nvPr/>
              </p:nvSpPr>
              <p:spPr>
                <a:xfrm>
                  <a:off x="1934923" y="3387394"/>
                  <a:ext cx="2700351" cy="506743"/>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lang="en-IN" sz="1500" kern="0" dirty="0">
                      <a:solidFill>
                        <a:srgbClr val="000000"/>
                      </a:solidFill>
                      <a:latin typeface="Lora" pitchFamily="2" charset="0"/>
                    </a:rPr>
                    <a:t>Required restatement of comparative period</a:t>
                  </a:r>
                  <a:endParaRPr kumimoji="0" lang="en-IN" sz="1500" b="0" i="0" u="none" strike="noStrike" kern="0" cap="none" spc="0" normalizeH="0" baseline="0" noProof="0" dirty="0">
                    <a:ln>
                      <a:noFill/>
                    </a:ln>
                    <a:solidFill>
                      <a:srgbClr val="000000"/>
                    </a:solidFill>
                    <a:effectLst/>
                    <a:uLnTx/>
                    <a:uFillTx/>
                    <a:latin typeface="Lora" pitchFamily="2" charset="0"/>
                  </a:endParaRPr>
                </a:p>
              </p:txBody>
            </p:sp>
            <p:sp>
              <p:nvSpPr>
                <p:cNvPr id="67" name="TextBox 66">
                  <a:extLst>
                    <a:ext uri="{FF2B5EF4-FFF2-40B4-BE49-F238E27FC236}">
                      <a16:creationId xmlns:a16="http://schemas.microsoft.com/office/drawing/2014/main" id="{5E1742C6-90B2-528B-8A9A-E1EC76523864}"/>
                    </a:ext>
                  </a:extLst>
                </p:cNvPr>
                <p:cNvSpPr txBox="1"/>
                <p:nvPr/>
              </p:nvSpPr>
              <p:spPr>
                <a:xfrm>
                  <a:off x="1934923" y="4288690"/>
                  <a:ext cx="2025090" cy="717886"/>
                </a:xfrm>
                <a:prstGeom prst="rect">
                  <a:avLst/>
                </a:prstGeom>
                <a:noFill/>
              </p:spPr>
              <p:txBody>
                <a:bodyPr wrap="squar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500" b="0" i="0" u="none" strike="noStrike" kern="0" cap="none" spc="0" normalizeH="0" baseline="0" noProof="0" dirty="0">
                      <a:ln>
                        <a:noFill/>
                      </a:ln>
                      <a:solidFill>
                        <a:srgbClr val="000000"/>
                      </a:solidFill>
                      <a:effectLst/>
                      <a:uLnTx/>
                      <a:uFillTx/>
                      <a:latin typeface="Lora" pitchFamily="2" charset="0"/>
                    </a:rPr>
                    <a:t>Best for entity with all data at date of recognition</a:t>
                  </a:r>
                </a:p>
              </p:txBody>
            </p:sp>
          </p:grpSp>
        </p:grpSp>
        <p:sp>
          <p:nvSpPr>
            <p:cNvPr id="52" name="TextBox 51">
              <a:extLst>
                <a:ext uri="{FF2B5EF4-FFF2-40B4-BE49-F238E27FC236}">
                  <a16:creationId xmlns:a16="http://schemas.microsoft.com/office/drawing/2014/main" id="{7588F7D2-EB3F-9D6E-EC5B-1038BDAC7E16}"/>
                </a:ext>
              </a:extLst>
            </p:cNvPr>
            <p:cNvSpPr txBox="1"/>
            <p:nvPr/>
          </p:nvSpPr>
          <p:spPr>
            <a:xfrm>
              <a:off x="4566980" y="3200262"/>
              <a:ext cx="2600325" cy="1351316"/>
            </a:xfrm>
            <a:prstGeom prst="rect">
              <a:avLst/>
            </a:prstGeom>
            <a:noFill/>
          </p:spPr>
          <p:txBody>
            <a:bodyPr wrap="square">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lang="en-IN" sz="3000" dirty="0">
                  <a:solidFill>
                    <a:srgbClr val="FF6319"/>
                  </a:solidFill>
                  <a:latin typeface="Cambria" panose="02040503050406030204" pitchFamily="18" charset="0"/>
                  <a:ea typeface="+mj-ea"/>
                  <a:cs typeface="+mj-cs"/>
                </a:rPr>
                <a:t>Transitional</a:t>
              </a:r>
            </a:p>
            <a:p>
              <a:pPr marL="0" marR="0" lvl="0" indent="0" algn="ctr" defTabSz="457200" eaLnBrk="1" fontAlgn="auto" latinLnBrk="0" hangingPunct="1">
                <a:lnSpc>
                  <a:spcPct val="100000"/>
                </a:lnSpc>
                <a:spcBef>
                  <a:spcPts val="0"/>
                </a:spcBef>
                <a:spcAft>
                  <a:spcPts val="0"/>
                </a:spcAft>
                <a:buClrTx/>
                <a:buSzTx/>
                <a:buFontTx/>
                <a:buNone/>
                <a:tabLst/>
                <a:defRPr/>
              </a:pPr>
              <a:r>
                <a:rPr lang="en-IN" sz="3000" dirty="0">
                  <a:solidFill>
                    <a:srgbClr val="FF6319"/>
                  </a:solidFill>
                  <a:latin typeface="Cambria" panose="02040503050406030204" pitchFamily="18" charset="0"/>
                  <a:ea typeface="+mj-ea"/>
                  <a:cs typeface="+mj-cs"/>
                </a:rPr>
                <a:t>Vs </a:t>
              </a:r>
            </a:p>
            <a:p>
              <a:pPr marL="0" marR="0" lvl="0" indent="0" algn="ctr" defTabSz="457200" eaLnBrk="1" fontAlgn="auto" latinLnBrk="0" hangingPunct="1">
                <a:lnSpc>
                  <a:spcPct val="100000"/>
                </a:lnSpc>
                <a:spcBef>
                  <a:spcPts val="0"/>
                </a:spcBef>
                <a:spcAft>
                  <a:spcPts val="0"/>
                </a:spcAft>
                <a:buClrTx/>
                <a:buSzTx/>
                <a:buFontTx/>
                <a:buNone/>
                <a:tabLst/>
                <a:defRPr/>
              </a:pPr>
              <a:r>
                <a:rPr lang="en-IN" sz="3000" dirty="0">
                  <a:solidFill>
                    <a:srgbClr val="FF6319"/>
                  </a:solidFill>
                  <a:latin typeface="Cambria" panose="02040503050406030204" pitchFamily="18" charset="0"/>
                  <a:ea typeface="+mj-ea"/>
                  <a:cs typeface="+mj-cs"/>
                </a:rPr>
                <a:t>Big Bang</a:t>
              </a:r>
            </a:p>
          </p:txBody>
        </p:sp>
      </p:grpSp>
      <p:sp>
        <p:nvSpPr>
          <p:cNvPr id="2" name="TextBox 1">
            <a:extLst>
              <a:ext uri="{FF2B5EF4-FFF2-40B4-BE49-F238E27FC236}">
                <a16:creationId xmlns:a16="http://schemas.microsoft.com/office/drawing/2014/main" id="{5ADB5A59-68FC-8306-2714-CC9212300622}"/>
              </a:ext>
            </a:extLst>
          </p:cNvPr>
          <p:cNvSpPr txBox="1"/>
          <p:nvPr/>
        </p:nvSpPr>
        <p:spPr>
          <a:xfrm>
            <a:off x="1367545" y="53441"/>
            <a:ext cx="7774545" cy="661720"/>
          </a:xfrm>
          <a:prstGeom prst="rect">
            <a:avLst/>
          </a:prstGeom>
          <a:noFill/>
        </p:spPr>
        <p:txBody>
          <a:bodyPr wrap="square">
            <a:spAutoFit/>
          </a:bodyPr>
          <a:lstStyle/>
          <a:p>
            <a:r>
              <a:rPr lang="en-IN" sz="3700" dirty="0">
                <a:solidFill>
                  <a:srgbClr val="FF6319"/>
                </a:solidFill>
                <a:latin typeface="Cambria" panose="02040503050406030204" pitchFamily="18" charset="0"/>
                <a:ea typeface="+mj-ea"/>
                <a:cs typeface="+mj-cs"/>
              </a:rPr>
              <a:t>Transitional vs Big Bang</a:t>
            </a:r>
          </a:p>
        </p:txBody>
      </p:sp>
    </p:spTree>
    <p:extLst>
      <p:ext uri="{BB962C8B-B14F-4D97-AF65-F5344CB8AC3E}">
        <p14:creationId xmlns:p14="http://schemas.microsoft.com/office/powerpoint/2010/main" val="3302289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FD9E72E8-BF36-153E-DE31-6ECF392898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555CBA-5040-74E4-63C3-3CDB74E1F43E}"/>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10</a:t>
            </a:fld>
            <a:endParaRPr lang="en-GB" dirty="0"/>
          </a:p>
        </p:txBody>
      </p:sp>
      <p:sp>
        <p:nvSpPr>
          <p:cNvPr id="4" name="Google Shape;570;p59">
            <a:extLst>
              <a:ext uri="{FF2B5EF4-FFF2-40B4-BE49-F238E27FC236}">
                <a16:creationId xmlns:a16="http://schemas.microsoft.com/office/drawing/2014/main" id="{B331B41D-2938-5F7D-3FCC-2ED3E133E33B}"/>
              </a:ext>
            </a:extLst>
          </p:cNvPr>
          <p:cNvSpPr txBox="1">
            <a:spLocks/>
          </p:cNvSpPr>
          <p:nvPr/>
        </p:nvSpPr>
        <p:spPr>
          <a:xfrm>
            <a:off x="743776" y="38769"/>
            <a:ext cx="10623167" cy="868362"/>
          </a:xfrm>
          <a:prstGeom prst="rect">
            <a:avLst/>
          </a:prstGeom>
          <a:noFill/>
          <a:ln>
            <a:noFill/>
          </a:ln>
        </p:spPr>
        <p:txBody>
          <a:bodyPr spcFirstLastPara="1" vert="horz" wrap="square" lIns="91425" tIns="45700" rIns="91425" bIns="45700" rtlCol="0" anchor="b" anchorCtr="0">
            <a:noAutofit/>
          </a:bodyPr>
          <a:lstStyle>
            <a:lvl1pPr algn="l" defTabSz="914400" rtl="0" eaLnBrk="1" latinLnBrk="0" hangingPunct="1">
              <a:lnSpc>
                <a:spcPct val="90000"/>
              </a:lnSpc>
              <a:spcBef>
                <a:spcPct val="0"/>
              </a:spcBef>
              <a:buNone/>
              <a:defRPr sz="4400" kern="1200">
                <a:solidFill>
                  <a:schemeClr val="bg2"/>
                </a:solidFill>
                <a:latin typeface="Cambria" panose="02040503050406030204" pitchFamily="18" charset="0"/>
                <a:ea typeface="+mj-ea"/>
                <a:cs typeface="+mj-cs"/>
              </a:defRPr>
            </a:lvl1pPr>
          </a:lstStyle>
          <a:p>
            <a:pPr marL="538162" algn="just">
              <a:lnSpc>
                <a:spcPct val="170000"/>
              </a:lnSpc>
            </a:pPr>
            <a:r>
              <a:rPr lang="en-US" sz="3700" dirty="0">
                <a:solidFill>
                  <a:srgbClr val="FF6319"/>
                </a:solidFill>
              </a:rPr>
              <a:t>More features of IPSAS 33</a:t>
            </a:r>
          </a:p>
        </p:txBody>
      </p:sp>
      <p:sp>
        <p:nvSpPr>
          <p:cNvPr id="3" name="TextBox 2">
            <a:extLst>
              <a:ext uri="{FF2B5EF4-FFF2-40B4-BE49-F238E27FC236}">
                <a16:creationId xmlns:a16="http://schemas.microsoft.com/office/drawing/2014/main" id="{31074F94-485F-287E-238C-E12CAA2E911A}"/>
              </a:ext>
            </a:extLst>
          </p:cNvPr>
          <p:cNvSpPr txBox="1"/>
          <p:nvPr/>
        </p:nvSpPr>
        <p:spPr>
          <a:xfrm>
            <a:off x="317562" y="1235285"/>
            <a:ext cx="11628986" cy="5170646"/>
          </a:xfrm>
          <a:prstGeom prst="rect">
            <a:avLst/>
          </a:prstGeom>
          <a:noFill/>
        </p:spPr>
        <p:txBody>
          <a:bodyPr wrap="square">
            <a:spAutoFit/>
          </a:bodyPr>
          <a:lstStyle/>
          <a:p>
            <a:pPr marL="1076325" indent="-538163" algn="just">
              <a:spcBef>
                <a:spcPts val="600"/>
              </a:spcBef>
              <a:spcAft>
                <a:spcPts val="600"/>
              </a:spcAft>
              <a:buFont typeface="+mj-lt"/>
              <a:buAutoNum type="arabicPeriod"/>
            </a:pPr>
            <a:r>
              <a:rPr lang="en-ZA" sz="2400" dirty="0"/>
              <a:t>Applies to first time adopters only.</a:t>
            </a:r>
          </a:p>
          <a:p>
            <a:pPr marL="1076325" indent="-538163" algn="just">
              <a:spcBef>
                <a:spcPts val="600"/>
              </a:spcBef>
              <a:spcAft>
                <a:spcPts val="600"/>
              </a:spcAft>
              <a:buFont typeface="+mj-lt"/>
              <a:buAutoNum type="arabicPeriod"/>
            </a:pPr>
            <a:r>
              <a:rPr lang="en-ZA" sz="2400" dirty="0"/>
              <a:t>Transitional period of 3 years.</a:t>
            </a:r>
          </a:p>
          <a:p>
            <a:pPr marL="1076325" lvl="0" indent="-538163" algn="just">
              <a:lnSpc>
                <a:spcPct val="100000"/>
              </a:lnSpc>
              <a:spcBef>
                <a:spcPts val="600"/>
              </a:spcBef>
              <a:spcAft>
                <a:spcPts val="600"/>
              </a:spcAft>
              <a:buFont typeface="+mj-lt"/>
              <a:buAutoNum type="arabicPeriod"/>
            </a:pPr>
            <a:r>
              <a:rPr lang="en-GB" sz="2400" dirty="0"/>
              <a:t>Allows for certain exemptions</a:t>
            </a:r>
            <a:r>
              <a:rPr lang="en-ZA" sz="2400" dirty="0"/>
              <a:t>.</a:t>
            </a:r>
          </a:p>
          <a:p>
            <a:pPr marL="1076325" lvl="0" indent="-538163" algn="just">
              <a:lnSpc>
                <a:spcPct val="100000"/>
              </a:lnSpc>
              <a:spcBef>
                <a:spcPts val="600"/>
              </a:spcBef>
              <a:spcAft>
                <a:spcPts val="600"/>
              </a:spcAft>
              <a:buFont typeface="+mj-lt"/>
              <a:buAutoNum type="arabicPeriod"/>
            </a:pPr>
            <a:r>
              <a:rPr lang="en-GB" sz="2400" dirty="0"/>
              <a:t>Recognition &amp; Measurement Relief.</a:t>
            </a:r>
          </a:p>
          <a:p>
            <a:pPr marL="1076325" lvl="0" indent="-538163" algn="just">
              <a:lnSpc>
                <a:spcPct val="100000"/>
              </a:lnSpc>
              <a:spcBef>
                <a:spcPts val="600"/>
              </a:spcBef>
              <a:spcAft>
                <a:spcPts val="600"/>
              </a:spcAft>
              <a:buFont typeface="+mj-lt"/>
              <a:buAutoNum type="arabicPeriod"/>
            </a:pPr>
            <a:r>
              <a:rPr lang="en-GB" sz="2400" dirty="0"/>
              <a:t>Consistent Application of Exemptions.</a:t>
            </a:r>
          </a:p>
          <a:p>
            <a:pPr marL="1076325" lvl="0" indent="-538163" algn="just">
              <a:lnSpc>
                <a:spcPct val="100000"/>
              </a:lnSpc>
              <a:spcBef>
                <a:spcPts val="600"/>
              </a:spcBef>
              <a:spcAft>
                <a:spcPts val="600"/>
              </a:spcAft>
              <a:buFont typeface="+mj-lt"/>
              <a:buAutoNum type="arabicPeriod"/>
            </a:pPr>
            <a:r>
              <a:rPr lang="en-GB" sz="2400" dirty="0"/>
              <a:t>No Offsetting of Exemptions.</a:t>
            </a:r>
          </a:p>
          <a:p>
            <a:pPr marL="1076325" lvl="0" indent="-538163" algn="just">
              <a:lnSpc>
                <a:spcPct val="100000"/>
              </a:lnSpc>
              <a:spcBef>
                <a:spcPts val="600"/>
              </a:spcBef>
              <a:spcAft>
                <a:spcPts val="600"/>
              </a:spcAft>
              <a:buFont typeface="+mj-lt"/>
              <a:buAutoNum type="arabicPeriod"/>
            </a:pPr>
            <a:r>
              <a:rPr lang="en-GB" sz="2400" dirty="0"/>
              <a:t>Mandatory Disclosure Requirements.</a:t>
            </a:r>
          </a:p>
          <a:p>
            <a:pPr marL="1076325" lvl="0" indent="-538163" algn="just">
              <a:lnSpc>
                <a:spcPct val="100000"/>
              </a:lnSpc>
              <a:spcBef>
                <a:spcPts val="600"/>
              </a:spcBef>
              <a:spcAft>
                <a:spcPts val="600"/>
              </a:spcAft>
              <a:buFont typeface="+mj-lt"/>
              <a:buAutoNum type="arabicPeriod"/>
            </a:pPr>
            <a:r>
              <a:rPr lang="en-GB" sz="2400" dirty="0"/>
              <a:t>Progressive Asset &amp; Liability Recognition.</a:t>
            </a:r>
          </a:p>
          <a:p>
            <a:pPr marL="1076325" lvl="0" indent="-538163" algn="just">
              <a:lnSpc>
                <a:spcPct val="100000"/>
              </a:lnSpc>
              <a:spcBef>
                <a:spcPts val="600"/>
              </a:spcBef>
              <a:spcAft>
                <a:spcPts val="600"/>
              </a:spcAft>
              <a:buFont typeface="+mj-lt"/>
              <a:buAutoNum type="arabicPeriod"/>
            </a:pPr>
            <a:r>
              <a:rPr lang="en-GB" sz="2400" dirty="0"/>
              <a:t>Does Not Affect Comparative Information Before Adoption Date.</a:t>
            </a:r>
          </a:p>
          <a:p>
            <a:pPr marL="1076325" lvl="0" indent="-538163" algn="just">
              <a:lnSpc>
                <a:spcPct val="100000"/>
              </a:lnSpc>
              <a:spcBef>
                <a:spcPts val="600"/>
              </a:spcBef>
              <a:spcAft>
                <a:spcPts val="600"/>
              </a:spcAft>
              <a:buFont typeface="+mj-lt"/>
              <a:buAutoNum type="arabicPeriod"/>
            </a:pPr>
            <a:r>
              <a:rPr lang="en-GB" sz="2400" dirty="0"/>
              <a:t>Linked to Other IPSAS Standards</a:t>
            </a:r>
            <a:r>
              <a:rPr lang="en-ZA" sz="2400" dirty="0"/>
              <a:t>.	</a:t>
            </a:r>
          </a:p>
        </p:txBody>
      </p:sp>
    </p:spTree>
    <p:extLst>
      <p:ext uri="{BB962C8B-B14F-4D97-AF65-F5344CB8AC3E}">
        <p14:creationId xmlns:p14="http://schemas.microsoft.com/office/powerpoint/2010/main" val="496210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82A816B6-AB87-C291-A081-3A943DDE89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17EA41-9391-300F-8FB6-6B367794926F}"/>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11</a:t>
            </a:fld>
            <a:endParaRPr lang="en-GB" dirty="0"/>
          </a:p>
        </p:txBody>
      </p:sp>
      <p:sp>
        <p:nvSpPr>
          <p:cNvPr id="4" name="Google Shape;570;p59">
            <a:extLst>
              <a:ext uri="{FF2B5EF4-FFF2-40B4-BE49-F238E27FC236}">
                <a16:creationId xmlns:a16="http://schemas.microsoft.com/office/drawing/2014/main" id="{6E63B122-42F5-7C76-8FED-B5BABAEF8DE2}"/>
              </a:ext>
            </a:extLst>
          </p:cNvPr>
          <p:cNvSpPr txBox="1">
            <a:spLocks/>
          </p:cNvSpPr>
          <p:nvPr/>
        </p:nvSpPr>
        <p:spPr>
          <a:xfrm>
            <a:off x="743776" y="38769"/>
            <a:ext cx="10623167" cy="868362"/>
          </a:xfrm>
          <a:prstGeom prst="rect">
            <a:avLst/>
          </a:prstGeom>
          <a:noFill/>
          <a:ln>
            <a:noFill/>
          </a:ln>
        </p:spPr>
        <p:txBody>
          <a:bodyPr spcFirstLastPara="1" vert="horz" wrap="square" lIns="91425" tIns="45700" rIns="91425" bIns="45700" rtlCol="0" anchor="b" anchorCtr="0">
            <a:noAutofit/>
          </a:bodyPr>
          <a:lstStyle>
            <a:lvl1pPr algn="l" defTabSz="914400" rtl="0" eaLnBrk="1" latinLnBrk="0" hangingPunct="1">
              <a:lnSpc>
                <a:spcPct val="90000"/>
              </a:lnSpc>
              <a:spcBef>
                <a:spcPct val="0"/>
              </a:spcBef>
              <a:buNone/>
              <a:defRPr sz="4400" kern="1200">
                <a:solidFill>
                  <a:schemeClr val="bg2"/>
                </a:solidFill>
                <a:latin typeface="Cambria" panose="02040503050406030204" pitchFamily="18" charset="0"/>
                <a:ea typeface="+mj-ea"/>
                <a:cs typeface="+mj-cs"/>
              </a:defRPr>
            </a:lvl1pPr>
          </a:lstStyle>
          <a:p>
            <a:pPr marL="538162" algn="just">
              <a:lnSpc>
                <a:spcPct val="170000"/>
              </a:lnSpc>
            </a:pPr>
            <a:r>
              <a:rPr lang="en-US" sz="3700" dirty="0">
                <a:solidFill>
                  <a:srgbClr val="FF6319"/>
                </a:solidFill>
              </a:rPr>
              <a:t>How </a:t>
            </a:r>
            <a:r>
              <a:rPr lang="en-US" sz="3700" dirty="0" err="1">
                <a:solidFill>
                  <a:srgbClr val="FF6319"/>
                </a:solidFill>
              </a:rPr>
              <a:t>GoR</a:t>
            </a:r>
            <a:r>
              <a:rPr lang="en-US" sz="3700" dirty="0">
                <a:solidFill>
                  <a:srgbClr val="FF6319"/>
                </a:solidFill>
              </a:rPr>
              <a:t> has applied IPSAS 33</a:t>
            </a:r>
          </a:p>
        </p:txBody>
      </p:sp>
      <p:grpSp>
        <p:nvGrpSpPr>
          <p:cNvPr id="150" name="Group 149">
            <a:extLst>
              <a:ext uri="{FF2B5EF4-FFF2-40B4-BE49-F238E27FC236}">
                <a16:creationId xmlns:a16="http://schemas.microsoft.com/office/drawing/2014/main" id="{0A0EB03B-BFB0-8D42-2533-39ED1F2926D0}"/>
              </a:ext>
            </a:extLst>
          </p:cNvPr>
          <p:cNvGrpSpPr/>
          <p:nvPr/>
        </p:nvGrpSpPr>
        <p:grpSpPr>
          <a:xfrm>
            <a:off x="857497" y="1183582"/>
            <a:ext cx="10327951" cy="5148906"/>
            <a:chOff x="698012" y="666750"/>
            <a:chExt cx="10032510" cy="5334787"/>
          </a:xfrm>
        </p:grpSpPr>
        <p:sp>
          <p:nvSpPr>
            <p:cNvPr id="152" name="Freeform: Shape 5">
              <a:extLst>
                <a:ext uri="{FF2B5EF4-FFF2-40B4-BE49-F238E27FC236}">
                  <a16:creationId xmlns:a16="http://schemas.microsoft.com/office/drawing/2014/main" id="{03E4D262-84EC-461B-ADCA-8D74B052E8D0}"/>
                </a:ext>
              </a:extLst>
            </p:cNvPr>
            <p:cNvSpPr/>
            <p:nvPr/>
          </p:nvSpPr>
          <p:spPr>
            <a:xfrm rot="16200000">
              <a:off x="5142542" y="742646"/>
              <a:ext cx="1419437" cy="8886546"/>
            </a:xfrm>
            <a:custGeom>
              <a:avLst/>
              <a:gdLst>
                <a:gd name="connsiteX0" fmla="*/ -405 w 1419437"/>
                <a:gd name="connsiteY0" fmla="*/ -433 h 3982713"/>
                <a:gd name="connsiteX1" fmla="*/ 1419033 w 1419437"/>
                <a:gd name="connsiteY1" fmla="*/ -433 h 3982713"/>
                <a:gd name="connsiteX2" fmla="*/ 1419033 w 1419437"/>
                <a:gd name="connsiteY2" fmla="*/ 3982281 h 3982713"/>
                <a:gd name="connsiteX3" fmla="*/ -405 w 1419437"/>
                <a:gd name="connsiteY3" fmla="*/ 3982281 h 3982713"/>
              </a:gdLst>
              <a:ahLst/>
              <a:cxnLst>
                <a:cxn ang="0">
                  <a:pos x="connsiteX0" y="connsiteY0"/>
                </a:cxn>
                <a:cxn ang="0">
                  <a:pos x="connsiteX1" y="connsiteY1"/>
                </a:cxn>
                <a:cxn ang="0">
                  <a:pos x="connsiteX2" y="connsiteY2"/>
                </a:cxn>
                <a:cxn ang="0">
                  <a:pos x="connsiteX3" y="connsiteY3"/>
                </a:cxn>
              </a:cxnLst>
              <a:rect l="l" t="t" r="r" b="b"/>
              <a:pathLst>
                <a:path w="1419437" h="3982713">
                  <a:moveTo>
                    <a:pt x="-405" y="-433"/>
                  </a:moveTo>
                  <a:lnTo>
                    <a:pt x="1419033" y="-433"/>
                  </a:lnTo>
                  <a:lnTo>
                    <a:pt x="1419033" y="3982281"/>
                  </a:lnTo>
                  <a:lnTo>
                    <a:pt x="-405" y="3982281"/>
                  </a:lnTo>
                  <a:close/>
                </a:path>
              </a:pathLst>
            </a:custGeom>
            <a:solidFill>
              <a:sysClr val="window" lastClr="FFFFFF"/>
            </a:solidFill>
            <a:ln w="4181" cap="flat">
              <a:noFill/>
              <a:prstDash val="solid"/>
              <a:miter/>
            </a:ln>
            <a:effectLst>
              <a:outerShdw blurRad="63500" sx="102000" sy="102000" algn="ctr"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53" name="Freeform: Shape 6">
              <a:extLst>
                <a:ext uri="{FF2B5EF4-FFF2-40B4-BE49-F238E27FC236}">
                  <a16:creationId xmlns:a16="http://schemas.microsoft.com/office/drawing/2014/main" id="{A8261E56-369A-44CD-1498-C75088917CBF}"/>
                </a:ext>
              </a:extLst>
            </p:cNvPr>
            <p:cNvSpPr/>
            <p:nvPr/>
          </p:nvSpPr>
          <p:spPr>
            <a:xfrm rot="16200000">
              <a:off x="5142582" y="-1140066"/>
              <a:ext cx="1419437" cy="8886543"/>
            </a:xfrm>
            <a:custGeom>
              <a:avLst/>
              <a:gdLst>
                <a:gd name="connsiteX0" fmla="*/ -405 w 1419437"/>
                <a:gd name="connsiteY0" fmla="*/ -433 h 3982713"/>
                <a:gd name="connsiteX1" fmla="*/ 1419033 w 1419437"/>
                <a:gd name="connsiteY1" fmla="*/ -433 h 3982713"/>
                <a:gd name="connsiteX2" fmla="*/ 1419033 w 1419437"/>
                <a:gd name="connsiteY2" fmla="*/ 3982281 h 3982713"/>
                <a:gd name="connsiteX3" fmla="*/ -405 w 1419437"/>
                <a:gd name="connsiteY3" fmla="*/ 3982281 h 3982713"/>
              </a:gdLst>
              <a:ahLst/>
              <a:cxnLst>
                <a:cxn ang="0">
                  <a:pos x="connsiteX0" y="connsiteY0"/>
                </a:cxn>
                <a:cxn ang="0">
                  <a:pos x="connsiteX1" y="connsiteY1"/>
                </a:cxn>
                <a:cxn ang="0">
                  <a:pos x="connsiteX2" y="connsiteY2"/>
                </a:cxn>
                <a:cxn ang="0">
                  <a:pos x="connsiteX3" y="connsiteY3"/>
                </a:cxn>
              </a:cxnLst>
              <a:rect l="l" t="t" r="r" b="b"/>
              <a:pathLst>
                <a:path w="1419437" h="3982713">
                  <a:moveTo>
                    <a:pt x="-405" y="-433"/>
                  </a:moveTo>
                  <a:lnTo>
                    <a:pt x="1419033" y="-433"/>
                  </a:lnTo>
                  <a:lnTo>
                    <a:pt x="1419033" y="3982281"/>
                  </a:lnTo>
                  <a:lnTo>
                    <a:pt x="-405" y="3982281"/>
                  </a:lnTo>
                  <a:close/>
                </a:path>
              </a:pathLst>
            </a:custGeom>
            <a:solidFill>
              <a:sysClr val="window" lastClr="FFFFFF"/>
            </a:solidFill>
            <a:ln w="4181" cap="flat">
              <a:noFill/>
              <a:prstDash val="solid"/>
              <a:miter/>
            </a:ln>
            <a:effectLst>
              <a:outerShdw blurRad="63500" sx="102000" sy="102000" algn="ctr"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54" name="Freeform: Shape 7">
              <a:extLst>
                <a:ext uri="{FF2B5EF4-FFF2-40B4-BE49-F238E27FC236}">
                  <a16:creationId xmlns:a16="http://schemas.microsoft.com/office/drawing/2014/main" id="{F1AB5D0E-0A59-C0EA-7174-D1A78F1577D8}"/>
                </a:ext>
              </a:extLst>
            </p:cNvPr>
            <p:cNvSpPr/>
            <p:nvPr/>
          </p:nvSpPr>
          <p:spPr>
            <a:xfrm rot="16200000">
              <a:off x="5142582" y="-3066802"/>
              <a:ext cx="1419436" cy="8886543"/>
            </a:xfrm>
            <a:custGeom>
              <a:avLst/>
              <a:gdLst>
                <a:gd name="connsiteX0" fmla="*/ -405 w 1419437"/>
                <a:gd name="connsiteY0" fmla="*/ -433 h 3982713"/>
                <a:gd name="connsiteX1" fmla="*/ 1419033 w 1419437"/>
                <a:gd name="connsiteY1" fmla="*/ -433 h 3982713"/>
                <a:gd name="connsiteX2" fmla="*/ 1419033 w 1419437"/>
                <a:gd name="connsiteY2" fmla="*/ 3982281 h 3982713"/>
                <a:gd name="connsiteX3" fmla="*/ -405 w 1419437"/>
                <a:gd name="connsiteY3" fmla="*/ 3982281 h 3982713"/>
              </a:gdLst>
              <a:ahLst/>
              <a:cxnLst>
                <a:cxn ang="0">
                  <a:pos x="connsiteX0" y="connsiteY0"/>
                </a:cxn>
                <a:cxn ang="0">
                  <a:pos x="connsiteX1" y="connsiteY1"/>
                </a:cxn>
                <a:cxn ang="0">
                  <a:pos x="connsiteX2" y="connsiteY2"/>
                </a:cxn>
                <a:cxn ang="0">
                  <a:pos x="connsiteX3" y="connsiteY3"/>
                </a:cxn>
              </a:cxnLst>
              <a:rect l="l" t="t" r="r" b="b"/>
              <a:pathLst>
                <a:path w="1419437" h="3982713">
                  <a:moveTo>
                    <a:pt x="-405" y="-433"/>
                  </a:moveTo>
                  <a:lnTo>
                    <a:pt x="1419033" y="-433"/>
                  </a:lnTo>
                  <a:lnTo>
                    <a:pt x="1419033" y="3982281"/>
                  </a:lnTo>
                  <a:lnTo>
                    <a:pt x="-405" y="3982281"/>
                  </a:lnTo>
                  <a:close/>
                </a:path>
              </a:pathLst>
            </a:custGeom>
            <a:solidFill>
              <a:sysClr val="window" lastClr="FFFFFF"/>
            </a:solidFill>
            <a:ln w="4181" cap="flat">
              <a:noFill/>
              <a:prstDash val="solid"/>
              <a:miter/>
            </a:ln>
            <a:effectLst>
              <a:outerShdw blurRad="63500" sx="102000" sy="102000" algn="ctr"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55" name="Freeform: Shape 8">
              <a:extLst>
                <a:ext uri="{FF2B5EF4-FFF2-40B4-BE49-F238E27FC236}">
                  <a16:creationId xmlns:a16="http://schemas.microsoft.com/office/drawing/2014/main" id="{B86EE043-48AF-C237-CBBE-8A82D6A4FC26}"/>
                </a:ext>
              </a:extLst>
            </p:cNvPr>
            <p:cNvSpPr/>
            <p:nvPr/>
          </p:nvSpPr>
          <p:spPr>
            <a:xfrm>
              <a:off x="703420" y="2593527"/>
              <a:ext cx="705565" cy="1419478"/>
            </a:xfrm>
            <a:custGeom>
              <a:avLst/>
              <a:gdLst>
                <a:gd name="connsiteX0" fmla="*/ 703906 w 705565"/>
                <a:gd name="connsiteY0" fmla="*/ 1271063 h 1419478"/>
                <a:gd name="connsiteX1" fmla="*/ 142087 w 705565"/>
                <a:gd name="connsiteY1" fmla="*/ 709244 h 1419478"/>
                <a:gd name="connsiteX2" fmla="*/ 703906 w 705565"/>
                <a:gd name="connsiteY2" fmla="*/ 147425 h 1419478"/>
                <a:gd name="connsiteX3" fmla="*/ 705161 w 705565"/>
                <a:gd name="connsiteY3" fmla="*/ 147425 h 1419478"/>
                <a:gd name="connsiteX4" fmla="*/ 705161 w 705565"/>
                <a:gd name="connsiteY4" fmla="*/ -433 h 1419478"/>
                <a:gd name="connsiteX5" fmla="*/ 703906 w 705565"/>
                <a:gd name="connsiteY5" fmla="*/ -433 h 1419478"/>
                <a:gd name="connsiteX6" fmla="*/ -383 w 705565"/>
                <a:gd name="connsiteY6" fmla="*/ 714756 h 1419478"/>
                <a:gd name="connsiteX7" fmla="*/ 703906 w 705565"/>
                <a:gd name="connsiteY7" fmla="*/ 1419046 h 1419478"/>
                <a:gd name="connsiteX8" fmla="*/ 705161 w 705565"/>
                <a:gd name="connsiteY8" fmla="*/ 1419046 h 1419478"/>
                <a:gd name="connsiteX9" fmla="*/ 705161 w 705565"/>
                <a:gd name="connsiteY9" fmla="*/ 1271146 h 1419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5565" h="1419478">
                  <a:moveTo>
                    <a:pt x="703906" y="1271063"/>
                  </a:moveTo>
                  <a:cubicBezTo>
                    <a:pt x="393622" y="1271063"/>
                    <a:pt x="142087" y="1019516"/>
                    <a:pt x="142087" y="709244"/>
                  </a:cubicBezTo>
                  <a:cubicBezTo>
                    <a:pt x="142087" y="398959"/>
                    <a:pt x="393622" y="147425"/>
                    <a:pt x="703906" y="147425"/>
                  </a:cubicBezTo>
                  <a:lnTo>
                    <a:pt x="705161" y="147425"/>
                  </a:lnTo>
                  <a:lnTo>
                    <a:pt x="705161" y="-433"/>
                  </a:lnTo>
                  <a:lnTo>
                    <a:pt x="703906" y="-433"/>
                  </a:lnTo>
                  <a:cubicBezTo>
                    <a:pt x="311930" y="2574"/>
                    <a:pt x="-3395" y="322776"/>
                    <a:pt x="-383" y="714756"/>
                  </a:cubicBezTo>
                  <a:cubicBezTo>
                    <a:pt x="2591" y="1102500"/>
                    <a:pt x="316175" y="1416076"/>
                    <a:pt x="703906" y="1419046"/>
                  </a:cubicBezTo>
                  <a:lnTo>
                    <a:pt x="705161" y="1419046"/>
                  </a:lnTo>
                  <a:lnTo>
                    <a:pt x="705161" y="1271146"/>
                  </a:lnTo>
                  <a:close/>
                </a:path>
              </a:pathLst>
            </a:custGeom>
            <a:solidFill>
              <a:srgbClr val="FFB90B"/>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6" name="Freeform: Shape 10">
              <a:extLst>
                <a:ext uri="{FF2B5EF4-FFF2-40B4-BE49-F238E27FC236}">
                  <a16:creationId xmlns:a16="http://schemas.microsoft.com/office/drawing/2014/main" id="{32CB76A1-AEDA-0128-0990-62543AA00FCA}"/>
                </a:ext>
              </a:extLst>
            </p:cNvPr>
            <p:cNvSpPr/>
            <p:nvPr/>
          </p:nvSpPr>
          <p:spPr>
            <a:xfrm>
              <a:off x="698012" y="666750"/>
              <a:ext cx="710973" cy="1419437"/>
            </a:xfrm>
            <a:custGeom>
              <a:avLst/>
              <a:gdLst>
                <a:gd name="connsiteX0" fmla="*/ 709314 w 710973"/>
                <a:gd name="connsiteY0" fmla="*/ 1271104 h 1419437"/>
                <a:gd name="connsiteX1" fmla="*/ 147495 w 710973"/>
                <a:gd name="connsiteY1" fmla="*/ 709286 h 1419437"/>
                <a:gd name="connsiteX2" fmla="*/ 709314 w 710973"/>
                <a:gd name="connsiteY2" fmla="*/ 147467 h 1419437"/>
                <a:gd name="connsiteX3" fmla="*/ 710569 w 710973"/>
                <a:gd name="connsiteY3" fmla="*/ 147467 h 1419437"/>
                <a:gd name="connsiteX4" fmla="*/ 710569 w 710973"/>
                <a:gd name="connsiteY4" fmla="*/ -433 h 1419437"/>
                <a:gd name="connsiteX5" fmla="*/ 709314 w 710973"/>
                <a:gd name="connsiteY5" fmla="*/ -433 h 1419437"/>
                <a:gd name="connsiteX6" fmla="*/ -405 w 710973"/>
                <a:gd name="connsiteY6" fmla="*/ 709286 h 1419437"/>
                <a:gd name="connsiteX7" fmla="*/ 709314 w 710973"/>
                <a:gd name="connsiteY7" fmla="*/ 1419004 h 1419437"/>
                <a:gd name="connsiteX8" fmla="*/ 710569 w 710973"/>
                <a:gd name="connsiteY8" fmla="*/ 1419004 h 1419437"/>
                <a:gd name="connsiteX9" fmla="*/ 710569 w 710973"/>
                <a:gd name="connsiteY9" fmla="*/ 1271104 h 141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0973" h="1419437">
                  <a:moveTo>
                    <a:pt x="709314" y="1271104"/>
                  </a:moveTo>
                  <a:cubicBezTo>
                    <a:pt x="399029" y="1271104"/>
                    <a:pt x="147495" y="1019570"/>
                    <a:pt x="147495" y="709286"/>
                  </a:cubicBezTo>
                  <a:cubicBezTo>
                    <a:pt x="147495" y="399001"/>
                    <a:pt x="399029" y="147467"/>
                    <a:pt x="709314" y="147467"/>
                  </a:cubicBezTo>
                  <a:lnTo>
                    <a:pt x="710569" y="147467"/>
                  </a:lnTo>
                  <a:lnTo>
                    <a:pt x="710569" y="-433"/>
                  </a:lnTo>
                  <a:lnTo>
                    <a:pt x="709314" y="-433"/>
                  </a:lnTo>
                  <a:cubicBezTo>
                    <a:pt x="317346" y="-433"/>
                    <a:pt x="-405" y="317317"/>
                    <a:pt x="-405" y="709286"/>
                  </a:cubicBezTo>
                  <a:cubicBezTo>
                    <a:pt x="-405" y="1101254"/>
                    <a:pt x="317346" y="1419004"/>
                    <a:pt x="709314" y="1419004"/>
                  </a:cubicBezTo>
                  <a:lnTo>
                    <a:pt x="710569" y="1419004"/>
                  </a:lnTo>
                  <a:lnTo>
                    <a:pt x="710569" y="1271104"/>
                  </a:lnTo>
                  <a:close/>
                </a:path>
              </a:pathLst>
            </a:custGeom>
            <a:solidFill>
              <a:srgbClr val="00A9B9"/>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57" name="Freeform: Shape 12">
              <a:extLst>
                <a:ext uri="{FF2B5EF4-FFF2-40B4-BE49-F238E27FC236}">
                  <a16:creationId xmlns:a16="http://schemas.microsoft.com/office/drawing/2014/main" id="{401F1482-FA2F-1969-20B1-CFC07339B8F4}"/>
                </a:ext>
              </a:extLst>
            </p:cNvPr>
            <p:cNvSpPr/>
            <p:nvPr/>
          </p:nvSpPr>
          <p:spPr>
            <a:xfrm>
              <a:off x="698012" y="4476200"/>
              <a:ext cx="710973" cy="1419437"/>
            </a:xfrm>
            <a:custGeom>
              <a:avLst/>
              <a:gdLst>
                <a:gd name="connsiteX0" fmla="*/ 709314 w 710973"/>
                <a:gd name="connsiteY0" fmla="*/ 1271104 h 1419437"/>
                <a:gd name="connsiteX1" fmla="*/ 147495 w 710973"/>
                <a:gd name="connsiteY1" fmla="*/ 709286 h 1419437"/>
                <a:gd name="connsiteX2" fmla="*/ 709314 w 710973"/>
                <a:gd name="connsiteY2" fmla="*/ 147467 h 1419437"/>
                <a:gd name="connsiteX3" fmla="*/ 710569 w 710973"/>
                <a:gd name="connsiteY3" fmla="*/ 147467 h 1419437"/>
                <a:gd name="connsiteX4" fmla="*/ 710569 w 710973"/>
                <a:gd name="connsiteY4" fmla="*/ -433 h 1419437"/>
                <a:gd name="connsiteX5" fmla="*/ 709314 w 710973"/>
                <a:gd name="connsiteY5" fmla="*/ -433 h 1419437"/>
                <a:gd name="connsiteX6" fmla="*/ -405 w 710973"/>
                <a:gd name="connsiteY6" fmla="*/ 709286 h 1419437"/>
                <a:gd name="connsiteX7" fmla="*/ 709314 w 710973"/>
                <a:gd name="connsiteY7" fmla="*/ 1419004 h 1419437"/>
                <a:gd name="connsiteX8" fmla="*/ 710569 w 710973"/>
                <a:gd name="connsiteY8" fmla="*/ 1419004 h 1419437"/>
                <a:gd name="connsiteX9" fmla="*/ 710569 w 710973"/>
                <a:gd name="connsiteY9" fmla="*/ 1271104 h 141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0973" h="1419437">
                  <a:moveTo>
                    <a:pt x="709314" y="1271104"/>
                  </a:moveTo>
                  <a:cubicBezTo>
                    <a:pt x="399029" y="1271104"/>
                    <a:pt x="147495" y="1019557"/>
                    <a:pt x="147495" y="709286"/>
                  </a:cubicBezTo>
                  <a:cubicBezTo>
                    <a:pt x="147495" y="399014"/>
                    <a:pt x="399029" y="147467"/>
                    <a:pt x="709314" y="147467"/>
                  </a:cubicBezTo>
                  <a:lnTo>
                    <a:pt x="710569" y="147467"/>
                  </a:lnTo>
                  <a:lnTo>
                    <a:pt x="710569" y="-433"/>
                  </a:lnTo>
                  <a:lnTo>
                    <a:pt x="709314" y="-433"/>
                  </a:lnTo>
                  <a:cubicBezTo>
                    <a:pt x="317346" y="-433"/>
                    <a:pt x="-405" y="317326"/>
                    <a:pt x="-405" y="709286"/>
                  </a:cubicBezTo>
                  <a:cubicBezTo>
                    <a:pt x="-405" y="1101245"/>
                    <a:pt x="317346" y="1419004"/>
                    <a:pt x="709314" y="1419004"/>
                  </a:cubicBezTo>
                  <a:lnTo>
                    <a:pt x="710569" y="1419004"/>
                  </a:lnTo>
                  <a:lnTo>
                    <a:pt x="710569" y="1271104"/>
                  </a:lnTo>
                  <a:close/>
                </a:path>
              </a:pathLst>
            </a:custGeom>
            <a:solidFill>
              <a:srgbClr val="F14258"/>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59" name="Freeform: Shape 16">
              <a:extLst>
                <a:ext uri="{FF2B5EF4-FFF2-40B4-BE49-F238E27FC236}">
                  <a16:creationId xmlns:a16="http://schemas.microsoft.com/office/drawing/2014/main" id="{AF3BD69E-97E6-17D5-E61D-76A818170EDB}"/>
                </a:ext>
              </a:extLst>
            </p:cNvPr>
            <p:cNvSpPr/>
            <p:nvPr/>
          </p:nvSpPr>
          <p:spPr>
            <a:xfrm>
              <a:off x="918064" y="2813537"/>
              <a:ext cx="979418" cy="979418"/>
            </a:xfrm>
            <a:custGeom>
              <a:avLst/>
              <a:gdLst>
                <a:gd name="connsiteX0" fmla="*/ 489263 w 979418"/>
                <a:gd name="connsiteY0" fmla="*/ -433 h 979418"/>
                <a:gd name="connsiteX1" fmla="*/ 979013 w 979418"/>
                <a:gd name="connsiteY1" fmla="*/ 489234 h 979418"/>
                <a:gd name="connsiteX2" fmla="*/ 489346 w 979418"/>
                <a:gd name="connsiteY2" fmla="*/ 978985 h 979418"/>
                <a:gd name="connsiteX3" fmla="*/ -405 w 979418"/>
                <a:gd name="connsiteY3" fmla="*/ 489318 h 979418"/>
                <a:gd name="connsiteX4" fmla="*/ -405 w 979418"/>
                <a:gd name="connsiteY4" fmla="*/ 489276 h 979418"/>
                <a:gd name="connsiteX5" fmla="*/ 489221 w 979418"/>
                <a:gd name="connsiteY5" fmla="*/ -433 h 979418"/>
                <a:gd name="connsiteX6" fmla="*/ 489263 w 979418"/>
                <a:gd name="connsiteY6" fmla="*/ -433 h 97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9418" h="979418">
                  <a:moveTo>
                    <a:pt x="489263" y="-433"/>
                  </a:moveTo>
                  <a:cubicBezTo>
                    <a:pt x="759724" y="-458"/>
                    <a:pt x="978988" y="218773"/>
                    <a:pt x="979013" y="489234"/>
                  </a:cubicBezTo>
                  <a:cubicBezTo>
                    <a:pt x="979039" y="759687"/>
                    <a:pt x="759807" y="978943"/>
                    <a:pt x="489346" y="978985"/>
                  </a:cubicBezTo>
                  <a:cubicBezTo>
                    <a:pt x="218889" y="979027"/>
                    <a:pt x="-380" y="759771"/>
                    <a:pt x="-405" y="489318"/>
                  </a:cubicBezTo>
                  <a:cubicBezTo>
                    <a:pt x="-405" y="489306"/>
                    <a:pt x="-405" y="489289"/>
                    <a:pt x="-405" y="489276"/>
                  </a:cubicBezTo>
                  <a:cubicBezTo>
                    <a:pt x="-426" y="218840"/>
                    <a:pt x="218785" y="-412"/>
                    <a:pt x="489221" y="-433"/>
                  </a:cubicBezTo>
                  <a:cubicBezTo>
                    <a:pt x="489233" y="-433"/>
                    <a:pt x="489250" y="-433"/>
                    <a:pt x="489263" y="-433"/>
                  </a:cubicBezTo>
                  <a:close/>
                </a:path>
              </a:pathLst>
            </a:custGeom>
            <a:solidFill>
              <a:srgbClr val="FFB90B"/>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60" name="Freeform: Shape 18">
              <a:extLst>
                <a:ext uri="{FF2B5EF4-FFF2-40B4-BE49-F238E27FC236}">
                  <a16:creationId xmlns:a16="http://schemas.microsoft.com/office/drawing/2014/main" id="{8AA63F55-5CD3-9AA4-CAB5-3A40D5FF9F97}"/>
                </a:ext>
              </a:extLst>
            </p:cNvPr>
            <p:cNvSpPr/>
            <p:nvPr/>
          </p:nvSpPr>
          <p:spPr>
            <a:xfrm rot="21328200">
              <a:off x="918046" y="886828"/>
              <a:ext cx="979334" cy="979334"/>
            </a:xfrm>
            <a:custGeom>
              <a:avLst/>
              <a:gdLst>
                <a:gd name="connsiteX0" fmla="*/ 978930 w 979334"/>
                <a:gd name="connsiteY0" fmla="*/ 489234 h 979334"/>
                <a:gd name="connsiteX1" fmla="*/ 489263 w 979334"/>
                <a:gd name="connsiteY1" fmla="*/ 978902 h 979334"/>
                <a:gd name="connsiteX2" fmla="*/ -405 w 979334"/>
                <a:gd name="connsiteY2" fmla="*/ 489234 h 979334"/>
                <a:gd name="connsiteX3" fmla="*/ 489263 w 979334"/>
                <a:gd name="connsiteY3" fmla="*/ -433 h 979334"/>
                <a:gd name="connsiteX4" fmla="*/ 978930 w 979334"/>
                <a:gd name="connsiteY4" fmla="*/ 489234 h 979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334" h="979334">
                  <a:moveTo>
                    <a:pt x="978930" y="489234"/>
                  </a:moveTo>
                  <a:cubicBezTo>
                    <a:pt x="978930" y="759670"/>
                    <a:pt x="759698" y="978902"/>
                    <a:pt x="489263" y="978902"/>
                  </a:cubicBezTo>
                  <a:cubicBezTo>
                    <a:pt x="218827" y="978902"/>
                    <a:pt x="-405" y="759670"/>
                    <a:pt x="-405" y="489234"/>
                  </a:cubicBezTo>
                  <a:cubicBezTo>
                    <a:pt x="-405" y="218798"/>
                    <a:pt x="218827" y="-433"/>
                    <a:pt x="489263" y="-433"/>
                  </a:cubicBezTo>
                  <a:cubicBezTo>
                    <a:pt x="759698" y="-433"/>
                    <a:pt x="978930" y="218798"/>
                    <a:pt x="978930" y="489234"/>
                  </a:cubicBezTo>
                  <a:close/>
                </a:path>
              </a:pathLst>
            </a:custGeom>
            <a:solidFill>
              <a:srgbClr val="00A9B9"/>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1" name="Freeform: Shape 21">
              <a:extLst>
                <a:ext uri="{FF2B5EF4-FFF2-40B4-BE49-F238E27FC236}">
                  <a16:creationId xmlns:a16="http://schemas.microsoft.com/office/drawing/2014/main" id="{BF53745F-BDA4-5638-19B1-5A8D8997A027}"/>
                </a:ext>
              </a:extLst>
            </p:cNvPr>
            <p:cNvSpPr/>
            <p:nvPr/>
          </p:nvSpPr>
          <p:spPr>
            <a:xfrm>
              <a:off x="918064" y="4696251"/>
              <a:ext cx="979334" cy="979334"/>
            </a:xfrm>
            <a:custGeom>
              <a:avLst/>
              <a:gdLst>
                <a:gd name="connsiteX0" fmla="*/ 489263 w 979334"/>
                <a:gd name="connsiteY0" fmla="*/ -433 h 979334"/>
                <a:gd name="connsiteX1" fmla="*/ 978930 w 979334"/>
                <a:gd name="connsiteY1" fmla="*/ 489235 h 979334"/>
                <a:gd name="connsiteX2" fmla="*/ 489263 w 979334"/>
                <a:gd name="connsiteY2" fmla="*/ 978902 h 979334"/>
                <a:gd name="connsiteX3" fmla="*/ -405 w 979334"/>
                <a:gd name="connsiteY3" fmla="*/ 489235 h 979334"/>
                <a:gd name="connsiteX4" fmla="*/ 489179 w 979334"/>
                <a:gd name="connsiteY4" fmla="*/ -433 h 979334"/>
                <a:gd name="connsiteX5" fmla="*/ 489263 w 979334"/>
                <a:gd name="connsiteY5" fmla="*/ -433 h 979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9334" h="979334">
                  <a:moveTo>
                    <a:pt x="489263" y="-433"/>
                  </a:moveTo>
                  <a:cubicBezTo>
                    <a:pt x="759699" y="-433"/>
                    <a:pt x="978930" y="218782"/>
                    <a:pt x="978930" y="489235"/>
                  </a:cubicBezTo>
                  <a:cubicBezTo>
                    <a:pt x="978930" y="759687"/>
                    <a:pt x="759699" y="978902"/>
                    <a:pt x="489263" y="978902"/>
                  </a:cubicBezTo>
                  <a:cubicBezTo>
                    <a:pt x="218827" y="978902"/>
                    <a:pt x="-405" y="759687"/>
                    <a:pt x="-405" y="489235"/>
                  </a:cubicBezTo>
                  <a:cubicBezTo>
                    <a:pt x="-430" y="218824"/>
                    <a:pt x="218768" y="-391"/>
                    <a:pt x="489179" y="-433"/>
                  </a:cubicBezTo>
                  <a:cubicBezTo>
                    <a:pt x="489208" y="-433"/>
                    <a:pt x="489233" y="-433"/>
                    <a:pt x="489263" y="-433"/>
                  </a:cubicBezTo>
                  <a:close/>
                </a:path>
              </a:pathLst>
            </a:custGeom>
            <a:solidFill>
              <a:srgbClr val="F14258"/>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64" name="Freeform: Shape 26">
              <a:extLst>
                <a:ext uri="{FF2B5EF4-FFF2-40B4-BE49-F238E27FC236}">
                  <a16:creationId xmlns:a16="http://schemas.microsoft.com/office/drawing/2014/main" id="{0CF8A41C-86AC-A1E3-E3FF-1315B510ADF3}"/>
                </a:ext>
              </a:extLst>
            </p:cNvPr>
            <p:cNvSpPr/>
            <p:nvPr/>
          </p:nvSpPr>
          <p:spPr>
            <a:xfrm rot="16200000">
              <a:off x="9884950" y="5155965"/>
              <a:ext cx="1419437" cy="271707"/>
            </a:xfrm>
            <a:custGeom>
              <a:avLst/>
              <a:gdLst>
                <a:gd name="connsiteX0" fmla="*/ -405 w 1419437"/>
                <a:gd name="connsiteY0" fmla="*/ -433 h 271707"/>
                <a:gd name="connsiteX1" fmla="*/ 1419032 w 1419437"/>
                <a:gd name="connsiteY1" fmla="*/ -433 h 271707"/>
                <a:gd name="connsiteX2" fmla="*/ 1419032 w 1419437"/>
                <a:gd name="connsiteY2" fmla="*/ 271274 h 271707"/>
                <a:gd name="connsiteX3" fmla="*/ -405 w 1419437"/>
                <a:gd name="connsiteY3" fmla="*/ 271274 h 271707"/>
              </a:gdLst>
              <a:ahLst/>
              <a:cxnLst>
                <a:cxn ang="0">
                  <a:pos x="connsiteX0" y="connsiteY0"/>
                </a:cxn>
                <a:cxn ang="0">
                  <a:pos x="connsiteX1" y="connsiteY1"/>
                </a:cxn>
                <a:cxn ang="0">
                  <a:pos x="connsiteX2" y="connsiteY2"/>
                </a:cxn>
                <a:cxn ang="0">
                  <a:pos x="connsiteX3" y="connsiteY3"/>
                </a:cxn>
              </a:cxnLst>
              <a:rect l="l" t="t" r="r" b="b"/>
              <a:pathLst>
                <a:path w="1419437" h="271707">
                  <a:moveTo>
                    <a:pt x="-405" y="-433"/>
                  </a:moveTo>
                  <a:lnTo>
                    <a:pt x="1419032" y="-433"/>
                  </a:lnTo>
                  <a:lnTo>
                    <a:pt x="1419032" y="271274"/>
                  </a:lnTo>
                  <a:lnTo>
                    <a:pt x="-405" y="271274"/>
                  </a:lnTo>
                  <a:close/>
                </a:path>
              </a:pathLst>
            </a:custGeom>
            <a:solidFill>
              <a:srgbClr val="F14258"/>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65" name="Freeform: Shape 27">
              <a:extLst>
                <a:ext uri="{FF2B5EF4-FFF2-40B4-BE49-F238E27FC236}">
                  <a16:creationId xmlns:a16="http://schemas.microsoft.com/office/drawing/2014/main" id="{3792A81D-CCE6-9CAF-D0D4-FAF3246EAEFD}"/>
                </a:ext>
              </a:extLst>
            </p:cNvPr>
            <p:cNvSpPr/>
            <p:nvPr/>
          </p:nvSpPr>
          <p:spPr>
            <a:xfrm rot="16200000">
              <a:off x="9874361" y="3243587"/>
              <a:ext cx="1419437" cy="271707"/>
            </a:xfrm>
            <a:custGeom>
              <a:avLst/>
              <a:gdLst>
                <a:gd name="connsiteX0" fmla="*/ -405 w 1419437"/>
                <a:gd name="connsiteY0" fmla="*/ -433 h 271707"/>
                <a:gd name="connsiteX1" fmla="*/ 1419032 w 1419437"/>
                <a:gd name="connsiteY1" fmla="*/ -433 h 271707"/>
                <a:gd name="connsiteX2" fmla="*/ 1419032 w 1419437"/>
                <a:gd name="connsiteY2" fmla="*/ 271275 h 271707"/>
                <a:gd name="connsiteX3" fmla="*/ -405 w 1419437"/>
                <a:gd name="connsiteY3" fmla="*/ 271275 h 271707"/>
              </a:gdLst>
              <a:ahLst/>
              <a:cxnLst>
                <a:cxn ang="0">
                  <a:pos x="connsiteX0" y="connsiteY0"/>
                </a:cxn>
                <a:cxn ang="0">
                  <a:pos x="connsiteX1" y="connsiteY1"/>
                </a:cxn>
                <a:cxn ang="0">
                  <a:pos x="connsiteX2" y="connsiteY2"/>
                </a:cxn>
                <a:cxn ang="0">
                  <a:pos x="connsiteX3" y="connsiteY3"/>
                </a:cxn>
              </a:cxnLst>
              <a:rect l="l" t="t" r="r" b="b"/>
              <a:pathLst>
                <a:path w="1419437" h="271707">
                  <a:moveTo>
                    <a:pt x="-405" y="-433"/>
                  </a:moveTo>
                  <a:lnTo>
                    <a:pt x="1419032" y="-433"/>
                  </a:lnTo>
                  <a:lnTo>
                    <a:pt x="1419032" y="271275"/>
                  </a:lnTo>
                  <a:lnTo>
                    <a:pt x="-405" y="271275"/>
                  </a:lnTo>
                  <a:close/>
                </a:path>
              </a:pathLst>
            </a:custGeom>
            <a:solidFill>
              <a:srgbClr val="FFB90B"/>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66" name="Freeform: Shape 28">
              <a:extLst>
                <a:ext uri="{FF2B5EF4-FFF2-40B4-BE49-F238E27FC236}">
                  <a16:creationId xmlns:a16="http://schemas.microsoft.com/office/drawing/2014/main" id="{50B2160F-9794-FEA2-407E-5826D97BF4CE}"/>
                </a:ext>
              </a:extLst>
            </p:cNvPr>
            <p:cNvSpPr/>
            <p:nvPr/>
          </p:nvSpPr>
          <p:spPr>
            <a:xfrm rot="16200000">
              <a:off x="9884950" y="1240614"/>
              <a:ext cx="1419436" cy="271707"/>
            </a:xfrm>
            <a:custGeom>
              <a:avLst/>
              <a:gdLst>
                <a:gd name="connsiteX0" fmla="*/ -405 w 1419437"/>
                <a:gd name="connsiteY0" fmla="*/ -433 h 271707"/>
                <a:gd name="connsiteX1" fmla="*/ 1419032 w 1419437"/>
                <a:gd name="connsiteY1" fmla="*/ -433 h 271707"/>
                <a:gd name="connsiteX2" fmla="*/ 1419032 w 1419437"/>
                <a:gd name="connsiteY2" fmla="*/ 271275 h 271707"/>
                <a:gd name="connsiteX3" fmla="*/ -405 w 1419437"/>
                <a:gd name="connsiteY3" fmla="*/ 271275 h 271707"/>
              </a:gdLst>
              <a:ahLst/>
              <a:cxnLst>
                <a:cxn ang="0">
                  <a:pos x="connsiteX0" y="connsiteY0"/>
                </a:cxn>
                <a:cxn ang="0">
                  <a:pos x="connsiteX1" y="connsiteY1"/>
                </a:cxn>
                <a:cxn ang="0">
                  <a:pos x="connsiteX2" y="connsiteY2"/>
                </a:cxn>
                <a:cxn ang="0">
                  <a:pos x="connsiteX3" y="connsiteY3"/>
                </a:cxn>
              </a:cxnLst>
              <a:rect l="l" t="t" r="r" b="b"/>
              <a:pathLst>
                <a:path w="1419437" h="271707">
                  <a:moveTo>
                    <a:pt x="-405" y="-433"/>
                  </a:moveTo>
                  <a:lnTo>
                    <a:pt x="1419032" y="-433"/>
                  </a:lnTo>
                  <a:lnTo>
                    <a:pt x="1419032" y="271275"/>
                  </a:lnTo>
                  <a:lnTo>
                    <a:pt x="-405" y="271275"/>
                  </a:lnTo>
                  <a:close/>
                </a:path>
              </a:pathLst>
            </a:custGeom>
            <a:solidFill>
              <a:srgbClr val="00A9B9"/>
            </a:solidFill>
            <a:ln w="418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167" name="TextBox 166">
              <a:extLst>
                <a:ext uri="{FF2B5EF4-FFF2-40B4-BE49-F238E27FC236}">
                  <a16:creationId xmlns:a16="http://schemas.microsoft.com/office/drawing/2014/main" id="{75A13F6F-442B-4051-C535-4DE936BFDB71}"/>
                </a:ext>
              </a:extLst>
            </p:cNvPr>
            <p:cNvSpPr txBox="1"/>
            <p:nvPr/>
          </p:nvSpPr>
          <p:spPr>
            <a:xfrm>
              <a:off x="994412" y="1084108"/>
              <a:ext cx="826602" cy="58477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prstClr val="white"/>
                  </a:solidFill>
                  <a:effectLst/>
                  <a:uLnTx/>
                  <a:uFillTx/>
                  <a:latin typeface="Lora" pitchFamily="2" charset="0"/>
                </a:rPr>
                <a:t>01</a:t>
              </a:r>
            </a:p>
          </p:txBody>
        </p:sp>
        <p:sp>
          <p:nvSpPr>
            <p:cNvPr id="168" name="TextBox 167">
              <a:extLst>
                <a:ext uri="{FF2B5EF4-FFF2-40B4-BE49-F238E27FC236}">
                  <a16:creationId xmlns:a16="http://schemas.microsoft.com/office/drawing/2014/main" id="{F44BB321-1F38-C18C-118B-B36B481FD838}"/>
                </a:ext>
              </a:extLst>
            </p:cNvPr>
            <p:cNvSpPr txBox="1"/>
            <p:nvPr/>
          </p:nvSpPr>
          <p:spPr>
            <a:xfrm>
              <a:off x="956265" y="3010859"/>
              <a:ext cx="826602" cy="58477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prstClr val="white"/>
                  </a:solidFill>
                  <a:effectLst/>
                  <a:uLnTx/>
                  <a:uFillTx/>
                  <a:latin typeface="Lora" pitchFamily="2" charset="0"/>
                </a:rPr>
                <a:t>02</a:t>
              </a:r>
            </a:p>
          </p:txBody>
        </p:sp>
        <p:sp>
          <p:nvSpPr>
            <p:cNvPr id="169" name="TextBox 168">
              <a:extLst>
                <a:ext uri="{FF2B5EF4-FFF2-40B4-BE49-F238E27FC236}">
                  <a16:creationId xmlns:a16="http://schemas.microsoft.com/office/drawing/2014/main" id="{E55FB867-C21D-797C-53E0-9A9398DC0022}"/>
                </a:ext>
              </a:extLst>
            </p:cNvPr>
            <p:cNvSpPr txBox="1"/>
            <p:nvPr/>
          </p:nvSpPr>
          <p:spPr>
            <a:xfrm>
              <a:off x="994430" y="4893531"/>
              <a:ext cx="826602" cy="58477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prstClr val="white"/>
                  </a:solidFill>
                  <a:effectLst/>
                  <a:uLnTx/>
                  <a:uFillTx/>
                  <a:latin typeface="Lora" pitchFamily="2" charset="0"/>
                </a:rPr>
                <a:t>03</a:t>
              </a:r>
            </a:p>
          </p:txBody>
        </p:sp>
        <p:sp>
          <p:nvSpPr>
            <p:cNvPr id="171" name="TextBox 170">
              <a:extLst>
                <a:ext uri="{FF2B5EF4-FFF2-40B4-BE49-F238E27FC236}">
                  <a16:creationId xmlns:a16="http://schemas.microsoft.com/office/drawing/2014/main" id="{0D1AECBA-CA32-B833-1033-1BBD6D9BD183}"/>
                </a:ext>
              </a:extLst>
            </p:cNvPr>
            <p:cNvSpPr txBox="1"/>
            <p:nvPr/>
          </p:nvSpPr>
          <p:spPr>
            <a:xfrm>
              <a:off x="1966750" y="1031622"/>
              <a:ext cx="3402949" cy="66966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rPr>
                <a:t>Elected for 3 year transitional period</a:t>
              </a:r>
            </a:p>
          </p:txBody>
        </p:sp>
      </p:grpSp>
      <p:sp>
        <p:nvSpPr>
          <p:cNvPr id="175" name="TextBox 174">
            <a:extLst>
              <a:ext uri="{FF2B5EF4-FFF2-40B4-BE49-F238E27FC236}">
                <a16:creationId xmlns:a16="http://schemas.microsoft.com/office/drawing/2014/main" id="{B00924FF-9ED3-798D-C2A1-EF6EEFAC9668}"/>
              </a:ext>
            </a:extLst>
          </p:cNvPr>
          <p:cNvSpPr txBox="1"/>
          <p:nvPr/>
        </p:nvSpPr>
        <p:spPr>
          <a:xfrm>
            <a:off x="5704314" y="1398386"/>
            <a:ext cx="5070893" cy="1077218"/>
          </a:xfrm>
          <a:prstGeom prst="rect">
            <a:avLst/>
          </a:prstGeom>
          <a:noFill/>
        </p:spPr>
        <p:txBody>
          <a:bodyPr wrap="square">
            <a:spAutoFit/>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rPr>
              <a:t>Elected for 3 year transitional period</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endParaRP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rPr>
              <a:t>1</a:t>
            </a:r>
            <a:r>
              <a:rPr kumimoji="0" lang="en-US" sz="1600" b="0" i="0" u="none" strike="noStrike" kern="0" cap="none" spc="0" normalizeH="0" baseline="30000" noProof="0" dirty="0">
                <a:ln>
                  <a:noFill/>
                </a:ln>
                <a:solidFill>
                  <a:prstClr val="black"/>
                </a:solidFill>
                <a:effectLst/>
                <a:uLnTx/>
                <a:uFillTx/>
                <a:latin typeface="Lora" pitchFamily="2" charset="0"/>
                <a:cs typeface="Times New Roman" panose="02020603050405020304" pitchFamily="18" charset="0"/>
              </a:rPr>
              <a:t>st</a:t>
            </a:r>
            <a:r>
              <a:rPr kumimoji="0" lang="en-US" sz="1600" b="0"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rPr>
              <a:t> transitional financial statement FY 2024/25</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endParaRPr>
          </a:p>
        </p:txBody>
      </p:sp>
      <p:sp>
        <p:nvSpPr>
          <p:cNvPr id="176" name="TextBox 175">
            <a:extLst>
              <a:ext uri="{FF2B5EF4-FFF2-40B4-BE49-F238E27FC236}">
                <a16:creationId xmlns:a16="http://schemas.microsoft.com/office/drawing/2014/main" id="{CC6AF412-56CC-6711-97CA-5A1D28074B7E}"/>
              </a:ext>
            </a:extLst>
          </p:cNvPr>
          <p:cNvSpPr txBox="1"/>
          <p:nvPr/>
        </p:nvSpPr>
        <p:spPr>
          <a:xfrm>
            <a:off x="5666757" y="3284084"/>
            <a:ext cx="5070893" cy="830997"/>
          </a:xfrm>
          <a:prstGeom prst="rect">
            <a:avLst/>
          </a:prstGeom>
          <a:noFill/>
        </p:spPr>
        <p:txBody>
          <a:bodyPr wrap="square">
            <a:spAutoFit/>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kern="0" dirty="0">
                <a:solidFill>
                  <a:prstClr val="black"/>
                </a:solidFill>
                <a:latin typeface="Lora" pitchFamily="2" charset="0"/>
                <a:cs typeface="Times New Roman" panose="02020603050405020304" pitchFamily="18" charset="0"/>
              </a:rPr>
              <a:t>Incremental recognition of assets and liabilities</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endParaRP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kern="0" dirty="0">
                <a:solidFill>
                  <a:prstClr val="black"/>
                </a:solidFill>
                <a:latin typeface="Lora" pitchFamily="2" charset="0"/>
                <a:cs typeface="Times New Roman" panose="02020603050405020304" pitchFamily="18" charset="0"/>
              </a:rPr>
              <a:t>Disclosure of exempted assets and liabilities</a:t>
            </a:r>
            <a:endParaRPr kumimoji="0" lang="en-US" sz="1600" b="0"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endParaRPr>
          </a:p>
        </p:txBody>
      </p:sp>
      <p:sp>
        <p:nvSpPr>
          <p:cNvPr id="177" name="TextBox 176">
            <a:extLst>
              <a:ext uri="{FF2B5EF4-FFF2-40B4-BE49-F238E27FC236}">
                <a16:creationId xmlns:a16="http://schemas.microsoft.com/office/drawing/2014/main" id="{4CE3FDFC-5686-D412-5DA6-16D10BEEB554}"/>
              </a:ext>
            </a:extLst>
          </p:cNvPr>
          <p:cNvSpPr txBox="1"/>
          <p:nvPr/>
        </p:nvSpPr>
        <p:spPr>
          <a:xfrm>
            <a:off x="2181676" y="3376416"/>
            <a:ext cx="3485041"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kern="0" dirty="0">
                <a:solidFill>
                  <a:prstClr val="black"/>
                </a:solidFill>
                <a:latin typeface="Lora" pitchFamily="2" charset="0"/>
                <a:cs typeface="Times New Roman" panose="02020603050405020304" pitchFamily="18" charset="0"/>
              </a:rPr>
              <a:t>Exemption of full recognition</a:t>
            </a:r>
            <a:endParaRPr kumimoji="0" lang="en-US" b="1"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endParaRPr>
          </a:p>
        </p:txBody>
      </p:sp>
      <p:sp>
        <p:nvSpPr>
          <p:cNvPr id="178" name="TextBox 177">
            <a:extLst>
              <a:ext uri="{FF2B5EF4-FFF2-40B4-BE49-F238E27FC236}">
                <a16:creationId xmlns:a16="http://schemas.microsoft.com/office/drawing/2014/main" id="{C7784E31-8264-470D-28E7-60A8DB5CEC49}"/>
              </a:ext>
            </a:extLst>
          </p:cNvPr>
          <p:cNvSpPr txBox="1"/>
          <p:nvPr/>
        </p:nvSpPr>
        <p:spPr>
          <a:xfrm>
            <a:off x="5711592" y="5263088"/>
            <a:ext cx="5070893" cy="584775"/>
          </a:xfrm>
          <a:prstGeom prst="rect">
            <a:avLst/>
          </a:prstGeom>
          <a:noFill/>
        </p:spPr>
        <p:txBody>
          <a:bodyPr wrap="square">
            <a:spAutoFit/>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kern="0" dirty="0">
                <a:solidFill>
                  <a:prstClr val="black"/>
                </a:solidFill>
                <a:latin typeface="Lora" pitchFamily="2" charset="0"/>
                <a:cs typeface="Times New Roman" panose="02020603050405020304" pitchFamily="18" charset="0"/>
              </a:rPr>
              <a:t>Opted for deemed cost to be fair value or historical cost for legacy assets</a:t>
            </a:r>
          </a:p>
        </p:txBody>
      </p:sp>
      <p:sp>
        <p:nvSpPr>
          <p:cNvPr id="179" name="TextBox 178">
            <a:extLst>
              <a:ext uri="{FF2B5EF4-FFF2-40B4-BE49-F238E27FC236}">
                <a16:creationId xmlns:a16="http://schemas.microsoft.com/office/drawing/2014/main" id="{68A60EAB-E320-7EAF-CF3B-FFBEAEC835DD}"/>
              </a:ext>
            </a:extLst>
          </p:cNvPr>
          <p:cNvSpPr txBox="1"/>
          <p:nvPr/>
        </p:nvSpPr>
        <p:spPr>
          <a:xfrm>
            <a:off x="2181677" y="5278166"/>
            <a:ext cx="3114028"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kern="0" dirty="0">
                <a:solidFill>
                  <a:prstClr val="black"/>
                </a:solidFill>
                <a:latin typeface="Lora" pitchFamily="2" charset="0"/>
                <a:cs typeface="Times New Roman" panose="02020603050405020304" pitchFamily="18" charset="0"/>
              </a:rPr>
              <a:t>Measurement relief</a:t>
            </a:r>
            <a:endParaRPr kumimoji="0" lang="en-US" b="1" i="0" u="none" strike="noStrike" kern="0" cap="none" spc="0" normalizeH="0" baseline="0" noProof="0" dirty="0">
              <a:ln>
                <a:noFill/>
              </a:ln>
              <a:solidFill>
                <a:prstClr val="black"/>
              </a:solidFill>
              <a:effectLst/>
              <a:uLnTx/>
              <a:uFillTx/>
              <a:latin typeface="Lora" pitchFamily="2" charset="0"/>
              <a:cs typeface="Times New Roman" panose="02020603050405020304" pitchFamily="18" charset="0"/>
            </a:endParaRPr>
          </a:p>
        </p:txBody>
      </p:sp>
    </p:spTree>
    <p:extLst>
      <p:ext uri="{BB962C8B-B14F-4D97-AF65-F5344CB8AC3E}">
        <p14:creationId xmlns:p14="http://schemas.microsoft.com/office/powerpoint/2010/main" val="3269886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5157D683-F13B-F4D6-13D4-C888E25096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A37862-F70C-C036-B81B-A749783D9B2C}"/>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12</a:t>
            </a:fld>
            <a:endParaRPr lang="en-GB" dirty="0"/>
          </a:p>
        </p:txBody>
      </p:sp>
      <p:sp>
        <p:nvSpPr>
          <p:cNvPr id="6" name="TextBox 5">
            <a:extLst>
              <a:ext uri="{FF2B5EF4-FFF2-40B4-BE49-F238E27FC236}">
                <a16:creationId xmlns:a16="http://schemas.microsoft.com/office/drawing/2014/main" id="{B57D7ED6-A39F-14E8-3FD7-A6741E33A43A}"/>
              </a:ext>
            </a:extLst>
          </p:cNvPr>
          <p:cNvSpPr txBox="1"/>
          <p:nvPr/>
        </p:nvSpPr>
        <p:spPr>
          <a:xfrm>
            <a:off x="1227708" y="91585"/>
            <a:ext cx="8540236" cy="584775"/>
          </a:xfrm>
          <a:prstGeom prst="rect">
            <a:avLst/>
          </a:prstGeom>
          <a:noFill/>
        </p:spPr>
        <p:txBody>
          <a:bodyPr wrap="square">
            <a:spAutoFit/>
          </a:bodyPr>
          <a:lstStyle/>
          <a:p>
            <a:r>
              <a:rPr lang="en-IN" sz="3200" b="1" dirty="0" err="1">
                <a:latin typeface="Segoe UI" panose="020B0502040204020203" pitchFamily="34" charset="0"/>
                <a:cs typeface="Segoe UI" panose="020B0502040204020203" pitchFamily="34" charset="0"/>
              </a:rPr>
              <a:t>GoR</a:t>
            </a:r>
            <a:r>
              <a:rPr lang="en-IN" sz="3200" b="1" dirty="0">
                <a:latin typeface="Segoe UI" panose="020B0502040204020203" pitchFamily="34" charset="0"/>
                <a:cs typeface="Segoe UI" panose="020B0502040204020203" pitchFamily="34" charset="0"/>
              </a:rPr>
              <a:t> transitional timeline</a:t>
            </a:r>
          </a:p>
        </p:txBody>
      </p:sp>
      <p:grpSp>
        <p:nvGrpSpPr>
          <p:cNvPr id="72" name="Group 71">
            <a:extLst>
              <a:ext uri="{FF2B5EF4-FFF2-40B4-BE49-F238E27FC236}">
                <a16:creationId xmlns:a16="http://schemas.microsoft.com/office/drawing/2014/main" id="{0EF87169-A853-9D67-2D18-74029619C1D1}"/>
              </a:ext>
            </a:extLst>
          </p:cNvPr>
          <p:cNvGrpSpPr/>
          <p:nvPr/>
        </p:nvGrpSpPr>
        <p:grpSpPr>
          <a:xfrm>
            <a:off x="294695" y="1591982"/>
            <a:ext cx="11602610" cy="4515465"/>
            <a:chOff x="299358" y="1406525"/>
            <a:chExt cx="11602610" cy="4515465"/>
          </a:xfrm>
        </p:grpSpPr>
        <p:grpSp>
          <p:nvGrpSpPr>
            <p:cNvPr id="73" name="Group 72">
              <a:extLst>
                <a:ext uri="{FF2B5EF4-FFF2-40B4-BE49-F238E27FC236}">
                  <a16:creationId xmlns:a16="http://schemas.microsoft.com/office/drawing/2014/main" id="{7BEDDD07-0ACE-9EEB-7935-616E619CE8C7}"/>
                </a:ext>
              </a:extLst>
            </p:cNvPr>
            <p:cNvGrpSpPr/>
            <p:nvPr/>
          </p:nvGrpSpPr>
          <p:grpSpPr>
            <a:xfrm>
              <a:off x="299358" y="1406525"/>
              <a:ext cx="11602610" cy="4515465"/>
              <a:chOff x="299358" y="1406525"/>
              <a:chExt cx="11602610" cy="4515465"/>
            </a:xfrm>
          </p:grpSpPr>
          <p:grpSp>
            <p:nvGrpSpPr>
              <p:cNvPr id="79" name="Group 78">
                <a:extLst>
                  <a:ext uri="{FF2B5EF4-FFF2-40B4-BE49-F238E27FC236}">
                    <a16:creationId xmlns:a16="http://schemas.microsoft.com/office/drawing/2014/main" id="{A1F5E980-A63B-7652-7D22-D5616481D94C}"/>
                  </a:ext>
                </a:extLst>
              </p:cNvPr>
              <p:cNvGrpSpPr/>
              <p:nvPr/>
            </p:nvGrpSpPr>
            <p:grpSpPr>
              <a:xfrm>
                <a:off x="299358" y="1406525"/>
                <a:ext cx="11602610" cy="4044950"/>
                <a:chOff x="299358" y="1406525"/>
                <a:chExt cx="11602610" cy="4044950"/>
              </a:xfrm>
            </p:grpSpPr>
            <p:sp>
              <p:nvSpPr>
                <p:cNvPr id="90" name="Freeform: Shape 7">
                  <a:extLst>
                    <a:ext uri="{FF2B5EF4-FFF2-40B4-BE49-F238E27FC236}">
                      <a16:creationId xmlns:a16="http://schemas.microsoft.com/office/drawing/2014/main" id="{4E13F2C4-E28A-8503-9124-D916C4C3C28F}"/>
                    </a:ext>
                  </a:extLst>
                </p:cNvPr>
                <p:cNvSpPr/>
                <p:nvPr/>
              </p:nvSpPr>
              <p:spPr>
                <a:xfrm>
                  <a:off x="9279418" y="3032125"/>
                  <a:ext cx="2622550" cy="793750"/>
                </a:xfrm>
                <a:custGeom>
                  <a:avLst/>
                  <a:gdLst>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89150 w 2622550"/>
                    <a:gd name="connsiteY6" fmla="*/ 52705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203450 w 2622550"/>
                    <a:gd name="connsiteY3" fmla="*/ 7810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2550" h="793750">
                      <a:moveTo>
                        <a:pt x="2082800" y="0"/>
                      </a:moveTo>
                      <a:lnTo>
                        <a:pt x="2393950" y="0"/>
                      </a:lnTo>
                      <a:lnTo>
                        <a:pt x="2622550" y="254000"/>
                      </a:lnTo>
                      <a:lnTo>
                        <a:pt x="2203450" y="781050"/>
                      </a:lnTo>
                      <a:lnTo>
                        <a:pt x="165100" y="793750"/>
                      </a:lnTo>
                      <a:lnTo>
                        <a:pt x="0" y="527050"/>
                      </a:lnTo>
                      <a:lnTo>
                        <a:pt x="2063750" y="520700"/>
                      </a:lnTo>
                      <a:lnTo>
                        <a:pt x="2260600" y="266700"/>
                      </a:lnTo>
                      <a:lnTo>
                        <a:pt x="2082800" y="0"/>
                      </a:lnTo>
                      <a:close/>
                    </a:path>
                  </a:pathLst>
                </a:custGeom>
                <a:solidFill>
                  <a:srgbClr val="FBAD4B"/>
                </a:solidFill>
                <a:ln w="12700" cap="flat" cmpd="sng" algn="ctr">
                  <a:solidFill>
                    <a:srgbClr val="FBAD4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1" name="Freeform: Shape 5">
                  <a:extLst>
                    <a:ext uri="{FF2B5EF4-FFF2-40B4-BE49-F238E27FC236}">
                      <a16:creationId xmlns:a16="http://schemas.microsoft.com/office/drawing/2014/main" id="{17AE7277-EA8D-5E30-4336-D68E3F7DC420}"/>
                    </a:ext>
                  </a:extLst>
                </p:cNvPr>
                <p:cNvSpPr/>
                <p:nvPr/>
              </p:nvSpPr>
              <p:spPr>
                <a:xfrm flipV="1">
                  <a:off x="7030775" y="3032125"/>
                  <a:ext cx="2622550" cy="793750"/>
                </a:xfrm>
                <a:custGeom>
                  <a:avLst/>
                  <a:gdLst>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89150 w 2622550"/>
                    <a:gd name="connsiteY6" fmla="*/ 52705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203450 w 2622550"/>
                    <a:gd name="connsiteY3" fmla="*/ 7810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2550" h="793750">
                      <a:moveTo>
                        <a:pt x="2082800" y="0"/>
                      </a:moveTo>
                      <a:lnTo>
                        <a:pt x="2393950" y="0"/>
                      </a:lnTo>
                      <a:lnTo>
                        <a:pt x="2622550" y="254000"/>
                      </a:lnTo>
                      <a:lnTo>
                        <a:pt x="2203450" y="781050"/>
                      </a:lnTo>
                      <a:lnTo>
                        <a:pt x="165100" y="793750"/>
                      </a:lnTo>
                      <a:lnTo>
                        <a:pt x="0" y="527050"/>
                      </a:lnTo>
                      <a:lnTo>
                        <a:pt x="2063750" y="520700"/>
                      </a:lnTo>
                      <a:lnTo>
                        <a:pt x="2260600" y="266700"/>
                      </a:lnTo>
                      <a:lnTo>
                        <a:pt x="2082800" y="0"/>
                      </a:lnTo>
                      <a:close/>
                    </a:path>
                  </a:pathLst>
                </a:custGeom>
                <a:solidFill>
                  <a:srgbClr val="69AA43"/>
                </a:solidFill>
                <a:ln w="12700" cap="flat" cmpd="sng" algn="ctr">
                  <a:solidFill>
                    <a:srgbClr val="69AA4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2" name="Freeform: Shape 6">
                  <a:extLst>
                    <a:ext uri="{FF2B5EF4-FFF2-40B4-BE49-F238E27FC236}">
                      <a16:creationId xmlns:a16="http://schemas.microsoft.com/office/drawing/2014/main" id="{3D1BE751-F911-805E-EDF0-0DEB9A40359C}"/>
                    </a:ext>
                  </a:extLst>
                </p:cNvPr>
                <p:cNvSpPr/>
                <p:nvPr/>
              </p:nvSpPr>
              <p:spPr>
                <a:xfrm>
                  <a:off x="4782131" y="3032125"/>
                  <a:ext cx="2622550" cy="793750"/>
                </a:xfrm>
                <a:custGeom>
                  <a:avLst/>
                  <a:gdLst>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89150 w 2622550"/>
                    <a:gd name="connsiteY6" fmla="*/ 52705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203450 w 2622550"/>
                    <a:gd name="connsiteY3" fmla="*/ 7810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2550" h="793750">
                      <a:moveTo>
                        <a:pt x="2082800" y="0"/>
                      </a:moveTo>
                      <a:lnTo>
                        <a:pt x="2393950" y="0"/>
                      </a:lnTo>
                      <a:lnTo>
                        <a:pt x="2622550" y="254000"/>
                      </a:lnTo>
                      <a:lnTo>
                        <a:pt x="2203450" y="781050"/>
                      </a:lnTo>
                      <a:lnTo>
                        <a:pt x="165100" y="793750"/>
                      </a:lnTo>
                      <a:lnTo>
                        <a:pt x="0" y="527050"/>
                      </a:lnTo>
                      <a:lnTo>
                        <a:pt x="2063750" y="520700"/>
                      </a:lnTo>
                      <a:lnTo>
                        <a:pt x="2260600" y="266700"/>
                      </a:lnTo>
                      <a:lnTo>
                        <a:pt x="2082800" y="0"/>
                      </a:lnTo>
                      <a:close/>
                    </a:path>
                  </a:pathLst>
                </a:custGeom>
                <a:solidFill>
                  <a:srgbClr val="0A9CCD"/>
                </a:solidFill>
                <a:ln w="12700" cap="flat" cmpd="sng" algn="ctr">
                  <a:solidFill>
                    <a:srgbClr val="0A9CC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3" name="Freeform: Shape 3">
                  <a:extLst>
                    <a:ext uri="{FF2B5EF4-FFF2-40B4-BE49-F238E27FC236}">
                      <a16:creationId xmlns:a16="http://schemas.microsoft.com/office/drawing/2014/main" id="{F15B67A6-80E8-754A-FE7D-A6B420CF6668}"/>
                    </a:ext>
                  </a:extLst>
                </p:cNvPr>
                <p:cNvSpPr/>
                <p:nvPr/>
              </p:nvSpPr>
              <p:spPr>
                <a:xfrm flipV="1">
                  <a:off x="2533488" y="3032125"/>
                  <a:ext cx="2622550" cy="793750"/>
                </a:xfrm>
                <a:custGeom>
                  <a:avLst/>
                  <a:gdLst>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89150 w 2622550"/>
                    <a:gd name="connsiteY6" fmla="*/ 52705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203450 w 2622550"/>
                    <a:gd name="connsiteY3" fmla="*/ 7810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2550" h="793750">
                      <a:moveTo>
                        <a:pt x="2082800" y="0"/>
                      </a:moveTo>
                      <a:lnTo>
                        <a:pt x="2393950" y="0"/>
                      </a:lnTo>
                      <a:lnTo>
                        <a:pt x="2622550" y="254000"/>
                      </a:lnTo>
                      <a:lnTo>
                        <a:pt x="2203450" y="781050"/>
                      </a:lnTo>
                      <a:lnTo>
                        <a:pt x="165100" y="793750"/>
                      </a:lnTo>
                      <a:lnTo>
                        <a:pt x="0" y="527050"/>
                      </a:lnTo>
                      <a:lnTo>
                        <a:pt x="2063750" y="520700"/>
                      </a:lnTo>
                      <a:lnTo>
                        <a:pt x="2260600" y="266700"/>
                      </a:lnTo>
                      <a:lnTo>
                        <a:pt x="2082800" y="0"/>
                      </a:lnTo>
                      <a:close/>
                    </a:path>
                  </a:pathLst>
                </a:custGeom>
                <a:solidFill>
                  <a:srgbClr val="F25E3D"/>
                </a:solidFill>
                <a:ln w="12700" cap="flat" cmpd="sng" algn="ctr">
                  <a:solidFill>
                    <a:srgbClr val="F25E3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4" name="Freeform: Shape 4">
                  <a:extLst>
                    <a:ext uri="{FF2B5EF4-FFF2-40B4-BE49-F238E27FC236}">
                      <a16:creationId xmlns:a16="http://schemas.microsoft.com/office/drawing/2014/main" id="{B3C65264-406F-FD59-4FFD-52B91B1468E3}"/>
                    </a:ext>
                  </a:extLst>
                </p:cNvPr>
                <p:cNvSpPr/>
                <p:nvPr/>
              </p:nvSpPr>
              <p:spPr>
                <a:xfrm>
                  <a:off x="299358" y="3032125"/>
                  <a:ext cx="2622550" cy="793750"/>
                </a:xfrm>
                <a:custGeom>
                  <a:avLst/>
                  <a:gdLst>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89150 w 2622550"/>
                    <a:gd name="connsiteY6" fmla="*/ 52705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171700 w 2622550"/>
                    <a:gd name="connsiteY3" fmla="*/ 7937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 name="connsiteX0" fmla="*/ 2082800 w 2622550"/>
                    <a:gd name="connsiteY0" fmla="*/ 0 h 793750"/>
                    <a:gd name="connsiteX1" fmla="*/ 2393950 w 2622550"/>
                    <a:gd name="connsiteY1" fmla="*/ 0 h 793750"/>
                    <a:gd name="connsiteX2" fmla="*/ 2622550 w 2622550"/>
                    <a:gd name="connsiteY2" fmla="*/ 254000 h 793750"/>
                    <a:gd name="connsiteX3" fmla="*/ 2203450 w 2622550"/>
                    <a:gd name="connsiteY3" fmla="*/ 781050 h 793750"/>
                    <a:gd name="connsiteX4" fmla="*/ 165100 w 2622550"/>
                    <a:gd name="connsiteY4" fmla="*/ 793750 h 793750"/>
                    <a:gd name="connsiteX5" fmla="*/ 0 w 2622550"/>
                    <a:gd name="connsiteY5" fmla="*/ 527050 h 793750"/>
                    <a:gd name="connsiteX6" fmla="*/ 2063750 w 2622550"/>
                    <a:gd name="connsiteY6" fmla="*/ 520700 h 793750"/>
                    <a:gd name="connsiteX7" fmla="*/ 2260600 w 2622550"/>
                    <a:gd name="connsiteY7" fmla="*/ 266700 h 793750"/>
                    <a:gd name="connsiteX8" fmla="*/ 2082800 w 2622550"/>
                    <a:gd name="connsiteY8" fmla="*/ 0 h 79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2550" h="793750">
                      <a:moveTo>
                        <a:pt x="2082800" y="0"/>
                      </a:moveTo>
                      <a:lnTo>
                        <a:pt x="2393950" y="0"/>
                      </a:lnTo>
                      <a:lnTo>
                        <a:pt x="2622550" y="254000"/>
                      </a:lnTo>
                      <a:lnTo>
                        <a:pt x="2203450" y="781050"/>
                      </a:lnTo>
                      <a:lnTo>
                        <a:pt x="165100" y="793750"/>
                      </a:lnTo>
                      <a:lnTo>
                        <a:pt x="0" y="527050"/>
                      </a:lnTo>
                      <a:lnTo>
                        <a:pt x="2063750" y="520700"/>
                      </a:lnTo>
                      <a:lnTo>
                        <a:pt x="2260600" y="266700"/>
                      </a:lnTo>
                      <a:lnTo>
                        <a:pt x="2082800" y="0"/>
                      </a:lnTo>
                      <a:close/>
                    </a:path>
                  </a:pathLst>
                </a:custGeom>
                <a:solidFill>
                  <a:srgbClr val="9762AA"/>
                </a:solidFill>
                <a:ln w="12700" cap="flat" cmpd="sng" algn="ctr">
                  <a:solidFill>
                    <a:srgbClr val="9762A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95" name="Group 94">
                  <a:extLst>
                    <a:ext uri="{FF2B5EF4-FFF2-40B4-BE49-F238E27FC236}">
                      <a16:creationId xmlns:a16="http://schemas.microsoft.com/office/drawing/2014/main" id="{BD5D84E8-2C61-31CD-002E-2223B31049AB}"/>
                    </a:ext>
                  </a:extLst>
                </p:cNvPr>
                <p:cNvGrpSpPr/>
                <p:nvPr/>
              </p:nvGrpSpPr>
              <p:grpSpPr>
                <a:xfrm>
                  <a:off x="931333" y="3825875"/>
                  <a:ext cx="914400" cy="1625600"/>
                  <a:chOff x="931333" y="4097867"/>
                  <a:chExt cx="914400" cy="1625600"/>
                </a:xfrm>
              </p:grpSpPr>
              <p:cxnSp>
                <p:nvCxnSpPr>
                  <p:cNvPr id="108" name="Straight Connector 107">
                    <a:extLst>
                      <a:ext uri="{FF2B5EF4-FFF2-40B4-BE49-F238E27FC236}">
                        <a16:creationId xmlns:a16="http://schemas.microsoft.com/office/drawing/2014/main" id="{3174B9D7-B250-A212-C937-CA0B18E94E2E}"/>
                      </a:ext>
                    </a:extLst>
                  </p:cNvPr>
                  <p:cNvCxnSpPr>
                    <a:cxnSpLocks/>
                    <a:endCxn id="109" idx="0"/>
                  </p:cNvCxnSpPr>
                  <p:nvPr/>
                </p:nvCxnSpPr>
                <p:spPr>
                  <a:xfrm>
                    <a:off x="1388533" y="4097867"/>
                    <a:ext cx="0" cy="711200"/>
                  </a:xfrm>
                  <a:prstGeom prst="line">
                    <a:avLst/>
                  </a:prstGeom>
                  <a:noFill/>
                  <a:ln w="28575" cap="flat" cmpd="sng" algn="ctr">
                    <a:solidFill>
                      <a:sysClr val="window" lastClr="FFFFFF">
                        <a:lumMod val="65000"/>
                      </a:sysClr>
                    </a:solidFill>
                    <a:prstDash val="solid"/>
                    <a:miter lim="800000"/>
                  </a:ln>
                  <a:effectLst/>
                </p:spPr>
              </p:cxnSp>
              <p:sp>
                <p:nvSpPr>
                  <p:cNvPr id="109" name="Oval 108">
                    <a:extLst>
                      <a:ext uri="{FF2B5EF4-FFF2-40B4-BE49-F238E27FC236}">
                        <a16:creationId xmlns:a16="http://schemas.microsoft.com/office/drawing/2014/main" id="{6D7DC772-A7F2-C170-3BA2-90B74809D6F5}"/>
                      </a:ext>
                    </a:extLst>
                  </p:cNvPr>
                  <p:cNvSpPr/>
                  <p:nvPr/>
                </p:nvSpPr>
                <p:spPr>
                  <a:xfrm>
                    <a:off x="931333" y="4809067"/>
                    <a:ext cx="914400" cy="914400"/>
                  </a:xfrm>
                  <a:prstGeom prst="ellipse">
                    <a:avLst/>
                  </a:prstGeom>
                  <a:solidFill>
                    <a:srgbClr val="9762AA"/>
                  </a:solidFill>
                  <a:ln w="12700" cap="flat" cmpd="sng" algn="ctr">
                    <a:solidFill>
                      <a:srgbClr val="9762AA"/>
                    </a:solidFill>
                    <a:prstDash val="solid"/>
                    <a:miter lim="800000"/>
                  </a:ln>
                  <a:effectLst>
                    <a:outerShdw blurRad="50800" dist="508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96" name="Group 95">
                  <a:extLst>
                    <a:ext uri="{FF2B5EF4-FFF2-40B4-BE49-F238E27FC236}">
                      <a16:creationId xmlns:a16="http://schemas.microsoft.com/office/drawing/2014/main" id="{19B5B848-57C7-1752-8E6D-895DE69E51E5}"/>
                    </a:ext>
                  </a:extLst>
                </p:cNvPr>
                <p:cNvGrpSpPr/>
                <p:nvPr/>
              </p:nvGrpSpPr>
              <p:grpSpPr>
                <a:xfrm>
                  <a:off x="5481236" y="3825875"/>
                  <a:ext cx="914400" cy="1625600"/>
                  <a:chOff x="931333" y="4097867"/>
                  <a:chExt cx="914400" cy="1625600"/>
                </a:xfrm>
              </p:grpSpPr>
              <p:cxnSp>
                <p:nvCxnSpPr>
                  <p:cNvPr id="106" name="Straight Connector 105">
                    <a:extLst>
                      <a:ext uri="{FF2B5EF4-FFF2-40B4-BE49-F238E27FC236}">
                        <a16:creationId xmlns:a16="http://schemas.microsoft.com/office/drawing/2014/main" id="{6BA9CCA7-206A-29FD-18E0-555C48729BCA}"/>
                      </a:ext>
                    </a:extLst>
                  </p:cNvPr>
                  <p:cNvCxnSpPr>
                    <a:cxnSpLocks/>
                    <a:endCxn id="107" idx="0"/>
                  </p:cNvCxnSpPr>
                  <p:nvPr/>
                </p:nvCxnSpPr>
                <p:spPr>
                  <a:xfrm>
                    <a:off x="1388533" y="4097867"/>
                    <a:ext cx="0" cy="711200"/>
                  </a:xfrm>
                  <a:prstGeom prst="line">
                    <a:avLst/>
                  </a:prstGeom>
                  <a:noFill/>
                  <a:ln w="28575" cap="flat" cmpd="sng" algn="ctr">
                    <a:solidFill>
                      <a:sysClr val="window" lastClr="FFFFFF">
                        <a:lumMod val="65000"/>
                      </a:sysClr>
                    </a:solidFill>
                    <a:prstDash val="solid"/>
                    <a:miter lim="800000"/>
                  </a:ln>
                  <a:effectLst/>
                </p:spPr>
              </p:cxnSp>
              <p:sp>
                <p:nvSpPr>
                  <p:cNvPr id="107" name="Oval 106">
                    <a:extLst>
                      <a:ext uri="{FF2B5EF4-FFF2-40B4-BE49-F238E27FC236}">
                        <a16:creationId xmlns:a16="http://schemas.microsoft.com/office/drawing/2014/main" id="{8C12B621-C32F-A992-1B44-0DF37B6AFC45}"/>
                      </a:ext>
                    </a:extLst>
                  </p:cNvPr>
                  <p:cNvSpPr/>
                  <p:nvPr/>
                </p:nvSpPr>
                <p:spPr>
                  <a:xfrm>
                    <a:off x="931333" y="4809067"/>
                    <a:ext cx="914400" cy="914400"/>
                  </a:xfrm>
                  <a:prstGeom prst="ellipse">
                    <a:avLst/>
                  </a:prstGeom>
                  <a:solidFill>
                    <a:srgbClr val="0A9CCD"/>
                  </a:solidFill>
                  <a:ln w="12700" cap="flat" cmpd="sng" algn="ctr">
                    <a:solidFill>
                      <a:srgbClr val="0A9CCD"/>
                    </a:solidFill>
                    <a:prstDash val="solid"/>
                    <a:miter lim="800000"/>
                  </a:ln>
                  <a:effectLst>
                    <a:outerShdw blurRad="50800" dist="508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97" name="Group 96">
                  <a:extLst>
                    <a:ext uri="{FF2B5EF4-FFF2-40B4-BE49-F238E27FC236}">
                      <a16:creationId xmlns:a16="http://schemas.microsoft.com/office/drawing/2014/main" id="{A8097D1C-ECAB-D5E2-0536-8BF0844ACC93}"/>
                    </a:ext>
                  </a:extLst>
                </p:cNvPr>
                <p:cNvGrpSpPr/>
                <p:nvPr/>
              </p:nvGrpSpPr>
              <p:grpSpPr>
                <a:xfrm>
                  <a:off x="10133493" y="3825875"/>
                  <a:ext cx="914400" cy="1625600"/>
                  <a:chOff x="931333" y="4097867"/>
                  <a:chExt cx="914400" cy="1625600"/>
                </a:xfrm>
              </p:grpSpPr>
              <p:cxnSp>
                <p:nvCxnSpPr>
                  <p:cNvPr id="104" name="Straight Connector 103">
                    <a:extLst>
                      <a:ext uri="{FF2B5EF4-FFF2-40B4-BE49-F238E27FC236}">
                        <a16:creationId xmlns:a16="http://schemas.microsoft.com/office/drawing/2014/main" id="{82F3847D-E3A4-7A6E-2C45-13D411D30B7B}"/>
                      </a:ext>
                    </a:extLst>
                  </p:cNvPr>
                  <p:cNvCxnSpPr>
                    <a:cxnSpLocks/>
                    <a:endCxn id="105" idx="0"/>
                  </p:cNvCxnSpPr>
                  <p:nvPr/>
                </p:nvCxnSpPr>
                <p:spPr>
                  <a:xfrm>
                    <a:off x="1388533" y="4097867"/>
                    <a:ext cx="0" cy="711200"/>
                  </a:xfrm>
                  <a:prstGeom prst="line">
                    <a:avLst/>
                  </a:prstGeom>
                  <a:noFill/>
                  <a:ln w="28575" cap="flat" cmpd="sng" algn="ctr">
                    <a:solidFill>
                      <a:sysClr val="window" lastClr="FFFFFF">
                        <a:lumMod val="65000"/>
                      </a:sysClr>
                    </a:solidFill>
                    <a:prstDash val="solid"/>
                    <a:miter lim="800000"/>
                  </a:ln>
                  <a:effectLst/>
                </p:spPr>
              </p:cxnSp>
              <p:sp>
                <p:nvSpPr>
                  <p:cNvPr id="105" name="Oval 104">
                    <a:extLst>
                      <a:ext uri="{FF2B5EF4-FFF2-40B4-BE49-F238E27FC236}">
                        <a16:creationId xmlns:a16="http://schemas.microsoft.com/office/drawing/2014/main" id="{7F6D14B2-3DE0-2A7D-FDCC-BC02F4ECCED9}"/>
                      </a:ext>
                    </a:extLst>
                  </p:cNvPr>
                  <p:cNvSpPr/>
                  <p:nvPr/>
                </p:nvSpPr>
                <p:spPr>
                  <a:xfrm>
                    <a:off x="931333" y="4809067"/>
                    <a:ext cx="914400" cy="914400"/>
                  </a:xfrm>
                  <a:prstGeom prst="ellipse">
                    <a:avLst/>
                  </a:prstGeom>
                  <a:solidFill>
                    <a:srgbClr val="FBAD4B"/>
                  </a:solidFill>
                  <a:ln w="12700" cap="flat" cmpd="sng" algn="ctr">
                    <a:solidFill>
                      <a:srgbClr val="FBAD4B"/>
                    </a:solidFill>
                    <a:prstDash val="solid"/>
                    <a:miter lim="800000"/>
                  </a:ln>
                  <a:effectLst>
                    <a:outerShdw blurRad="50800" dist="508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98" name="Group 97">
                  <a:extLst>
                    <a:ext uri="{FF2B5EF4-FFF2-40B4-BE49-F238E27FC236}">
                      <a16:creationId xmlns:a16="http://schemas.microsoft.com/office/drawing/2014/main" id="{2ABF1996-1433-BB7B-E8F1-EE5E348B7F4D}"/>
                    </a:ext>
                  </a:extLst>
                </p:cNvPr>
                <p:cNvGrpSpPr/>
                <p:nvPr/>
              </p:nvGrpSpPr>
              <p:grpSpPr>
                <a:xfrm flipV="1">
                  <a:off x="3153065" y="1406525"/>
                  <a:ext cx="914400" cy="1625600"/>
                  <a:chOff x="931333" y="4097867"/>
                  <a:chExt cx="914400" cy="1625600"/>
                </a:xfrm>
              </p:grpSpPr>
              <p:cxnSp>
                <p:nvCxnSpPr>
                  <p:cNvPr id="102" name="Straight Connector 101">
                    <a:extLst>
                      <a:ext uri="{FF2B5EF4-FFF2-40B4-BE49-F238E27FC236}">
                        <a16:creationId xmlns:a16="http://schemas.microsoft.com/office/drawing/2014/main" id="{900E96F1-4112-015D-877F-BE7CF3485A8B}"/>
                      </a:ext>
                    </a:extLst>
                  </p:cNvPr>
                  <p:cNvCxnSpPr>
                    <a:cxnSpLocks/>
                    <a:endCxn id="103" idx="0"/>
                  </p:cNvCxnSpPr>
                  <p:nvPr/>
                </p:nvCxnSpPr>
                <p:spPr>
                  <a:xfrm>
                    <a:off x="1388533" y="4097867"/>
                    <a:ext cx="0" cy="711200"/>
                  </a:xfrm>
                  <a:prstGeom prst="line">
                    <a:avLst/>
                  </a:prstGeom>
                  <a:noFill/>
                  <a:ln w="28575" cap="flat" cmpd="sng" algn="ctr">
                    <a:solidFill>
                      <a:sysClr val="window" lastClr="FFFFFF">
                        <a:lumMod val="65000"/>
                      </a:sysClr>
                    </a:solidFill>
                    <a:prstDash val="solid"/>
                    <a:miter lim="800000"/>
                  </a:ln>
                  <a:effectLst/>
                </p:spPr>
              </p:cxnSp>
              <p:sp>
                <p:nvSpPr>
                  <p:cNvPr id="103" name="Oval 102">
                    <a:extLst>
                      <a:ext uri="{FF2B5EF4-FFF2-40B4-BE49-F238E27FC236}">
                        <a16:creationId xmlns:a16="http://schemas.microsoft.com/office/drawing/2014/main" id="{718CED31-44BA-A548-3F08-D9A5E2B2EE50}"/>
                      </a:ext>
                    </a:extLst>
                  </p:cNvPr>
                  <p:cNvSpPr/>
                  <p:nvPr/>
                </p:nvSpPr>
                <p:spPr>
                  <a:xfrm>
                    <a:off x="931333" y="4809067"/>
                    <a:ext cx="914400" cy="914400"/>
                  </a:xfrm>
                  <a:prstGeom prst="ellipse">
                    <a:avLst/>
                  </a:prstGeom>
                  <a:solidFill>
                    <a:srgbClr val="F25E3D"/>
                  </a:solidFill>
                  <a:ln w="12700" cap="flat" cmpd="sng" algn="ctr">
                    <a:solidFill>
                      <a:srgbClr val="F25E3D"/>
                    </a:solidFill>
                    <a:prstDash val="solid"/>
                    <a:miter lim="800000"/>
                  </a:ln>
                  <a:effectLst>
                    <a:outerShdw blurRad="50800" dist="50800" dir="18900000" algn="b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99" name="Group 98">
                  <a:extLst>
                    <a:ext uri="{FF2B5EF4-FFF2-40B4-BE49-F238E27FC236}">
                      <a16:creationId xmlns:a16="http://schemas.microsoft.com/office/drawing/2014/main" id="{602CE1BB-B7E6-9C96-E598-49C28709CAD0}"/>
                    </a:ext>
                  </a:extLst>
                </p:cNvPr>
                <p:cNvGrpSpPr/>
                <p:nvPr/>
              </p:nvGrpSpPr>
              <p:grpSpPr>
                <a:xfrm flipV="1">
                  <a:off x="7667337" y="1406525"/>
                  <a:ext cx="914400" cy="1625600"/>
                  <a:chOff x="931333" y="4097867"/>
                  <a:chExt cx="914400" cy="1625600"/>
                </a:xfrm>
              </p:grpSpPr>
              <p:cxnSp>
                <p:nvCxnSpPr>
                  <p:cNvPr id="100" name="Straight Connector 99">
                    <a:extLst>
                      <a:ext uri="{FF2B5EF4-FFF2-40B4-BE49-F238E27FC236}">
                        <a16:creationId xmlns:a16="http://schemas.microsoft.com/office/drawing/2014/main" id="{B35E6200-973F-9CDE-4195-FF57DB126FF0}"/>
                      </a:ext>
                    </a:extLst>
                  </p:cNvPr>
                  <p:cNvCxnSpPr>
                    <a:cxnSpLocks/>
                    <a:endCxn id="101" idx="0"/>
                  </p:cNvCxnSpPr>
                  <p:nvPr/>
                </p:nvCxnSpPr>
                <p:spPr>
                  <a:xfrm>
                    <a:off x="1388533" y="4097867"/>
                    <a:ext cx="0" cy="711200"/>
                  </a:xfrm>
                  <a:prstGeom prst="line">
                    <a:avLst/>
                  </a:prstGeom>
                  <a:noFill/>
                  <a:ln w="28575" cap="flat" cmpd="sng" algn="ctr">
                    <a:solidFill>
                      <a:sysClr val="window" lastClr="FFFFFF">
                        <a:lumMod val="65000"/>
                      </a:sysClr>
                    </a:solidFill>
                    <a:prstDash val="solid"/>
                    <a:miter lim="800000"/>
                  </a:ln>
                  <a:effectLst/>
                </p:spPr>
              </p:cxnSp>
              <p:sp>
                <p:nvSpPr>
                  <p:cNvPr id="101" name="Oval 100">
                    <a:extLst>
                      <a:ext uri="{FF2B5EF4-FFF2-40B4-BE49-F238E27FC236}">
                        <a16:creationId xmlns:a16="http://schemas.microsoft.com/office/drawing/2014/main" id="{69226C4E-657C-2CA1-72B5-EC250D6A061B}"/>
                      </a:ext>
                    </a:extLst>
                  </p:cNvPr>
                  <p:cNvSpPr/>
                  <p:nvPr/>
                </p:nvSpPr>
                <p:spPr>
                  <a:xfrm>
                    <a:off x="931333" y="4809067"/>
                    <a:ext cx="914400" cy="914400"/>
                  </a:xfrm>
                  <a:prstGeom prst="ellipse">
                    <a:avLst/>
                  </a:prstGeom>
                  <a:solidFill>
                    <a:srgbClr val="69AA43"/>
                  </a:solidFill>
                  <a:ln w="12700" cap="flat" cmpd="sng" algn="ctr">
                    <a:solidFill>
                      <a:srgbClr val="69AA43"/>
                    </a:solidFill>
                    <a:prstDash val="solid"/>
                    <a:miter lim="800000"/>
                  </a:ln>
                  <a:effectLst>
                    <a:outerShdw blurRad="50800" dist="50800" dir="18900000" algn="b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80" name="TextBox 79">
                <a:extLst>
                  <a:ext uri="{FF2B5EF4-FFF2-40B4-BE49-F238E27FC236}">
                    <a16:creationId xmlns:a16="http://schemas.microsoft.com/office/drawing/2014/main" id="{EB817200-04A5-C6ED-8533-D5588B07B645}"/>
                  </a:ext>
                </a:extLst>
              </p:cNvPr>
              <p:cNvSpPr txBox="1"/>
              <p:nvPr/>
            </p:nvSpPr>
            <p:spPr>
              <a:xfrm>
                <a:off x="510418" y="3032125"/>
                <a:ext cx="175622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Georgia Pro Cond" panose="02040506050405020303" pitchFamily="18" charset="0"/>
                  </a:rPr>
                  <a:t>2023/24</a:t>
                </a:r>
              </a:p>
            </p:txBody>
          </p:sp>
          <p:sp>
            <p:nvSpPr>
              <p:cNvPr id="81" name="TextBox 80">
                <a:extLst>
                  <a:ext uri="{FF2B5EF4-FFF2-40B4-BE49-F238E27FC236}">
                    <a16:creationId xmlns:a16="http://schemas.microsoft.com/office/drawing/2014/main" id="{56D99981-F387-69CD-A52F-E1948802CB70}"/>
                  </a:ext>
                </a:extLst>
              </p:cNvPr>
              <p:cNvSpPr txBox="1"/>
              <p:nvPr/>
            </p:nvSpPr>
            <p:spPr>
              <a:xfrm>
                <a:off x="5061856" y="3032125"/>
                <a:ext cx="175622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Georgia Pro Cond" panose="02040506050405020303" pitchFamily="18" charset="0"/>
                  </a:rPr>
                  <a:t>2025/26</a:t>
                </a:r>
              </a:p>
            </p:txBody>
          </p:sp>
          <p:sp>
            <p:nvSpPr>
              <p:cNvPr id="82" name="TextBox 81">
                <a:extLst>
                  <a:ext uri="{FF2B5EF4-FFF2-40B4-BE49-F238E27FC236}">
                    <a16:creationId xmlns:a16="http://schemas.microsoft.com/office/drawing/2014/main" id="{7FB7CF23-BDD2-9E32-660F-74888AB64B26}"/>
                  </a:ext>
                </a:extLst>
              </p:cNvPr>
              <p:cNvSpPr txBox="1"/>
              <p:nvPr/>
            </p:nvSpPr>
            <p:spPr>
              <a:xfrm>
                <a:off x="9593311" y="3032125"/>
                <a:ext cx="175622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Georgia Pro Cond" panose="02040506050405020303" pitchFamily="18" charset="0"/>
                  </a:rPr>
                  <a:t>2027/28</a:t>
                </a:r>
              </a:p>
            </p:txBody>
          </p:sp>
          <p:sp>
            <p:nvSpPr>
              <p:cNvPr id="83" name="TextBox 82">
                <a:extLst>
                  <a:ext uri="{FF2B5EF4-FFF2-40B4-BE49-F238E27FC236}">
                    <a16:creationId xmlns:a16="http://schemas.microsoft.com/office/drawing/2014/main" id="{549A7342-D0E4-CBCB-5F92-3E0B5EB3B6EA}"/>
                  </a:ext>
                </a:extLst>
              </p:cNvPr>
              <p:cNvSpPr txBox="1"/>
              <p:nvPr/>
            </p:nvSpPr>
            <p:spPr>
              <a:xfrm>
                <a:off x="2818083" y="3429000"/>
                <a:ext cx="175622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Georgia Pro Cond" panose="02040506050405020303" pitchFamily="18" charset="0"/>
                  </a:rPr>
                  <a:t>2024/25</a:t>
                </a:r>
              </a:p>
            </p:txBody>
          </p:sp>
          <p:sp>
            <p:nvSpPr>
              <p:cNvPr id="84" name="TextBox 83">
                <a:extLst>
                  <a:ext uri="{FF2B5EF4-FFF2-40B4-BE49-F238E27FC236}">
                    <a16:creationId xmlns:a16="http://schemas.microsoft.com/office/drawing/2014/main" id="{3F795DA0-54F5-04E0-F269-1522D9E2AEE3}"/>
                  </a:ext>
                </a:extLst>
              </p:cNvPr>
              <p:cNvSpPr txBox="1"/>
              <p:nvPr/>
            </p:nvSpPr>
            <p:spPr>
              <a:xfrm>
                <a:off x="7300573" y="3429000"/>
                <a:ext cx="175622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black"/>
                    </a:solidFill>
                    <a:effectLst/>
                    <a:uLnTx/>
                    <a:uFillTx/>
                    <a:latin typeface="Georgia Pro Cond" panose="02040506050405020303" pitchFamily="18" charset="0"/>
                  </a:rPr>
                  <a:t>2026/27</a:t>
                </a:r>
              </a:p>
            </p:txBody>
          </p:sp>
          <p:sp>
            <p:nvSpPr>
              <p:cNvPr id="85" name="TextBox 84">
                <a:extLst>
                  <a:ext uri="{FF2B5EF4-FFF2-40B4-BE49-F238E27FC236}">
                    <a16:creationId xmlns:a16="http://schemas.microsoft.com/office/drawing/2014/main" id="{140C386C-CCB0-AB8E-CC39-5C8B02984CB9}"/>
                  </a:ext>
                </a:extLst>
              </p:cNvPr>
              <p:cNvSpPr txBox="1"/>
              <p:nvPr/>
            </p:nvSpPr>
            <p:spPr>
              <a:xfrm>
                <a:off x="361324" y="2105158"/>
                <a:ext cx="2088220" cy="92333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black"/>
                    </a:solidFill>
                    <a:effectLst/>
                    <a:uLnTx/>
                    <a:uFillTx/>
                    <a:latin typeface="Georgia Pro Light" panose="02040302050405020303" pitchFamily="18" charset="0"/>
                  </a:rPr>
                  <a:t>Accrual Statements prepared but not under IPSAS 33.  </a:t>
                </a:r>
              </a:p>
            </p:txBody>
          </p:sp>
          <p:sp>
            <p:nvSpPr>
              <p:cNvPr id="86" name="TextBox 85">
                <a:extLst>
                  <a:ext uri="{FF2B5EF4-FFF2-40B4-BE49-F238E27FC236}">
                    <a16:creationId xmlns:a16="http://schemas.microsoft.com/office/drawing/2014/main" id="{643E5472-D7FB-6DF2-0539-5D56A0813B64}"/>
                  </a:ext>
                </a:extLst>
              </p:cNvPr>
              <p:cNvSpPr txBox="1"/>
              <p:nvPr/>
            </p:nvSpPr>
            <p:spPr>
              <a:xfrm>
                <a:off x="4850328" y="2110664"/>
                <a:ext cx="2119329" cy="92333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kern="0" dirty="0">
                    <a:solidFill>
                      <a:prstClr val="black"/>
                    </a:solidFill>
                    <a:latin typeface="Georgia Pro Light" panose="02040302050405020303" pitchFamily="18" charset="0"/>
                  </a:rPr>
                  <a:t>2</a:t>
                </a:r>
                <a:r>
                  <a:rPr lang="en-US" kern="0" baseline="30000" dirty="0">
                    <a:solidFill>
                      <a:prstClr val="black"/>
                    </a:solidFill>
                    <a:latin typeface="Georgia Pro Light" panose="02040302050405020303" pitchFamily="18" charset="0"/>
                  </a:rPr>
                  <a:t>nd</a:t>
                </a:r>
                <a:r>
                  <a:rPr lang="en-US" kern="0" dirty="0">
                    <a:solidFill>
                      <a:prstClr val="black"/>
                    </a:solidFill>
                    <a:latin typeface="Georgia Pro Light" panose="02040302050405020303" pitchFamily="18" charset="0"/>
                  </a:rPr>
                  <a:t> Transitional Financial Statements.</a:t>
                </a:r>
                <a:endParaRPr kumimoji="0" lang="en-US" b="0" i="0" u="none" strike="noStrike" kern="0" cap="none" spc="0" normalizeH="0" baseline="0" noProof="0" dirty="0">
                  <a:ln>
                    <a:noFill/>
                  </a:ln>
                  <a:solidFill>
                    <a:prstClr val="black"/>
                  </a:solidFill>
                  <a:effectLst/>
                  <a:uLnTx/>
                  <a:uFillTx/>
                  <a:latin typeface="Georgia Pro Light" panose="02040302050405020303" pitchFamily="18" charset="0"/>
                </a:endParaRPr>
              </a:p>
            </p:txBody>
          </p:sp>
          <p:sp>
            <p:nvSpPr>
              <p:cNvPr id="87" name="TextBox 86">
                <a:extLst>
                  <a:ext uri="{FF2B5EF4-FFF2-40B4-BE49-F238E27FC236}">
                    <a16:creationId xmlns:a16="http://schemas.microsoft.com/office/drawing/2014/main" id="{BDC8C28B-D84A-1FAC-31D7-6E494FEEF3EF}"/>
                  </a:ext>
                </a:extLst>
              </p:cNvPr>
              <p:cNvSpPr txBox="1"/>
              <p:nvPr/>
            </p:nvSpPr>
            <p:spPr>
              <a:xfrm>
                <a:off x="9436121" y="1831796"/>
                <a:ext cx="2070608" cy="120032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black"/>
                    </a:solidFill>
                    <a:effectLst/>
                    <a:uLnTx/>
                    <a:uFillTx/>
                    <a:latin typeface="Georgia Pro Light" panose="02040302050405020303" pitchFamily="18" charset="0"/>
                  </a:rPr>
                  <a:t>Full IPSAS Compliance Financial Statements.</a:t>
                </a:r>
              </a:p>
            </p:txBody>
          </p:sp>
          <p:sp>
            <p:nvSpPr>
              <p:cNvPr id="88" name="TextBox 87">
                <a:extLst>
                  <a:ext uri="{FF2B5EF4-FFF2-40B4-BE49-F238E27FC236}">
                    <a16:creationId xmlns:a16="http://schemas.microsoft.com/office/drawing/2014/main" id="{00B49651-CABE-1636-DEC0-3256DADCFD64}"/>
                  </a:ext>
                </a:extLst>
              </p:cNvPr>
              <p:cNvSpPr txBox="1"/>
              <p:nvPr/>
            </p:nvSpPr>
            <p:spPr>
              <a:xfrm>
                <a:off x="2610352" y="3890665"/>
                <a:ext cx="2066323" cy="203132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black"/>
                    </a:solidFill>
                    <a:effectLst/>
                    <a:uLnTx/>
                    <a:uFillTx/>
                    <a:latin typeface="Georgia Pro Light" panose="02040302050405020303" pitchFamily="18" charset="0"/>
                  </a:rPr>
                  <a:t>First year under IPSAS 33.</a:t>
                </a:r>
              </a:p>
              <a:p>
                <a:pPr marL="0" marR="0" lvl="0" indent="0" algn="ctr" defTabSz="914400" eaLnBrk="1" fontAlgn="auto" latinLnBrk="0" hangingPunct="1">
                  <a:lnSpc>
                    <a:spcPct val="100000"/>
                  </a:lnSpc>
                  <a:spcBef>
                    <a:spcPts val="0"/>
                  </a:spcBef>
                  <a:spcAft>
                    <a:spcPts val="0"/>
                  </a:spcAft>
                  <a:buClrTx/>
                  <a:buSzTx/>
                  <a:buFontTx/>
                  <a:buNone/>
                  <a:tabLst/>
                  <a:defRPr/>
                </a:pPr>
                <a:endParaRPr lang="en-US" kern="0" dirty="0">
                  <a:solidFill>
                    <a:prstClr val="black"/>
                  </a:solidFill>
                  <a:latin typeface="Georgia Pro Light" panose="02040302050405020303"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lang="en-US" kern="0" dirty="0">
                    <a:solidFill>
                      <a:prstClr val="black"/>
                    </a:solidFill>
                    <a:latin typeface="Georgia Pro Light" panose="02040302050405020303" pitchFamily="18" charset="0"/>
                  </a:rPr>
                  <a:t>1</a:t>
                </a:r>
                <a:r>
                  <a:rPr lang="en-US" kern="0" baseline="30000" dirty="0">
                    <a:solidFill>
                      <a:prstClr val="black"/>
                    </a:solidFill>
                    <a:latin typeface="Georgia Pro Light" panose="02040302050405020303" pitchFamily="18" charset="0"/>
                  </a:rPr>
                  <a:t>st</a:t>
                </a:r>
                <a:r>
                  <a:rPr lang="en-US" kern="0" dirty="0">
                    <a:solidFill>
                      <a:prstClr val="black"/>
                    </a:solidFill>
                    <a:latin typeface="Georgia Pro Light" panose="02040302050405020303" pitchFamily="18" charset="0"/>
                  </a:rPr>
                  <a:t> Transitional Financial Statements prepared.</a:t>
                </a:r>
                <a:endParaRPr kumimoji="0" lang="en-US" b="0" i="0" u="none" strike="noStrike" kern="0" cap="none" spc="0" normalizeH="0" baseline="0" noProof="0" dirty="0">
                  <a:ln>
                    <a:noFill/>
                  </a:ln>
                  <a:solidFill>
                    <a:prstClr val="black"/>
                  </a:solidFill>
                  <a:effectLst/>
                  <a:uLnTx/>
                  <a:uFillTx/>
                  <a:latin typeface="Georgia Pro Light" panose="02040302050405020303" pitchFamily="18" charset="0"/>
                </a:endParaRPr>
              </a:p>
            </p:txBody>
          </p:sp>
          <p:sp>
            <p:nvSpPr>
              <p:cNvPr id="89" name="TextBox 88">
                <a:extLst>
                  <a:ext uri="{FF2B5EF4-FFF2-40B4-BE49-F238E27FC236}">
                    <a16:creationId xmlns:a16="http://schemas.microsoft.com/office/drawing/2014/main" id="{826C1707-D651-8BCF-C855-0840358A2E8F}"/>
                  </a:ext>
                </a:extLst>
              </p:cNvPr>
              <p:cNvSpPr txBox="1"/>
              <p:nvPr/>
            </p:nvSpPr>
            <p:spPr>
              <a:xfrm>
                <a:off x="7073476" y="3884573"/>
                <a:ext cx="2309767"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black"/>
                    </a:solidFill>
                    <a:effectLst/>
                    <a:uLnTx/>
                    <a:uFillTx/>
                    <a:latin typeface="Georgia Pro Light" panose="02040302050405020303" pitchFamily="18" charset="0"/>
                  </a:rPr>
                  <a:t>3</a:t>
                </a:r>
                <a:r>
                  <a:rPr kumimoji="0" lang="en-US" b="0" i="0" u="none" strike="noStrike" kern="0" cap="none" spc="0" normalizeH="0" baseline="30000" noProof="0" dirty="0">
                    <a:ln>
                      <a:noFill/>
                    </a:ln>
                    <a:solidFill>
                      <a:prstClr val="black"/>
                    </a:solidFill>
                    <a:effectLst/>
                    <a:uLnTx/>
                    <a:uFillTx/>
                    <a:latin typeface="Georgia Pro Light" panose="02040302050405020303" pitchFamily="18" charset="0"/>
                  </a:rPr>
                  <a:t>rd</a:t>
                </a:r>
                <a:r>
                  <a:rPr kumimoji="0" lang="en-US" b="0" i="0" u="none" strike="noStrike" kern="0" cap="none" spc="0" normalizeH="0" baseline="0" noProof="0" dirty="0">
                    <a:ln>
                      <a:noFill/>
                    </a:ln>
                    <a:solidFill>
                      <a:prstClr val="black"/>
                    </a:solidFill>
                    <a:effectLst/>
                    <a:uLnTx/>
                    <a:uFillTx/>
                    <a:latin typeface="Georgia Pro Light" panose="02040302050405020303" pitchFamily="18" charset="0"/>
                  </a:rPr>
                  <a:t> Transitional Financial Statements.</a:t>
                </a:r>
              </a:p>
            </p:txBody>
          </p:sp>
        </p:grpSp>
        <p:pic>
          <p:nvPicPr>
            <p:cNvPr id="74" name="Graphic 73" descr="Bar graph with upward trend">
              <a:extLst>
                <a:ext uri="{FF2B5EF4-FFF2-40B4-BE49-F238E27FC236}">
                  <a16:creationId xmlns:a16="http://schemas.microsoft.com/office/drawing/2014/main" id="{C79A54FD-7036-F767-C14C-04F6AAB0F1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29774" y="4785613"/>
              <a:ext cx="417324" cy="417324"/>
            </a:xfrm>
            <a:prstGeom prst="rect">
              <a:avLst/>
            </a:prstGeom>
          </p:spPr>
        </p:pic>
        <p:pic>
          <p:nvPicPr>
            <p:cNvPr id="75" name="Graphic 74" descr="Bullseye">
              <a:extLst>
                <a:ext uri="{FF2B5EF4-FFF2-40B4-BE49-F238E27FC236}">
                  <a16:creationId xmlns:a16="http://schemas.microsoft.com/office/drawing/2014/main" id="{F8BE0858-2634-23D3-B1BF-F097FF8193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70450" y="1623910"/>
              <a:ext cx="479630" cy="479630"/>
            </a:xfrm>
            <a:prstGeom prst="rect">
              <a:avLst/>
            </a:prstGeom>
          </p:spPr>
        </p:pic>
        <p:pic>
          <p:nvPicPr>
            <p:cNvPr id="76" name="Graphic 75" descr="Briefcase">
              <a:extLst>
                <a:ext uri="{FF2B5EF4-FFF2-40B4-BE49-F238E27FC236}">
                  <a16:creationId xmlns:a16="http://schemas.microsoft.com/office/drawing/2014/main" id="{BA72C4D8-1BDF-0D54-6487-EF0063A531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4143" y="4789885"/>
              <a:ext cx="408780" cy="408780"/>
            </a:xfrm>
            <a:prstGeom prst="rect">
              <a:avLst/>
            </a:prstGeom>
          </p:spPr>
        </p:pic>
        <p:pic>
          <p:nvPicPr>
            <p:cNvPr id="77" name="Graphic 76" descr="Trophy">
              <a:extLst>
                <a:ext uri="{FF2B5EF4-FFF2-40B4-BE49-F238E27FC236}">
                  <a16:creationId xmlns:a16="http://schemas.microsoft.com/office/drawing/2014/main" id="{046A12EF-045B-364E-F130-8EDF412B52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24701" y="4728283"/>
              <a:ext cx="531985" cy="531985"/>
            </a:xfrm>
            <a:prstGeom prst="rect">
              <a:avLst/>
            </a:prstGeom>
          </p:spPr>
        </p:pic>
        <p:pic>
          <p:nvPicPr>
            <p:cNvPr id="78" name="Graphic 77" descr="Money">
              <a:extLst>
                <a:ext uri="{FF2B5EF4-FFF2-40B4-BE49-F238E27FC236}">
                  <a16:creationId xmlns:a16="http://schemas.microsoft.com/office/drawing/2014/main" id="{E795150A-AD92-D615-4028-20E1C6C4F4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58545" y="1597733"/>
              <a:ext cx="531985" cy="531985"/>
            </a:xfrm>
            <a:prstGeom prst="rect">
              <a:avLst/>
            </a:prstGeom>
          </p:spPr>
        </p:pic>
      </p:grpSp>
    </p:spTree>
    <p:extLst>
      <p:ext uri="{BB962C8B-B14F-4D97-AF65-F5344CB8AC3E}">
        <p14:creationId xmlns:p14="http://schemas.microsoft.com/office/powerpoint/2010/main" val="144686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93187D65-6083-8F1B-5DA1-8E88A6FC594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FBCC8E2-C2B5-0F5B-5C47-5D8DEBB2D94E}"/>
              </a:ext>
            </a:extLst>
          </p:cNvPr>
          <p:cNvGraphicFramePr>
            <a:graphicFrameLocks noGrp="1"/>
          </p:cNvGraphicFramePr>
          <p:nvPr>
            <p:extLst>
              <p:ext uri="{D42A27DB-BD31-4B8C-83A1-F6EECF244321}">
                <p14:modId xmlns:p14="http://schemas.microsoft.com/office/powerpoint/2010/main" val="114788333"/>
              </p:ext>
            </p:extLst>
          </p:nvPr>
        </p:nvGraphicFramePr>
        <p:xfrm>
          <a:off x="9736" y="0"/>
          <a:ext cx="12182265" cy="6826960"/>
        </p:xfrm>
        <a:graphic>
          <a:graphicData uri="http://schemas.openxmlformats.org/drawingml/2006/table">
            <a:tbl>
              <a:tblPr>
                <a:tableStyleId>{5C22544A-7EE6-4342-B048-85BDC9FD1C3A}</a:tableStyleId>
              </a:tblPr>
              <a:tblGrid>
                <a:gridCol w="324572">
                  <a:extLst>
                    <a:ext uri="{9D8B030D-6E8A-4147-A177-3AD203B41FA5}">
                      <a16:colId xmlns:a16="http://schemas.microsoft.com/office/drawing/2014/main" val="2548576318"/>
                    </a:ext>
                  </a:extLst>
                </a:gridCol>
                <a:gridCol w="3548653">
                  <a:extLst>
                    <a:ext uri="{9D8B030D-6E8A-4147-A177-3AD203B41FA5}">
                      <a16:colId xmlns:a16="http://schemas.microsoft.com/office/drawing/2014/main" val="2116207323"/>
                    </a:ext>
                  </a:extLst>
                </a:gridCol>
                <a:gridCol w="3808310">
                  <a:extLst>
                    <a:ext uri="{9D8B030D-6E8A-4147-A177-3AD203B41FA5}">
                      <a16:colId xmlns:a16="http://schemas.microsoft.com/office/drawing/2014/main" val="3948594859"/>
                    </a:ext>
                  </a:extLst>
                </a:gridCol>
                <a:gridCol w="4176158">
                  <a:extLst>
                    <a:ext uri="{9D8B030D-6E8A-4147-A177-3AD203B41FA5}">
                      <a16:colId xmlns:a16="http://schemas.microsoft.com/office/drawing/2014/main" val="3824904259"/>
                    </a:ext>
                  </a:extLst>
                </a:gridCol>
                <a:gridCol w="324572">
                  <a:extLst>
                    <a:ext uri="{9D8B030D-6E8A-4147-A177-3AD203B41FA5}">
                      <a16:colId xmlns:a16="http://schemas.microsoft.com/office/drawing/2014/main" val="2392446557"/>
                    </a:ext>
                  </a:extLst>
                </a:gridCol>
              </a:tblGrid>
              <a:tr h="232954">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ctr">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ctr">
                    <a:solidFill>
                      <a:schemeClr val="bg1"/>
                    </a:solidFill>
                  </a:tcPr>
                </a:tc>
                <a:tc>
                  <a:txBody>
                    <a:bodyPr/>
                    <a:lstStyle/>
                    <a:p>
                      <a:pPr algn="r" rtl="0" fontAlgn="b">
                        <a:buNone/>
                      </a:pPr>
                      <a:r>
                        <a:rPr lang="en-GB" sz="1400" b="1" u="none" strike="noStrike" dirty="0">
                          <a:effectLst/>
                        </a:rPr>
                        <a:t>FY 2025/26 &amp; 2026/27 – IPSAS 33</a:t>
                      </a:r>
                      <a:endParaRPr lang="en-GB" sz="1400" b="1" i="0" u="none" strike="noStrike" dirty="0">
                        <a:solidFill>
                          <a:srgbClr val="000000"/>
                        </a:solidFill>
                        <a:effectLst/>
                        <a:latin typeface="Calibri" panose="020F0502020204030204" pitchFamily="34" charset="0"/>
                      </a:endParaRPr>
                    </a:p>
                  </a:txBody>
                  <a:tcPr marL="7620" marR="7620" marT="7620" marB="0" anchor="b">
                    <a:solidFill>
                      <a:srgbClr val="00B050"/>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552497040"/>
                  </a:ext>
                </a:extLst>
              </a:tr>
              <a:tr h="232954">
                <a:tc>
                  <a:txBody>
                    <a:bodyPr/>
                    <a:lstStyle/>
                    <a:p>
                      <a:pPr algn="ctr" fontAlgn="b">
                        <a:buNone/>
                      </a:pPr>
                      <a:r>
                        <a:rPr lang="en-GB" sz="1400" u="none" strike="noStrike">
                          <a:effectLst/>
                        </a:rPr>
                        <a:t>ZB</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a:effectLst/>
                        </a:rPr>
                        <a:t> </a:t>
                      </a:r>
                      <a:endParaRPr lang="en-GB" sz="1400" b="0" i="0" u="none" strike="noStrike">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Indoor assets of subsidiary entities - public schools.</a:t>
                      </a:r>
                    </a:p>
                  </a:txBody>
                  <a:tcPr marL="7620" marR="7620" marT="7620" marB="0" anchor="ctr"/>
                </a:tc>
                <a:tc>
                  <a:txBody>
                    <a:bodyPr/>
                    <a:lstStyle/>
                    <a:p>
                      <a:pPr algn="ctr" fontAlgn="b">
                        <a:buNone/>
                      </a:pPr>
                      <a:r>
                        <a:rPr lang="en-GB" sz="1400" u="none" strike="noStrike" dirty="0">
                          <a:effectLst/>
                        </a:rPr>
                        <a:t>ZB</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496416907"/>
                  </a:ext>
                </a:extLst>
              </a:tr>
              <a:tr h="232954">
                <a:tc>
                  <a:txBody>
                    <a:bodyPr/>
                    <a:lstStyle/>
                    <a:p>
                      <a:pPr algn="ctr" fontAlgn="b">
                        <a:buNone/>
                      </a:pPr>
                      <a:r>
                        <a:rPr lang="en-GB" sz="1400" u="none" strike="noStrike">
                          <a:effectLst/>
                        </a:rPr>
                        <a:t>ZA</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a:effectLst/>
                        </a:rPr>
                        <a:t> </a:t>
                      </a:r>
                      <a:endParaRPr lang="en-GB" sz="1400" b="0" i="0" u="none" strike="noStrike">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Service concession assets and liabilities; and</a:t>
                      </a:r>
                    </a:p>
                  </a:txBody>
                  <a:tcPr marL="7620" marR="7620" marT="7620" marB="0" anchor="ctr"/>
                </a:tc>
                <a:tc>
                  <a:txBody>
                    <a:bodyPr/>
                    <a:lstStyle/>
                    <a:p>
                      <a:pPr algn="ctr" fontAlgn="b">
                        <a:buNone/>
                      </a:pPr>
                      <a:r>
                        <a:rPr lang="en-GB" sz="1400" u="none" strike="noStrike" dirty="0">
                          <a:effectLst/>
                        </a:rPr>
                        <a:t>ZA</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2357100847"/>
                  </a:ext>
                </a:extLst>
              </a:tr>
              <a:tr h="232954">
                <a:tc>
                  <a:txBody>
                    <a:bodyPr/>
                    <a:lstStyle/>
                    <a:p>
                      <a:pPr algn="ctr" fontAlgn="b">
                        <a:buNone/>
                      </a:pPr>
                      <a:r>
                        <a:rPr lang="en-GB" sz="1400" u="none" strike="noStrike">
                          <a:effectLst/>
                        </a:rPr>
                        <a:t>Z</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Grant liabilities and assets;</a:t>
                      </a:r>
                    </a:p>
                  </a:txBody>
                  <a:tcPr marL="7620" marR="7620" marT="7620" marB="0" anchor="ctr"/>
                </a:tc>
                <a:tc>
                  <a:txBody>
                    <a:bodyPr/>
                    <a:lstStyle/>
                    <a:p>
                      <a:pPr algn="ctr" fontAlgn="b">
                        <a:buNone/>
                      </a:pPr>
                      <a:r>
                        <a:rPr lang="en-GB" sz="1400" u="none" strike="noStrike" dirty="0">
                          <a:effectLst/>
                        </a:rPr>
                        <a:t>Z</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1014578266"/>
                  </a:ext>
                </a:extLst>
              </a:tr>
              <a:tr h="232954">
                <a:tc>
                  <a:txBody>
                    <a:bodyPr/>
                    <a:lstStyle/>
                    <a:p>
                      <a:pPr algn="ctr" fontAlgn="b">
                        <a:buNone/>
                      </a:pPr>
                      <a:r>
                        <a:rPr lang="en-GB" sz="1400" u="none" strike="noStrike">
                          <a:effectLst/>
                        </a:rPr>
                        <a:t>Y</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a:effectLst/>
                        </a:rPr>
                        <a:t> </a:t>
                      </a:r>
                      <a:endParaRPr lang="en-GB" sz="1400" b="0" i="0" u="none" strike="noStrike">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Natural resources - values reliable;</a:t>
                      </a:r>
                    </a:p>
                  </a:txBody>
                  <a:tcPr marL="7620" marR="7620" marT="7620" marB="0" anchor="ctr"/>
                </a:tc>
                <a:tc>
                  <a:txBody>
                    <a:bodyPr/>
                    <a:lstStyle/>
                    <a:p>
                      <a:pPr algn="ctr" fontAlgn="b">
                        <a:buNone/>
                      </a:pPr>
                      <a:r>
                        <a:rPr lang="en-GB" sz="1400" u="none" strike="noStrike" dirty="0">
                          <a:effectLst/>
                        </a:rPr>
                        <a:t>Y</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4104051593"/>
                  </a:ext>
                </a:extLst>
              </a:tr>
              <a:tr h="232954">
                <a:tc>
                  <a:txBody>
                    <a:bodyPr/>
                    <a:lstStyle/>
                    <a:p>
                      <a:pPr algn="ctr" fontAlgn="b">
                        <a:buNone/>
                      </a:pPr>
                      <a:r>
                        <a:rPr lang="en-GB" sz="1400" u="none" strike="noStrike">
                          <a:effectLst/>
                        </a:rPr>
                        <a:t>X</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a:effectLst/>
                        </a:rPr>
                        <a:t> </a:t>
                      </a:r>
                      <a:endParaRPr lang="en-GB" sz="1400" b="0" i="0" u="none" strike="noStrike">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Provisions, Contingent assets and liabilities;</a:t>
                      </a:r>
                    </a:p>
                  </a:txBody>
                  <a:tcPr marL="7620" marR="7620" marT="7620" marB="0" anchor="ctr"/>
                </a:tc>
                <a:tc>
                  <a:txBody>
                    <a:bodyPr/>
                    <a:lstStyle/>
                    <a:p>
                      <a:pPr algn="ctr" fontAlgn="b">
                        <a:buNone/>
                      </a:pPr>
                      <a:r>
                        <a:rPr lang="en-GB" sz="1400" u="none" strike="noStrike" dirty="0">
                          <a:effectLst/>
                        </a:rPr>
                        <a:t>X</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2078913856"/>
                  </a:ext>
                </a:extLst>
              </a:tr>
              <a:tr h="232954">
                <a:tc>
                  <a:txBody>
                    <a:bodyPr/>
                    <a:lstStyle/>
                    <a:p>
                      <a:pPr algn="ctr" fontAlgn="b">
                        <a:buNone/>
                      </a:pPr>
                      <a:r>
                        <a:rPr lang="en-GB" sz="1400" u="none" strike="noStrike">
                          <a:effectLst/>
                        </a:rPr>
                        <a:t>W</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a:effectLst/>
                        </a:rPr>
                        <a:t> </a:t>
                      </a:r>
                      <a:endParaRPr lang="en-GB" sz="1400" b="0" i="0" u="none" strike="noStrike">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Employee benefits (long term benefits); </a:t>
                      </a:r>
                    </a:p>
                  </a:txBody>
                  <a:tcPr marL="7620" marR="7620" marT="7620" marB="0" anchor="ctr"/>
                </a:tc>
                <a:tc>
                  <a:txBody>
                    <a:bodyPr/>
                    <a:lstStyle/>
                    <a:p>
                      <a:pPr algn="ctr" fontAlgn="b">
                        <a:buNone/>
                      </a:pPr>
                      <a:r>
                        <a:rPr lang="en-GB" sz="1400" u="none" strike="noStrike" dirty="0">
                          <a:effectLst/>
                        </a:rPr>
                        <a:t>W</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986581744"/>
                  </a:ext>
                </a:extLst>
              </a:tr>
              <a:tr h="232954">
                <a:tc>
                  <a:txBody>
                    <a:bodyPr/>
                    <a:lstStyle/>
                    <a:p>
                      <a:pPr algn="ctr" fontAlgn="b">
                        <a:buNone/>
                      </a:pPr>
                      <a:r>
                        <a:rPr lang="en-GB" sz="1400" u="none" strike="noStrike">
                          <a:effectLst/>
                        </a:rPr>
                        <a:t>V</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Leased assets and liabilities;</a:t>
                      </a:r>
                    </a:p>
                  </a:txBody>
                  <a:tcPr marL="7620" marR="7620" marT="7620" marB="0" anchor="ctr"/>
                </a:tc>
                <a:tc>
                  <a:txBody>
                    <a:bodyPr/>
                    <a:lstStyle/>
                    <a:p>
                      <a:pPr algn="ctr" fontAlgn="b">
                        <a:buNone/>
                      </a:pPr>
                      <a:r>
                        <a:rPr lang="en-GB" sz="1400" u="none" strike="noStrike" dirty="0">
                          <a:effectLst/>
                        </a:rPr>
                        <a:t>V</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996025744"/>
                  </a:ext>
                </a:extLst>
              </a:tr>
              <a:tr h="232954">
                <a:tc>
                  <a:txBody>
                    <a:bodyPr/>
                    <a:lstStyle/>
                    <a:p>
                      <a:pPr algn="ctr" fontAlgn="b">
                        <a:buNone/>
                      </a:pPr>
                      <a:r>
                        <a:rPr lang="en-GB" sz="1400" u="none" strike="noStrike">
                          <a:effectLst/>
                        </a:rPr>
                        <a:t>U</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a:effectLst/>
                        </a:rPr>
                        <a:t> </a:t>
                      </a:r>
                      <a:endParaRPr lang="en-GB" sz="1400" b="0" i="0" u="none" strike="noStrike">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Valuables;</a:t>
                      </a:r>
                    </a:p>
                  </a:txBody>
                  <a:tcPr marL="7620" marR="7620" marT="7620" marB="0" anchor="ctr"/>
                </a:tc>
                <a:tc>
                  <a:txBody>
                    <a:bodyPr/>
                    <a:lstStyle/>
                    <a:p>
                      <a:pPr algn="ctr" fontAlgn="b">
                        <a:buNone/>
                      </a:pPr>
                      <a:r>
                        <a:rPr lang="en-GB" sz="1400" u="none" strike="noStrike" dirty="0">
                          <a:effectLst/>
                        </a:rPr>
                        <a:t>U</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169268817"/>
                  </a:ext>
                </a:extLst>
              </a:tr>
              <a:tr h="232954">
                <a:tc>
                  <a:txBody>
                    <a:bodyPr/>
                    <a:lstStyle/>
                    <a:p>
                      <a:pPr algn="ctr" fontAlgn="b">
                        <a:buNone/>
                      </a:pPr>
                      <a:r>
                        <a:rPr lang="en-GB" sz="1400" u="none" strike="noStrike">
                          <a:effectLst/>
                        </a:rPr>
                        <a:t>T</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a:effectLst/>
                        </a:rPr>
                        <a:t> </a:t>
                      </a:r>
                      <a:endParaRPr lang="en-GB" sz="1400" b="0" i="0" u="none" strike="noStrike">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bg1"/>
                    </a:solidFill>
                  </a:tcPr>
                </a:tc>
                <a:tc>
                  <a:txBody>
                    <a:bodyPr/>
                    <a:lstStyle/>
                    <a:p>
                      <a:pPr algn="r" rtl="0" fontAlgn="ctr">
                        <a:buNone/>
                      </a:pPr>
                      <a:r>
                        <a:rPr lang="en-GB" sz="1400" b="0" i="0" u="none" strike="noStrike">
                          <a:solidFill>
                            <a:srgbClr val="000000"/>
                          </a:solidFill>
                          <a:effectLst/>
                          <a:latin typeface="Calibri" panose="020F0502020204030204" pitchFamily="34" charset="0"/>
                        </a:rPr>
                        <a:t>Infrastructure assets – ALL;</a:t>
                      </a:r>
                    </a:p>
                  </a:txBody>
                  <a:tcPr marL="7620" marR="7620" marT="7620" marB="0" anchor="ctr"/>
                </a:tc>
                <a:tc>
                  <a:txBody>
                    <a:bodyPr/>
                    <a:lstStyle/>
                    <a:p>
                      <a:pPr algn="ctr" fontAlgn="b">
                        <a:buNone/>
                      </a:pPr>
                      <a:r>
                        <a:rPr lang="en-GB" sz="1400" u="none" strike="noStrike" dirty="0">
                          <a:effectLst/>
                        </a:rPr>
                        <a:t>T</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1523617026"/>
                  </a:ext>
                </a:extLst>
              </a:tr>
              <a:tr h="232954">
                <a:tc>
                  <a:txBody>
                    <a:bodyPr/>
                    <a:lstStyle/>
                    <a:p>
                      <a:pPr algn="ctr" fontAlgn="b">
                        <a:buNone/>
                      </a:pPr>
                      <a:r>
                        <a:rPr lang="en-GB" sz="1400" u="none" strike="noStrike" dirty="0">
                          <a:effectLst/>
                        </a:rPr>
                        <a:t>S</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noFill/>
                  </a:tcPr>
                </a:tc>
                <a:tc>
                  <a:txBody>
                    <a:bodyPr/>
                    <a:lstStyle/>
                    <a:p>
                      <a:pPr algn="ctr" rtl="0" fontAlgn="b">
                        <a:buNone/>
                      </a:pPr>
                      <a:endParaRPr lang="en-GB" sz="1400" b="1"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rtl="0" fontAlgn="ctr">
                        <a:buNone/>
                      </a:pPr>
                      <a:r>
                        <a:rPr lang="en-GB" sz="1400" b="0" i="0" u="none" strike="noStrike">
                          <a:solidFill>
                            <a:srgbClr val="000000"/>
                          </a:solidFill>
                          <a:effectLst/>
                          <a:latin typeface="Calibri" panose="020F0502020204030204" pitchFamily="34" charset="0"/>
                        </a:rPr>
                        <a:t>Heritage assets – ALL;</a:t>
                      </a:r>
                    </a:p>
                  </a:txBody>
                  <a:tcPr marL="7620" marR="7620" marT="7620" marB="0" anchor="ctr"/>
                </a:tc>
                <a:tc>
                  <a:txBody>
                    <a:bodyPr/>
                    <a:lstStyle/>
                    <a:p>
                      <a:pPr algn="ctr" fontAlgn="b">
                        <a:buNone/>
                      </a:pPr>
                      <a:r>
                        <a:rPr lang="en-GB" sz="1400" u="none" strike="noStrike" dirty="0">
                          <a:effectLst/>
                        </a:rPr>
                        <a:t>S</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2582077102"/>
                  </a:ext>
                </a:extLst>
              </a:tr>
              <a:tr h="304248">
                <a:tc>
                  <a:txBody>
                    <a:bodyPr/>
                    <a:lstStyle/>
                    <a:p>
                      <a:pPr algn="ctr" fontAlgn="b">
                        <a:buNone/>
                      </a:pPr>
                      <a:r>
                        <a:rPr lang="en-GB" sz="1400" u="none" strike="noStrike">
                          <a:effectLst/>
                        </a:rPr>
                        <a:t>R</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400" b="1" u="none" strike="noStrike" dirty="0">
                          <a:effectLst/>
                        </a:rPr>
                        <a:t>FY 2024/25 – IPSAS 33</a:t>
                      </a: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accent3">
                        <a:lumMod val="60000"/>
                        <a:lumOff val="40000"/>
                      </a:schemeClr>
                    </a:solidFill>
                  </a:tcPr>
                </a:tc>
                <a:tc>
                  <a:txBody>
                    <a:bodyPr/>
                    <a:lstStyle/>
                    <a:p>
                      <a:pPr algn="r" rtl="0" fontAlgn="ctr">
                        <a:buNone/>
                      </a:pPr>
                      <a:r>
                        <a:rPr lang="en-GB" sz="1400" b="0" i="0" u="none" strike="noStrike" dirty="0">
                          <a:solidFill>
                            <a:srgbClr val="000000"/>
                          </a:solidFill>
                          <a:effectLst/>
                          <a:latin typeface="Calibri" panose="020F0502020204030204" pitchFamily="34" charset="0"/>
                        </a:rPr>
                        <a:t>Biological assets – plants &amp; PPE</a:t>
                      </a:r>
                    </a:p>
                  </a:txBody>
                  <a:tcPr marL="7620" marR="7620" marT="7620" marB="0" anchor="ctr"/>
                </a:tc>
                <a:tc>
                  <a:txBody>
                    <a:bodyPr/>
                    <a:lstStyle/>
                    <a:p>
                      <a:pPr algn="ctr" fontAlgn="b">
                        <a:buNone/>
                      </a:pPr>
                      <a:r>
                        <a:rPr lang="en-GB" sz="1400" u="none" strike="noStrike" dirty="0">
                          <a:effectLst/>
                        </a:rPr>
                        <a:t>R</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817602539"/>
                  </a:ext>
                </a:extLst>
              </a:tr>
              <a:tr h="232954">
                <a:tc>
                  <a:txBody>
                    <a:bodyPr/>
                    <a:lstStyle/>
                    <a:p>
                      <a:pPr algn="ctr" fontAlgn="b">
                        <a:buNone/>
                      </a:pPr>
                      <a:r>
                        <a:rPr lang="en-GB" sz="1400" u="none" strike="noStrike">
                          <a:effectLst/>
                        </a:rPr>
                        <a:t>Q</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noFill/>
                  </a:tcPr>
                </a:tc>
                <a:tc>
                  <a:txBody>
                    <a:bodyPr/>
                    <a:lstStyle/>
                    <a:p>
                      <a:pPr algn="ctr" rtl="0" fontAlgn="ctr">
                        <a:buNone/>
                      </a:pPr>
                      <a:r>
                        <a:rPr lang="en-GB" sz="1400" u="none" strike="noStrike" dirty="0">
                          <a:effectLst/>
                        </a:rPr>
                        <a:t>Heritage assets - buildings;</a:t>
                      </a:r>
                      <a:endParaRPr lang="en-GB"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rtl="0" fontAlgn="ctr">
                        <a:buNone/>
                      </a:pPr>
                      <a:r>
                        <a:rPr lang="en-GB" sz="1400" u="none" strike="noStrike" dirty="0">
                          <a:effectLst/>
                        </a:rPr>
                        <a:t>Heritage assets - buildings;</a:t>
                      </a:r>
                      <a:endParaRPr lang="en-GB"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buNone/>
                      </a:pPr>
                      <a:r>
                        <a:rPr lang="en-GB" sz="1400" u="none" strike="noStrike" dirty="0">
                          <a:effectLst/>
                        </a:rPr>
                        <a:t>Q</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2695009274"/>
                  </a:ext>
                </a:extLst>
              </a:tr>
              <a:tr h="232954">
                <a:tc>
                  <a:txBody>
                    <a:bodyPr/>
                    <a:lstStyle/>
                    <a:p>
                      <a:pPr algn="ctr" fontAlgn="b">
                        <a:buNone/>
                      </a:pPr>
                      <a:r>
                        <a:rPr lang="en-GB" sz="1400" u="none" strike="noStrike">
                          <a:effectLst/>
                        </a:rPr>
                        <a:t>P</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ctr" fontAlgn="b">
                        <a:buNone/>
                      </a:pP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noFill/>
                  </a:tcPr>
                </a:tc>
                <a:tc>
                  <a:txBody>
                    <a:bodyPr/>
                    <a:lstStyle/>
                    <a:p>
                      <a:pPr algn="ctr" rtl="0" fontAlgn="ctr">
                        <a:buNone/>
                      </a:pPr>
                      <a:r>
                        <a:rPr lang="en-GB" sz="1400" u="none" strike="noStrike" dirty="0">
                          <a:effectLst/>
                        </a:rPr>
                        <a:t>Investment Property - Land &amp; buildings</a:t>
                      </a:r>
                      <a:endParaRPr lang="en-GB"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rtl="0" fontAlgn="ctr">
                        <a:buNone/>
                      </a:pPr>
                      <a:r>
                        <a:rPr lang="en-GB" sz="1400" u="none" strike="noStrike" dirty="0">
                          <a:effectLst/>
                        </a:rPr>
                        <a:t>Investment Property - Land &amp; buildings</a:t>
                      </a:r>
                      <a:endParaRPr lang="en-GB"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buNone/>
                      </a:pPr>
                      <a:r>
                        <a:rPr lang="en-GB" sz="1400" u="none" strike="noStrike" dirty="0">
                          <a:effectLst/>
                        </a:rPr>
                        <a:t>P</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2425002398"/>
                  </a:ext>
                </a:extLst>
              </a:tr>
              <a:tr h="232954">
                <a:tc>
                  <a:txBody>
                    <a:bodyPr/>
                    <a:lstStyle/>
                    <a:p>
                      <a:pPr algn="ctr" fontAlgn="b">
                        <a:buNone/>
                      </a:pPr>
                      <a:r>
                        <a:rPr lang="en-GB" sz="1400" u="none" strike="noStrike">
                          <a:effectLst/>
                        </a:rPr>
                        <a:t>O</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b">
                        <a:buNone/>
                      </a:pPr>
                      <a:endParaRPr lang="en-GB" sz="1400" b="1"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ctr" rtl="0" fontAlgn="ctr">
                        <a:buNone/>
                      </a:pPr>
                      <a:r>
                        <a:rPr lang="en-GB" sz="1400" u="none" strike="noStrike" dirty="0">
                          <a:effectLst/>
                        </a:rPr>
                        <a:t>Inventory materials and supplies;</a:t>
                      </a:r>
                      <a:endParaRPr lang="en-GB"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rtl="0" fontAlgn="ctr">
                        <a:buNone/>
                      </a:pPr>
                      <a:r>
                        <a:rPr lang="en-GB" sz="1400" u="none" strike="noStrike" dirty="0">
                          <a:effectLst/>
                        </a:rPr>
                        <a:t>Inventory materials and supplies;</a:t>
                      </a:r>
                      <a:endParaRPr lang="en-GB"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buNone/>
                      </a:pPr>
                      <a:r>
                        <a:rPr lang="en-GB" sz="1400" u="none" strike="noStrike" dirty="0">
                          <a:effectLst/>
                        </a:rPr>
                        <a:t>O</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840398360"/>
                  </a:ext>
                </a:extLst>
              </a:tr>
              <a:tr h="232954">
                <a:tc>
                  <a:txBody>
                    <a:bodyPr/>
                    <a:lstStyle/>
                    <a:p>
                      <a:pPr algn="ctr" fontAlgn="b">
                        <a:buNone/>
                      </a:pPr>
                      <a:r>
                        <a:rPr lang="en-GB" sz="1400" u="none" strike="noStrike">
                          <a:effectLst/>
                        </a:rPr>
                        <a:t>N</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400" b="1" u="none" strike="noStrike" dirty="0">
                          <a:effectLst/>
                        </a:rPr>
                        <a:t>FY 2023/24</a:t>
                      </a:r>
                      <a:r>
                        <a:rPr lang="en-GB" sz="1400" u="none" strike="noStrike" dirty="0">
                          <a:effectLst/>
                        </a:rPr>
                        <a:t> </a:t>
                      </a:r>
                      <a:endParaRPr lang="en-GB" sz="1400" b="0" i="0" u="none" strike="noStrike" dirty="0">
                        <a:solidFill>
                          <a:srgbClr val="000000"/>
                        </a:solidFill>
                        <a:effectLst/>
                        <a:latin typeface="Arial" panose="020B0604020202020204" pitchFamily="34" charset="0"/>
                      </a:endParaRPr>
                    </a:p>
                  </a:txBody>
                  <a:tcPr marL="7620" marR="7620" marT="7620" marB="0" anchor="b">
                    <a:solidFill>
                      <a:schemeClr val="accent1">
                        <a:lumMod val="60000"/>
                        <a:lumOff val="40000"/>
                      </a:schemeClr>
                    </a:solidFill>
                  </a:tcPr>
                </a:tc>
                <a:tc>
                  <a:txBody>
                    <a:bodyPr/>
                    <a:lstStyle/>
                    <a:p>
                      <a:pPr algn="ctr" rtl="0" fontAlgn="ctr">
                        <a:buNone/>
                      </a:pPr>
                      <a:r>
                        <a:rPr lang="en-GB" sz="1400" u="none" strike="noStrike" dirty="0">
                          <a:effectLst/>
                        </a:rPr>
                        <a:t>Financial assets and liabilities - from taxes;</a:t>
                      </a:r>
                      <a:endParaRPr lang="en-GB"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r" rtl="0" fontAlgn="ctr">
                        <a:buNone/>
                      </a:pPr>
                      <a:r>
                        <a:rPr lang="en-GB" sz="1400" u="none" strike="noStrike" dirty="0">
                          <a:effectLst/>
                        </a:rPr>
                        <a:t>Financial assets and liabilities - from taxes;</a:t>
                      </a:r>
                      <a:endParaRPr lang="en-GB" sz="14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buNone/>
                      </a:pPr>
                      <a:r>
                        <a:rPr lang="en-GB" sz="1400" u="none" strike="noStrike" dirty="0">
                          <a:effectLst/>
                        </a:rPr>
                        <a:t>N</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1620032898"/>
                  </a:ext>
                </a:extLst>
              </a:tr>
              <a:tr h="232954">
                <a:tc>
                  <a:txBody>
                    <a:bodyPr/>
                    <a:lstStyle/>
                    <a:p>
                      <a:pPr algn="ctr" fontAlgn="b">
                        <a:buNone/>
                      </a:pPr>
                      <a:r>
                        <a:rPr lang="en-GB" sz="1400" u="none" strike="noStrike">
                          <a:effectLst/>
                        </a:rPr>
                        <a:t>M</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Employee benefits (short term benefits). </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Employee benefits (short term benefits). </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Employee benefits (short term benefits). </a:t>
                      </a:r>
                    </a:p>
                  </a:txBody>
                  <a:tcPr marL="7620" marR="7620" marT="7620" marB="0" anchor="ctr"/>
                </a:tc>
                <a:tc>
                  <a:txBody>
                    <a:bodyPr/>
                    <a:lstStyle/>
                    <a:p>
                      <a:pPr algn="ctr" fontAlgn="b">
                        <a:buNone/>
                      </a:pPr>
                      <a:r>
                        <a:rPr lang="en-GB" sz="1400" u="none" strike="noStrike" dirty="0">
                          <a:effectLst/>
                        </a:rPr>
                        <a:t>M</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832228767"/>
                  </a:ext>
                </a:extLst>
              </a:tr>
              <a:tr h="232954">
                <a:tc>
                  <a:txBody>
                    <a:bodyPr/>
                    <a:lstStyle/>
                    <a:p>
                      <a:pPr algn="ctr" fontAlgn="b">
                        <a:buNone/>
                      </a:pPr>
                      <a:r>
                        <a:rPr lang="en-GB" sz="1400" u="none" strike="noStrike">
                          <a:effectLst/>
                        </a:rPr>
                        <a:t>L</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Loans and direct borrowings; </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Loans and direct borrowings; </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Loans and direct borrowings; </a:t>
                      </a:r>
                    </a:p>
                  </a:txBody>
                  <a:tcPr marL="7620" marR="7620" marT="7620" marB="0" anchor="ctr"/>
                </a:tc>
                <a:tc>
                  <a:txBody>
                    <a:bodyPr/>
                    <a:lstStyle/>
                    <a:p>
                      <a:pPr algn="ctr" fontAlgn="b">
                        <a:buNone/>
                      </a:pPr>
                      <a:r>
                        <a:rPr lang="en-GB" sz="1400" u="none" strike="noStrike" dirty="0">
                          <a:effectLst/>
                        </a:rPr>
                        <a:t>L</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1232319863"/>
                  </a:ext>
                </a:extLst>
              </a:tr>
              <a:tr h="232954">
                <a:tc>
                  <a:txBody>
                    <a:bodyPr/>
                    <a:lstStyle/>
                    <a:p>
                      <a:pPr algn="ctr" fontAlgn="b">
                        <a:buNone/>
                      </a:pPr>
                      <a:r>
                        <a:rPr lang="en-GB" sz="1400" u="none" strike="noStrike">
                          <a:effectLst/>
                        </a:rPr>
                        <a:t>K</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Inventories - strategic stocks; </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Inventories - strategic stocks; </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Inventories - strategic stocks; </a:t>
                      </a:r>
                    </a:p>
                  </a:txBody>
                  <a:tcPr marL="7620" marR="7620" marT="7620" marB="0" anchor="ctr"/>
                </a:tc>
                <a:tc>
                  <a:txBody>
                    <a:bodyPr/>
                    <a:lstStyle/>
                    <a:p>
                      <a:pPr algn="ctr" fontAlgn="b">
                        <a:buNone/>
                      </a:pPr>
                      <a:r>
                        <a:rPr lang="en-GB" sz="1400" u="none" strike="noStrike" dirty="0">
                          <a:effectLst/>
                        </a:rPr>
                        <a:t>K</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1144368103"/>
                  </a:ext>
                </a:extLst>
              </a:tr>
              <a:tr h="232954">
                <a:tc>
                  <a:txBody>
                    <a:bodyPr/>
                    <a:lstStyle/>
                    <a:p>
                      <a:pPr algn="ctr" fontAlgn="b">
                        <a:buNone/>
                      </a:pPr>
                      <a:r>
                        <a:rPr lang="en-GB" sz="1400" u="none" strike="noStrike">
                          <a:effectLst/>
                        </a:rPr>
                        <a:t>J</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Intangible Assets</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Intangible Assets</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Intangible Assets</a:t>
                      </a:r>
                    </a:p>
                  </a:txBody>
                  <a:tcPr marL="7620" marR="7620" marT="7620" marB="0" anchor="ctr"/>
                </a:tc>
                <a:tc>
                  <a:txBody>
                    <a:bodyPr/>
                    <a:lstStyle/>
                    <a:p>
                      <a:pPr algn="ctr" fontAlgn="b">
                        <a:buNone/>
                      </a:pPr>
                      <a:r>
                        <a:rPr lang="en-GB" sz="1400" u="none" strike="noStrike" dirty="0">
                          <a:effectLst/>
                        </a:rPr>
                        <a:t>J</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1716969104"/>
                  </a:ext>
                </a:extLst>
              </a:tr>
              <a:tr h="232954">
                <a:tc>
                  <a:txBody>
                    <a:bodyPr/>
                    <a:lstStyle/>
                    <a:p>
                      <a:pPr algn="ctr" fontAlgn="b">
                        <a:buNone/>
                      </a:pPr>
                      <a:r>
                        <a:rPr lang="en-GB" sz="1400" u="none" strike="noStrike">
                          <a:effectLst/>
                        </a:rPr>
                        <a:t>I</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Biological assets - animals;</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Biological assets - animals;</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Biological assets - animals;</a:t>
                      </a:r>
                    </a:p>
                  </a:txBody>
                  <a:tcPr marL="7620" marR="7620" marT="7620" marB="0" anchor="ctr"/>
                </a:tc>
                <a:tc>
                  <a:txBody>
                    <a:bodyPr/>
                    <a:lstStyle/>
                    <a:p>
                      <a:pPr algn="ctr" fontAlgn="b">
                        <a:buNone/>
                      </a:pPr>
                      <a:r>
                        <a:rPr lang="en-GB" sz="1400" u="none" strike="noStrike" dirty="0">
                          <a:effectLst/>
                        </a:rPr>
                        <a:t>I</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870779336"/>
                  </a:ext>
                </a:extLst>
              </a:tr>
              <a:tr h="232954">
                <a:tc>
                  <a:txBody>
                    <a:bodyPr/>
                    <a:lstStyle/>
                    <a:p>
                      <a:pPr algn="ctr" fontAlgn="b">
                        <a:buNone/>
                      </a:pPr>
                      <a:r>
                        <a:rPr lang="en-GB" sz="1400" u="none" strike="noStrike">
                          <a:effectLst/>
                        </a:rPr>
                        <a:t>H</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Financial Investments;</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Financial Investments;</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Financial Investments;</a:t>
                      </a:r>
                    </a:p>
                  </a:txBody>
                  <a:tcPr marL="7620" marR="7620" marT="7620" marB="0" anchor="ctr"/>
                </a:tc>
                <a:tc>
                  <a:txBody>
                    <a:bodyPr/>
                    <a:lstStyle/>
                    <a:p>
                      <a:pPr algn="ctr" fontAlgn="b">
                        <a:buNone/>
                      </a:pPr>
                      <a:r>
                        <a:rPr lang="en-GB" sz="1400" u="none" strike="noStrike" dirty="0">
                          <a:effectLst/>
                        </a:rPr>
                        <a:t>H</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422888899"/>
                  </a:ext>
                </a:extLst>
              </a:tr>
              <a:tr h="232954">
                <a:tc>
                  <a:txBody>
                    <a:bodyPr/>
                    <a:lstStyle/>
                    <a:p>
                      <a:pPr algn="ctr" fontAlgn="b">
                        <a:buNone/>
                      </a:pPr>
                      <a:r>
                        <a:rPr lang="en-GB" sz="1400" u="none" strike="noStrike">
                          <a:effectLst/>
                        </a:rPr>
                        <a:t>G</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Infrastructure assets - road networks;</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Infrastructure assets - road networks;</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Infrastructure assets - road networks;</a:t>
                      </a:r>
                    </a:p>
                  </a:txBody>
                  <a:tcPr marL="7620" marR="7620" marT="7620" marB="0" anchor="ctr"/>
                </a:tc>
                <a:tc>
                  <a:txBody>
                    <a:bodyPr/>
                    <a:lstStyle/>
                    <a:p>
                      <a:pPr algn="ctr" fontAlgn="b">
                        <a:buNone/>
                      </a:pPr>
                      <a:r>
                        <a:rPr lang="en-GB" sz="1400" u="none" strike="noStrike" dirty="0">
                          <a:effectLst/>
                        </a:rPr>
                        <a:t>G</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6008703"/>
                  </a:ext>
                </a:extLst>
              </a:tr>
              <a:tr h="232954">
                <a:tc>
                  <a:txBody>
                    <a:bodyPr/>
                    <a:lstStyle/>
                    <a:p>
                      <a:pPr algn="ctr" fontAlgn="b">
                        <a:buNone/>
                      </a:pPr>
                      <a:r>
                        <a:rPr lang="en-GB" sz="1400" u="none" strike="noStrike">
                          <a:effectLst/>
                        </a:rPr>
                        <a:t>F</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Machinery Equipment;</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Machinery Equipment;</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Machinery Equipment;</a:t>
                      </a:r>
                    </a:p>
                  </a:txBody>
                  <a:tcPr marL="7620" marR="7620" marT="7620" marB="0" anchor="ctr"/>
                </a:tc>
                <a:tc>
                  <a:txBody>
                    <a:bodyPr/>
                    <a:lstStyle/>
                    <a:p>
                      <a:pPr algn="ctr" fontAlgn="b">
                        <a:buNone/>
                      </a:pPr>
                      <a:r>
                        <a:rPr lang="en-GB" sz="1400" u="none" strike="noStrike" dirty="0">
                          <a:effectLst/>
                        </a:rPr>
                        <a:t>F</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2907702259"/>
                  </a:ext>
                </a:extLst>
              </a:tr>
              <a:tr h="232954">
                <a:tc>
                  <a:txBody>
                    <a:bodyPr/>
                    <a:lstStyle/>
                    <a:p>
                      <a:pPr algn="ctr" fontAlgn="b">
                        <a:buNone/>
                      </a:pPr>
                      <a:r>
                        <a:rPr lang="en-GB" sz="1400" u="none" strike="noStrike">
                          <a:effectLst/>
                        </a:rPr>
                        <a:t>E</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Office Equipment;</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Office Equipment;</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Office Equipment;</a:t>
                      </a:r>
                    </a:p>
                  </a:txBody>
                  <a:tcPr marL="7620" marR="7620" marT="7620" marB="0" anchor="ctr"/>
                </a:tc>
                <a:tc>
                  <a:txBody>
                    <a:bodyPr/>
                    <a:lstStyle/>
                    <a:p>
                      <a:pPr algn="ctr" fontAlgn="b">
                        <a:buNone/>
                      </a:pPr>
                      <a:r>
                        <a:rPr lang="en-GB" sz="1400" u="none" strike="noStrike" dirty="0">
                          <a:effectLst/>
                        </a:rPr>
                        <a:t>E</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705762545"/>
                  </a:ext>
                </a:extLst>
              </a:tr>
              <a:tr h="232954">
                <a:tc>
                  <a:txBody>
                    <a:bodyPr/>
                    <a:lstStyle/>
                    <a:p>
                      <a:pPr algn="ctr" fontAlgn="b">
                        <a:buNone/>
                      </a:pPr>
                      <a:r>
                        <a:rPr lang="en-GB" sz="1400" u="none" strike="noStrike">
                          <a:effectLst/>
                        </a:rPr>
                        <a:t>D</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 ICT Equipment;</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 ICT Equipment;</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 ICT Equipment;</a:t>
                      </a:r>
                    </a:p>
                  </a:txBody>
                  <a:tcPr marL="7620" marR="7620" marT="7620" marB="0" anchor="ctr"/>
                </a:tc>
                <a:tc>
                  <a:txBody>
                    <a:bodyPr/>
                    <a:lstStyle/>
                    <a:p>
                      <a:pPr algn="ctr" fontAlgn="b">
                        <a:buNone/>
                      </a:pPr>
                      <a:r>
                        <a:rPr lang="en-GB" sz="1400" u="none" strike="noStrike" dirty="0">
                          <a:effectLst/>
                        </a:rPr>
                        <a:t>D</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2795344563"/>
                  </a:ext>
                </a:extLst>
              </a:tr>
              <a:tr h="232954">
                <a:tc>
                  <a:txBody>
                    <a:bodyPr/>
                    <a:lstStyle/>
                    <a:p>
                      <a:pPr algn="ctr" fontAlgn="b">
                        <a:buNone/>
                      </a:pPr>
                      <a:r>
                        <a:rPr lang="en-GB" sz="1400" u="none" strike="noStrike">
                          <a:effectLst/>
                        </a:rPr>
                        <a:t>C</a:t>
                      </a:r>
                      <a:endParaRPr lang="en-GB" sz="1400" b="0" i="0" u="none" strike="noStrike">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Transport Equipment </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Transport Equipment </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Transport Equipment </a:t>
                      </a:r>
                    </a:p>
                  </a:txBody>
                  <a:tcPr marL="7620" marR="7620" marT="7620" marB="0" anchor="ctr"/>
                </a:tc>
                <a:tc>
                  <a:txBody>
                    <a:bodyPr/>
                    <a:lstStyle/>
                    <a:p>
                      <a:pPr algn="ctr" fontAlgn="b">
                        <a:buNone/>
                      </a:pPr>
                      <a:r>
                        <a:rPr lang="en-GB" sz="1400" u="none" strike="noStrike" dirty="0">
                          <a:effectLst/>
                        </a:rPr>
                        <a:t>C</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3505505974"/>
                  </a:ext>
                </a:extLst>
              </a:tr>
              <a:tr h="232954">
                <a:tc>
                  <a:txBody>
                    <a:bodyPr/>
                    <a:lstStyle/>
                    <a:p>
                      <a:pPr algn="ctr" fontAlgn="b">
                        <a:buNone/>
                      </a:pPr>
                      <a:r>
                        <a:rPr lang="en-GB" sz="1400" u="none" strike="noStrike" dirty="0">
                          <a:effectLst/>
                        </a:rPr>
                        <a:t>B</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a:solidFill>
                            <a:srgbClr val="000000"/>
                          </a:solidFill>
                          <a:effectLst/>
                          <a:latin typeface="Calibri" panose="020F0502020204030204" pitchFamily="34" charset="0"/>
                        </a:rPr>
                        <a:t>Buildings;</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Buildings;</a:t>
                      </a:r>
                    </a:p>
                  </a:txBody>
                  <a:tcPr marL="7620" marR="7620" marT="7620" marB="0" anchor="ctr"/>
                </a:tc>
                <a:tc>
                  <a:txBody>
                    <a:bodyPr/>
                    <a:lstStyle/>
                    <a:p>
                      <a:pPr algn="r" rtl="0" fontAlgn="ctr">
                        <a:buNone/>
                      </a:pPr>
                      <a:r>
                        <a:rPr lang="en-GB" sz="1400" b="0" i="0" u="none" strike="noStrike">
                          <a:solidFill>
                            <a:srgbClr val="000000"/>
                          </a:solidFill>
                          <a:effectLst/>
                          <a:latin typeface="Calibri" panose="020F0502020204030204" pitchFamily="34" charset="0"/>
                        </a:rPr>
                        <a:t>Buildings;</a:t>
                      </a:r>
                    </a:p>
                  </a:txBody>
                  <a:tcPr marL="7620" marR="7620" marT="7620" marB="0" anchor="ctr"/>
                </a:tc>
                <a:tc>
                  <a:txBody>
                    <a:bodyPr/>
                    <a:lstStyle/>
                    <a:p>
                      <a:pPr algn="ctr" fontAlgn="b">
                        <a:buNone/>
                      </a:pPr>
                      <a:r>
                        <a:rPr lang="en-GB" sz="1400" u="none" strike="noStrike" dirty="0">
                          <a:effectLst/>
                        </a:rPr>
                        <a:t>B</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1794828931"/>
                  </a:ext>
                </a:extLst>
              </a:tr>
              <a:tr h="232954">
                <a:tc>
                  <a:txBody>
                    <a:bodyPr/>
                    <a:lstStyle/>
                    <a:p>
                      <a:pPr algn="ctr" fontAlgn="b">
                        <a:buNone/>
                      </a:pPr>
                      <a:r>
                        <a:rPr lang="en-GB" sz="1400" u="none" strike="noStrike" dirty="0">
                          <a:effectLst/>
                        </a:rPr>
                        <a:t>A</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tc>
                  <a:txBody>
                    <a:bodyPr/>
                    <a:lstStyle/>
                    <a:p>
                      <a:pPr algn="l" rtl="0" fontAlgn="ctr">
                        <a:buNone/>
                      </a:pPr>
                      <a:r>
                        <a:rPr lang="en-GB" sz="1400" b="0" i="0" u="none" strike="noStrike" dirty="0">
                          <a:solidFill>
                            <a:srgbClr val="000000"/>
                          </a:solidFill>
                          <a:effectLst/>
                          <a:latin typeface="Calibri" panose="020F0502020204030204" pitchFamily="34" charset="0"/>
                        </a:rPr>
                        <a:t>Land;</a:t>
                      </a:r>
                    </a:p>
                  </a:txBody>
                  <a:tcPr marL="7620" marR="7620" marT="7620" marB="0" anchor="ctr"/>
                </a:tc>
                <a:tc>
                  <a:txBody>
                    <a:bodyPr/>
                    <a:lstStyle/>
                    <a:p>
                      <a:pPr algn="ctr" rtl="0" fontAlgn="ctr">
                        <a:buNone/>
                      </a:pPr>
                      <a:r>
                        <a:rPr lang="en-GB" sz="1400" b="0" i="0" u="none" strike="noStrike" dirty="0">
                          <a:solidFill>
                            <a:srgbClr val="000000"/>
                          </a:solidFill>
                          <a:effectLst/>
                          <a:latin typeface="Calibri" panose="020F0502020204030204" pitchFamily="34" charset="0"/>
                        </a:rPr>
                        <a:t>Land;</a:t>
                      </a:r>
                    </a:p>
                  </a:txBody>
                  <a:tcPr marL="7620" marR="7620" marT="7620" marB="0" anchor="ctr"/>
                </a:tc>
                <a:tc>
                  <a:txBody>
                    <a:bodyPr/>
                    <a:lstStyle/>
                    <a:p>
                      <a:pPr algn="r" rtl="0" fontAlgn="ctr">
                        <a:buNone/>
                      </a:pPr>
                      <a:r>
                        <a:rPr lang="en-GB" sz="1400" b="0" i="0" u="none" strike="noStrike" dirty="0">
                          <a:solidFill>
                            <a:srgbClr val="000000"/>
                          </a:solidFill>
                          <a:effectLst/>
                          <a:latin typeface="Calibri" panose="020F0502020204030204" pitchFamily="34" charset="0"/>
                        </a:rPr>
                        <a:t>Land;</a:t>
                      </a:r>
                    </a:p>
                  </a:txBody>
                  <a:tcPr marL="7620" marR="7620" marT="7620" marB="0" anchor="ctr"/>
                </a:tc>
                <a:tc>
                  <a:txBody>
                    <a:bodyPr/>
                    <a:lstStyle/>
                    <a:p>
                      <a:pPr algn="ctr" fontAlgn="b">
                        <a:buNone/>
                      </a:pPr>
                      <a:r>
                        <a:rPr lang="en-GB" sz="1400" u="none" strike="noStrike" dirty="0">
                          <a:effectLst/>
                        </a:rPr>
                        <a:t>A</a:t>
                      </a:r>
                      <a:endParaRPr lang="en-GB" sz="1400" b="0" i="0" u="none" strike="noStrike" dirty="0">
                        <a:solidFill>
                          <a:srgbClr val="000000"/>
                        </a:solidFill>
                        <a:effectLst/>
                        <a:latin typeface="Arial" panose="020B0604020202020204" pitchFamily="34" charset="0"/>
                      </a:endParaRPr>
                    </a:p>
                  </a:txBody>
                  <a:tcPr marL="7620" marR="7620" marT="7620" marB="0" anchor="b">
                    <a:solidFill>
                      <a:srgbClr val="FFC000"/>
                    </a:solidFill>
                  </a:tcPr>
                </a:tc>
                <a:extLst>
                  <a:ext uri="{0D108BD9-81ED-4DB2-BD59-A6C34878D82A}">
                    <a16:rowId xmlns:a16="http://schemas.microsoft.com/office/drawing/2014/main" val="166736445"/>
                  </a:ext>
                </a:extLst>
              </a:tr>
            </a:tbl>
          </a:graphicData>
        </a:graphic>
      </p:graphicFrame>
      <p:sp>
        <p:nvSpPr>
          <p:cNvPr id="2" name="Slide Number Placeholder 1">
            <a:extLst>
              <a:ext uri="{FF2B5EF4-FFF2-40B4-BE49-F238E27FC236}">
                <a16:creationId xmlns:a16="http://schemas.microsoft.com/office/drawing/2014/main" id="{A8B570A1-85A3-5292-9BA1-CE4B10A926C6}"/>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13</a:t>
            </a:fld>
            <a:endParaRPr lang="en-GB" dirty="0"/>
          </a:p>
        </p:txBody>
      </p:sp>
      <p:sp>
        <p:nvSpPr>
          <p:cNvPr id="11" name="Freeform: Shape 57">
            <a:extLst>
              <a:ext uri="{FF2B5EF4-FFF2-40B4-BE49-F238E27FC236}">
                <a16:creationId xmlns:a16="http://schemas.microsoft.com/office/drawing/2014/main" id="{2F52B95F-92E9-6E35-FCAB-7C1F9E74E4ED}"/>
              </a:ext>
            </a:extLst>
          </p:cNvPr>
          <p:cNvSpPr/>
          <p:nvPr/>
        </p:nvSpPr>
        <p:spPr>
          <a:xfrm>
            <a:off x="157268" y="3795692"/>
            <a:ext cx="11877464" cy="448358"/>
          </a:xfrm>
          <a:custGeom>
            <a:avLst/>
            <a:gdLst>
              <a:gd name="connsiteX0" fmla="*/ 0 w 9836006"/>
              <a:gd name="connsiteY0" fmla="*/ 0 h 5282"/>
              <a:gd name="connsiteX1" fmla="*/ 9836007 w 9836006"/>
              <a:gd name="connsiteY1" fmla="*/ 0 h 5282"/>
            </a:gdLst>
            <a:ahLst/>
            <a:cxnLst>
              <a:cxn ang="0">
                <a:pos x="connsiteX0" y="connsiteY0"/>
              </a:cxn>
              <a:cxn ang="0">
                <a:pos x="connsiteX1" y="connsiteY1"/>
              </a:cxn>
            </a:cxnLst>
            <a:rect l="l" t="t" r="r" b="b"/>
            <a:pathLst>
              <a:path w="9836006" h="5282">
                <a:moveTo>
                  <a:pt x="0" y="0"/>
                </a:moveTo>
                <a:lnTo>
                  <a:pt x="9836007" y="0"/>
                </a:lnTo>
              </a:path>
            </a:pathLst>
          </a:custGeom>
          <a:ln w="22225" cap="rnd" cmpd="sng">
            <a:solidFill>
              <a:schemeClr val="accent1"/>
            </a:solidFill>
            <a:custDash>
              <a:ds d="900000" sp="900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Shape 57">
            <a:extLst>
              <a:ext uri="{FF2B5EF4-FFF2-40B4-BE49-F238E27FC236}">
                <a16:creationId xmlns:a16="http://schemas.microsoft.com/office/drawing/2014/main" id="{F42808F5-C2EE-BD5E-CEBA-FB2AA7EA2334}"/>
              </a:ext>
            </a:extLst>
          </p:cNvPr>
          <p:cNvSpPr/>
          <p:nvPr/>
        </p:nvSpPr>
        <p:spPr>
          <a:xfrm>
            <a:off x="157268" y="2860158"/>
            <a:ext cx="11877464" cy="159619"/>
          </a:xfrm>
          <a:custGeom>
            <a:avLst/>
            <a:gdLst>
              <a:gd name="connsiteX0" fmla="*/ 0 w 9836006"/>
              <a:gd name="connsiteY0" fmla="*/ 0 h 5282"/>
              <a:gd name="connsiteX1" fmla="*/ 9836007 w 9836006"/>
              <a:gd name="connsiteY1" fmla="*/ 0 h 5282"/>
            </a:gdLst>
            <a:ahLst/>
            <a:cxnLst>
              <a:cxn ang="0">
                <a:pos x="connsiteX0" y="connsiteY0"/>
              </a:cxn>
              <a:cxn ang="0">
                <a:pos x="connsiteX1" y="connsiteY1"/>
              </a:cxn>
            </a:cxnLst>
            <a:rect l="l" t="t" r="r" b="b"/>
            <a:pathLst>
              <a:path w="9836006" h="5282">
                <a:moveTo>
                  <a:pt x="0" y="0"/>
                </a:moveTo>
                <a:lnTo>
                  <a:pt x="9836007" y="0"/>
                </a:lnTo>
              </a:path>
            </a:pathLst>
          </a:custGeom>
          <a:ln w="22225" cap="rnd" cmpd="sng">
            <a:solidFill>
              <a:schemeClr val="accent1"/>
            </a:solidFill>
            <a:custDash>
              <a:ds d="900000" sp="900000"/>
            </a:cust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A86F948B-808D-EA28-BC17-F380D3D07317}"/>
              </a:ext>
            </a:extLst>
          </p:cNvPr>
          <p:cNvSpPr txBox="1"/>
          <p:nvPr/>
        </p:nvSpPr>
        <p:spPr>
          <a:xfrm>
            <a:off x="316161" y="466105"/>
            <a:ext cx="6570061" cy="1554272"/>
          </a:xfrm>
          <a:prstGeom prst="rect">
            <a:avLst/>
          </a:prstGeom>
          <a:noFill/>
        </p:spPr>
        <p:txBody>
          <a:bodyPr wrap="square">
            <a:spAutoFit/>
          </a:bodyPr>
          <a:lstStyle/>
          <a:p>
            <a:pPr algn="ctr"/>
            <a:r>
              <a:rPr lang="en-IN" sz="2500" b="1" dirty="0" err="1">
                <a:latin typeface="Segoe UI" panose="020B0502040204020203" pitchFamily="34" charset="0"/>
                <a:cs typeface="Segoe UI" panose="020B0502040204020203" pitchFamily="34" charset="0"/>
              </a:rPr>
              <a:t>GoR</a:t>
            </a:r>
            <a:r>
              <a:rPr lang="en-IN" sz="2500" b="1" dirty="0">
                <a:latin typeface="Segoe UI" panose="020B0502040204020203" pitchFamily="34" charset="0"/>
                <a:cs typeface="Segoe UI" panose="020B0502040204020203" pitchFamily="34" charset="0"/>
              </a:rPr>
              <a:t> recognition strategy </a:t>
            </a:r>
          </a:p>
          <a:p>
            <a:pPr algn="ctr"/>
            <a:r>
              <a:rPr lang="en-IN" sz="2500" b="1" dirty="0">
                <a:latin typeface="Segoe UI" panose="020B0502040204020203" pitchFamily="34" charset="0"/>
                <a:cs typeface="Segoe UI" panose="020B0502040204020203" pitchFamily="34" charset="0"/>
              </a:rPr>
              <a:t>under IPSAS 33</a:t>
            </a:r>
          </a:p>
          <a:p>
            <a:pPr algn="ctr"/>
            <a:endParaRPr lang="en-IN" sz="2500" b="1" dirty="0">
              <a:latin typeface="Segoe UI" panose="020B0502040204020203" pitchFamily="34" charset="0"/>
              <a:cs typeface="Segoe UI" panose="020B0502040204020203" pitchFamily="34" charset="0"/>
            </a:endParaRPr>
          </a:p>
          <a:p>
            <a:pPr algn="ctr"/>
            <a:r>
              <a:rPr lang="en-IN" sz="2000" b="1" i="1" dirty="0">
                <a:latin typeface="Segoe UI" panose="020B0502040204020203" pitchFamily="34" charset="0"/>
                <a:cs typeface="Segoe UI" panose="020B0502040204020203" pitchFamily="34" charset="0"/>
              </a:rPr>
              <a:t>(See Appendix 1 YECP)</a:t>
            </a:r>
          </a:p>
        </p:txBody>
      </p:sp>
    </p:spTree>
    <p:extLst>
      <p:ext uri="{BB962C8B-B14F-4D97-AF65-F5344CB8AC3E}">
        <p14:creationId xmlns:p14="http://schemas.microsoft.com/office/powerpoint/2010/main" val="2771453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98A296B4-6089-6AD2-E271-B23800BDE6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6BBD56-AC7C-25D3-9943-59275E626160}"/>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14</a:t>
            </a:fld>
            <a:endParaRPr lang="en-GB" dirty="0"/>
          </a:p>
        </p:txBody>
      </p:sp>
      <p:sp>
        <p:nvSpPr>
          <p:cNvPr id="3" name="Google Shape;570;p59">
            <a:extLst>
              <a:ext uri="{FF2B5EF4-FFF2-40B4-BE49-F238E27FC236}">
                <a16:creationId xmlns:a16="http://schemas.microsoft.com/office/drawing/2014/main" id="{C60C417F-6D0A-E4BF-EE39-3EB7EB698AB0}"/>
              </a:ext>
            </a:extLst>
          </p:cNvPr>
          <p:cNvSpPr txBox="1">
            <a:spLocks noGrp="1"/>
          </p:cNvSpPr>
          <p:nvPr>
            <p:ph type="title"/>
          </p:nvPr>
        </p:nvSpPr>
        <p:spPr>
          <a:xfrm>
            <a:off x="1107168" y="2771299"/>
            <a:ext cx="11084832" cy="868362"/>
          </a:xfrm>
          <a:prstGeom prst="rect">
            <a:avLst/>
          </a:prstGeom>
          <a:noFill/>
          <a:ln>
            <a:noFill/>
          </a:ln>
        </p:spPr>
        <p:txBody>
          <a:bodyPr spcFirstLastPara="1" vert="horz" wrap="square" lIns="91425" tIns="45700" rIns="91425" bIns="45700" rtlCol="0" anchor="b" anchorCtr="0">
            <a:noAutofit/>
          </a:bodyPr>
          <a:lstStyle/>
          <a:p>
            <a:pPr marL="538162" algn="just">
              <a:lnSpc>
                <a:spcPct val="170000"/>
              </a:lnSpc>
            </a:pPr>
            <a:r>
              <a:rPr lang="en-US" sz="4000" dirty="0">
                <a:solidFill>
                  <a:srgbClr val="FF6319"/>
                </a:solidFill>
              </a:rPr>
              <a:t>Accounting for NCA and Inventory</a:t>
            </a:r>
          </a:p>
        </p:txBody>
      </p:sp>
    </p:spTree>
    <p:extLst>
      <p:ext uri="{BB962C8B-B14F-4D97-AF65-F5344CB8AC3E}">
        <p14:creationId xmlns:p14="http://schemas.microsoft.com/office/powerpoint/2010/main" val="3000160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0CC16615-923F-BA14-DBF4-739D4BA5BC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DB2565-A5BF-79E8-1BF7-BE6F813FF2DD}"/>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15</a:t>
            </a:fld>
            <a:endParaRPr lang="en-GB" dirty="0"/>
          </a:p>
        </p:txBody>
      </p:sp>
      <p:sp>
        <p:nvSpPr>
          <p:cNvPr id="3" name="Google Shape;570;p59">
            <a:extLst>
              <a:ext uri="{FF2B5EF4-FFF2-40B4-BE49-F238E27FC236}">
                <a16:creationId xmlns:a16="http://schemas.microsoft.com/office/drawing/2014/main" id="{3BE4CAFE-5DBD-AA0F-94F7-3CFB9F45912F}"/>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Topics</a:t>
            </a:r>
          </a:p>
        </p:txBody>
      </p:sp>
      <p:sp>
        <p:nvSpPr>
          <p:cNvPr id="5" name="Block Arc 4">
            <a:extLst>
              <a:ext uri="{FF2B5EF4-FFF2-40B4-BE49-F238E27FC236}">
                <a16:creationId xmlns:a16="http://schemas.microsoft.com/office/drawing/2014/main" id="{AEA3173F-6D9F-9DCD-5B23-6F37EB7418E1}"/>
              </a:ext>
            </a:extLst>
          </p:cNvPr>
          <p:cNvSpPr/>
          <p:nvPr/>
        </p:nvSpPr>
        <p:spPr>
          <a:xfrm>
            <a:off x="-4801913" y="-132416"/>
            <a:ext cx="7122831" cy="7122831"/>
          </a:xfrm>
          <a:prstGeom prst="blockArc">
            <a:avLst>
              <a:gd name="adj1" fmla="val 18900000"/>
              <a:gd name="adj2" fmla="val 2700000"/>
              <a:gd name="adj3" fmla="val 303"/>
            </a:avLst>
          </a:prstGeom>
          <a:noFill/>
          <a:ln w="25400" cap="flat" cmpd="sng" algn="ctr">
            <a:solidFill>
              <a:srgbClr val="4472C4">
                <a:hueOff val="0"/>
                <a:satOff val="0"/>
                <a:lumOff val="0"/>
                <a:alphaOff val="0"/>
              </a:srgbClr>
            </a:solidFill>
            <a:prstDash val="solid"/>
          </a:ln>
          <a:effectLst/>
        </p:spPr>
        <p:style>
          <a:lnRef idx="2">
            <a:scrgbClr r="0" g="0" b="0"/>
          </a:lnRef>
          <a:fillRef idx="0">
            <a:scrgbClr r="0" g="0" b="0"/>
          </a:fillRef>
          <a:effectRef idx="0">
            <a:scrgbClr r="0" g="0" b="0"/>
          </a:effectRef>
          <a:fontRef idx="minor">
            <a:schemeClr val="tx1">
              <a:hueOff val="0"/>
              <a:satOff val="0"/>
              <a:lumOff val="0"/>
              <a:alphaOff val="0"/>
            </a:schemeClr>
          </a:fontRef>
        </p:style>
        <p:txBody>
          <a:bodyPr/>
          <a:lstStyle/>
          <a:p>
            <a:endParaRPr lang="en-GB"/>
          </a:p>
        </p:txBody>
      </p:sp>
      <p:sp>
        <p:nvSpPr>
          <p:cNvPr id="9" name="Oval 8">
            <a:extLst>
              <a:ext uri="{FF2B5EF4-FFF2-40B4-BE49-F238E27FC236}">
                <a16:creationId xmlns:a16="http://schemas.microsoft.com/office/drawing/2014/main" id="{6D50E607-4F49-98E2-3B18-7320120C2337}"/>
              </a:ext>
            </a:extLst>
          </p:cNvPr>
          <p:cNvSpPr/>
          <p:nvPr/>
        </p:nvSpPr>
        <p:spPr>
          <a:xfrm>
            <a:off x="1582619" y="1463990"/>
            <a:ext cx="762356" cy="780340"/>
          </a:xfrm>
          <a:prstGeom prst="ellipse">
            <a:avLst/>
          </a:prstGeom>
          <a:solidFill>
            <a:sysClr val="window" lastClr="FFFFFF">
              <a:hueOff val="0"/>
              <a:satOff val="0"/>
              <a:lumOff val="0"/>
              <a:alphaOff val="0"/>
            </a:sysClr>
          </a:solidFill>
          <a:ln w="25400" cap="flat" cmpd="sng" algn="ctr">
            <a:solidFill>
              <a:srgbClr val="FFC000">
                <a:hueOff val="2598923"/>
                <a:satOff val="-11992"/>
                <a:lumOff val="441"/>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a:lstStyle/>
          <a:p>
            <a:endParaRPr lang="en-GB"/>
          </a:p>
        </p:txBody>
      </p:sp>
      <p:sp>
        <p:nvSpPr>
          <p:cNvPr id="17" name="TextBox 16">
            <a:extLst>
              <a:ext uri="{FF2B5EF4-FFF2-40B4-BE49-F238E27FC236}">
                <a16:creationId xmlns:a16="http://schemas.microsoft.com/office/drawing/2014/main" id="{6847792B-A793-9EC6-A83D-DDA341738470}"/>
              </a:ext>
            </a:extLst>
          </p:cNvPr>
          <p:cNvSpPr txBox="1"/>
          <p:nvPr/>
        </p:nvSpPr>
        <p:spPr>
          <a:xfrm>
            <a:off x="2008762" y="1355961"/>
            <a:ext cx="8751079" cy="8140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6171" tIns="55880" rIns="55880" bIns="55880" numCol="1" spcCol="1270" anchor="ctr" anchorCtr="0">
            <a:noAutofit/>
          </a:bodyPr>
          <a:lstStyle/>
          <a:p>
            <a:pPr marL="0" lvl="0" indent="0" algn="l" defTabSz="977900">
              <a:lnSpc>
                <a:spcPct val="90000"/>
              </a:lnSpc>
              <a:spcBef>
                <a:spcPct val="0"/>
              </a:spcBef>
              <a:spcAft>
                <a:spcPct val="35000"/>
              </a:spcAft>
              <a:buNone/>
            </a:pPr>
            <a:r>
              <a:rPr lang="en-GB" sz="2200" dirty="0">
                <a:solidFill>
                  <a:sysClr val="windowText" lastClr="000000"/>
                </a:solidFill>
                <a:latin typeface="Tahoma" panose="020B0604030504040204" pitchFamily="34" charset="0"/>
                <a:ea typeface="Tahoma" panose="020B0604030504040204" pitchFamily="34" charset="0"/>
                <a:cs typeface="Tahoma" panose="020B0604030504040204" pitchFamily="34" charset="0"/>
              </a:rPr>
              <a:t>Recognition of Legacy and Newly acquired </a:t>
            </a:r>
            <a:r>
              <a:rPr lang="en-GB" sz="2200" kern="1200" dirty="0">
                <a:solidFill>
                  <a:sysClr val="windowText" lastClr="000000"/>
                </a:solidFill>
                <a:latin typeface="Tahoma" panose="020B0604030504040204" pitchFamily="34" charset="0"/>
                <a:ea typeface="Tahoma" panose="020B0604030504040204" pitchFamily="34" charset="0"/>
                <a:cs typeface="Tahoma" panose="020B0604030504040204" pitchFamily="34" charset="0"/>
              </a:rPr>
              <a:t>Non-Current Assets</a:t>
            </a:r>
            <a:endParaRPr lang="en-GB" sz="3400" kern="1200" dirty="0">
              <a:solidFill>
                <a:schemeClr val="tx1"/>
              </a:solidFill>
              <a:latin typeface="Calibri" panose="020F0502020204030204"/>
              <a:ea typeface="+mn-ea"/>
              <a:cs typeface="+mn-cs"/>
            </a:endParaRPr>
          </a:p>
        </p:txBody>
      </p:sp>
      <p:sp>
        <p:nvSpPr>
          <p:cNvPr id="11" name="Oval 10">
            <a:extLst>
              <a:ext uri="{FF2B5EF4-FFF2-40B4-BE49-F238E27FC236}">
                <a16:creationId xmlns:a16="http://schemas.microsoft.com/office/drawing/2014/main" id="{F34EAC3C-F060-2EE3-4457-F7B07340C632}"/>
              </a:ext>
            </a:extLst>
          </p:cNvPr>
          <p:cNvSpPr/>
          <p:nvPr/>
        </p:nvSpPr>
        <p:spPr>
          <a:xfrm>
            <a:off x="1894075" y="2776145"/>
            <a:ext cx="803631" cy="780340"/>
          </a:xfrm>
          <a:prstGeom prst="ellipse">
            <a:avLst/>
          </a:prstGeom>
          <a:solidFill>
            <a:sysClr val="window" lastClr="FFFFFF">
              <a:hueOff val="0"/>
              <a:satOff val="0"/>
              <a:lumOff val="0"/>
              <a:alphaOff val="0"/>
            </a:sysClr>
          </a:solidFill>
          <a:ln w="25400" cap="flat" cmpd="sng" algn="ctr">
            <a:solidFill>
              <a:srgbClr val="FFC000">
                <a:hueOff val="5197846"/>
                <a:satOff val="-23984"/>
                <a:lumOff val="883"/>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a:lstStyle/>
          <a:p>
            <a:endParaRPr lang="en-GB"/>
          </a:p>
        </p:txBody>
      </p:sp>
      <p:sp>
        <p:nvSpPr>
          <p:cNvPr id="15" name="TextBox 14">
            <a:extLst>
              <a:ext uri="{FF2B5EF4-FFF2-40B4-BE49-F238E27FC236}">
                <a16:creationId xmlns:a16="http://schemas.microsoft.com/office/drawing/2014/main" id="{4D218841-935A-DD0A-A754-D321F34822BC}"/>
              </a:ext>
            </a:extLst>
          </p:cNvPr>
          <p:cNvSpPr txBox="1"/>
          <p:nvPr/>
        </p:nvSpPr>
        <p:spPr>
          <a:xfrm>
            <a:off x="2402932" y="2795893"/>
            <a:ext cx="9217806" cy="8140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6171" tIns="55880" rIns="55880" bIns="55880" numCol="1" spcCol="1270" anchor="ctr" anchorCtr="0">
            <a:noAutofit/>
          </a:bodyPr>
          <a:lstStyle/>
          <a:p>
            <a:pPr marL="0" lvl="0" indent="0" algn="l" defTabSz="977900">
              <a:lnSpc>
                <a:spcPct val="90000"/>
              </a:lnSpc>
              <a:spcBef>
                <a:spcPct val="0"/>
              </a:spcBef>
              <a:spcAft>
                <a:spcPct val="35000"/>
              </a:spcAft>
              <a:buNone/>
            </a:pPr>
            <a:r>
              <a:rPr lang="en-GB" sz="2200" dirty="0">
                <a:solidFill>
                  <a:sysClr val="windowText" lastClr="000000"/>
                </a:solidFill>
                <a:latin typeface="Tahoma" panose="020B0604030504040204" pitchFamily="34" charset="0"/>
                <a:ea typeface="Tahoma" panose="020B0604030504040204" pitchFamily="34" charset="0"/>
                <a:cs typeface="Tahoma" panose="020B0604030504040204" pitchFamily="34" charset="0"/>
              </a:rPr>
              <a:t>Depreciation of Non-Current Asset</a:t>
            </a:r>
            <a:endParaRPr lang="en-GB" sz="2200" kern="1200" dirty="0">
              <a:solidFill>
                <a:sysClr val="windowText" lastClr="000000"/>
              </a:solidFill>
              <a:latin typeface="Tahoma" panose="020B0604030504040204" pitchFamily="34" charset="0"/>
              <a:ea typeface="Tahoma" panose="020B0604030504040204" pitchFamily="34" charset="0"/>
              <a:cs typeface="Tahoma" panose="020B0604030504040204" pitchFamily="34" charset="0"/>
            </a:endParaRPr>
          </a:p>
        </p:txBody>
      </p:sp>
      <p:sp>
        <p:nvSpPr>
          <p:cNvPr id="13" name="Oval 12">
            <a:extLst>
              <a:ext uri="{FF2B5EF4-FFF2-40B4-BE49-F238E27FC236}">
                <a16:creationId xmlns:a16="http://schemas.microsoft.com/office/drawing/2014/main" id="{9CFE4A60-00F6-BA4B-46AB-EB19DA0EE6BF}"/>
              </a:ext>
            </a:extLst>
          </p:cNvPr>
          <p:cNvSpPr/>
          <p:nvPr/>
        </p:nvSpPr>
        <p:spPr>
          <a:xfrm>
            <a:off x="1736816" y="3962332"/>
            <a:ext cx="803631" cy="817729"/>
          </a:xfrm>
          <a:prstGeom prst="ellipse">
            <a:avLst/>
          </a:prstGeom>
          <a:solidFill>
            <a:sysClr val="window" lastClr="FFFFFF">
              <a:hueOff val="0"/>
              <a:satOff val="0"/>
              <a:lumOff val="0"/>
              <a:alphaOff val="0"/>
            </a:sysClr>
          </a:solidFill>
          <a:ln w="25400" cap="flat" cmpd="sng" algn="ctr">
            <a:solidFill>
              <a:srgbClr val="FFC000">
                <a:hueOff val="7796769"/>
                <a:satOff val="-35976"/>
                <a:lumOff val="1324"/>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a:lstStyle/>
          <a:p>
            <a:endParaRPr lang="en-GB"/>
          </a:p>
        </p:txBody>
      </p:sp>
      <p:sp>
        <p:nvSpPr>
          <p:cNvPr id="4" name="Oval 3">
            <a:extLst>
              <a:ext uri="{FF2B5EF4-FFF2-40B4-BE49-F238E27FC236}">
                <a16:creationId xmlns:a16="http://schemas.microsoft.com/office/drawing/2014/main" id="{617FBB3C-A874-9EF8-88DD-95CDC319745B}"/>
              </a:ext>
            </a:extLst>
          </p:cNvPr>
          <p:cNvSpPr/>
          <p:nvPr/>
        </p:nvSpPr>
        <p:spPr>
          <a:xfrm>
            <a:off x="1205132" y="5098777"/>
            <a:ext cx="803630" cy="814073"/>
          </a:xfrm>
          <a:prstGeom prst="ellipse">
            <a:avLst/>
          </a:prstGeom>
          <a:solidFill>
            <a:sysClr val="window" lastClr="FFFFFF">
              <a:hueOff val="0"/>
              <a:satOff val="0"/>
              <a:lumOff val="0"/>
              <a:alphaOff val="0"/>
            </a:sysClr>
          </a:solidFill>
          <a:ln w="25400" cap="flat" cmpd="sng" algn="ctr">
            <a:solidFill>
              <a:srgbClr val="FFC000">
                <a:hueOff val="2598923"/>
                <a:satOff val="-11992"/>
                <a:lumOff val="441"/>
                <a:alphaOff val="0"/>
              </a:srgbClr>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a:lstStyle/>
          <a:p>
            <a:endParaRPr lang="en-GB"/>
          </a:p>
        </p:txBody>
      </p:sp>
      <p:sp>
        <p:nvSpPr>
          <p:cNvPr id="7" name="TextBox 6">
            <a:extLst>
              <a:ext uri="{FF2B5EF4-FFF2-40B4-BE49-F238E27FC236}">
                <a16:creationId xmlns:a16="http://schemas.microsoft.com/office/drawing/2014/main" id="{757FCB30-4CEF-EC4F-4AB3-F3EA7073E52D}"/>
              </a:ext>
            </a:extLst>
          </p:cNvPr>
          <p:cNvSpPr txBox="1"/>
          <p:nvPr/>
        </p:nvSpPr>
        <p:spPr>
          <a:xfrm>
            <a:off x="1606947" y="5165563"/>
            <a:ext cx="8751079" cy="8140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6171" tIns="55880" rIns="55880" bIns="55880" numCol="1" spcCol="1270" anchor="ctr" anchorCtr="0">
            <a:noAutofit/>
          </a:bodyPr>
          <a:lstStyle/>
          <a:p>
            <a:pPr lvl="0" algn="just" defTabSz="977900">
              <a:lnSpc>
                <a:spcPct val="90000"/>
              </a:lnSpc>
              <a:spcBef>
                <a:spcPct val="0"/>
              </a:spcBef>
              <a:spcAft>
                <a:spcPct val="35000"/>
              </a:spcAft>
            </a:pPr>
            <a:r>
              <a:rPr lang="en-US" sz="2200" kern="1200" dirty="0">
                <a:solidFill>
                  <a:schemeClr val="tx1"/>
                </a:solidFill>
                <a:latin typeface="Tahoma" panose="020B0604030504040204" pitchFamily="34" charset="0"/>
                <a:ea typeface="Tahoma" panose="020B0604030504040204" pitchFamily="34" charset="0"/>
                <a:cs typeface="Tahoma" panose="020B0604030504040204" pitchFamily="34" charset="0"/>
              </a:rPr>
              <a:t> Recognition of Legacy Inventory</a:t>
            </a:r>
            <a:endParaRPr lang="en-US" sz="2200" kern="1200" dirty="0">
              <a:solidFill>
                <a:schemeClr val="tx1"/>
              </a:solidFill>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2DE7A2BD-A44E-C085-C235-F28C3F50C631}"/>
              </a:ext>
            </a:extLst>
          </p:cNvPr>
          <p:cNvSpPr txBox="1"/>
          <p:nvPr/>
        </p:nvSpPr>
        <p:spPr>
          <a:xfrm>
            <a:off x="2245763" y="4024911"/>
            <a:ext cx="9217806" cy="81407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46171" tIns="55880" rIns="55880" bIns="55880" numCol="1" spcCol="1270" anchor="ctr" anchorCtr="0">
            <a:noAutofit/>
          </a:bodyPr>
          <a:lstStyle/>
          <a:p>
            <a:pPr marL="0" lvl="0" indent="0" algn="l" defTabSz="977900">
              <a:lnSpc>
                <a:spcPct val="90000"/>
              </a:lnSpc>
              <a:spcBef>
                <a:spcPct val="0"/>
              </a:spcBef>
              <a:spcAft>
                <a:spcPct val="35000"/>
              </a:spcAft>
              <a:buNone/>
            </a:pPr>
            <a:r>
              <a:rPr lang="en-GB" sz="2200" dirty="0">
                <a:solidFill>
                  <a:sysClr val="windowText" lastClr="000000"/>
                </a:solidFill>
                <a:latin typeface="Tahoma" panose="020B0604030504040204" pitchFamily="34" charset="0"/>
                <a:ea typeface="Tahoma" panose="020B0604030504040204" pitchFamily="34" charset="0"/>
                <a:cs typeface="Tahoma" panose="020B0604030504040204" pitchFamily="34" charset="0"/>
              </a:rPr>
              <a:t>Derecognition of Non-Current Asset</a:t>
            </a:r>
            <a:endParaRPr lang="en-GB" sz="2200" kern="1200" dirty="0">
              <a:solidFill>
                <a:sysClr val="windowText" lastClr="000000"/>
              </a:solidFill>
              <a:latin typeface="Tahoma" panose="020B0604030504040204" pitchFamily="34" charset="0"/>
              <a:ea typeface="Tahoma" panose="020B0604030504040204" pitchFamily="34" charset="0"/>
              <a:cs typeface="Tahoma" panose="020B0604030504040204" pitchFamily="34" charset="0"/>
            </a:endParaRPr>
          </a:p>
        </p:txBody>
      </p:sp>
      <p:pic>
        <p:nvPicPr>
          <p:cNvPr id="23" name="Picture 4" descr="Solution - Free technology icons">
            <a:extLst>
              <a:ext uri="{FF2B5EF4-FFF2-40B4-BE49-F238E27FC236}">
                <a16:creationId xmlns:a16="http://schemas.microsoft.com/office/drawing/2014/main" id="{0DAD673E-0AEF-99DA-A542-5923ED51F7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9297" y="1650016"/>
            <a:ext cx="407866" cy="407866"/>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Группа 820">
            <a:extLst>
              <a:ext uri="{FF2B5EF4-FFF2-40B4-BE49-F238E27FC236}">
                <a16:creationId xmlns:a16="http://schemas.microsoft.com/office/drawing/2014/main" id="{12E51890-282A-2FE5-83E7-A9B20824250C}"/>
              </a:ext>
            </a:extLst>
          </p:cNvPr>
          <p:cNvGrpSpPr/>
          <p:nvPr/>
        </p:nvGrpSpPr>
        <p:grpSpPr>
          <a:xfrm>
            <a:off x="2128959" y="2998029"/>
            <a:ext cx="369058" cy="410996"/>
            <a:chOff x="969611" y="4754115"/>
            <a:chExt cx="235800" cy="286255"/>
          </a:xfrm>
        </p:grpSpPr>
        <p:sp>
          <p:nvSpPr>
            <p:cNvPr id="26" name="Oval 3056">
              <a:extLst>
                <a:ext uri="{FF2B5EF4-FFF2-40B4-BE49-F238E27FC236}">
                  <a16:creationId xmlns:a16="http://schemas.microsoft.com/office/drawing/2014/main" id="{C230ADE7-D5BB-7C86-05CE-65105AEB4E10}"/>
                </a:ext>
              </a:extLst>
            </p:cNvPr>
            <p:cNvSpPr>
              <a:spLocks noChangeArrowheads="1"/>
            </p:cNvSpPr>
            <p:nvPr/>
          </p:nvSpPr>
          <p:spPr bwMode="auto">
            <a:xfrm>
              <a:off x="988146" y="4844728"/>
              <a:ext cx="198731" cy="195642"/>
            </a:xfrm>
            <a:prstGeom prst="ellipse">
              <a:avLst/>
            </a:prstGeom>
            <a:noFill/>
            <a:ln w="19050" cap="rnd">
              <a:solidFill>
                <a:sysClr val="windowText" lastClr="00000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45715" tIns="22857" rIns="45715" bIns="22857" numCol="1" anchor="t" anchorCtr="0" compatLnSpc="1">
              <a:prstTxWarp prst="textNoShape">
                <a:avLst/>
              </a:prstTxWarp>
            </a:bodyPr>
            <a:lstStyle/>
            <a:p>
              <a:pPr marL="0" marR="0" lvl="0" indent="0" defTabSz="121901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27" name="Line 3057">
              <a:extLst>
                <a:ext uri="{FF2B5EF4-FFF2-40B4-BE49-F238E27FC236}">
                  <a16:creationId xmlns:a16="http://schemas.microsoft.com/office/drawing/2014/main" id="{A0A15060-3134-B0DE-A4F1-0FD5AD918AC3}"/>
                </a:ext>
              </a:extLst>
            </p:cNvPr>
            <p:cNvSpPr>
              <a:spLocks noChangeShapeType="1"/>
            </p:cNvSpPr>
            <p:nvPr/>
          </p:nvSpPr>
          <p:spPr bwMode="auto">
            <a:xfrm flipV="1">
              <a:off x="1086996" y="4758234"/>
              <a:ext cx="0" cy="74138"/>
            </a:xfrm>
            <a:prstGeom prst="line">
              <a:avLst/>
            </a:prstGeom>
            <a:noFill/>
            <a:ln w="19050" cap="rnd">
              <a:solidFill>
                <a:sysClr val="windowText" lastClr="000000"/>
              </a:solidFill>
              <a:prstDash val="solid"/>
              <a:round/>
              <a:headEnd/>
              <a:tailEnd/>
            </a:ln>
            <a:extLst>
              <a:ext uri="{909E8E84-426E-40dd-AFC4-6F175D3DCCD1}">
                <a14:hiddenFill xmlns="" xmlns:a14="http://schemas.microsoft.com/office/drawing/2010/main">
                  <a:noFill/>
                </a14:hiddenFill>
              </a:ext>
            </a:extLst>
          </p:spPr>
          <p:txBody>
            <a:bodyPr vert="horz" wrap="square" lIns="45715" tIns="22857" rIns="45715" bIns="22857" numCol="1" anchor="t" anchorCtr="0" compatLnSpc="1">
              <a:prstTxWarp prst="textNoShape">
                <a:avLst/>
              </a:prstTxWarp>
            </a:bodyPr>
            <a:lstStyle/>
            <a:p>
              <a:pPr marL="0" marR="0" lvl="0" indent="0" defTabSz="121901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28" name="Freeform 3058">
              <a:extLst>
                <a:ext uri="{FF2B5EF4-FFF2-40B4-BE49-F238E27FC236}">
                  <a16:creationId xmlns:a16="http://schemas.microsoft.com/office/drawing/2014/main" id="{33D63741-6CE9-3DCB-A996-6839CDA096AE}"/>
                </a:ext>
              </a:extLst>
            </p:cNvPr>
            <p:cNvSpPr>
              <a:spLocks/>
            </p:cNvSpPr>
            <p:nvPr/>
          </p:nvSpPr>
          <p:spPr bwMode="auto">
            <a:xfrm>
              <a:off x="1031393" y="4887975"/>
              <a:ext cx="113266" cy="109147"/>
            </a:xfrm>
            <a:custGeom>
              <a:avLst/>
              <a:gdLst>
                <a:gd name="T0" fmla="*/ 54 w 110"/>
                <a:gd name="T1" fmla="*/ 0 h 106"/>
                <a:gd name="T2" fmla="*/ 72 w 110"/>
                <a:gd name="T3" fmla="*/ 36 h 106"/>
                <a:gd name="T4" fmla="*/ 110 w 110"/>
                <a:gd name="T5" fmla="*/ 40 h 106"/>
                <a:gd name="T6" fmla="*/ 82 w 110"/>
                <a:gd name="T7" fmla="*/ 68 h 106"/>
                <a:gd name="T8" fmla="*/ 88 w 110"/>
                <a:gd name="T9" fmla="*/ 106 h 106"/>
                <a:gd name="T10" fmla="*/ 54 w 110"/>
                <a:gd name="T11" fmla="*/ 88 h 106"/>
                <a:gd name="T12" fmla="*/ 20 w 110"/>
                <a:gd name="T13" fmla="*/ 106 h 106"/>
                <a:gd name="T14" fmla="*/ 26 w 110"/>
                <a:gd name="T15" fmla="*/ 68 h 106"/>
                <a:gd name="T16" fmla="*/ 0 w 110"/>
                <a:gd name="T17" fmla="*/ 40 h 106"/>
                <a:gd name="T18" fmla="*/ 38 w 110"/>
                <a:gd name="T19" fmla="*/ 36 h 106"/>
                <a:gd name="T20" fmla="*/ 54 w 110"/>
                <a:gd name="T2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06">
                  <a:moveTo>
                    <a:pt x="54" y="0"/>
                  </a:moveTo>
                  <a:lnTo>
                    <a:pt x="72" y="36"/>
                  </a:lnTo>
                  <a:lnTo>
                    <a:pt x="110" y="40"/>
                  </a:lnTo>
                  <a:lnTo>
                    <a:pt x="82" y="68"/>
                  </a:lnTo>
                  <a:lnTo>
                    <a:pt x="88" y="106"/>
                  </a:lnTo>
                  <a:lnTo>
                    <a:pt x="54" y="88"/>
                  </a:lnTo>
                  <a:lnTo>
                    <a:pt x="20" y="106"/>
                  </a:lnTo>
                  <a:lnTo>
                    <a:pt x="26" y="68"/>
                  </a:lnTo>
                  <a:lnTo>
                    <a:pt x="0" y="40"/>
                  </a:lnTo>
                  <a:lnTo>
                    <a:pt x="38" y="36"/>
                  </a:lnTo>
                  <a:lnTo>
                    <a:pt x="54" y="0"/>
                  </a:lnTo>
                  <a:close/>
                </a:path>
              </a:pathLst>
            </a:custGeom>
            <a:noFill/>
            <a:ln w="19050" cap="rnd">
              <a:solidFill>
                <a:sysClr val="windowText" lastClr="00000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45715" tIns="22857" rIns="45715" bIns="22857" numCol="1" anchor="t" anchorCtr="0" compatLnSpc="1">
              <a:prstTxWarp prst="textNoShape">
                <a:avLst/>
              </a:prstTxWarp>
            </a:bodyPr>
            <a:lstStyle/>
            <a:p>
              <a:pPr marL="0" marR="0" lvl="0" indent="0" defTabSz="121901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29" name="Freeform 3059">
              <a:extLst>
                <a:ext uri="{FF2B5EF4-FFF2-40B4-BE49-F238E27FC236}">
                  <a16:creationId xmlns:a16="http://schemas.microsoft.com/office/drawing/2014/main" id="{445E93E1-FBCE-4A01-5373-88AE33219935}"/>
                </a:ext>
              </a:extLst>
            </p:cNvPr>
            <p:cNvSpPr>
              <a:spLocks/>
            </p:cNvSpPr>
            <p:nvPr/>
          </p:nvSpPr>
          <p:spPr bwMode="auto">
            <a:xfrm>
              <a:off x="969611" y="4754115"/>
              <a:ext cx="235800" cy="123563"/>
            </a:xfrm>
            <a:custGeom>
              <a:avLst/>
              <a:gdLst>
                <a:gd name="T0" fmla="*/ 0 w 114"/>
                <a:gd name="T1" fmla="*/ 0 h 60"/>
                <a:gd name="T2" fmla="*/ 0 w 114"/>
                <a:gd name="T3" fmla="*/ 20 h 60"/>
                <a:gd name="T4" fmla="*/ 22 w 114"/>
                <a:gd name="T5" fmla="*/ 59 h 60"/>
                <a:gd name="T6" fmla="*/ 22 w 114"/>
                <a:gd name="T7" fmla="*/ 59 h 60"/>
                <a:gd name="T8" fmla="*/ 57 w 114"/>
                <a:gd name="T9" fmla="*/ 44 h 60"/>
                <a:gd name="T10" fmla="*/ 93 w 114"/>
                <a:gd name="T11" fmla="*/ 60 h 60"/>
                <a:gd name="T12" fmla="*/ 93 w 114"/>
                <a:gd name="T13" fmla="*/ 60 h 60"/>
                <a:gd name="T14" fmla="*/ 114 w 114"/>
                <a:gd name="T15" fmla="*/ 20 h 60"/>
                <a:gd name="T16" fmla="*/ 114 w 114"/>
                <a:gd name="T17" fmla="*/ 0 h 60"/>
                <a:gd name="T18" fmla="*/ 0 w 114"/>
                <a:gd name="T1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60">
                  <a:moveTo>
                    <a:pt x="0" y="0"/>
                  </a:moveTo>
                  <a:cubicBezTo>
                    <a:pt x="0" y="20"/>
                    <a:pt x="0" y="20"/>
                    <a:pt x="0" y="20"/>
                  </a:cubicBezTo>
                  <a:cubicBezTo>
                    <a:pt x="22" y="59"/>
                    <a:pt x="22" y="59"/>
                    <a:pt x="22" y="59"/>
                  </a:cubicBezTo>
                  <a:cubicBezTo>
                    <a:pt x="22" y="59"/>
                    <a:pt x="22" y="59"/>
                    <a:pt x="22" y="59"/>
                  </a:cubicBezTo>
                  <a:cubicBezTo>
                    <a:pt x="31" y="50"/>
                    <a:pt x="43" y="44"/>
                    <a:pt x="57" y="44"/>
                  </a:cubicBezTo>
                  <a:cubicBezTo>
                    <a:pt x="72" y="44"/>
                    <a:pt x="85" y="50"/>
                    <a:pt x="93" y="60"/>
                  </a:cubicBezTo>
                  <a:cubicBezTo>
                    <a:pt x="93" y="60"/>
                    <a:pt x="93" y="60"/>
                    <a:pt x="93" y="60"/>
                  </a:cubicBezTo>
                  <a:cubicBezTo>
                    <a:pt x="114" y="20"/>
                    <a:pt x="114" y="20"/>
                    <a:pt x="114" y="20"/>
                  </a:cubicBezTo>
                  <a:cubicBezTo>
                    <a:pt x="114" y="0"/>
                    <a:pt x="114" y="0"/>
                    <a:pt x="114" y="0"/>
                  </a:cubicBezTo>
                  <a:lnTo>
                    <a:pt x="0" y="0"/>
                  </a:lnTo>
                  <a:close/>
                </a:path>
              </a:pathLst>
            </a:custGeom>
            <a:noFill/>
            <a:ln w="19050" cap="rnd">
              <a:solidFill>
                <a:sysClr val="windowText" lastClr="00000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45715" tIns="22857" rIns="45715" bIns="22857" numCol="1" anchor="t" anchorCtr="0" compatLnSpc="1">
              <a:prstTxWarp prst="textNoShape">
                <a:avLst/>
              </a:prstTxWarp>
            </a:bodyPr>
            <a:lstStyle/>
            <a:p>
              <a:pPr marL="0" marR="0" lvl="0" indent="0" defTabSz="121901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grpSp>
      <p:sp>
        <p:nvSpPr>
          <p:cNvPr id="30" name="Shape 3653">
            <a:extLst>
              <a:ext uri="{FF2B5EF4-FFF2-40B4-BE49-F238E27FC236}">
                <a16:creationId xmlns:a16="http://schemas.microsoft.com/office/drawing/2014/main" id="{2CD64148-55AF-4DC0-BF46-620B82789581}"/>
              </a:ext>
            </a:extLst>
          </p:cNvPr>
          <p:cNvSpPr/>
          <p:nvPr/>
        </p:nvSpPr>
        <p:spPr>
          <a:xfrm>
            <a:off x="1936436" y="4162352"/>
            <a:ext cx="417688" cy="417688"/>
          </a:xfrm>
          <a:custGeom>
            <a:avLst/>
            <a:gdLst/>
            <a:ahLst/>
            <a:cxnLst>
              <a:cxn ang="0">
                <a:pos x="wd2" y="hd2"/>
              </a:cxn>
              <a:cxn ang="5400000">
                <a:pos x="wd2" y="hd2"/>
              </a:cxn>
              <a:cxn ang="10800000">
                <a:pos x="wd2" y="hd2"/>
              </a:cxn>
              <a:cxn ang="16200000">
                <a:pos x="wd2" y="hd2"/>
              </a:cxn>
            </a:cxnLst>
            <a:rect l="0" t="0" r="r" b="b"/>
            <a:pathLst>
              <a:path w="21600" h="21600" extrusionOk="0">
                <a:moveTo>
                  <a:pt x="9445" y="15886"/>
                </a:moveTo>
                <a:lnTo>
                  <a:pt x="10478" y="18984"/>
                </a:lnTo>
                <a:lnTo>
                  <a:pt x="7944" y="17126"/>
                </a:lnTo>
                <a:lnTo>
                  <a:pt x="7364" y="16700"/>
                </a:lnTo>
                <a:lnTo>
                  <a:pt x="6783" y="17126"/>
                </a:lnTo>
                <a:lnTo>
                  <a:pt x="4249" y="18984"/>
                </a:lnTo>
                <a:lnTo>
                  <a:pt x="5283" y="15886"/>
                </a:lnTo>
                <a:lnTo>
                  <a:pt x="5505" y="15220"/>
                </a:lnTo>
                <a:lnTo>
                  <a:pt x="4946" y="14794"/>
                </a:lnTo>
                <a:lnTo>
                  <a:pt x="2908" y="13241"/>
                </a:lnTo>
                <a:lnTo>
                  <a:pt x="6037" y="13241"/>
                </a:lnTo>
                <a:lnTo>
                  <a:pt x="6275" y="12603"/>
                </a:lnTo>
                <a:lnTo>
                  <a:pt x="7364" y="9683"/>
                </a:lnTo>
                <a:lnTo>
                  <a:pt x="8452" y="12603"/>
                </a:lnTo>
                <a:lnTo>
                  <a:pt x="8690" y="13241"/>
                </a:lnTo>
                <a:lnTo>
                  <a:pt x="11820" y="13241"/>
                </a:lnTo>
                <a:lnTo>
                  <a:pt x="9781" y="14794"/>
                </a:lnTo>
                <a:lnTo>
                  <a:pt x="9223" y="15220"/>
                </a:lnTo>
                <a:cubicBezTo>
                  <a:pt x="9223" y="15220"/>
                  <a:pt x="9445" y="15886"/>
                  <a:pt x="9445" y="15886"/>
                </a:cubicBezTo>
                <a:close/>
                <a:moveTo>
                  <a:pt x="9372" y="12259"/>
                </a:moveTo>
                <a:lnTo>
                  <a:pt x="7364" y="6873"/>
                </a:lnTo>
                <a:lnTo>
                  <a:pt x="5355" y="12259"/>
                </a:lnTo>
                <a:lnTo>
                  <a:pt x="0" y="12259"/>
                </a:lnTo>
                <a:lnTo>
                  <a:pt x="4351" y="15575"/>
                </a:lnTo>
                <a:lnTo>
                  <a:pt x="2343" y="21600"/>
                </a:lnTo>
                <a:lnTo>
                  <a:pt x="7364" y="17918"/>
                </a:lnTo>
                <a:lnTo>
                  <a:pt x="12384" y="21600"/>
                </a:lnTo>
                <a:lnTo>
                  <a:pt x="10376" y="15575"/>
                </a:lnTo>
                <a:lnTo>
                  <a:pt x="14727" y="12259"/>
                </a:lnTo>
                <a:cubicBezTo>
                  <a:pt x="14727" y="12259"/>
                  <a:pt x="9372" y="12259"/>
                  <a:pt x="9372" y="12259"/>
                </a:cubicBezTo>
                <a:close/>
                <a:moveTo>
                  <a:pt x="16781" y="7309"/>
                </a:moveTo>
                <a:lnTo>
                  <a:pt x="16200" y="6883"/>
                </a:lnTo>
                <a:lnTo>
                  <a:pt x="15619" y="7309"/>
                </a:lnTo>
                <a:lnTo>
                  <a:pt x="14426" y="8184"/>
                </a:lnTo>
                <a:lnTo>
                  <a:pt x="14922" y="6693"/>
                </a:lnTo>
                <a:lnTo>
                  <a:pt x="15143" y="6031"/>
                </a:lnTo>
                <a:lnTo>
                  <a:pt x="14590" y="5605"/>
                </a:lnTo>
                <a:lnTo>
                  <a:pt x="13682" y="4905"/>
                </a:lnTo>
                <a:lnTo>
                  <a:pt x="15408" y="4905"/>
                </a:lnTo>
                <a:lnTo>
                  <a:pt x="15647" y="4268"/>
                </a:lnTo>
                <a:lnTo>
                  <a:pt x="16200" y="2793"/>
                </a:lnTo>
                <a:lnTo>
                  <a:pt x="16754" y="4268"/>
                </a:lnTo>
                <a:lnTo>
                  <a:pt x="16992" y="4905"/>
                </a:lnTo>
                <a:lnTo>
                  <a:pt x="18718" y="4905"/>
                </a:lnTo>
                <a:lnTo>
                  <a:pt x="17810" y="5605"/>
                </a:lnTo>
                <a:lnTo>
                  <a:pt x="17257" y="6031"/>
                </a:lnTo>
                <a:lnTo>
                  <a:pt x="17478" y="6693"/>
                </a:lnTo>
                <a:lnTo>
                  <a:pt x="17975" y="8184"/>
                </a:lnTo>
                <a:cubicBezTo>
                  <a:pt x="17975" y="8184"/>
                  <a:pt x="16781" y="7309"/>
                  <a:pt x="16781" y="7309"/>
                </a:cubicBezTo>
                <a:close/>
                <a:moveTo>
                  <a:pt x="21600" y="3922"/>
                </a:moveTo>
                <a:lnTo>
                  <a:pt x="17673" y="3922"/>
                </a:lnTo>
                <a:lnTo>
                  <a:pt x="16200" y="0"/>
                </a:lnTo>
                <a:lnTo>
                  <a:pt x="14727" y="3922"/>
                </a:lnTo>
                <a:lnTo>
                  <a:pt x="10800" y="3922"/>
                </a:lnTo>
                <a:lnTo>
                  <a:pt x="13991" y="6383"/>
                </a:lnTo>
                <a:lnTo>
                  <a:pt x="12518" y="10800"/>
                </a:lnTo>
                <a:lnTo>
                  <a:pt x="16200" y="8100"/>
                </a:lnTo>
                <a:lnTo>
                  <a:pt x="19882" y="10800"/>
                </a:lnTo>
                <a:lnTo>
                  <a:pt x="18409" y="6383"/>
                </a:lnTo>
                <a:cubicBezTo>
                  <a:pt x="18409" y="6383"/>
                  <a:pt x="21600" y="3922"/>
                  <a:pt x="21600" y="3922"/>
                </a:cubicBezTo>
                <a:close/>
              </a:path>
            </a:pathLst>
          </a:custGeom>
          <a:solidFill>
            <a:sysClr val="windowText" lastClr="000000"/>
          </a:solidFill>
          <a:ln w="12700">
            <a:noFill/>
            <a:miter lim="400000"/>
          </a:ln>
        </p:spPr>
        <p:txBody>
          <a:bodyPr lIns="38100" tIns="38100" rIns="38100" bIns="381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Freeform 75">
            <a:extLst>
              <a:ext uri="{FF2B5EF4-FFF2-40B4-BE49-F238E27FC236}">
                <a16:creationId xmlns:a16="http://schemas.microsoft.com/office/drawing/2014/main" id="{A222FE9E-7315-DD6C-A6E1-CD776CA386D4}"/>
              </a:ext>
            </a:extLst>
          </p:cNvPr>
          <p:cNvSpPr>
            <a:spLocks/>
          </p:cNvSpPr>
          <p:nvPr/>
        </p:nvSpPr>
        <p:spPr bwMode="auto">
          <a:xfrm flipH="1">
            <a:off x="1376498" y="5381818"/>
            <a:ext cx="250881" cy="252704"/>
          </a:xfrm>
          <a:custGeom>
            <a:avLst/>
            <a:gdLst>
              <a:gd name="T0" fmla="*/ 1543 w 2201"/>
              <a:gd name="T1" fmla="*/ 1 h 2215"/>
              <a:gd name="T2" fmla="*/ 1564 w 2201"/>
              <a:gd name="T3" fmla="*/ 14 h 2215"/>
              <a:gd name="T4" fmla="*/ 1574 w 2201"/>
              <a:gd name="T5" fmla="*/ 38 h 2215"/>
              <a:gd name="T6" fmla="*/ 1722 w 2201"/>
              <a:gd name="T7" fmla="*/ 244 h 2215"/>
              <a:gd name="T8" fmla="*/ 1764 w 2201"/>
              <a:gd name="T9" fmla="*/ 216 h 2215"/>
              <a:gd name="T10" fmla="*/ 1811 w 2201"/>
              <a:gd name="T11" fmla="*/ 207 h 2215"/>
              <a:gd name="T12" fmla="*/ 1859 w 2201"/>
              <a:gd name="T13" fmla="*/ 216 h 2215"/>
              <a:gd name="T14" fmla="*/ 1900 w 2201"/>
              <a:gd name="T15" fmla="*/ 244 h 2215"/>
              <a:gd name="T16" fmla="*/ 1992 w 2201"/>
              <a:gd name="T17" fmla="*/ 341 h 2215"/>
              <a:gd name="T18" fmla="*/ 2011 w 2201"/>
              <a:gd name="T19" fmla="*/ 394 h 2215"/>
              <a:gd name="T20" fmla="*/ 2005 w 2201"/>
              <a:gd name="T21" fmla="*/ 448 h 2215"/>
              <a:gd name="T22" fmla="*/ 1974 w 2201"/>
              <a:gd name="T23" fmla="*/ 497 h 2215"/>
              <a:gd name="T24" fmla="*/ 2162 w 2201"/>
              <a:gd name="T25" fmla="*/ 627 h 2215"/>
              <a:gd name="T26" fmla="*/ 2187 w 2201"/>
              <a:gd name="T27" fmla="*/ 638 h 2215"/>
              <a:gd name="T28" fmla="*/ 2200 w 2201"/>
              <a:gd name="T29" fmla="*/ 662 h 2215"/>
              <a:gd name="T30" fmla="*/ 2197 w 2201"/>
              <a:gd name="T31" fmla="*/ 687 h 2215"/>
              <a:gd name="T32" fmla="*/ 1703 w 2201"/>
              <a:gd name="T33" fmla="*/ 1185 h 2215"/>
              <a:gd name="T34" fmla="*/ 1649 w 2201"/>
              <a:gd name="T35" fmla="*/ 1224 h 2215"/>
              <a:gd name="T36" fmla="*/ 1586 w 2201"/>
              <a:gd name="T37" fmla="*/ 1244 h 2215"/>
              <a:gd name="T38" fmla="*/ 1545 w 2201"/>
              <a:gd name="T39" fmla="*/ 1246 h 2215"/>
              <a:gd name="T40" fmla="*/ 1525 w 2201"/>
              <a:gd name="T41" fmla="*/ 1245 h 2215"/>
              <a:gd name="T42" fmla="*/ 292 w 2201"/>
              <a:gd name="T43" fmla="*/ 2179 h 2215"/>
              <a:gd name="T44" fmla="*/ 249 w 2201"/>
              <a:gd name="T45" fmla="*/ 2205 h 2215"/>
              <a:gd name="T46" fmla="*/ 110 w 2201"/>
              <a:gd name="T47" fmla="*/ 2215 h 2215"/>
              <a:gd name="T48" fmla="*/ 80 w 2201"/>
              <a:gd name="T49" fmla="*/ 2212 h 2215"/>
              <a:gd name="T50" fmla="*/ 36 w 2201"/>
              <a:gd name="T51" fmla="*/ 2190 h 2215"/>
              <a:gd name="T52" fmla="*/ 7 w 2201"/>
              <a:gd name="T53" fmla="*/ 2151 h 2215"/>
              <a:gd name="T54" fmla="*/ 0 w 2201"/>
              <a:gd name="T55" fmla="*/ 2101 h 2215"/>
              <a:gd name="T56" fmla="*/ 12 w 2201"/>
              <a:gd name="T57" fmla="*/ 1969 h 2215"/>
              <a:gd name="T58" fmla="*/ 38 w 2201"/>
              <a:gd name="T59" fmla="*/ 1927 h 2215"/>
              <a:gd name="T60" fmla="*/ 480 w 2201"/>
              <a:gd name="T61" fmla="*/ 1485 h 2215"/>
              <a:gd name="T62" fmla="*/ 803 w 2201"/>
              <a:gd name="T63" fmla="*/ 1162 h 2215"/>
              <a:gd name="T64" fmla="*/ 955 w 2201"/>
              <a:gd name="T65" fmla="*/ 682 h 2215"/>
              <a:gd name="T66" fmla="*/ 955 w 2201"/>
              <a:gd name="T67" fmla="*/ 627 h 2215"/>
              <a:gd name="T68" fmla="*/ 973 w 2201"/>
              <a:gd name="T69" fmla="*/ 557 h 2215"/>
              <a:gd name="T70" fmla="*/ 1016 w 2201"/>
              <a:gd name="T71" fmla="*/ 497 h 2215"/>
              <a:gd name="T72" fmla="*/ 1511 w 2201"/>
              <a:gd name="T73" fmla="*/ 5 h 2215"/>
              <a:gd name="T74" fmla="*/ 1531 w 2201"/>
              <a:gd name="T75" fmla="*/ 0 h 2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01" h="2215">
                <a:moveTo>
                  <a:pt x="1531" y="0"/>
                </a:moveTo>
                <a:lnTo>
                  <a:pt x="1543" y="1"/>
                </a:lnTo>
                <a:lnTo>
                  <a:pt x="1554" y="6"/>
                </a:lnTo>
                <a:lnTo>
                  <a:pt x="1564" y="14"/>
                </a:lnTo>
                <a:lnTo>
                  <a:pt x="1570" y="25"/>
                </a:lnTo>
                <a:lnTo>
                  <a:pt x="1574" y="38"/>
                </a:lnTo>
                <a:lnTo>
                  <a:pt x="1599" y="367"/>
                </a:lnTo>
                <a:lnTo>
                  <a:pt x="1722" y="244"/>
                </a:lnTo>
                <a:lnTo>
                  <a:pt x="1742" y="227"/>
                </a:lnTo>
                <a:lnTo>
                  <a:pt x="1764" y="216"/>
                </a:lnTo>
                <a:lnTo>
                  <a:pt x="1787" y="208"/>
                </a:lnTo>
                <a:lnTo>
                  <a:pt x="1811" y="207"/>
                </a:lnTo>
                <a:lnTo>
                  <a:pt x="1835" y="208"/>
                </a:lnTo>
                <a:lnTo>
                  <a:pt x="1859" y="216"/>
                </a:lnTo>
                <a:lnTo>
                  <a:pt x="1881" y="227"/>
                </a:lnTo>
                <a:lnTo>
                  <a:pt x="1900" y="244"/>
                </a:lnTo>
                <a:lnTo>
                  <a:pt x="1974" y="319"/>
                </a:lnTo>
                <a:lnTo>
                  <a:pt x="1992" y="341"/>
                </a:lnTo>
                <a:lnTo>
                  <a:pt x="2005" y="367"/>
                </a:lnTo>
                <a:lnTo>
                  <a:pt x="2011" y="394"/>
                </a:lnTo>
                <a:lnTo>
                  <a:pt x="2011" y="421"/>
                </a:lnTo>
                <a:lnTo>
                  <a:pt x="2005" y="448"/>
                </a:lnTo>
                <a:lnTo>
                  <a:pt x="1992" y="474"/>
                </a:lnTo>
                <a:lnTo>
                  <a:pt x="1974" y="497"/>
                </a:lnTo>
                <a:lnTo>
                  <a:pt x="1867" y="604"/>
                </a:lnTo>
                <a:lnTo>
                  <a:pt x="2162" y="627"/>
                </a:lnTo>
                <a:lnTo>
                  <a:pt x="2175" y="631"/>
                </a:lnTo>
                <a:lnTo>
                  <a:pt x="2187" y="638"/>
                </a:lnTo>
                <a:lnTo>
                  <a:pt x="2195" y="648"/>
                </a:lnTo>
                <a:lnTo>
                  <a:pt x="2200" y="662"/>
                </a:lnTo>
                <a:lnTo>
                  <a:pt x="2201" y="674"/>
                </a:lnTo>
                <a:lnTo>
                  <a:pt x="2197" y="687"/>
                </a:lnTo>
                <a:lnTo>
                  <a:pt x="2189" y="700"/>
                </a:lnTo>
                <a:lnTo>
                  <a:pt x="1703" y="1185"/>
                </a:lnTo>
                <a:lnTo>
                  <a:pt x="1677" y="1207"/>
                </a:lnTo>
                <a:lnTo>
                  <a:pt x="1649" y="1224"/>
                </a:lnTo>
                <a:lnTo>
                  <a:pt x="1618" y="1236"/>
                </a:lnTo>
                <a:lnTo>
                  <a:pt x="1586" y="1244"/>
                </a:lnTo>
                <a:lnTo>
                  <a:pt x="1553" y="1247"/>
                </a:lnTo>
                <a:lnTo>
                  <a:pt x="1545" y="1246"/>
                </a:lnTo>
                <a:lnTo>
                  <a:pt x="1537" y="1246"/>
                </a:lnTo>
                <a:lnTo>
                  <a:pt x="1525" y="1245"/>
                </a:lnTo>
                <a:lnTo>
                  <a:pt x="1247" y="1224"/>
                </a:lnTo>
                <a:lnTo>
                  <a:pt x="292" y="2179"/>
                </a:lnTo>
                <a:lnTo>
                  <a:pt x="272" y="2195"/>
                </a:lnTo>
                <a:lnTo>
                  <a:pt x="249" y="2205"/>
                </a:lnTo>
                <a:lnTo>
                  <a:pt x="223" y="2210"/>
                </a:lnTo>
                <a:lnTo>
                  <a:pt x="110" y="2215"/>
                </a:lnTo>
                <a:lnTo>
                  <a:pt x="106" y="2215"/>
                </a:lnTo>
                <a:lnTo>
                  <a:pt x="80" y="2212"/>
                </a:lnTo>
                <a:lnTo>
                  <a:pt x="56" y="2204"/>
                </a:lnTo>
                <a:lnTo>
                  <a:pt x="36" y="2190"/>
                </a:lnTo>
                <a:lnTo>
                  <a:pt x="20" y="2172"/>
                </a:lnTo>
                <a:lnTo>
                  <a:pt x="7" y="2151"/>
                </a:lnTo>
                <a:lnTo>
                  <a:pt x="0" y="2126"/>
                </a:lnTo>
                <a:lnTo>
                  <a:pt x="0" y="2101"/>
                </a:lnTo>
                <a:lnTo>
                  <a:pt x="9" y="1994"/>
                </a:lnTo>
                <a:lnTo>
                  <a:pt x="12" y="1969"/>
                </a:lnTo>
                <a:lnTo>
                  <a:pt x="23" y="1947"/>
                </a:lnTo>
                <a:lnTo>
                  <a:pt x="38" y="1927"/>
                </a:lnTo>
                <a:lnTo>
                  <a:pt x="174" y="1792"/>
                </a:lnTo>
                <a:lnTo>
                  <a:pt x="480" y="1485"/>
                </a:lnTo>
                <a:lnTo>
                  <a:pt x="487" y="1479"/>
                </a:lnTo>
                <a:lnTo>
                  <a:pt x="803" y="1162"/>
                </a:lnTo>
                <a:lnTo>
                  <a:pt x="978" y="987"/>
                </a:lnTo>
                <a:lnTo>
                  <a:pt x="955" y="682"/>
                </a:lnTo>
                <a:lnTo>
                  <a:pt x="954" y="664"/>
                </a:lnTo>
                <a:lnTo>
                  <a:pt x="955" y="627"/>
                </a:lnTo>
                <a:lnTo>
                  <a:pt x="961" y="592"/>
                </a:lnTo>
                <a:lnTo>
                  <a:pt x="973" y="557"/>
                </a:lnTo>
                <a:lnTo>
                  <a:pt x="992" y="525"/>
                </a:lnTo>
                <a:lnTo>
                  <a:pt x="1016" y="497"/>
                </a:lnTo>
                <a:lnTo>
                  <a:pt x="1501" y="12"/>
                </a:lnTo>
                <a:lnTo>
                  <a:pt x="1511" y="5"/>
                </a:lnTo>
                <a:lnTo>
                  <a:pt x="1521" y="1"/>
                </a:lnTo>
                <a:lnTo>
                  <a:pt x="1531" y="0"/>
                </a:lnTo>
                <a:close/>
              </a:path>
            </a:pathLst>
          </a:custGeom>
          <a:solidFill>
            <a:srgbClr val="00B0F0"/>
          </a:solidFill>
          <a:ln w="0">
            <a:noFill/>
            <a:prstDash val="solid"/>
            <a:round/>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u="none" strike="noStrike" kern="1200" cap="none" spc="0" normalizeH="0" baseline="0" noProof="0">
              <a:ln>
                <a:noFill/>
              </a:ln>
              <a:solidFill>
                <a:srgbClr val="000000"/>
              </a:solidFill>
              <a:effectLst/>
              <a:uLnTx/>
              <a:uFillTx/>
              <a:latin typeface="Georgia Pro Light" panose="02040302050405020303" pitchFamily="18" charset="0"/>
            </a:endParaRPr>
          </a:p>
        </p:txBody>
      </p:sp>
      <p:sp>
        <p:nvSpPr>
          <p:cNvPr id="55" name="Freeform 7">
            <a:extLst>
              <a:ext uri="{FF2B5EF4-FFF2-40B4-BE49-F238E27FC236}">
                <a16:creationId xmlns:a16="http://schemas.microsoft.com/office/drawing/2014/main" id="{3A54D536-7405-E66A-D0E8-4B5CE2791B9E}"/>
              </a:ext>
            </a:extLst>
          </p:cNvPr>
          <p:cNvSpPr>
            <a:spLocks noEditPoints="1"/>
          </p:cNvSpPr>
          <p:nvPr/>
        </p:nvSpPr>
        <p:spPr bwMode="auto">
          <a:xfrm flipH="1">
            <a:off x="1579117" y="5389056"/>
            <a:ext cx="239000" cy="238228"/>
          </a:xfrm>
          <a:custGeom>
            <a:avLst/>
            <a:gdLst>
              <a:gd name="T0" fmla="*/ 508 w 1340"/>
              <a:gd name="T1" fmla="*/ 81 h 1339"/>
              <a:gd name="T2" fmla="*/ 497 w 1340"/>
              <a:gd name="T3" fmla="*/ 159 h 1339"/>
              <a:gd name="T4" fmla="*/ 427 w 1340"/>
              <a:gd name="T5" fmla="*/ 188 h 1339"/>
              <a:gd name="T6" fmla="*/ 365 w 1340"/>
              <a:gd name="T7" fmla="*/ 143 h 1339"/>
              <a:gd name="T8" fmla="*/ 239 w 1340"/>
              <a:gd name="T9" fmla="*/ 153 h 1339"/>
              <a:gd name="T10" fmla="*/ 146 w 1340"/>
              <a:gd name="T11" fmla="*/ 247 h 1339"/>
              <a:gd name="T12" fmla="*/ 138 w 1340"/>
              <a:gd name="T13" fmla="*/ 376 h 1339"/>
              <a:gd name="T14" fmla="*/ 184 w 1340"/>
              <a:gd name="T15" fmla="*/ 436 h 1339"/>
              <a:gd name="T16" fmla="*/ 160 w 1340"/>
              <a:gd name="T17" fmla="*/ 496 h 1339"/>
              <a:gd name="T18" fmla="*/ 83 w 1340"/>
              <a:gd name="T19" fmla="*/ 507 h 1339"/>
              <a:gd name="T20" fmla="*/ 0 w 1340"/>
              <a:gd name="T21" fmla="*/ 603 h 1339"/>
              <a:gd name="T22" fmla="*/ 0 w 1340"/>
              <a:gd name="T23" fmla="*/ 736 h 1339"/>
              <a:gd name="T24" fmla="*/ 83 w 1340"/>
              <a:gd name="T25" fmla="*/ 832 h 1339"/>
              <a:gd name="T26" fmla="*/ 160 w 1340"/>
              <a:gd name="T27" fmla="*/ 843 h 1339"/>
              <a:gd name="T28" fmla="*/ 189 w 1340"/>
              <a:gd name="T29" fmla="*/ 912 h 1339"/>
              <a:gd name="T30" fmla="*/ 144 w 1340"/>
              <a:gd name="T31" fmla="*/ 974 h 1339"/>
              <a:gd name="T32" fmla="*/ 155 w 1340"/>
              <a:gd name="T33" fmla="*/ 1102 h 1339"/>
              <a:gd name="T34" fmla="*/ 248 w 1340"/>
              <a:gd name="T35" fmla="*/ 1194 h 1339"/>
              <a:gd name="T36" fmla="*/ 316 w 1340"/>
              <a:gd name="T37" fmla="*/ 1223 h 1339"/>
              <a:gd name="T38" fmla="*/ 376 w 1340"/>
              <a:gd name="T39" fmla="*/ 1201 h 1339"/>
              <a:gd name="T40" fmla="*/ 437 w 1340"/>
              <a:gd name="T41" fmla="*/ 1155 h 1339"/>
              <a:gd name="T42" fmla="*/ 497 w 1340"/>
              <a:gd name="T43" fmla="*/ 1180 h 1339"/>
              <a:gd name="T44" fmla="*/ 508 w 1340"/>
              <a:gd name="T45" fmla="*/ 1256 h 1339"/>
              <a:gd name="T46" fmla="*/ 603 w 1340"/>
              <a:gd name="T47" fmla="*/ 1339 h 1339"/>
              <a:gd name="T48" fmla="*/ 737 w 1340"/>
              <a:gd name="T49" fmla="*/ 1339 h 1339"/>
              <a:gd name="T50" fmla="*/ 832 w 1340"/>
              <a:gd name="T51" fmla="*/ 1257 h 1339"/>
              <a:gd name="T52" fmla="*/ 843 w 1340"/>
              <a:gd name="T53" fmla="*/ 1180 h 1339"/>
              <a:gd name="T54" fmla="*/ 913 w 1340"/>
              <a:gd name="T55" fmla="*/ 1150 h 1339"/>
              <a:gd name="T56" fmla="*/ 974 w 1340"/>
              <a:gd name="T57" fmla="*/ 1195 h 1339"/>
              <a:gd name="T58" fmla="*/ 1103 w 1340"/>
              <a:gd name="T59" fmla="*/ 1184 h 1339"/>
              <a:gd name="T60" fmla="*/ 1194 w 1340"/>
              <a:gd name="T61" fmla="*/ 1092 h 1339"/>
              <a:gd name="T62" fmla="*/ 1202 w 1340"/>
              <a:gd name="T63" fmla="*/ 963 h 1339"/>
              <a:gd name="T64" fmla="*/ 1156 w 1340"/>
              <a:gd name="T65" fmla="*/ 903 h 1339"/>
              <a:gd name="T66" fmla="*/ 1180 w 1340"/>
              <a:gd name="T67" fmla="*/ 843 h 1339"/>
              <a:gd name="T68" fmla="*/ 1257 w 1340"/>
              <a:gd name="T69" fmla="*/ 832 h 1339"/>
              <a:gd name="T70" fmla="*/ 1340 w 1340"/>
              <a:gd name="T71" fmla="*/ 737 h 1339"/>
              <a:gd name="T72" fmla="*/ 1340 w 1340"/>
              <a:gd name="T73" fmla="*/ 602 h 1339"/>
              <a:gd name="T74" fmla="*/ 1257 w 1340"/>
              <a:gd name="T75" fmla="*/ 507 h 1339"/>
              <a:gd name="T76" fmla="*/ 1180 w 1340"/>
              <a:gd name="T77" fmla="*/ 496 h 1339"/>
              <a:gd name="T78" fmla="*/ 1151 w 1340"/>
              <a:gd name="T79" fmla="*/ 426 h 1339"/>
              <a:gd name="T80" fmla="*/ 1196 w 1340"/>
              <a:gd name="T81" fmla="*/ 365 h 1339"/>
              <a:gd name="T82" fmla="*/ 1185 w 1340"/>
              <a:gd name="T83" fmla="*/ 236 h 1339"/>
              <a:gd name="T84" fmla="*/ 1092 w 1340"/>
              <a:gd name="T85" fmla="*/ 145 h 1339"/>
              <a:gd name="T86" fmla="*/ 964 w 1340"/>
              <a:gd name="T87" fmla="*/ 138 h 1339"/>
              <a:gd name="T88" fmla="*/ 903 w 1340"/>
              <a:gd name="T89" fmla="*/ 183 h 1339"/>
              <a:gd name="T90" fmla="*/ 843 w 1340"/>
              <a:gd name="T91" fmla="*/ 159 h 1339"/>
              <a:gd name="T92" fmla="*/ 832 w 1340"/>
              <a:gd name="T93" fmla="*/ 82 h 1339"/>
              <a:gd name="T94" fmla="*/ 737 w 1340"/>
              <a:gd name="T95" fmla="*/ 0 h 1339"/>
              <a:gd name="T96" fmla="*/ 603 w 1340"/>
              <a:gd name="T97" fmla="*/ 0 h 1339"/>
              <a:gd name="T98" fmla="*/ 508 w 1340"/>
              <a:gd name="T99" fmla="*/ 81 h 1339"/>
              <a:gd name="T100" fmla="*/ 958 w 1340"/>
              <a:gd name="T101" fmla="*/ 669 h 1339"/>
              <a:gd name="T102" fmla="*/ 670 w 1340"/>
              <a:gd name="T103" fmla="*/ 958 h 1339"/>
              <a:gd name="T104" fmla="*/ 382 w 1340"/>
              <a:gd name="T105" fmla="*/ 669 h 1339"/>
              <a:gd name="T106" fmla="*/ 670 w 1340"/>
              <a:gd name="T107" fmla="*/ 381 h 1339"/>
              <a:gd name="T108" fmla="*/ 958 w 1340"/>
              <a:gd name="T109" fmla="*/ 669 h 1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40" h="1339">
                <a:moveTo>
                  <a:pt x="508" y="81"/>
                </a:moveTo>
                <a:cubicBezTo>
                  <a:pt x="508" y="81"/>
                  <a:pt x="499" y="144"/>
                  <a:pt x="497" y="159"/>
                </a:cubicBezTo>
                <a:cubicBezTo>
                  <a:pt x="473" y="167"/>
                  <a:pt x="449" y="177"/>
                  <a:pt x="427" y="188"/>
                </a:cubicBezTo>
                <a:cubicBezTo>
                  <a:pt x="408" y="174"/>
                  <a:pt x="387" y="159"/>
                  <a:pt x="365" y="143"/>
                </a:cubicBezTo>
                <a:cubicBezTo>
                  <a:pt x="325" y="114"/>
                  <a:pt x="273" y="118"/>
                  <a:pt x="239" y="153"/>
                </a:cubicBezTo>
                <a:cubicBezTo>
                  <a:pt x="217" y="174"/>
                  <a:pt x="146" y="247"/>
                  <a:pt x="146" y="247"/>
                </a:cubicBezTo>
                <a:cubicBezTo>
                  <a:pt x="110" y="284"/>
                  <a:pt x="107" y="334"/>
                  <a:pt x="138" y="376"/>
                </a:cubicBezTo>
                <a:cubicBezTo>
                  <a:pt x="138" y="376"/>
                  <a:pt x="176" y="425"/>
                  <a:pt x="184" y="436"/>
                </a:cubicBezTo>
                <a:cubicBezTo>
                  <a:pt x="175" y="456"/>
                  <a:pt x="166" y="476"/>
                  <a:pt x="160" y="496"/>
                </a:cubicBezTo>
                <a:cubicBezTo>
                  <a:pt x="83" y="507"/>
                  <a:pt x="83" y="507"/>
                  <a:pt x="83" y="507"/>
                </a:cubicBezTo>
                <a:cubicBezTo>
                  <a:pt x="33" y="514"/>
                  <a:pt x="0" y="553"/>
                  <a:pt x="0" y="603"/>
                </a:cubicBezTo>
                <a:cubicBezTo>
                  <a:pt x="0" y="736"/>
                  <a:pt x="0" y="736"/>
                  <a:pt x="0" y="736"/>
                </a:cubicBezTo>
                <a:cubicBezTo>
                  <a:pt x="0" y="786"/>
                  <a:pt x="34" y="825"/>
                  <a:pt x="83" y="832"/>
                </a:cubicBezTo>
                <a:cubicBezTo>
                  <a:pt x="160" y="843"/>
                  <a:pt x="160" y="843"/>
                  <a:pt x="160" y="843"/>
                </a:cubicBezTo>
                <a:cubicBezTo>
                  <a:pt x="168" y="866"/>
                  <a:pt x="177" y="890"/>
                  <a:pt x="189" y="912"/>
                </a:cubicBezTo>
                <a:cubicBezTo>
                  <a:pt x="179" y="926"/>
                  <a:pt x="144" y="974"/>
                  <a:pt x="144" y="974"/>
                </a:cubicBezTo>
                <a:cubicBezTo>
                  <a:pt x="113" y="1016"/>
                  <a:pt x="117" y="1065"/>
                  <a:pt x="155" y="1102"/>
                </a:cubicBezTo>
                <a:cubicBezTo>
                  <a:pt x="178" y="1125"/>
                  <a:pt x="248" y="1194"/>
                  <a:pt x="248" y="1194"/>
                </a:cubicBezTo>
                <a:cubicBezTo>
                  <a:pt x="273" y="1218"/>
                  <a:pt x="299" y="1223"/>
                  <a:pt x="316" y="1223"/>
                </a:cubicBezTo>
                <a:cubicBezTo>
                  <a:pt x="337" y="1223"/>
                  <a:pt x="358" y="1215"/>
                  <a:pt x="376" y="1201"/>
                </a:cubicBezTo>
                <a:cubicBezTo>
                  <a:pt x="437" y="1155"/>
                  <a:pt x="437" y="1155"/>
                  <a:pt x="437" y="1155"/>
                </a:cubicBezTo>
                <a:cubicBezTo>
                  <a:pt x="456" y="1165"/>
                  <a:pt x="476" y="1173"/>
                  <a:pt x="497" y="1180"/>
                </a:cubicBezTo>
                <a:cubicBezTo>
                  <a:pt x="499" y="1197"/>
                  <a:pt x="508" y="1256"/>
                  <a:pt x="508" y="1256"/>
                </a:cubicBezTo>
                <a:cubicBezTo>
                  <a:pt x="515" y="1306"/>
                  <a:pt x="553" y="1339"/>
                  <a:pt x="603" y="1339"/>
                </a:cubicBezTo>
                <a:cubicBezTo>
                  <a:pt x="737" y="1339"/>
                  <a:pt x="737" y="1339"/>
                  <a:pt x="737" y="1339"/>
                </a:cubicBezTo>
                <a:cubicBezTo>
                  <a:pt x="786" y="1339"/>
                  <a:pt x="825" y="1306"/>
                  <a:pt x="832" y="1257"/>
                </a:cubicBezTo>
                <a:cubicBezTo>
                  <a:pt x="836" y="1231"/>
                  <a:pt x="840" y="1205"/>
                  <a:pt x="843" y="1180"/>
                </a:cubicBezTo>
                <a:cubicBezTo>
                  <a:pt x="867" y="1172"/>
                  <a:pt x="890" y="1162"/>
                  <a:pt x="913" y="1150"/>
                </a:cubicBezTo>
                <a:cubicBezTo>
                  <a:pt x="913" y="1150"/>
                  <a:pt x="974" y="1195"/>
                  <a:pt x="974" y="1195"/>
                </a:cubicBezTo>
                <a:cubicBezTo>
                  <a:pt x="1015" y="1225"/>
                  <a:pt x="1068" y="1221"/>
                  <a:pt x="1103" y="1184"/>
                </a:cubicBezTo>
                <a:cubicBezTo>
                  <a:pt x="1133" y="1153"/>
                  <a:pt x="1164" y="1123"/>
                  <a:pt x="1194" y="1092"/>
                </a:cubicBezTo>
                <a:cubicBezTo>
                  <a:pt x="1230" y="1055"/>
                  <a:pt x="1233" y="1004"/>
                  <a:pt x="1202" y="963"/>
                </a:cubicBezTo>
                <a:cubicBezTo>
                  <a:pt x="1156" y="903"/>
                  <a:pt x="1156" y="903"/>
                  <a:pt x="1156" y="903"/>
                </a:cubicBezTo>
                <a:cubicBezTo>
                  <a:pt x="1165" y="883"/>
                  <a:pt x="1173" y="863"/>
                  <a:pt x="1180" y="843"/>
                </a:cubicBezTo>
                <a:cubicBezTo>
                  <a:pt x="1206" y="839"/>
                  <a:pt x="1232" y="835"/>
                  <a:pt x="1257" y="832"/>
                </a:cubicBezTo>
                <a:cubicBezTo>
                  <a:pt x="1307" y="824"/>
                  <a:pt x="1340" y="786"/>
                  <a:pt x="1340" y="737"/>
                </a:cubicBezTo>
                <a:cubicBezTo>
                  <a:pt x="1340" y="602"/>
                  <a:pt x="1340" y="602"/>
                  <a:pt x="1340" y="602"/>
                </a:cubicBezTo>
                <a:cubicBezTo>
                  <a:pt x="1340" y="553"/>
                  <a:pt x="1307" y="514"/>
                  <a:pt x="1257" y="507"/>
                </a:cubicBezTo>
                <a:cubicBezTo>
                  <a:pt x="1180" y="496"/>
                  <a:pt x="1180" y="496"/>
                  <a:pt x="1180" y="496"/>
                </a:cubicBezTo>
                <a:cubicBezTo>
                  <a:pt x="1172" y="472"/>
                  <a:pt x="1163" y="449"/>
                  <a:pt x="1151" y="426"/>
                </a:cubicBezTo>
                <a:cubicBezTo>
                  <a:pt x="1196" y="365"/>
                  <a:pt x="1196" y="365"/>
                  <a:pt x="1196" y="365"/>
                </a:cubicBezTo>
                <a:cubicBezTo>
                  <a:pt x="1227" y="323"/>
                  <a:pt x="1222" y="272"/>
                  <a:pt x="1185" y="236"/>
                </a:cubicBezTo>
                <a:cubicBezTo>
                  <a:pt x="1154" y="206"/>
                  <a:pt x="1123" y="176"/>
                  <a:pt x="1092" y="145"/>
                </a:cubicBezTo>
                <a:cubicBezTo>
                  <a:pt x="1056" y="110"/>
                  <a:pt x="1004" y="107"/>
                  <a:pt x="964" y="138"/>
                </a:cubicBezTo>
                <a:cubicBezTo>
                  <a:pt x="964" y="138"/>
                  <a:pt x="922" y="169"/>
                  <a:pt x="903" y="183"/>
                </a:cubicBezTo>
                <a:cubicBezTo>
                  <a:pt x="884" y="174"/>
                  <a:pt x="864" y="166"/>
                  <a:pt x="843" y="159"/>
                </a:cubicBezTo>
                <a:cubicBezTo>
                  <a:pt x="840" y="137"/>
                  <a:pt x="832" y="82"/>
                  <a:pt x="832" y="82"/>
                </a:cubicBezTo>
                <a:cubicBezTo>
                  <a:pt x="825" y="33"/>
                  <a:pt x="787" y="0"/>
                  <a:pt x="737" y="0"/>
                </a:cubicBezTo>
                <a:cubicBezTo>
                  <a:pt x="603" y="0"/>
                  <a:pt x="603" y="0"/>
                  <a:pt x="603" y="0"/>
                </a:cubicBezTo>
                <a:cubicBezTo>
                  <a:pt x="554" y="0"/>
                  <a:pt x="515" y="33"/>
                  <a:pt x="508" y="81"/>
                </a:cubicBezTo>
                <a:close/>
                <a:moveTo>
                  <a:pt x="958" y="669"/>
                </a:moveTo>
                <a:cubicBezTo>
                  <a:pt x="958" y="828"/>
                  <a:pt x="829" y="958"/>
                  <a:pt x="670" y="958"/>
                </a:cubicBezTo>
                <a:cubicBezTo>
                  <a:pt x="511" y="958"/>
                  <a:pt x="382" y="828"/>
                  <a:pt x="382" y="669"/>
                </a:cubicBezTo>
                <a:cubicBezTo>
                  <a:pt x="382" y="510"/>
                  <a:pt x="511" y="381"/>
                  <a:pt x="670" y="381"/>
                </a:cubicBezTo>
                <a:cubicBezTo>
                  <a:pt x="829" y="381"/>
                  <a:pt x="958" y="510"/>
                  <a:pt x="958" y="669"/>
                </a:cubicBezTo>
                <a:close/>
              </a:path>
            </a:pathLst>
          </a:custGeom>
          <a:solidFill>
            <a:srgbClr val="00B0F0"/>
          </a:solidFill>
          <a:ln w="9525">
            <a:noFill/>
            <a:round/>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u="none" strike="noStrike" kern="1200" cap="none" spc="0" normalizeH="0" baseline="0" noProof="0" dirty="0">
              <a:ln>
                <a:noFill/>
              </a:ln>
              <a:solidFill>
                <a:prstClr val="black"/>
              </a:solidFill>
              <a:effectLst/>
              <a:uLnTx/>
              <a:uFillTx/>
              <a:latin typeface="Georgia Pro Light" panose="02040302050405020303" pitchFamily="18" charset="0"/>
            </a:endParaRPr>
          </a:p>
        </p:txBody>
      </p:sp>
    </p:spTree>
    <p:extLst>
      <p:ext uri="{BB962C8B-B14F-4D97-AF65-F5344CB8AC3E}">
        <p14:creationId xmlns:p14="http://schemas.microsoft.com/office/powerpoint/2010/main" val="1522381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15E0E086-708D-147B-5127-ADFDFB4853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C6090A-AC00-2F71-B748-38791858056D}"/>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16</a:t>
            </a:fld>
            <a:endParaRPr lang="en-GB" dirty="0"/>
          </a:p>
        </p:txBody>
      </p:sp>
      <p:sp>
        <p:nvSpPr>
          <p:cNvPr id="3" name="Google Shape;570;p59">
            <a:extLst>
              <a:ext uri="{FF2B5EF4-FFF2-40B4-BE49-F238E27FC236}">
                <a16:creationId xmlns:a16="http://schemas.microsoft.com/office/drawing/2014/main" id="{CDE15951-DDD9-83B5-1CBE-4B66E9498381}"/>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Recognition of Legacy Non-Current Assets</a:t>
            </a:r>
          </a:p>
        </p:txBody>
      </p:sp>
      <p:sp>
        <p:nvSpPr>
          <p:cNvPr id="6" name="Rectangle 5">
            <a:extLst>
              <a:ext uri="{FF2B5EF4-FFF2-40B4-BE49-F238E27FC236}">
                <a16:creationId xmlns:a16="http://schemas.microsoft.com/office/drawing/2014/main" id="{22E81D1D-55DF-C1BF-B8E8-E139E25D69E1}"/>
              </a:ext>
            </a:extLst>
          </p:cNvPr>
          <p:cNvSpPr/>
          <p:nvPr/>
        </p:nvSpPr>
        <p:spPr>
          <a:xfrm>
            <a:off x="526773" y="1733234"/>
            <a:ext cx="11392521" cy="2600228"/>
          </a:xfrm>
          <a:prstGeom prst="rect">
            <a:avLst/>
          </a:prstGeom>
        </p:spPr>
        <p:txBody>
          <a:bodyPr wrap="square">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Wingdings" panose="05000000000000000000" pitchFamily="2" charset="2"/>
              <a:buChar char="q"/>
            </a:pPr>
            <a:r>
              <a:rPr lang="en-US" sz="2500" dirty="0">
                <a:latin typeface="Tahoma" panose="020B0604030504040204" pitchFamily="34" charset="0"/>
                <a:ea typeface="Tahoma" panose="020B0604030504040204" pitchFamily="34" charset="0"/>
                <a:cs typeface="Tahoma" panose="020B0604030504040204" pitchFamily="34" charset="0"/>
                <a:sym typeface="+mn-ea"/>
              </a:rPr>
              <a:t>Non-current assets shall be measured at </a:t>
            </a:r>
            <a:r>
              <a:rPr lang="en-US" sz="2500" b="1" dirty="0">
                <a:latin typeface="Tahoma" panose="020B0604030504040204" pitchFamily="34" charset="0"/>
                <a:ea typeface="Tahoma" panose="020B0604030504040204" pitchFamily="34" charset="0"/>
                <a:cs typeface="Tahoma" panose="020B0604030504040204" pitchFamily="34" charset="0"/>
                <a:sym typeface="+mn-ea"/>
              </a:rPr>
              <a:t>historical cost</a:t>
            </a:r>
            <a:r>
              <a:rPr lang="en-US" sz="2500" dirty="0">
                <a:latin typeface="Tahoma" panose="020B0604030504040204" pitchFamily="34" charset="0"/>
                <a:ea typeface="Tahoma" panose="020B0604030504040204" pitchFamily="34" charset="0"/>
                <a:cs typeface="Tahoma" panose="020B0604030504040204" pitchFamily="34" charset="0"/>
                <a:sym typeface="+mn-ea"/>
              </a:rPr>
              <a:t> where reliable </a:t>
            </a:r>
            <a:r>
              <a:rPr lang="en-US" sz="2500" i="1" u="sng" dirty="0">
                <a:latin typeface="Tahoma" panose="020B0604030504040204" pitchFamily="34" charset="0"/>
                <a:ea typeface="Tahoma" panose="020B0604030504040204" pitchFamily="34" charset="0"/>
                <a:cs typeface="Tahoma" panose="020B0604030504040204" pitchFamily="34" charset="0"/>
                <a:sym typeface="+mn-ea"/>
              </a:rPr>
              <a:t>cost information</a:t>
            </a:r>
            <a:r>
              <a:rPr lang="en-US" sz="2500" dirty="0">
                <a:latin typeface="Tahoma" panose="020B0604030504040204" pitchFamily="34" charset="0"/>
                <a:ea typeface="Tahoma" panose="020B0604030504040204" pitchFamily="34" charset="0"/>
                <a:cs typeface="Tahoma" panose="020B0604030504040204" pitchFamily="34" charset="0"/>
                <a:sym typeface="+mn-ea"/>
              </a:rPr>
              <a:t> is available. </a:t>
            </a:r>
          </a:p>
          <a:p>
            <a:pPr marL="342900" indent="-342900">
              <a:buFont typeface="Wingdings" panose="05000000000000000000" pitchFamily="2" charset="2"/>
              <a:buChar char="q"/>
            </a:pPr>
            <a:endParaRPr lang="en-US" sz="2500" dirty="0">
              <a:latin typeface="Tahoma" panose="020B0604030504040204" pitchFamily="34" charset="0"/>
              <a:ea typeface="Tahoma" panose="020B0604030504040204" pitchFamily="34" charset="0"/>
              <a:cs typeface="Tahoma" panose="020B0604030504040204" pitchFamily="34" charset="0"/>
              <a:sym typeface="+mn-ea"/>
            </a:endParaRPr>
          </a:p>
          <a:p>
            <a:pPr marL="342900" indent="-342900">
              <a:buFont typeface="Wingdings" panose="05000000000000000000" pitchFamily="2" charset="2"/>
              <a:buChar char="q"/>
            </a:pPr>
            <a:endParaRPr lang="en-US" sz="2500" dirty="0">
              <a:latin typeface="Tahoma" panose="020B0604030504040204" pitchFamily="34" charset="0"/>
              <a:ea typeface="Tahoma" panose="020B0604030504040204" pitchFamily="34" charset="0"/>
              <a:cs typeface="Tahoma" panose="020B0604030504040204" pitchFamily="34" charset="0"/>
              <a:sym typeface="+mn-ea"/>
            </a:endParaRPr>
          </a:p>
          <a:p>
            <a:pPr marL="342900" indent="-342900">
              <a:buFont typeface="Wingdings" panose="05000000000000000000" pitchFamily="2" charset="2"/>
              <a:buChar char="q"/>
            </a:pPr>
            <a:r>
              <a:rPr lang="en-US" sz="2500" dirty="0">
                <a:latin typeface="Tahoma" panose="020B0604030504040204" pitchFamily="34" charset="0"/>
                <a:ea typeface="Tahoma" panose="020B0604030504040204" pitchFamily="34" charset="0"/>
                <a:cs typeface="Tahoma" panose="020B0604030504040204" pitchFamily="34" charset="0"/>
                <a:sym typeface="+mn-ea"/>
              </a:rPr>
              <a:t>Where such </a:t>
            </a:r>
            <a:r>
              <a:rPr lang="en-US" sz="2500" i="1" u="sng" dirty="0">
                <a:latin typeface="Tahoma" panose="020B0604030504040204" pitchFamily="34" charset="0"/>
                <a:ea typeface="Tahoma" panose="020B0604030504040204" pitchFamily="34" charset="0"/>
                <a:cs typeface="Tahoma" panose="020B0604030504040204" pitchFamily="34" charset="0"/>
                <a:sym typeface="+mn-ea"/>
              </a:rPr>
              <a:t>information</a:t>
            </a:r>
            <a:r>
              <a:rPr lang="en-US" sz="2500" dirty="0">
                <a:latin typeface="Tahoma" panose="020B0604030504040204" pitchFamily="34" charset="0"/>
                <a:ea typeface="Tahoma" panose="020B0604030504040204" pitchFamily="34" charset="0"/>
                <a:cs typeface="Tahoma" panose="020B0604030504040204" pitchFamily="34" charset="0"/>
                <a:sym typeface="+mn-ea"/>
              </a:rPr>
              <a:t> is not available, the entity shall measure the asset at </a:t>
            </a:r>
            <a:r>
              <a:rPr lang="en-US" sz="2500" b="1" dirty="0">
                <a:latin typeface="Tahoma" panose="020B0604030504040204" pitchFamily="34" charset="0"/>
                <a:ea typeface="Tahoma" panose="020B0604030504040204" pitchFamily="34" charset="0"/>
                <a:cs typeface="Tahoma" panose="020B0604030504040204" pitchFamily="34" charset="0"/>
                <a:sym typeface="+mn-ea"/>
              </a:rPr>
              <a:t>fair value</a:t>
            </a:r>
            <a:r>
              <a:rPr lang="en-US" sz="2500" dirty="0">
                <a:latin typeface="Tahoma" panose="020B0604030504040204" pitchFamily="34" charset="0"/>
                <a:ea typeface="Tahoma" panose="020B0604030504040204" pitchFamily="34" charset="0"/>
                <a:cs typeface="Tahoma" panose="020B0604030504040204" pitchFamily="34" charset="0"/>
                <a:sym typeface="+mn-ea"/>
              </a:rPr>
              <a:t>, which will be used as </a:t>
            </a:r>
            <a:r>
              <a:rPr lang="en-US" sz="2500" b="1" dirty="0">
                <a:latin typeface="Tahoma" panose="020B0604030504040204" pitchFamily="34" charset="0"/>
                <a:ea typeface="Tahoma" panose="020B0604030504040204" pitchFamily="34" charset="0"/>
                <a:cs typeface="Tahoma" panose="020B0604030504040204" pitchFamily="34" charset="0"/>
                <a:sym typeface="+mn-ea"/>
              </a:rPr>
              <a:t>deemed cost</a:t>
            </a:r>
            <a:r>
              <a:rPr lang="en-US" sz="2500" dirty="0">
                <a:latin typeface="Tahoma" panose="020B0604030504040204" pitchFamily="34" charset="0"/>
                <a:ea typeface="Tahoma" panose="020B0604030504040204" pitchFamily="34" charset="0"/>
                <a:cs typeface="Tahoma" panose="020B0604030504040204" pitchFamily="34" charset="0"/>
                <a:sym typeface="+mn-ea"/>
              </a:rPr>
              <a:t> in accordance with </a:t>
            </a:r>
            <a:r>
              <a:rPr lang="en-US" sz="2500" b="1" dirty="0">
                <a:latin typeface="Tahoma" panose="020B0604030504040204" pitchFamily="34" charset="0"/>
                <a:ea typeface="Tahoma" panose="020B0604030504040204" pitchFamily="34" charset="0"/>
                <a:cs typeface="Tahoma" panose="020B0604030504040204" pitchFamily="34" charset="0"/>
                <a:sym typeface="+mn-ea"/>
              </a:rPr>
              <a:t>IPSAS 33</a:t>
            </a:r>
            <a:r>
              <a:rPr lang="en-US" sz="2500" dirty="0">
                <a:latin typeface="Tahoma" panose="020B0604030504040204" pitchFamily="34" charset="0"/>
                <a:ea typeface="Tahoma" panose="020B0604030504040204" pitchFamily="34" charset="0"/>
                <a:cs typeface="Tahoma" panose="020B0604030504040204" pitchFamily="34" charset="0"/>
              </a:rPr>
              <a:t>;</a:t>
            </a:r>
          </a:p>
          <a:p>
            <a:pPr marL="342900" indent="-342900">
              <a:buFont typeface="Wingdings" panose="05000000000000000000" pitchFamily="2" charset="2"/>
              <a:buChar char="q"/>
            </a:pPr>
            <a:endParaRPr lang="en-US" sz="2500"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Wingdings" panose="05000000000000000000" pitchFamily="2" charset="2"/>
              <a:buChar char="q"/>
            </a:pPr>
            <a:r>
              <a:rPr lang="en-US" sz="2500" dirty="0">
                <a:latin typeface="Tahoma" panose="020B0604030504040204" pitchFamily="34" charset="0"/>
                <a:ea typeface="Tahoma" panose="020B0604030504040204" pitchFamily="34" charset="0"/>
                <a:cs typeface="Tahoma" panose="020B0604030504040204" pitchFamily="34" charset="0"/>
              </a:rPr>
              <a:t>Legacy NCA are recognized and adjusted against accumulated surplus or deficit. </a:t>
            </a:r>
          </a:p>
          <a:p>
            <a:pPr indent="0">
              <a:buFont typeface="Wingdings" panose="05000000000000000000" charset="0"/>
              <a:buNone/>
            </a:pPr>
            <a:endParaRPr lang="en-US" sz="2500" dirty="0">
              <a:latin typeface="Tahoma" panose="020B0604030504040204" pitchFamily="34" charset="0"/>
              <a:ea typeface="Tahoma" panose="020B0604030504040204" pitchFamily="34" charset="0"/>
              <a:cs typeface="Tahoma" panose="020B0604030504040204" pitchFamily="34" charset="0"/>
            </a:endParaRPr>
          </a:p>
          <a:p>
            <a:pPr indent="0">
              <a:buFont typeface="Wingdings" panose="05000000000000000000" charset="0"/>
              <a:buNone/>
            </a:pPr>
            <a:endParaRPr lang="en-US" sz="2500" dirty="0">
              <a:latin typeface="Tahoma" panose="020B0604030504040204" pitchFamily="34" charset="0"/>
              <a:ea typeface="Tahoma" panose="020B0604030504040204" pitchFamily="34" charset="0"/>
              <a:cs typeface="Tahoma" panose="020B0604030504040204" pitchFamily="34" charset="0"/>
            </a:endParaRPr>
          </a:p>
          <a:p>
            <a:pPr indent="0">
              <a:buFont typeface="Wingdings" panose="05000000000000000000" charset="0"/>
              <a:buNone/>
            </a:pPr>
            <a:endParaRPr lang="en-US" sz="25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70475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96076E76-C9B1-2780-C312-379AAA5ED8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0F9CF4-8F1A-AA26-4F2A-5947E77EA7EE}"/>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17</a:t>
            </a:fld>
            <a:endParaRPr lang="en-GB" dirty="0"/>
          </a:p>
        </p:txBody>
      </p:sp>
      <p:sp>
        <p:nvSpPr>
          <p:cNvPr id="3" name="Google Shape;570;p59">
            <a:extLst>
              <a:ext uri="{FF2B5EF4-FFF2-40B4-BE49-F238E27FC236}">
                <a16:creationId xmlns:a16="http://schemas.microsoft.com/office/drawing/2014/main" id="{74988907-22CD-38EB-3C5F-FCCDD6F8B61D}"/>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Recognition of Legacy Non-Current Assets</a:t>
            </a:r>
          </a:p>
        </p:txBody>
      </p:sp>
      <p:sp>
        <p:nvSpPr>
          <p:cNvPr id="4" name="Rectangle 3">
            <a:extLst>
              <a:ext uri="{FF2B5EF4-FFF2-40B4-BE49-F238E27FC236}">
                <a16:creationId xmlns:a16="http://schemas.microsoft.com/office/drawing/2014/main" id="{1316C109-0F8E-C077-C530-7790C8CC05D2}"/>
              </a:ext>
            </a:extLst>
          </p:cNvPr>
          <p:cNvSpPr txBox="1">
            <a:spLocks/>
          </p:cNvSpPr>
          <p:nvPr/>
        </p:nvSpPr>
        <p:spPr>
          <a:xfrm>
            <a:off x="149087" y="976304"/>
            <a:ext cx="11641860" cy="53667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20725" lvl="2" indent="-457200">
              <a:lnSpc>
                <a:spcPct val="170000"/>
              </a:lnSpc>
              <a:buFont typeface="Wingdings" panose="05000000000000000000" pitchFamily="2" charset="2"/>
              <a:buChar char="Ø"/>
            </a:pPr>
            <a:r>
              <a:rPr lang="en-US" sz="2300" b="1" dirty="0">
                <a:latin typeface="Tahoma" panose="020B0604030504040204" pitchFamily="34" charset="0"/>
                <a:ea typeface="Tahoma" panose="020B0604030504040204" pitchFamily="34" charset="0"/>
                <a:cs typeface="Tahoma" panose="020B0604030504040204" pitchFamily="34" charset="0"/>
              </a:rPr>
              <a:t>Recognition of cost/fair value of assets</a:t>
            </a:r>
          </a:p>
          <a:p>
            <a:pPr marL="1122363" lvl="2" indent="-457200">
              <a:lnSpc>
                <a:spcPct val="170000"/>
              </a:lnSpc>
            </a:pPr>
            <a:r>
              <a:rPr lang="en-US" sz="2300" b="1" dirty="0">
                <a:latin typeface="Tahoma" panose="020B0604030504040204" pitchFamily="34" charset="0"/>
                <a:ea typeface="Tahoma" panose="020B0604030504040204" pitchFamily="34" charset="0"/>
                <a:cs typeface="Tahoma" panose="020B0604030504040204" pitchFamily="34" charset="0"/>
              </a:rPr>
              <a:t>Debit:</a:t>
            </a:r>
            <a:r>
              <a:rPr lang="en-US" sz="2300" dirty="0">
                <a:latin typeface="Tahoma" panose="020B0604030504040204" pitchFamily="34" charset="0"/>
                <a:ea typeface="Tahoma" panose="020B0604030504040204" pitchFamily="34" charset="0"/>
                <a:cs typeface="Tahoma" panose="020B0604030504040204" pitchFamily="34" charset="0"/>
              </a:rPr>
              <a:t> Relevant non-current assets				</a:t>
            </a:r>
            <a:r>
              <a:rPr lang="en-US" sz="2300" dirty="0" err="1">
                <a:latin typeface="Tahoma" panose="020B0604030504040204" pitchFamily="34" charset="0"/>
                <a:ea typeface="Tahoma" panose="020B0604030504040204" pitchFamily="34" charset="0"/>
                <a:cs typeface="Tahoma" panose="020B0604030504040204" pitchFamily="34" charset="0"/>
              </a:rPr>
              <a:t>xxxx</a:t>
            </a:r>
            <a:r>
              <a:rPr lang="en-US" sz="2300" dirty="0">
                <a:latin typeface="Tahoma" panose="020B0604030504040204" pitchFamily="34" charset="0"/>
                <a:ea typeface="Tahoma" panose="020B0604030504040204" pitchFamily="34" charset="0"/>
                <a:cs typeface="Tahoma" panose="020B0604030504040204" pitchFamily="34" charset="0"/>
              </a:rPr>
              <a:t> </a:t>
            </a:r>
            <a:endParaRPr lang="en-GB" sz="2300"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70000"/>
              </a:lnSpc>
            </a:pPr>
            <a:r>
              <a:rPr lang="en-US" sz="2300" b="1" dirty="0">
                <a:latin typeface="Tahoma" panose="020B0604030504040204" pitchFamily="34" charset="0"/>
                <a:ea typeface="Tahoma" panose="020B0604030504040204" pitchFamily="34" charset="0"/>
                <a:cs typeface="Tahoma" panose="020B0604030504040204" pitchFamily="34" charset="0"/>
              </a:rPr>
              <a:t>Credit:</a:t>
            </a:r>
            <a:r>
              <a:rPr lang="en-US" sz="2300" dirty="0">
                <a:latin typeface="Tahoma" panose="020B0604030504040204" pitchFamily="34" charset="0"/>
                <a:ea typeface="Tahoma" panose="020B0604030504040204" pitchFamily="34" charset="0"/>
                <a:cs typeface="Tahoma" panose="020B0604030504040204" pitchFamily="34" charset="0"/>
              </a:rPr>
              <a:t> Opening </a:t>
            </a:r>
            <a:r>
              <a:rPr lang="en-US" sz="2300" dirty="0" err="1">
                <a:latin typeface="Tahoma" panose="020B0604030504040204" pitchFamily="34" charset="0"/>
                <a:ea typeface="Tahoma" panose="020B0604030504040204" pitchFamily="34" charset="0"/>
                <a:cs typeface="Tahoma" panose="020B0604030504040204" pitchFamily="34" charset="0"/>
              </a:rPr>
              <a:t>bal</a:t>
            </a:r>
            <a:r>
              <a:rPr lang="en-US" sz="2300" dirty="0">
                <a:latin typeface="Tahoma" panose="020B0604030504040204" pitchFamily="34" charset="0"/>
                <a:ea typeface="Tahoma" panose="020B0604030504040204" pitchFamily="34" charset="0"/>
                <a:cs typeface="Tahoma" panose="020B0604030504040204" pitchFamily="34" charset="0"/>
              </a:rPr>
              <a:t> reserve account of the relevant NCA		</a:t>
            </a:r>
            <a:r>
              <a:rPr lang="en-US" sz="2300" dirty="0" err="1">
                <a:latin typeface="Tahoma" panose="020B0604030504040204" pitchFamily="34" charset="0"/>
                <a:ea typeface="Tahoma" panose="020B0604030504040204" pitchFamily="34" charset="0"/>
                <a:cs typeface="Tahoma" panose="020B0604030504040204" pitchFamily="34" charset="0"/>
              </a:rPr>
              <a:t>xxxx</a:t>
            </a:r>
            <a:endParaRPr lang="en-US" sz="2300" dirty="0">
              <a:latin typeface="Tahoma" panose="020B0604030504040204" pitchFamily="34" charset="0"/>
              <a:ea typeface="Tahoma" panose="020B0604030504040204" pitchFamily="34" charset="0"/>
              <a:cs typeface="Tahoma" panose="020B0604030504040204" pitchFamily="34" charset="0"/>
            </a:endParaRPr>
          </a:p>
          <a:p>
            <a:pPr marL="720725" indent="-457200">
              <a:lnSpc>
                <a:spcPct val="170000"/>
              </a:lnSpc>
              <a:buFont typeface="Wingdings" panose="05000000000000000000" pitchFamily="2" charset="2"/>
              <a:buChar char="Ø"/>
            </a:pPr>
            <a:r>
              <a:rPr lang="en-US" sz="2300" b="1" dirty="0">
                <a:latin typeface="Tahoma" panose="020B0604030504040204" pitchFamily="34" charset="0"/>
                <a:ea typeface="Tahoma" panose="020B0604030504040204" pitchFamily="34" charset="0"/>
                <a:cs typeface="Tahoma" panose="020B0604030504040204" pitchFamily="34" charset="0"/>
              </a:rPr>
              <a:t>Recognition of accumulated depreciation(NCAs of before June 25)</a:t>
            </a:r>
          </a:p>
          <a:p>
            <a:pPr marL="1122363" indent="-457200">
              <a:lnSpc>
                <a:spcPct val="100000"/>
              </a:lnSpc>
            </a:pPr>
            <a:r>
              <a:rPr lang="en-US" sz="2300" b="1" dirty="0">
                <a:latin typeface="Tahoma" panose="020B0604030504040204" pitchFamily="34" charset="0"/>
                <a:ea typeface="Tahoma" panose="020B0604030504040204" pitchFamily="34" charset="0"/>
                <a:cs typeface="Tahoma" panose="020B0604030504040204" pitchFamily="34" charset="0"/>
              </a:rPr>
              <a:t>Debit: </a:t>
            </a:r>
            <a:r>
              <a:rPr lang="en-US" sz="2300" dirty="0">
                <a:latin typeface="Tahoma" panose="020B0604030504040204" pitchFamily="34" charset="0"/>
                <a:ea typeface="Tahoma" panose="020B0604030504040204" pitchFamily="34" charset="0"/>
                <a:cs typeface="Tahoma" panose="020B0604030504040204" pitchFamily="34" charset="0"/>
              </a:rPr>
              <a:t>Opening </a:t>
            </a:r>
            <a:r>
              <a:rPr lang="en-US" sz="2300" dirty="0" err="1">
                <a:latin typeface="Tahoma" panose="020B0604030504040204" pitchFamily="34" charset="0"/>
                <a:ea typeface="Tahoma" panose="020B0604030504040204" pitchFamily="34" charset="0"/>
                <a:cs typeface="Tahoma" panose="020B0604030504040204" pitchFamily="34" charset="0"/>
              </a:rPr>
              <a:t>bal</a:t>
            </a:r>
            <a:r>
              <a:rPr lang="en-US" sz="2300" dirty="0">
                <a:latin typeface="Tahoma" panose="020B0604030504040204" pitchFamily="34" charset="0"/>
                <a:ea typeface="Tahoma" panose="020B0604030504040204" pitchFamily="34" charset="0"/>
                <a:cs typeface="Tahoma" panose="020B0604030504040204" pitchFamily="34" charset="0"/>
              </a:rPr>
              <a:t> reserve account of the relevant NCA	</a:t>
            </a:r>
            <a:r>
              <a:rPr lang="en-US" sz="2300" dirty="0" err="1">
                <a:latin typeface="Tahoma" panose="020B0604030504040204" pitchFamily="34" charset="0"/>
                <a:ea typeface="Tahoma" panose="020B0604030504040204" pitchFamily="34" charset="0"/>
                <a:cs typeface="Tahoma" panose="020B0604030504040204" pitchFamily="34" charset="0"/>
              </a:rPr>
              <a:t>xxxx</a:t>
            </a:r>
            <a:endParaRPr lang="en-US" sz="2300"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00000"/>
              </a:lnSpc>
            </a:pPr>
            <a:endParaRPr lang="en-US" sz="2300" b="1"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00000"/>
              </a:lnSpc>
            </a:pPr>
            <a:r>
              <a:rPr lang="en-US" sz="2300" b="1" dirty="0">
                <a:latin typeface="Tahoma" panose="020B0604030504040204" pitchFamily="34" charset="0"/>
                <a:ea typeface="Tahoma" panose="020B0604030504040204" pitchFamily="34" charset="0"/>
                <a:cs typeface="Tahoma" panose="020B0604030504040204" pitchFamily="34" charset="0"/>
              </a:rPr>
              <a:t>Credit: </a:t>
            </a:r>
            <a:r>
              <a:rPr lang="en-US" sz="2300" dirty="0">
                <a:latin typeface="Tahoma" panose="020B0604030504040204" pitchFamily="34" charset="0"/>
                <a:ea typeface="Tahoma" panose="020B0604030504040204" pitchFamily="34" charset="0"/>
                <a:cs typeface="Tahoma" panose="020B0604030504040204" pitchFamily="34" charset="0"/>
              </a:rPr>
              <a:t>Accumulated depreciation of non-current assets 		</a:t>
            </a:r>
            <a:r>
              <a:rPr lang="en-US" sz="2300" dirty="0" err="1">
                <a:latin typeface="Tahoma" panose="020B0604030504040204" pitchFamily="34" charset="0"/>
                <a:ea typeface="Tahoma" panose="020B0604030504040204" pitchFamily="34" charset="0"/>
                <a:cs typeface="Tahoma" panose="020B0604030504040204" pitchFamily="34" charset="0"/>
              </a:rPr>
              <a:t>xxxx</a:t>
            </a:r>
            <a:endParaRPr lang="en-US" sz="2300" i="1" dirty="0">
              <a:latin typeface="Tahoma" panose="020B0604030504040204" pitchFamily="34" charset="0"/>
              <a:ea typeface="Tahoma" panose="020B0604030504040204" pitchFamily="34" charset="0"/>
              <a:cs typeface="Tahoma" panose="020B0604030504040204" pitchFamily="34" charset="0"/>
            </a:endParaRPr>
          </a:p>
          <a:p>
            <a:pPr marL="665163" indent="0">
              <a:lnSpc>
                <a:spcPct val="100000"/>
              </a:lnSpc>
              <a:buNone/>
            </a:pPr>
            <a:r>
              <a:rPr lang="en-US" sz="2300" i="1" dirty="0">
                <a:latin typeface="Tahoma" panose="020B0604030504040204" pitchFamily="34" charset="0"/>
                <a:ea typeface="Tahoma" panose="020B0604030504040204" pitchFamily="34" charset="0"/>
                <a:cs typeface="Tahoma" panose="020B0604030504040204" pitchFamily="34" charset="0"/>
              </a:rPr>
              <a:t>(With the cumulative amount of depreciation as at</a:t>
            </a:r>
            <a:r>
              <a:rPr lang="en-US" sz="2300" b="1" i="1" dirty="0">
                <a:latin typeface="Tahoma" panose="020B0604030504040204" pitchFamily="34" charset="0"/>
                <a:ea typeface="Tahoma" panose="020B0604030504040204" pitchFamily="34" charset="0"/>
                <a:cs typeface="Tahoma" panose="020B0604030504040204" pitchFamily="34" charset="0"/>
              </a:rPr>
              <a:t> </a:t>
            </a:r>
            <a:r>
              <a:rPr lang="en-US" sz="2300" i="1" dirty="0">
                <a:latin typeface="Tahoma" panose="020B0604030504040204" pitchFamily="34" charset="0"/>
                <a:ea typeface="Tahoma" panose="020B0604030504040204" pitchFamily="34" charset="0"/>
                <a:cs typeface="Tahoma" panose="020B0604030504040204" pitchFamily="34" charset="0"/>
              </a:rPr>
              <a:t>the entity’s</a:t>
            </a:r>
            <a:r>
              <a:rPr lang="en-US" sz="2300" b="1" i="1" dirty="0">
                <a:latin typeface="Tahoma" panose="020B0604030504040204" pitchFamily="34" charset="0"/>
                <a:ea typeface="Tahoma" panose="020B0604030504040204" pitchFamily="34" charset="0"/>
                <a:cs typeface="Tahoma" panose="020B0604030504040204" pitchFamily="34" charset="0"/>
              </a:rPr>
              <a:t> </a:t>
            </a:r>
            <a:r>
              <a:rPr lang="en-US" sz="2300" i="1" dirty="0">
                <a:latin typeface="Tahoma" panose="020B0604030504040204" pitchFamily="34" charset="0"/>
                <a:ea typeface="Tahoma" panose="020B0604030504040204" pitchFamily="34" charset="0"/>
                <a:cs typeface="Tahoma" panose="020B0604030504040204" pitchFamily="34" charset="0"/>
              </a:rPr>
              <a:t>date of recognition of the legacy asset.)</a:t>
            </a:r>
            <a:r>
              <a:rPr lang="en-US" sz="2300" b="1" i="1" dirty="0">
                <a:latin typeface="Tahoma" panose="020B0604030504040204" pitchFamily="34" charset="0"/>
                <a:ea typeface="Tahoma" panose="020B0604030504040204" pitchFamily="34" charset="0"/>
                <a:cs typeface="Tahoma" panose="020B0604030504040204" pitchFamily="34" charset="0"/>
              </a:rPr>
              <a:t> </a:t>
            </a:r>
            <a:endParaRPr lang="en-GB" sz="2300" i="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34498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0BA42557-21C7-2BC5-1932-9EF3DCEE1B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090922-AD32-218E-151F-3F96963CD80B}"/>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18</a:t>
            </a:fld>
            <a:endParaRPr lang="en-GB" dirty="0"/>
          </a:p>
        </p:txBody>
      </p:sp>
      <p:sp>
        <p:nvSpPr>
          <p:cNvPr id="3" name="Google Shape;570;p59">
            <a:extLst>
              <a:ext uri="{FF2B5EF4-FFF2-40B4-BE49-F238E27FC236}">
                <a16:creationId xmlns:a16="http://schemas.microsoft.com/office/drawing/2014/main" id="{AB5D4F51-86FF-91F5-0B8B-C0B0A6244481}"/>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Recognition of Legacy Non-Current Assets</a:t>
            </a:r>
          </a:p>
        </p:txBody>
      </p:sp>
      <p:sp>
        <p:nvSpPr>
          <p:cNvPr id="4" name="Rectangle 3">
            <a:extLst>
              <a:ext uri="{FF2B5EF4-FFF2-40B4-BE49-F238E27FC236}">
                <a16:creationId xmlns:a16="http://schemas.microsoft.com/office/drawing/2014/main" id="{462E9C9C-8491-3442-F376-0B58785FBDED}"/>
              </a:ext>
            </a:extLst>
          </p:cNvPr>
          <p:cNvSpPr txBox="1">
            <a:spLocks/>
          </p:cNvSpPr>
          <p:nvPr/>
        </p:nvSpPr>
        <p:spPr>
          <a:xfrm>
            <a:off x="139148" y="787086"/>
            <a:ext cx="11641860" cy="53667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3525" lvl="2" indent="0">
              <a:lnSpc>
                <a:spcPct val="170000"/>
              </a:lnSpc>
              <a:buNone/>
            </a:pPr>
            <a:r>
              <a:rPr lang="en-US" sz="2000" b="1" dirty="0">
                <a:latin typeface="Tahoma" panose="020B0604030504040204" pitchFamily="34" charset="0"/>
                <a:ea typeface="Tahoma" panose="020B0604030504040204" pitchFamily="34" charset="0"/>
                <a:cs typeface="Tahoma" panose="020B0604030504040204" pitchFamily="34" charset="0"/>
              </a:rPr>
              <a:t>Example</a:t>
            </a:r>
          </a:p>
          <a:p>
            <a:pPr marL="720725" lvl="2" indent="-457200">
              <a:lnSpc>
                <a:spcPct val="170000"/>
              </a:lnSpc>
              <a:buFont typeface="Wingdings" panose="05000000000000000000" pitchFamily="2" charset="2"/>
              <a:buChar char="Ø"/>
            </a:pPr>
            <a:r>
              <a:rPr lang="en-GB" sz="2000" dirty="0">
                <a:latin typeface="Tahoma" panose="020B0604030504040204" pitchFamily="34" charset="0"/>
                <a:ea typeface="Tahoma" panose="020B0604030504040204" pitchFamily="34" charset="0"/>
                <a:cs typeface="Tahoma" panose="020B0604030504040204" pitchFamily="34" charset="0"/>
              </a:rPr>
              <a:t>Entity </a:t>
            </a:r>
            <a:r>
              <a:rPr lang="en-GB" sz="2000" dirty="0" err="1">
                <a:latin typeface="Tahoma" panose="020B0604030504040204" pitchFamily="34" charset="0"/>
                <a:ea typeface="Tahoma" panose="020B0604030504040204" pitchFamily="34" charset="0"/>
                <a:cs typeface="Tahoma" panose="020B0604030504040204" pitchFamily="34" charset="0"/>
              </a:rPr>
              <a:t>xyz</a:t>
            </a:r>
            <a:r>
              <a:rPr lang="en-GB" sz="2000" dirty="0">
                <a:latin typeface="Tahoma" panose="020B0604030504040204" pitchFamily="34" charset="0"/>
                <a:ea typeface="Tahoma" panose="020B0604030504040204" pitchFamily="34" charset="0"/>
                <a:cs typeface="Tahoma" panose="020B0604030504040204" pitchFamily="34" charset="0"/>
              </a:rPr>
              <a:t> had Office Furniture of </a:t>
            </a:r>
            <a:r>
              <a:rPr lang="en-GB" sz="2000" dirty="0" err="1">
                <a:latin typeface="Tahoma" panose="020B0604030504040204" pitchFamily="34" charset="0"/>
                <a:ea typeface="Tahoma" panose="020B0604030504040204" pitchFamily="34" charset="0"/>
                <a:cs typeface="Tahoma" panose="020B0604030504040204" pitchFamily="34" charset="0"/>
              </a:rPr>
              <a:t>Frw</a:t>
            </a:r>
            <a:r>
              <a:rPr lang="en-GB" sz="2000" dirty="0">
                <a:latin typeface="Tahoma" panose="020B0604030504040204" pitchFamily="34" charset="0"/>
                <a:ea typeface="Tahoma" panose="020B0604030504040204" pitchFamily="34" charset="0"/>
                <a:cs typeface="Tahoma" panose="020B0604030504040204" pitchFamily="34" charset="0"/>
              </a:rPr>
              <a:t> 3,000,000 that was acquired on 1</a:t>
            </a:r>
            <a:r>
              <a:rPr lang="en-GB" sz="2000" baseline="30000" dirty="0">
                <a:latin typeface="Tahoma" panose="020B0604030504040204" pitchFamily="34" charset="0"/>
                <a:ea typeface="Tahoma" panose="020B0604030504040204" pitchFamily="34" charset="0"/>
                <a:cs typeface="Tahoma" panose="020B0604030504040204" pitchFamily="34" charset="0"/>
              </a:rPr>
              <a:t>st</a:t>
            </a:r>
            <a:r>
              <a:rPr lang="en-GB" sz="2000" dirty="0">
                <a:latin typeface="Tahoma" panose="020B0604030504040204" pitchFamily="34" charset="0"/>
                <a:ea typeface="Tahoma" panose="020B0604030504040204" pitchFamily="34" charset="0"/>
                <a:cs typeface="Tahoma" panose="020B0604030504040204" pitchFamily="34" charset="0"/>
              </a:rPr>
              <a:t> January 2023 and the entity omitted to capture the asset in FY 2023/24 and decided to recognize on 1 July 2024 (</a:t>
            </a:r>
            <a:r>
              <a:rPr lang="en-GB" sz="2000" dirty="0" err="1">
                <a:latin typeface="Tahoma" panose="020B0604030504040204" pitchFamily="34" charset="0"/>
                <a:ea typeface="Tahoma" panose="020B0604030504040204" pitchFamily="34" charset="0"/>
                <a:cs typeface="Tahoma" panose="020B0604030504040204" pitchFamily="34" charset="0"/>
              </a:rPr>
              <a:t>i.e</a:t>
            </a:r>
            <a:r>
              <a:rPr lang="en-GB" sz="2000" dirty="0">
                <a:latin typeface="Tahoma" panose="020B0604030504040204" pitchFamily="34" charset="0"/>
                <a:ea typeface="Tahoma" panose="020B0604030504040204" pitchFamily="34" charset="0"/>
                <a:cs typeface="Tahoma" panose="020B0604030504040204" pitchFamily="34" charset="0"/>
              </a:rPr>
              <a:t> in FY 2024/25). Following will be accounting entries:</a:t>
            </a:r>
          </a:p>
          <a:p>
            <a:pPr marL="263525" lvl="2" indent="0">
              <a:lnSpc>
                <a:spcPct val="170000"/>
              </a:lnSpc>
              <a:buNone/>
            </a:pPr>
            <a:r>
              <a:rPr lang="en-GB" sz="2000" dirty="0">
                <a:latin typeface="Tahoma" panose="020B0604030504040204" pitchFamily="34" charset="0"/>
                <a:ea typeface="Tahoma" panose="020B0604030504040204" pitchFamily="34" charset="0"/>
                <a:cs typeface="Tahoma" panose="020B0604030504040204" pitchFamily="34" charset="0"/>
              </a:rPr>
              <a:t>	</a:t>
            </a:r>
            <a:r>
              <a:rPr lang="en-GB" sz="2000" i="1" u="sng" dirty="0">
                <a:latin typeface="Tahoma" panose="020B0604030504040204" pitchFamily="34" charset="0"/>
                <a:ea typeface="Tahoma" panose="020B0604030504040204" pitchFamily="34" charset="0"/>
                <a:cs typeface="Tahoma" panose="020B0604030504040204" pitchFamily="34" charset="0"/>
              </a:rPr>
              <a:t>Recognition of legacy asset at cost</a:t>
            </a:r>
          </a:p>
          <a:p>
            <a:pPr marL="263525" lvl="2" indent="0">
              <a:lnSpc>
                <a:spcPct val="100000"/>
              </a:lnSpc>
              <a:buNone/>
            </a:pPr>
            <a:r>
              <a:rPr lang="en-GB" sz="2000" dirty="0">
                <a:latin typeface="Tahoma" panose="020B0604030504040204" pitchFamily="34" charset="0"/>
                <a:ea typeface="Tahoma" panose="020B0604030504040204" pitchFamily="34" charset="0"/>
                <a:cs typeface="Tahoma" panose="020B0604030504040204" pitchFamily="34" charset="0"/>
              </a:rPr>
              <a:t>	Dr Office Furniture at cost				3,000,000</a:t>
            </a:r>
          </a:p>
          <a:p>
            <a:pPr marL="263525" lvl="2" indent="0">
              <a:lnSpc>
                <a:spcPct val="100000"/>
              </a:lnSpc>
              <a:buNone/>
            </a:pPr>
            <a:r>
              <a:rPr lang="en-GB" sz="2000" dirty="0">
                <a:latin typeface="Tahoma" panose="020B0604030504040204" pitchFamily="34" charset="0"/>
                <a:ea typeface="Tahoma" panose="020B0604030504040204" pitchFamily="34" charset="0"/>
                <a:cs typeface="Tahoma" panose="020B0604030504040204" pitchFamily="34" charset="0"/>
              </a:rPr>
              <a:t>	Cr Opening Bal Reserve						3,000,000</a:t>
            </a:r>
          </a:p>
          <a:p>
            <a:pPr marL="263525" lvl="2" indent="0">
              <a:lnSpc>
                <a:spcPct val="170000"/>
              </a:lnSpc>
              <a:buNone/>
            </a:pPr>
            <a:r>
              <a:rPr lang="en-GB" sz="2000" i="1" dirty="0">
                <a:latin typeface="Tahoma" panose="020B0604030504040204" pitchFamily="34" charset="0"/>
                <a:ea typeface="Tahoma" panose="020B0604030504040204" pitchFamily="34" charset="0"/>
                <a:cs typeface="Tahoma" panose="020B0604030504040204" pitchFamily="34" charset="0"/>
              </a:rPr>
              <a:t>	</a:t>
            </a:r>
            <a:r>
              <a:rPr lang="en-GB" sz="2000" i="1" u="sng" dirty="0">
                <a:latin typeface="Tahoma" panose="020B0604030504040204" pitchFamily="34" charset="0"/>
                <a:ea typeface="Tahoma" panose="020B0604030504040204" pitchFamily="34" charset="0"/>
                <a:cs typeface="Tahoma" panose="020B0604030504040204" pitchFamily="34" charset="0"/>
              </a:rPr>
              <a:t>Recognition of accumulated depreciation on legacy asset </a:t>
            </a:r>
          </a:p>
          <a:p>
            <a:pPr marL="263525" lvl="2" indent="0">
              <a:lnSpc>
                <a:spcPct val="170000"/>
              </a:lnSpc>
              <a:buNone/>
            </a:pPr>
            <a:r>
              <a:rPr lang="en-GB" sz="2000" i="1" dirty="0">
                <a:latin typeface="Tahoma" panose="020B0604030504040204" pitchFamily="34" charset="0"/>
                <a:ea typeface="Tahoma" panose="020B0604030504040204" pitchFamily="34" charset="0"/>
                <a:cs typeface="Tahoma" panose="020B0604030504040204" pitchFamily="34" charset="0"/>
              </a:rPr>
              <a:t>	</a:t>
            </a:r>
            <a:r>
              <a:rPr lang="en-GB" sz="2000" dirty="0">
                <a:latin typeface="Tahoma" panose="020B0604030504040204" pitchFamily="34" charset="0"/>
                <a:ea typeface="Tahoma" panose="020B0604030504040204" pitchFamily="34" charset="0"/>
                <a:cs typeface="Tahoma" panose="020B0604030504040204" pitchFamily="34" charset="0"/>
              </a:rPr>
              <a:t>Dr Opening Bal Reserve					900,000</a:t>
            </a:r>
          </a:p>
          <a:p>
            <a:pPr marL="263525" lvl="2" indent="0">
              <a:lnSpc>
                <a:spcPct val="150000"/>
              </a:lnSpc>
              <a:buNone/>
            </a:pPr>
            <a:r>
              <a:rPr lang="en-GB" sz="2000" dirty="0">
                <a:latin typeface="Tahoma" panose="020B0604030504040204" pitchFamily="34" charset="0"/>
                <a:ea typeface="Tahoma" panose="020B0604030504040204" pitchFamily="34" charset="0"/>
                <a:cs typeface="Tahoma" panose="020B0604030504040204" pitchFamily="34" charset="0"/>
              </a:rPr>
              <a:t>	Cr Accumulated Depreciation 	 </a:t>
            </a:r>
            <a:r>
              <a:rPr lang="en-GB" sz="2000" i="1" dirty="0">
                <a:latin typeface="Tahoma" panose="020B0604030504040204" pitchFamily="34" charset="0"/>
                <a:ea typeface="Tahoma" panose="020B0604030504040204" pitchFamily="34" charset="0"/>
                <a:cs typeface="Tahoma" panose="020B0604030504040204" pitchFamily="34" charset="0"/>
              </a:rPr>
              <a:t>(3,000,000/60 months*18 months)</a:t>
            </a:r>
            <a:r>
              <a:rPr lang="en-GB" sz="2000" dirty="0">
                <a:latin typeface="Tahoma" panose="020B0604030504040204" pitchFamily="34" charset="0"/>
                <a:ea typeface="Tahoma" panose="020B0604030504040204" pitchFamily="34" charset="0"/>
                <a:cs typeface="Tahoma" panose="020B0604030504040204" pitchFamily="34" charset="0"/>
              </a:rPr>
              <a:t>		900,000</a:t>
            </a:r>
          </a:p>
          <a:p>
            <a:pPr marL="263525" lvl="2" indent="0">
              <a:lnSpc>
                <a:spcPct val="100000"/>
              </a:lnSpc>
              <a:buNone/>
            </a:pPr>
            <a:r>
              <a:rPr lang="en-GB" sz="2000" i="1" dirty="0">
                <a:latin typeface="Tahoma" panose="020B0604030504040204" pitchFamily="34" charset="0"/>
                <a:ea typeface="Tahoma" panose="020B0604030504040204" pitchFamily="34" charset="0"/>
                <a:cs typeface="Tahoma" panose="020B0604030504040204" pitchFamily="34" charset="0"/>
              </a:rPr>
              <a:t>NB: Furniture has a 5 year (60 months) useful life. Period of accumulated depreciation from 1/1/2023 to 1/7/2024 will be 18 months</a:t>
            </a:r>
            <a:endParaRPr lang="en-GB"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59900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972" y="228683"/>
            <a:ext cx="10736580" cy="518795"/>
          </a:xfrm>
        </p:spPr>
        <p:txBody>
          <a:bodyPr>
            <a:noAutofit/>
          </a:bodyPr>
          <a:lstStyle/>
          <a:p>
            <a:r>
              <a:rPr lang="en-US" sz="3000" b="0" dirty="0">
                <a:solidFill>
                  <a:srgbClr val="FF6319"/>
                </a:solidFill>
                <a:sym typeface="+mn-ea"/>
              </a:rPr>
              <a:t>Newly acquired NCA transactions for financial year 2024/25</a:t>
            </a:r>
            <a:r>
              <a:rPr lang="en-US" sz="3000" b="0" dirty="0">
                <a:solidFill>
                  <a:srgbClr val="FF6319"/>
                </a:solidFill>
              </a:rPr>
              <a:t> </a:t>
            </a:r>
          </a:p>
        </p:txBody>
      </p:sp>
      <p:sp>
        <p:nvSpPr>
          <p:cNvPr id="15" name="Rectangle 14"/>
          <p:cNvSpPr/>
          <p:nvPr/>
        </p:nvSpPr>
        <p:spPr>
          <a:xfrm>
            <a:off x="329938" y="1677971"/>
            <a:ext cx="10774837" cy="1077218"/>
          </a:xfrm>
          <a:prstGeom prst="rect">
            <a:avLst/>
          </a:prstGeom>
        </p:spPr>
        <p:txBody>
          <a:bodyPr wrap="square">
            <a:spAutoFit/>
          </a:bodyPr>
          <a:lstStyle/>
          <a:p>
            <a:pPr lvl="0"/>
            <a:br>
              <a:rPr lang="en-US" sz="3200" dirty="0">
                <a:solidFill>
                  <a:prstClr val="white"/>
                </a:solidFill>
              </a:rPr>
            </a:br>
            <a:r>
              <a:rPr lang="en-US" sz="3200" dirty="0"/>
              <a:t> </a:t>
            </a:r>
          </a:p>
        </p:txBody>
      </p:sp>
      <p:sp>
        <p:nvSpPr>
          <p:cNvPr id="3" name="Rectangle 2"/>
          <p:cNvSpPr/>
          <p:nvPr/>
        </p:nvSpPr>
        <p:spPr>
          <a:xfrm>
            <a:off x="274693" y="961223"/>
            <a:ext cx="11642614" cy="5563290"/>
          </a:xfrm>
          <a:prstGeom prst="rect">
            <a:avLst/>
          </a:prstGeom>
        </p:spPr>
        <p:txBody>
          <a:bodyPr wrap="square">
            <a:noAutofit/>
          </a:bodyPr>
          <a:lstStyle/>
          <a:p>
            <a:pPr marL="457200" lvl="0" indent="-457200">
              <a:spcBef>
                <a:spcPts val="600"/>
              </a:spcBef>
              <a:spcAft>
                <a:spcPts val="600"/>
              </a:spcAft>
              <a:buFont typeface="Wingdings" panose="05000000000000000000" pitchFamily="2" charset="2"/>
              <a:buChar char="v"/>
            </a:pPr>
            <a:r>
              <a:rPr lang="en-US" sz="2800" dirty="0">
                <a:latin typeface="Calibri" panose="020F0502020204030204" pitchFamily="34" charset="0"/>
                <a:cs typeface="Calibri" panose="020F0502020204030204" pitchFamily="34" charset="0"/>
                <a:sym typeface="+mn-ea"/>
              </a:rPr>
              <a:t>Newly acquired assets during financial year 2024/25 are accounted for in line with Accrual IPSAS rules subject to the exemptions laid out in Appendix 1 of YECP.</a:t>
            </a:r>
          </a:p>
          <a:p>
            <a:pPr marL="457200" lvl="0" indent="-457200">
              <a:spcBef>
                <a:spcPts val="600"/>
              </a:spcBef>
              <a:spcAft>
                <a:spcPts val="600"/>
              </a:spcAft>
              <a:buFont typeface="Wingdings" panose="05000000000000000000" pitchFamily="2" charset="2"/>
              <a:buChar char="v"/>
            </a:pPr>
            <a:r>
              <a:rPr lang="en-US" sz="2800" dirty="0">
                <a:latin typeface="Calibri" panose="020F0502020204030204" pitchFamily="34" charset="0"/>
                <a:cs typeface="Calibri" panose="020F0502020204030204" pitchFamily="34" charset="0"/>
                <a:sym typeface="+mn-ea"/>
              </a:rPr>
              <a:t>Non-current asset acquired through purchase or expropriation shall be recognized at its cost.</a:t>
            </a:r>
          </a:p>
          <a:p>
            <a:pPr marL="457200" lvl="0" indent="-457200">
              <a:spcBef>
                <a:spcPts val="600"/>
              </a:spcBef>
              <a:spcAft>
                <a:spcPts val="600"/>
              </a:spcAft>
              <a:buFont typeface="Wingdings" panose="05000000000000000000" pitchFamily="2" charset="2"/>
              <a:buChar char="v"/>
            </a:pPr>
            <a:r>
              <a:rPr lang="en-US" sz="2800" dirty="0">
                <a:latin typeface="Calibri" panose="020F0502020204030204" pitchFamily="34" charset="0"/>
                <a:cs typeface="Calibri" panose="020F0502020204030204" pitchFamily="34" charset="0"/>
                <a:sym typeface="+mn-ea"/>
              </a:rPr>
              <a:t>Non-current asset acquired through donation or transfer shall be recognized at its cost/fair value/carrying amount.</a:t>
            </a:r>
          </a:p>
          <a:p>
            <a:pPr marL="457200" lvl="0" indent="-457200">
              <a:spcBef>
                <a:spcPts val="600"/>
              </a:spcBef>
              <a:spcAft>
                <a:spcPts val="600"/>
              </a:spcAft>
              <a:buFont typeface="Wingdings" panose="05000000000000000000" pitchFamily="2" charset="2"/>
              <a:buChar char="v"/>
            </a:pPr>
            <a:r>
              <a:rPr lang="en-US" sz="2800" dirty="0">
                <a:latin typeface="Calibri" panose="020F0502020204030204" pitchFamily="34" charset="0"/>
                <a:cs typeface="Calibri" panose="020F0502020204030204" pitchFamily="34" charset="0"/>
                <a:sym typeface="+mn-ea"/>
              </a:rPr>
              <a:t>No non-current asset capitalization threshold shall be applied for entities using IFMIS during the period financial year 2024/25.</a:t>
            </a:r>
          </a:p>
          <a:p>
            <a:pPr marL="457200" indent="-457200">
              <a:spcBef>
                <a:spcPts val="600"/>
              </a:spcBef>
              <a:spcAft>
                <a:spcPts val="600"/>
              </a:spcAft>
              <a:buFont typeface="Wingdings" panose="05000000000000000000" pitchFamily="2" charset="2"/>
              <a:buChar char="v"/>
            </a:pPr>
            <a:r>
              <a:rPr lang="en-US" sz="2800" dirty="0">
                <a:latin typeface="Calibri" panose="020F0502020204030204" pitchFamily="34" charset="0"/>
                <a:cs typeface="Calibri" panose="020F0502020204030204" pitchFamily="34" charset="0"/>
                <a:sym typeface="+mn-ea"/>
              </a:rPr>
              <a:t>All non-current asset acquired during financial year 2024/25 should be registered in IFMIS/any other systems and depreciation procedures should be initiated periodically.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FD85EB09-B767-D307-A3AB-93F25C2941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B779F8-3D0D-0B07-3C0B-612A6F3A881A}"/>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20</a:t>
            </a:fld>
            <a:endParaRPr lang="en-GB" dirty="0"/>
          </a:p>
        </p:txBody>
      </p:sp>
      <p:sp>
        <p:nvSpPr>
          <p:cNvPr id="3" name="Google Shape;570;p59">
            <a:extLst>
              <a:ext uri="{FF2B5EF4-FFF2-40B4-BE49-F238E27FC236}">
                <a16:creationId xmlns:a16="http://schemas.microsoft.com/office/drawing/2014/main" id="{F8049084-3789-198B-C4A3-38D156EB2580}"/>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sz="3400" dirty="0">
                <a:solidFill>
                  <a:srgbClr val="FF6319"/>
                </a:solidFill>
              </a:rPr>
              <a:t>Recognition of Newly Acquired Assets &amp; Depreciation</a:t>
            </a:r>
          </a:p>
        </p:txBody>
      </p:sp>
      <p:sp>
        <p:nvSpPr>
          <p:cNvPr id="5" name="Rectangle 3">
            <a:extLst>
              <a:ext uri="{FF2B5EF4-FFF2-40B4-BE49-F238E27FC236}">
                <a16:creationId xmlns:a16="http://schemas.microsoft.com/office/drawing/2014/main" id="{C612DA8C-651C-9EB8-5F16-DCEB735AB149}"/>
              </a:ext>
            </a:extLst>
          </p:cNvPr>
          <p:cNvSpPr txBox="1">
            <a:spLocks/>
          </p:cNvSpPr>
          <p:nvPr/>
        </p:nvSpPr>
        <p:spPr>
          <a:xfrm>
            <a:off x="485140" y="1222512"/>
            <a:ext cx="11412220" cy="534510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20725" lvl="2" indent="-457200">
              <a:lnSpc>
                <a:spcPct val="170000"/>
              </a:lnSpc>
              <a:buFont typeface="Wingdings" panose="05000000000000000000" pitchFamily="2" charset="2"/>
              <a:buChar char="Ø"/>
            </a:pPr>
            <a:r>
              <a:rPr lang="en-US" sz="3200" b="1" dirty="0">
                <a:latin typeface="Tahoma" panose="020B0604030504040204" pitchFamily="34" charset="0"/>
                <a:ea typeface="Tahoma" panose="020B0604030504040204" pitchFamily="34" charset="0"/>
                <a:cs typeface="Tahoma" panose="020B0604030504040204" pitchFamily="34" charset="0"/>
              </a:rPr>
              <a:t>Recognition of cost/fair value of assets(FY24-25)</a:t>
            </a:r>
          </a:p>
          <a:p>
            <a:pPr marL="1122363" lvl="2" indent="-457200">
              <a:lnSpc>
                <a:spcPct val="170000"/>
              </a:lnSpc>
            </a:pPr>
            <a:r>
              <a:rPr lang="en-US" sz="3200" b="1" dirty="0">
                <a:latin typeface="Tahoma" panose="020B0604030504040204" pitchFamily="34" charset="0"/>
                <a:ea typeface="Tahoma" panose="020B0604030504040204" pitchFamily="34" charset="0"/>
                <a:cs typeface="Tahoma" panose="020B0604030504040204" pitchFamily="34" charset="0"/>
              </a:rPr>
              <a:t>Debit: </a:t>
            </a:r>
            <a:r>
              <a:rPr lang="en-US" sz="3200" dirty="0">
                <a:latin typeface="Tahoma" panose="020B0604030504040204" pitchFamily="34" charset="0"/>
                <a:ea typeface="Tahoma" panose="020B0604030504040204" pitchFamily="34" charset="0"/>
                <a:cs typeface="Tahoma" panose="020B0604030504040204" pitchFamily="34" charset="0"/>
              </a:rPr>
              <a:t>Relevant non-current asset class			</a:t>
            </a:r>
            <a:r>
              <a:rPr lang="en-US" sz="3200" dirty="0" err="1">
                <a:latin typeface="Tahoma" panose="020B0604030504040204" pitchFamily="34" charset="0"/>
                <a:ea typeface="Tahoma" panose="020B0604030504040204" pitchFamily="34" charset="0"/>
                <a:cs typeface="Tahoma" panose="020B0604030504040204" pitchFamily="34" charset="0"/>
              </a:rPr>
              <a:t>xxxx</a:t>
            </a:r>
            <a:r>
              <a:rPr lang="en-US" sz="3200" dirty="0">
                <a:latin typeface="Tahoma" panose="020B0604030504040204" pitchFamily="34" charset="0"/>
                <a:ea typeface="Tahoma" panose="020B0604030504040204" pitchFamily="34" charset="0"/>
                <a:cs typeface="Tahoma" panose="020B0604030504040204" pitchFamily="34" charset="0"/>
              </a:rPr>
              <a:t> </a:t>
            </a:r>
            <a:endParaRPr lang="en-GB" sz="3200"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70000"/>
              </a:lnSpc>
            </a:pPr>
            <a:r>
              <a:rPr lang="en-US" sz="3200" b="1" dirty="0">
                <a:latin typeface="Tahoma" panose="020B0604030504040204" pitchFamily="34" charset="0"/>
                <a:ea typeface="Tahoma" panose="020B0604030504040204" pitchFamily="34" charset="0"/>
                <a:cs typeface="Tahoma" panose="020B0604030504040204" pitchFamily="34" charset="0"/>
              </a:rPr>
              <a:t>Credit:</a:t>
            </a:r>
            <a:r>
              <a:rPr lang="en-US" sz="3200" dirty="0">
                <a:latin typeface="Tahoma" panose="020B0604030504040204" pitchFamily="34" charset="0"/>
                <a:ea typeface="Tahoma" panose="020B0604030504040204" pitchFamily="34" charset="0"/>
                <a:cs typeface="Tahoma" panose="020B0604030504040204" pitchFamily="34" charset="0"/>
              </a:rPr>
              <a:t> Accounts Payable/Bank account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US" sz="3200" b="1" dirty="0">
              <a:latin typeface="Tahoma" panose="020B0604030504040204" pitchFamily="34" charset="0"/>
              <a:ea typeface="Tahoma" panose="020B0604030504040204" pitchFamily="34" charset="0"/>
              <a:cs typeface="Tahoma" panose="020B0604030504040204" pitchFamily="34" charset="0"/>
            </a:endParaRPr>
          </a:p>
          <a:p>
            <a:pPr marL="720725" indent="-457200">
              <a:lnSpc>
                <a:spcPct val="170000"/>
              </a:lnSpc>
              <a:buFont typeface="Wingdings" panose="05000000000000000000" pitchFamily="2" charset="2"/>
              <a:buChar char="Ø"/>
            </a:pPr>
            <a:r>
              <a:rPr lang="en-US" sz="3200" b="1" dirty="0">
                <a:latin typeface="Tahoma" panose="020B0604030504040204" pitchFamily="34" charset="0"/>
                <a:ea typeface="Tahoma" panose="020B0604030504040204" pitchFamily="34" charset="0"/>
                <a:cs typeface="Tahoma" panose="020B0604030504040204" pitchFamily="34" charset="0"/>
              </a:rPr>
              <a:t>Depreciation (FY24-25)</a:t>
            </a:r>
          </a:p>
          <a:p>
            <a:pPr marL="1122363" indent="-457200">
              <a:lnSpc>
                <a:spcPct val="170000"/>
              </a:lnSpc>
            </a:pPr>
            <a:r>
              <a:rPr lang="en-US" sz="3200" b="1" dirty="0">
                <a:latin typeface="Tahoma" panose="020B0604030504040204" pitchFamily="34" charset="0"/>
                <a:ea typeface="Tahoma" panose="020B0604030504040204" pitchFamily="34" charset="0"/>
                <a:cs typeface="Tahoma" panose="020B0604030504040204" pitchFamily="34" charset="0"/>
              </a:rPr>
              <a:t>Debit: </a:t>
            </a:r>
            <a:r>
              <a:rPr lang="en-US" sz="3200" dirty="0">
                <a:latin typeface="Tahoma" panose="020B0604030504040204" pitchFamily="34" charset="0"/>
                <a:ea typeface="Tahoma" panose="020B0604030504040204" pitchFamily="34" charset="0"/>
                <a:cs typeface="Tahoma" panose="020B0604030504040204" pitchFamily="34" charset="0"/>
              </a:rPr>
              <a:t>Depreciation expense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GB" sz="3200"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70000"/>
              </a:lnSpc>
            </a:pPr>
            <a:r>
              <a:rPr lang="en-US" sz="3200" b="1" dirty="0">
                <a:latin typeface="Tahoma" panose="020B0604030504040204" pitchFamily="34" charset="0"/>
                <a:ea typeface="Tahoma" panose="020B0604030504040204" pitchFamily="34" charset="0"/>
                <a:cs typeface="Tahoma" panose="020B0604030504040204" pitchFamily="34" charset="0"/>
              </a:rPr>
              <a:t>Credit: </a:t>
            </a:r>
            <a:r>
              <a:rPr lang="en-US" sz="3200" dirty="0">
                <a:latin typeface="Tahoma" panose="020B0604030504040204" pitchFamily="34" charset="0"/>
                <a:ea typeface="Tahoma" panose="020B0604030504040204" pitchFamily="34" charset="0"/>
                <a:cs typeface="Tahoma" panose="020B0604030504040204" pitchFamily="34" charset="0"/>
              </a:rPr>
              <a:t>Accumulated depreciation account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GB"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94007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8E71FC01-93E2-7ABB-DF44-3039A2EFB1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C9D37-E0D7-436F-9350-03BACFAA4B14}"/>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21</a:t>
            </a:fld>
            <a:endParaRPr lang="en-GB" dirty="0"/>
          </a:p>
        </p:txBody>
      </p:sp>
      <p:sp>
        <p:nvSpPr>
          <p:cNvPr id="3" name="Google Shape;570;p59">
            <a:extLst>
              <a:ext uri="{FF2B5EF4-FFF2-40B4-BE49-F238E27FC236}">
                <a16:creationId xmlns:a16="http://schemas.microsoft.com/office/drawing/2014/main" id="{28B712D9-61F5-26AC-9503-973FFE4870C4}"/>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sz="3400" dirty="0">
                <a:solidFill>
                  <a:srgbClr val="FF6319"/>
                </a:solidFill>
              </a:rPr>
              <a:t>Recognition of Newly Acquired Assets &amp; Depreciation</a:t>
            </a:r>
          </a:p>
        </p:txBody>
      </p:sp>
      <p:sp>
        <p:nvSpPr>
          <p:cNvPr id="4" name="Rectangle 3">
            <a:extLst>
              <a:ext uri="{FF2B5EF4-FFF2-40B4-BE49-F238E27FC236}">
                <a16:creationId xmlns:a16="http://schemas.microsoft.com/office/drawing/2014/main" id="{F44B9887-E4B9-3CE2-7B80-A080A38C9B21}"/>
              </a:ext>
            </a:extLst>
          </p:cNvPr>
          <p:cNvSpPr txBox="1">
            <a:spLocks/>
          </p:cNvSpPr>
          <p:nvPr/>
        </p:nvSpPr>
        <p:spPr>
          <a:xfrm>
            <a:off x="139148" y="787086"/>
            <a:ext cx="11641860" cy="53667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3525" lvl="2" indent="0">
              <a:lnSpc>
                <a:spcPct val="170000"/>
              </a:lnSpc>
              <a:buNone/>
            </a:pPr>
            <a:r>
              <a:rPr lang="en-US" sz="2300" b="1" dirty="0">
                <a:latin typeface="Tahoma" panose="020B0604030504040204" pitchFamily="34" charset="0"/>
                <a:ea typeface="Tahoma" panose="020B0604030504040204" pitchFamily="34" charset="0"/>
                <a:cs typeface="Tahoma" panose="020B0604030504040204" pitchFamily="34" charset="0"/>
              </a:rPr>
              <a:t>Example</a:t>
            </a:r>
          </a:p>
          <a:p>
            <a:pPr marL="720725" lvl="2" indent="-457200">
              <a:lnSpc>
                <a:spcPct val="170000"/>
              </a:lnSpc>
              <a:buFont typeface="Wingdings" panose="05000000000000000000" pitchFamily="2" charset="2"/>
              <a:buChar char="Ø"/>
            </a:pPr>
            <a:r>
              <a:rPr lang="en-GB" sz="2300" dirty="0">
                <a:latin typeface="Tahoma" panose="020B0604030504040204" pitchFamily="34" charset="0"/>
                <a:ea typeface="Tahoma" panose="020B0604030504040204" pitchFamily="34" charset="0"/>
                <a:cs typeface="Tahoma" panose="020B0604030504040204" pitchFamily="34" charset="0"/>
              </a:rPr>
              <a:t>Entity acquired a computer on 28</a:t>
            </a:r>
            <a:r>
              <a:rPr lang="en-GB" sz="2300" baseline="30000" dirty="0">
                <a:latin typeface="Tahoma" panose="020B0604030504040204" pitchFamily="34" charset="0"/>
                <a:ea typeface="Tahoma" panose="020B0604030504040204" pitchFamily="34" charset="0"/>
                <a:cs typeface="Tahoma" panose="020B0604030504040204" pitchFamily="34" charset="0"/>
              </a:rPr>
              <a:t>th</a:t>
            </a:r>
            <a:r>
              <a:rPr lang="en-GB" sz="2300" dirty="0">
                <a:latin typeface="Tahoma" panose="020B0604030504040204" pitchFamily="34" charset="0"/>
                <a:ea typeface="Tahoma" panose="020B0604030504040204" pitchFamily="34" charset="0"/>
                <a:cs typeface="Tahoma" panose="020B0604030504040204" pitchFamily="34" charset="0"/>
              </a:rPr>
              <a:t> May 2025. Following accounting entries will be created in the GL on date of acquisition:</a:t>
            </a:r>
          </a:p>
          <a:p>
            <a:pPr marL="263525" lvl="2" indent="0">
              <a:lnSpc>
                <a:spcPct val="170000"/>
              </a:lnSpc>
              <a:buNone/>
            </a:pPr>
            <a:r>
              <a:rPr lang="en-GB" sz="2300" dirty="0">
                <a:latin typeface="Tahoma" panose="020B0604030504040204" pitchFamily="34" charset="0"/>
                <a:ea typeface="Tahoma" panose="020B0604030504040204" pitchFamily="34" charset="0"/>
                <a:cs typeface="Tahoma" panose="020B0604030504040204" pitchFamily="34" charset="0"/>
              </a:rPr>
              <a:t>	</a:t>
            </a:r>
          </a:p>
          <a:p>
            <a:pPr marL="263525" lvl="2" indent="0">
              <a:lnSpc>
                <a:spcPct val="170000"/>
              </a:lnSpc>
              <a:buNone/>
            </a:pPr>
            <a:r>
              <a:rPr lang="en-GB" sz="2300" dirty="0">
                <a:latin typeface="Tahoma" panose="020B0604030504040204" pitchFamily="34" charset="0"/>
                <a:ea typeface="Tahoma" panose="020B0604030504040204" pitchFamily="34" charset="0"/>
                <a:cs typeface="Tahoma" panose="020B0604030504040204" pitchFamily="34" charset="0"/>
              </a:rPr>
              <a:t>	Dr ICT Equipment at cost				1,000,000</a:t>
            </a:r>
          </a:p>
          <a:p>
            <a:pPr marL="263525" lvl="2" indent="0">
              <a:lnSpc>
                <a:spcPct val="170000"/>
              </a:lnSpc>
              <a:buNone/>
            </a:pPr>
            <a:r>
              <a:rPr lang="en-GB" sz="2300" dirty="0">
                <a:latin typeface="Tahoma" panose="020B0604030504040204" pitchFamily="34" charset="0"/>
                <a:ea typeface="Tahoma" panose="020B0604030504040204" pitchFamily="34" charset="0"/>
                <a:cs typeface="Tahoma" panose="020B0604030504040204" pitchFamily="34" charset="0"/>
              </a:rPr>
              <a:t>	Cr Accounts Payable						1,000,000</a:t>
            </a:r>
          </a:p>
          <a:p>
            <a:pPr marL="263525" lvl="2" indent="0">
              <a:lnSpc>
                <a:spcPct val="170000"/>
              </a:lnSpc>
              <a:buNone/>
            </a:pPr>
            <a:endParaRPr lang="en-GB" sz="2300" i="1" dirty="0">
              <a:latin typeface="Tahoma" panose="020B0604030504040204" pitchFamily="34" charset="0"/>
              <a:ea typeface="Tahoma" panose="020B0604030504040204" pitchFamily="34" charset="0"/>
              <a:cs typeface="Tahoma" panose="020B0604030504040204" pitchFamily="34" charset="0"/>
            </a:endParaRPr>
          </a:p>
          <a:p>
            <a:pPr marL="263525" lvl="2" indent="0">
              <a:lnSpc>
                <a:spcPct val="170000"/>
              </a:lnSpc>
              <a:buNone/>
            </a:pPr>
            <a:r>
              <a:rPr lang="en-GB" sz="2300" i="1" dirty="0">
                <a:latin typeface="Tahoma" panose="020B0604030504040204" pitchFamily="34" charset="0"/>
                <a:ea typeface="Tahoma" panose="020B0604030504040204" pitchFamily="34" charset="0"/>
                <a:cs typeface="Tahoma" panose="020B0604030504040204" pitchFamily="34" charset="0"/>
              </a:rPr>
              <a:t>Next step: Asset should be registered in IFMIS asset registered and depreciated. </a:t>
            </a:r>
          </a:p>
          <a:p>
            <a:pPr marL="263525" lvl="2" indent="0">
              <a:lnSpc>
                <a:spcPct val="170000"/>
              </a:lnSpc>
              <a:buNone/>
            </a:pPr>
            <a:r>
              <a:rPr lang="en-GB" sz="2300" i="1" dirty="0">
                <a:latin typeface="Tahoma" panose="020B0604030504040204" pitchFamily="34" charset="0"/>
                <a:ea typeface="Tahoma" panose="020B0604030504040204" pitchFamily="34" charset="0"/>
                <a:cs typeface="Tahoma" panose="020B0604030504040204" pitchFamily="34" charset="0"/>
              </a:rPr>
              <a:t>See slides practical example.</a:t>
            </a:r>
            <a:endParaRPr lang="en-GB" sz="23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57169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8F648444-B488-C9B3-9734-D3F7F8455E91}"/>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F6E4952A-73BA-4474-93A3-EC12DDD9E857}"/>
              </a:ext>
            </a:extLst>
          </p:cNvPr>
          <p:cNvSpPr/>
          <p:nvPr/>
        </p:nvSpPr>
        <p:spPr>
          <a:xfrm>
            <a:off x="1558786" y="3183094"/>
            <a:ext cx="10145534" cy="11032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Slide Number Placeholder 1">
            <a:extLst>
              <a:ext uri="{FF2B5EF4-FFF2-40B4-BE49-F238E27FC236}">
                <a16:creationId xmlns:a16="http://schemas.microsoft.com/office/drawing/2014/main" id="{DC27CD95-2F5E-2798-1E91-1BD3B8F677CC}"/>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22</a:t>
            </a:fld>
            <a:endParaRPr lang="en-GB" dirty="0"/>
          </a:p>
        </p:txBody>
      </p:sp>
      <p:sp>
        <p:nvSpPr>
          <p:cNvPr id="3" name="Google Shape;570;p59">
            <a:extLst>
              <a:ext uri="{FF2B5EF4-FFF2-40B4-BE49-F238E27FC236}">
                <a16:creationId xmlns:a16="http://schemas.microsoft.com/office/drawing/2014/main" id="{B85D4319-36DA-990D-A030-7021860133FC}"/>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sz="3400" dirty="0">
                <a:solidFill>
                  <a:srgbClr val="FF6319"/>
                </a:solidFill>
              </a:rPr>
              <a:t>Depreciation</a:t>
            </a:r>
          </a:p>
        </p:txBody>
      </p:sp>
      <p:sp>
        <p:nvSpPr>
          <p:cNvPr id="4" name="Rectangle 3">
            <a:extLst>
              <a:ext uri="{FF2B5EF4-FFF2-40B4-BE49-F238E27FC236}">
                <a16:creationId xmlns:a16="http://schemas.microsoft.com/office/drawing/2014/main" id="{32EDD859-EA91-59AD-ED14-96715868909D}"/>
              </a:ext>
            </a:extLst>
          </p:cNvPr>
          <p:cNvSpPr/>
          <p:nvPr/>
        </p:nvSpPr>
        <p:spPr>
          <a:xfrm>
            <a:off x="553167" y="1186079"/>
            <a:ext cx="11085665" cy="5463034"/>
          </a:xfrm>
          <a:prstGeom prst="rect">
            <a:avLst/>
          </a:prstGeom>
          <a:ln>
            <a:solidFill>
              <a:schemeClr val="bg1"/>
            </a:solidFill>
          </a:ln>
        </p:spPr>
        <p:txBody>
          <a:bodyPr wrap="square">
            <a:spAutoFit/>
          </a:bodyPr>
          <a:lstStyle/>
          <a:p>
            <a:pPr lvl="0">
              <a:defRPr/>
            </a:pPr>
            <a:r>
              <a:rPr lang="en-US" sz="2300" dirty="0">
                <a:solidFill>
                  <a:prstClr val="black"/>
                </a:solidFill>
                <a:latin typeface="Times New Roman" panose="02020603050405020304" pitchFamily="18" charset="0"/>
                <a:cs typeface="Times New Roman" panose="02020603050405020304" pitchFamily="18" charset="0"/>
              </a:rPr>
              <a:t>The Migrated Legacy non-current assets with limited useful lives shall be depreciated in the 2024/25</a:t>
            </a:r>
            <a:r>
              <a:rPr lang="en-US" sz="2300" b="1" dirty="0">
                <a:solidFill>
                  <a:prstClr val="black"/>
                </a:solidFill>
                <a:latin typeface="Times New Roman" panose="02020603050405020304" pitchFamily="18" charset="0"/>
                <a:cs typeface="Times New Roman" panose="02020603050405020304" pitchFamily="18" charset="0"/>
              </a:rPr>
              <a:t>. </a:t>
            </a:r>
          </a:p>
          <a:p>
            <a:pPr lvl="0">
              <a:defRPr/>
            </a:pPr>
            <a:endParaRPr lang="en-US" sz="2300" dirty="0">
              <a:solidFill>
                <a:prstClr val="black"/>
              </a:solidFill>
              <a:latin typeface="Times New Roman" panose="02020603050405020304" pitchFamily="18" charset="0"/>
              <a:cs typeface="Times New Roman" panose="02020603050405020304" pitchFamily="18" charset="0"/>
            </a:endParaRPr>
          </a:p>
          <a:p>
            <a:pPr lvl="0">
              <a:defRPr/>
            </a:pPr>
            <a:r>
              <a:rPr lang="en-US" sz="2300" dirty="0">
                <a:solidFill>
                  <a:prstClr val="black"/>
                </a:solidFill>
                <a:latin typeface="Times New Roman" panose="02020603050405020304" pitchFamily="18" charset="0"/>
                <a:cs typeface="Times New Roman" panose="02020603050405020304" pitchFamily="18" charset="0"/>
              </a:rPr>
              <a:t>Depreciation shall be computed using the straight-line method over useful life. </a:t>
            </a:r>
          </a:p>
          <a:p>
            <a:pPr lvl="0">
              <a:defRPr/>
            </a:pPr>
            <a:endParaRPr lang="en-US" sz="2300" b="1" i="1" dirty="0">
              <a:solidFill>
                <a:prstClr val="black"/>
              </a:solidFill>
              <a:latin typeface="Times New Roman" panose="02020603050405020304" pitchFamily="18" charset="0"/>
              <a:cs typeface="Times New Roman" panose="02020603050405020304" pitchFamily="18" charset="0"/>
            </a:endParaRPr>
          </a:p>
          <a:p>
            <a:pPr lvl="0">
              <a:defRPr/>
            </a:pPr>
            <a:endParaRPr lang="en-US" sz="2300" dirty="0">
              <a:solidFill>
                <a:prstClr val="black"/>
              </a:solidFill>
              <a:latin typeface="Times New Roman" panose="02020603050405020304" pitchFamily="18" charset="0"/>
              <a:cs typeface="Times New Roman" panose="02020603050405020304" pitchFamily="18" charset="0"/>
            </a:endParaRPr>
          </a:p>
          <a:p>
            <a:pPr lvl="3">
              <a:defRPr/>
            </a:pPr>
            <a:r>
              <a:rPr lang="en-US" sz="2500" b="1" dirty="0">
                <a:solidFill>
                  <a:schemeClr val="bg1"/>
                </a:solidFill>
                <a:latin typeface="Times New Roman" panose="02020603050405020304" pitchFamily="18" charset="0"/>
                <a:cs typeface="Times New Roman" panose="02020603050405020304" pitchFamily="18" charset="0"/>
              </a:rPr>
              <a:t>Depreciation  	=     	  	 </a:t>
            </a:r>
            <a:r>
              <a:rPr lang="en-US" sz="2500" b="1" u="sng" dirty="0">
                <a:solidFill>
                  <a:schemeClr val="bg1"/>
                </a:solidFill>
                <a:latin typeface="Times New Roman" panose="02020603050405020304" pitchFamily="18" charset="0"/>
                <a:cs typeface="Times New Roman" panose="02020603050405020304" pitchFamily="18" charset="0"/>
              </a:rPr>
              <a:t>Cost         or      Fair value</a:t>
            </a:r>
          </a:p>
          <a:p>
            <a:pPr lvl="6">
              <a:defRPr/>
            </a:pPr>
            <a:r>
              <a:rPr lang="en-US" sz="2500" b="1" dirty="0">
                <a:solidFill>
                  <a:schemeClr val="bg1"/>
                </a:solidFill>
                <a:latin typeface="Times New Roman" panose="02020603050405020304" pitchFamily="18" charset="0"/>
                <a:cs typeface="Times New Roman" panose="02020603050405020304" pitchFamily="18" charset="0"/>
              </a:rPr>
              <a:t>		        Useful life    or     Remaining useful life</a:t>
            </a:r>
          </a:p>
          <a:p>
            <a:pPr lvl="0">
              <a:defRPr/>
            </a:pPr>
            <a:endParaRPr lang="en-US" sz="2300" dirty="0">
              <a:solidFill>
                <a:prstClr val="black"/>
              </a:solidFill>
              <a:latin typeface="Times New Roman" panose="02020603050405020304" pitchFamily="18" charset="0"/>
              <a:cs typeface="Times New Roman" panose="02020603050405020304" pitchFamily="18" charset="0"/>
            </a:endParaRPr>
          </a:p>
          <a:p>
            <a:pPr>
              <a:defRPr/>
            </a:pPr>
            <a:r>
              <a:rPr lang="en-US" sz="2300" b="1" i="1" dirty="0">
                <a:solidFill>
                  <a:prstClr val="black"/>
                </a:solidFill>
                <a:latin typeface="Times New Roman" panose="02020603050405020304" pitchFamily="18" charset="0"/>
                <a:cs typeface="Times New Roman" panose="02020603050405020304" pitchFamily="18" charset="0"/>
              </a:rPr>
              <a:t>See appendix 2 of YECP –Useful lives allocated to NCAs.</a:t>
            </a:r>
          </a:p>
          <a:p>
            <a:pPr lvl="0">
              <a:defRPr/>
            </a:pPr>
            <a:endParaRPr lang="en-US" sz="2300" dirty="0">
              <a:solidFill>
                <a:prstClr val="black"/>
              </a:solidFill>
              <a:latin typeface="Times New Roman" panose="02020603050405020304" pitchFamily="18" charset="0"/>
              <a:cs typeface="Times New Roman" panose="02020603050405020304" pitchFamily="18" charset="0"/>
            </a:endParaRPr>
          </a:p>
          <a:p>
            <a:pPr lvl="0">
              <a:defRPr/>
            </a:pPr>
            <a:r>
              <a:rPr lang="en-US" sz="2300" dirty="0">
                <a:solidFill>
                  <a:prstClr val="black"/>
                </a:solidFill>
                <a:latin typeface="Times New Roman" panose="02020603050405020304" pitchFamily="18" charset="0"/>
                <a:cs typeface="Times New Roman" panose="02020603050405020304" pitchFamily="18" charset="0"/>
              </a:rPr>
              <a:t>Date of Acquisition:</a:t>
            </a:r>
          </a:p>
          <a:p>
            <a:pPr lvl="0">
              <a:defRPr/>
            </a:pPr>
            <a:endParaRPr lang="en-US" sz="2300" dirty="0">
              <a:solidFill>
                <a:prstClr val="black"/>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defRPr/>
            </a:pPr>
            <a:r>
              <a:rPr lang="en-US" sz="2300" b="1" dirty="0">
                <a:solidFill>
                  <a:prstClr val="black"/>
                </a:solidFill>
                <a:latin typeface="Times New Roman" panose="02020603050405020304" pitchFamily="18" charset="0"/>
                <a:cs typeface="Times New Roman" panose="02020603050405020304" pitchFamily="18" charset="0"/>
              </a:rPr>
              <a:t>For assets recorded at historical cost: </a:t>
            </a:r>
            <a:r>
              <a:rPr lang="en-US" sz="2300" dirty="0">
                <a:solidFill>
                  <a:prstClr val="black"/>
                </a:solidFill>
                <a:latin typeface="Times New Roman" panose="02020603050405020304" pitchFamily="18" charset="0"/>
                <a:cs typeface="Times New Roman" panose="02020603050405020304" pitchFamily="18" charset="0"/>
              </a:rPr>
              <a:t>the original date the entity acquired the asset.</a:t>
            </a:r>
          </a:p>
          <a:p>
            <a:pPr marL="342900" lvl="0" indent="-342900">
              <a:buFont typeface="Wingdings" panose="05000000000000000000" pitchFamily="2" charset="2"/>
              <a:buChar char="Ø"/>
              <a:defRPr/>
            </a:pPr>
            <a:r>
              <a:rPr kumimoji="0" lang="en-US" sz="2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For assets recorded at fair value: </a:t>
            </a:r>
            <a:r>
              <a:rPr kumimoji="0" lang="en-US" sz="2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date of valuation</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0702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1D4EC6DB-1FF7-4ECA-FA77-40247967269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F64399-DA0E-0B64-C073-675A21208BE1}"/>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23</a:t>
            </a:fld>
            <a:endParaRPr lang="en-GB" dirty="0"/>
          </a:p>
        </p:txBody>
      </p:sp>
      <p:sp>
        <p:nvSpPr>
          <p:cNvPr id="3" name="Google Shape;570;p59">
            <a:extLst>
              <a:ext uri="{FF2B5EF4-FFF2-40B4-BE49-F238E27FC236}">
                <a16:creationId xmlns:a16="http://schemas.microsoft.com/office/drawing/2014/main" id="{0EBD01A6-BB65-F331-0897-4AA0077AB154}"/>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Current year depreciation of legacy NCA</a:t>
            </a:r>
          </a:p>
        </p:txBody>
      </p:sp>
      <p:sp>
        <p:nvSpPr>
          <p:cNvPr id="4" name="Rectangle 3">
            <a:extLst>
              <a:ext uri="{FF2B5EF4-FFF2-40B4-BE49-F238E27FC236}">
                <a16:creationId xmlns:a16="http://schemas.microsoft.com/office/drawing/2014/main" id="{221AC479-9859-CEA5-224E-E0E66825616D}"/>
              </a:ext>
            </a:extLst>
          </p:cNvPr>
          <p:cNvSpPr txBox="1">
            <a:spLocks/>
          </p:cNvSpPr>
          <p:nvPr/>
        </p:nvSpPr>
        <p:spPr>
          <a:xfrm>
            <a:off x="139147" y="657291"/>
            <a:ext cx="11909417" cy="53667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3525" lvl="2" indent="0">
              <a:lnSpc>
                <a:spcPct val="170000"/>
              </a:lnSpc>
              <a:buNone/>
            </a:pPr>
            <a:r>
              <a:rPr lang="en-US" sz="2000" b="1" dirty="0">
                <a:latin typeface="Tahoma" panose="020B0604030504040204" pitchFamily="34" charset="0"/>
                <a:ea typeface="Tahoma" panose="020B0604030504040204" pitchFamily="34" charset="0"/>
                <a:cs typeface="Tahoma" panose="020B0604030504040204" pitchFamily="34" charset="0"/>
              </a:rPr>
              <a:t>Example</a:t>
            </a:r>
          </a:p>
          <a:p>
            <a:pPr marL="720725" lvl="2" indent="-457200">
              <a:lnSpc>
                <a:spcPct val="170000"/>
              </a:lnSpc>
              <a:spcBef>
                <a:spcPts val="0"/>
              </a:spcBef>
              <a:buFont typeface="Wingdings" panose="05000000000000000000" pitchFamily="2" charset="2"/>
              <a:buChar char="Ø"/>
            </a:pPr>
            <a:r>
              <a:rPr lang="en-GB" sz="2000" dirty="0">
                <a:latin typeface="Tahoma" panose="020B0604030504040204" pitchFamily="34" charset="0"/>
                <a:ea typeface="Tahoma" panose="020B0604030504040204" pitchFamily="34" charset="0"/>
                <a:cs typeface="Tahoma" panose="020B0604030504040204" pitchFamily="34" charset="0"/>
              </a:rPr>
              <a:t>Entity had Office Furniture of </a:t>
            </a:r>
            <a:r>
              <a:rPr lang="en-GB" sz="2000" dirty="0" err="1">
                <a:latin typeface="Tahoma" panose="020B0604030504040204" pitchFamily="34" charset="0"/>
                <a:ea typeface="Tahoma" panose="020B0604030504040204" pitchFamily="34" charset="0"/>
                <a:cs typeface="Tahoma" panose="020B0604030504040204" pitchFamily="34" charset="0"/>
              </a:rPr>
              <a:t>Frw</a:t>
            </a:r>
            <a:r>
              <a:rPr lang="en-GB" sz="2000" dirty="0">
                <a:latin typeface="Tahoma" panose="020B0604030504040204" pitchFamily="34" charset="0"/>
                <a:ea typeface="Tahoma" panose="020B0604030504040204" pitchFamily="34" charset="0"/>
                <a:cs typeface="Tahoma" panose="020B0604030504040204" pitchFamily="34" charset="0"/>
              </a:rPr>
              <a:t> 3,000,000 that was acquired on 1</a:t>
            </a:r>
            <a:r>
              <a:rPr lang="en-GB" sz="2000" baseline="30000" dirty="0">
                <a:latin typeface="Tahoma" panose="020B0604030504040204" pitchFamily="34" charset="0"/>
                <a:ea typeface="Tahoma" panose="020B0604030504040204" pitchFamily="34" charset="0"/>
                <a:cs typeface="Tahoma" panose="020B0604030504040204" pitchFamily="34" charset="0"/>
              </a:rPr>
              <a:t>st</a:t>
            </a:r>
            <a:r>
              <a:rPr lang="en-GB" sz="2000" dirty="0">
                <a:latin typeface="Tahoma" panose="020B0604030504040204" pitchFamily="34" charset="0"/>
                <a:ea typeface="Tahoma" panose="020B0604030504040204" pitchFamily="34" charset="0"/>
                <a:cs typeface="Tahoma" panose="020B0604030504040204" pitchFamily="34" charset="0"/>
              </a:rPr>
              <a:t> January 2023 and the recognized on 1</a:t>
            </a:r>
            <a:r>
              <a:rPr lang="en-GB" sz="2000" baseline="30000" dirty="0">
                <a:latin typeface="Tahoma" panose="020B0604030504040204" pitchFamily="34" charset="0"/>
                <a:ea typeface="Tahoma" panose="020B0604030504040204" pitchFamily="34" charset="0"/>
                <a:cs typeface="Tahoma" panose="020B0604030504040204" pitchFamily="34" charset="0"/>
              </a:rPr>
              <a:t>st</a:t>
            </a:r>
            <a:r>
              <a:rPr lang="en-GB" sz="2000" dirty="0">
                <a:latin typeface="Tahoma" panose="020B0604030504040204" pitchFamily="34" charset="0"/>
                <a:ea typeface="Tahoma" panose="020B0604030504040204" pitchFamily="34" charset="0"/>
                <a:cs typeface="Tahoma" panose="020B0604030504040204" pitchFamily="34" charset="0"/>
              </a:rPr>
              <a:t> July 2024 when cost data became available.</a:t>
            </a:r>
          </a:p>
          <a:p>
            <a:pPr marL="720725" lvl="2" indent="-457200">
              <a:lnSpc>
                <a:spcPct val="170000"/>
              </a:lnSpc>
              <a:spcBef>
                <a:spcPts val="0"/>
              </a:spcBef>
              <a:buFont typeface="Wingdings" panose="05000000000000000000" pitchFamily="2" charset="2"/>
              <a:buChar char="Ø"/>
            </a:pPr>
            <a:r>
              <a:rPr lang="en-GB" sz="2000" dirty="0">
                <a:latin typeface="Tahoma" panose="020B0604030504040204" pitchFamily="34" charset="0"/>
                <a:ea typeface="Tahoma" panose="020B0604030504040204" pitchFamily="34" charset="0"/>
                <a:cs typeface="Tahoma" panose="020B0604030504040204" pitchFamily="34" charset="0"/>
              </a:rPr>
              <a:t>Following will be depreciation accounting entries in FY 2024/25:</a:t>
            </a:r>
          </a:p>
          <a:p>
            <a:pPr marL="263525" lvl="2" indent="0">
              <a:lnSpc>
                <a:spcPct val="170000"/>
              </a:lnSpc>
              <a:spcBef>
                <a:spcPts val="0"/>
              </a:spcBef>
              <a:buNone/>
            </a:pPr>
            <a:r>
              <a:rPr lang="en-GB" sz="2000" dirty="0">
                <a:latin typeface="Tahoma" panose="020B0604030504040204" pitchFamily="34" charset="0"/>
                <a:ea typeface="Tahoma" panose="020B0604030504040204" pitchFamily="34" charset="0"/>
                <a:cs typeface="Tahoma" panose="020B0604030504040204" pitchFamily="34" charset="0"/>
              </a:rPr>
              <a:t>	</a:t>
            </a:r>
            <a:r>
              <a:rPr lang="en-GB" sz="2000" i="1" u="sng" dirty="0">
                <a:latin typeface="Tahoma" panose="020B0604030504040204" pitchFamily="34" charset="0"/>
                <a:ea typeface="Tahoma" panose="020B0604030504040204" pitchFamily="34" charset="0"/>
                <a:cs typeface="Tahoma" panose="020B0604030504040204" pitchFamily="34" charset="0"/>
              </a:rPr>
              <a:t>Recognition of legacy asset at cost – 1</a:t>
            </a:r>
            <a:r>
              <a:rPr lang="en-GB" sz="2000" i="1" u="sng" baseline="30000" dirty="0">
                <a:latin typeface="Tahoma" panose="020B0604030504040204" pitchFamily="34" charset="0"/>
                <a:ea typeface="Tahoma" panose="020B0604030504040204" pitchFamily="34" charset="0"/>
                <a:cs typeface="Tahoma" panose="020B0604030504040204" pitchFamily="34" charset="0"/>
              </a:rPr>
              <a:t>st</a:t>
            </a:r>
            <a:r>
              <a:rPr lang="en-GB" sz="2000" i="1" u="sng" dirty="0">
                <a:latin typeface="Tahoma" panose="020B0604030504040204" pitchFamily="34" charset="0"/>
                <a:ea typeface="Tahoma" panose="020B0604030504040204" pitchFamily="34" charset="0"/>
                <a:cs typeface="Tahoma" panose="020B0604030504040204" pitchFamily="34" charset="0"/>
              </a:rPr>
              <a:t> July 2024</a:t>
            </a:r>
          </a:p>
          <a:p>
            <a:pPr marL="263525" lvl="2" indent="0">
              <a:lnSpc>
                <a:spcPct val="100000"/>
              </a:lnSpc>
              <a:spcBef>
                <a:spcPts val="0"/>
              </a:spcBef>
              <a:buNone/>
            </a:pPr>
            <a:r>
              <a:rPr lang="en-GB" sz="2000" dirty="0">
                <a:latin typeface="Tahoma" panose="020B0604030504040204" pitchFamily="34" charset="0"/>
                <a:ea typeface="Tahoma" panose="020B0604030504040204" pitchFamily="34" charset="0"/>
                <a:cs typeface="Tahoma" panose="020B0604030504040204" pitchFamily="34" charset="0"/>
              </a:rPr>
              <a:t>	Dr Office Furniture at cost						3,000,000</a:t>
            </a:r>
          </a:p>
          <a:p>
            <a:pPr marL="263525" lvl="2" indent="0">
              <a:lnSpc>
                <a:spcPct val="100000"/>
              </a:lnSpc>
              <a:spcBef>
                <a:spcPts val="0"/>
              </a:spcBef>
              <a:buNone/>
            </a:pPr>
            <a:r>
              <a:rPr lang="en-GB" sz="2000" dirty="0">
                <a:latin typeface="Tahoma" panose="020B0604030504040204" pitchFamily="34" charset="0"/>
                <a:ea typeface="Tahoma" panose="020B0604030504040204" pitchFamily="34" charset="0"/>
                <a:cs typeface="Tahoma" panose="020B0604030504040204" pitchFamily="34" charset="0"/>
              </a:rPr>
              <a:t>	Cr Opening Bal Reserve								3,000,000</a:t>
            </a:r>
          </a:p>
          <a:p>
            <a:pPr marL="263525" lvl="2" indent="0">
              <a:lnSpc>
                <a:spcPct val="170000"/>
              </a:lnSpc>
              <a:spcBef>
                <a:spcPts val="0"/>
              </a:spcBef>
              <a:buNone/>
            </a:pPr>
            <a:r>
              <a:rPr lang="en-GB" sz="2000" i="1" dirty="0">
                <a:latin typeface="Tahoma" panose="020B0604030504040204" pitchFamily="34" charset="0"/>
                <a:ea typeface="Tahoma" panose="020B0604030504040204" pitchFamily="34" charset="0"/>
                <a:cs typeface="Tahoma" panose="020B0604030504040204" pitchFamily="34" charset="0"/>
              </a:rPr>
              <a:t>	</a:t>
            </a:r>
            <a:r>
              <a:rPr lang="en-GB" sz="2000" i="1" u="sng" dirty="0">
                <a:latin typeface="Tahoma" panose="020B0604030504040204" pitchFamily="34" charset="0"/>
                <a:ea typeface="Tahoma" panose="020B0604030504040204" pitchFamily="34" charset="0"/>
                <a:cs typeface="Tahoma" panose="020B0604030504040204" pitchFamily="34" charset="0"/>
              </a:rPr>
              <a:t>Recognition of accumulated depreciation on legacy asset – 1</a:t>
            </a:r>
            <a:r>
              <a:rPr lang="en-GB" sz="2000" i="1" u="sng" baseline="30000" dirty="0">
                <a:latin typeface="Tahoma" panose="020B0604030504040204" pitchFamily="34" charset="0"/>
                <a:ea typeface="Tahoma" panose="020B0604030504040204" pitchFamily="34" charset="0"/>
                <a:cs typeface="Tahoma" panose="020B0604030504040204" pitchFamily="34" charset="0"/>
              </a:rPr>
              <a:t>st</a:t>
            </a:r>
            <a:r>
              <a:rPr lang="en-GB" sz="2000" i="1" u="sng" dirty="0">
                <a:latin typeface="Tahoma" panose="020B0604030504040204" pitchFamily="34" charset="0"/>
                <a:ea typeface="Tahoma" panose="020B0604030504040204" pitchFamily="34" charset="0"/>
                <a:cs typeface="Tahoma" panose="020B0604030504040204" pitchFamily="34" charset="0"/>
              </a:rPr>
              <a:t> July 2024</a:t>
            </a:r>
          </a:p>
          <a:p>
            <a:pPr marL="263525" lvl="2" indent="0">
              <a:lnSpc>
                <a:spcPct val="170000"/>
              </a:lnSpc>
              <a:spcBef>
                <a:spcPts val="0"/>
              </a:spcBef>
              <a:buNone/>
            </a:pPr>
            <a:r>
              <a:rPr lang="en-GB" sz="2000" i="1" dirty="0">
                <a:latin typeface="Tahoma" panose="020B0604030504040204" pitchFamily="34" charset="0"/>
                <a:ea typeface="Tahoma" panose="020B0604030504040204" pitchFamily="34" charset="0"/>
                <a:cs typeface="Tahoma" panose="020B0604030504040204" pitchFamily="34" charset="0"/>
              </a:rPr>
              <a:t>	</a:t>
            </a:r>
            <a:r>
              <a:rPr lang="en-GB" sz="2000" dirty="0">
                <a:latin typeface="Tahoma" panose="020B0604030504040204" pitchFamily="34" charset="0"/>
                <a:ea typeface="Tahoma" panose="020B0604030504040204" pitchFamily="34" charset="0"/>
                <a:cs typeface="Tahoma" panose="020B0604030504040204" pitchFamily="34" charset="0"/>
              </a:rPr>
              <a:t>Dr Opening Bal Reserve							900,000</a:t>
            </a:r>
          </a:p>
          <a:p>
            <a:pPr marL="263525" lvl="2" indent="0">
              <a:lnSpc>
                <a:spcPct val="150000"/>
              </a:lnSpc>
              <a:spcBef>
                <a:spcPts val="0"/>
              </a:spcBef>
              <a:buNone/>
            </a:pPr>
            <a:r>
              <a:rPr lang="en-GB" sz="2000" dirty="0">
                <a:latin typeface="Tahoma" panose="020B0604030504040204" pitchFamily="34" charset="0"/>
                <a:ea typeface="Tahoma" panose="020B0604030504040204" pitchFamily="34" charset="0"/>
                <a:cs typeface="Tahoma" panose="020B0604030504040204" pitchFamily="34" charset="0"/>
              </a:rPr>
              <a:t>	Cr Accumulated Depreciation 	 </a:t>
            </a:r>
            <a:r>
              <a:rPr lang="en-GB" sz="2000" i="1" dirty="0">
                <a:latin typeface="Tahoma" panose="020B0604030504040204" pitchFamily="34" charset="0"/>
                <a:ea typeface="Tahoma" panose="020B0604030504040204" pitchFamily="34" charset="0"/>
                <a:cs typeface="Tahoma" panose="020B0604030504040204" pitchFamily="34" charset="0"/>
              </a:rPr>
              <a:t>(3,000,000/60 months*18 months)</a:t>
            </a:r>
            <a:r>
              <a:rPr lang="en-GB" sz="2000" dirty="0">
                <a:latin typeface="Tahoma" panose="020B0604030504040204" pitchFamily="34" charset="0"/>
                <a:ea typeface="Tahoma" panose="020B0604030504040204" pitchFamily="34" charset="0"/>
                <a:cs typeface="Tahoma" panose="020B0604030504040204" pitchFamily="34" charset="0"/>
              </a:rPr>
              <a:t>		900,000</a:t>
            </a:r>
          </a:p>
          <a:p>
            <a:pPr marL="263525" lvl="2" indent="0">
              <a:lnSpc>
                <a:spcPct val="170000"/>
              </a:lnSpc>
              <a:spcBef>
                <a:spcPts val="0"/>
              </a:spcBef>
              <a:buNone/>
            </a:pPr>
            <a:r>
              <a:rPr lang="en-GB" sz="2000" i="1" u="sng" dirty="0">
                <a:latin typeface="Tahoma" panose="020B0604030504040204" pitchFamily="34" charset="0"/>
                <a:ea typeface="Tahoma" panose="020B0604030504040204" pitchFamily="34" charset="0"/>
                <a:cs typeface="Tahoma" panose="020B0604030504040204" pitchFamily="34" charset="0"/>
              </a:rPr>
              <a:t>	Recognition of depreciation for year – 1</a:t>
            </a:r>
            <a:r>
              <a:rPr lang="en-GB" sz="2000" i="1" u="sng" baseline="30000" dirty="0">
                <a:latin typeface="Tahoma" panose="020B0604030504040204" pitchFamily="34" charset="0"/>
                <a:ea typeface="Tahoma" panose="020B0604030504040204" pitchFamily="34" charset="0"/>
                <a:cs typeface="Tahoma" panose="020B0604030504040204" pitchFamily="34" charset="0"/>
              </a:rPr>
              <a:t>st</a:t>
            </a:r>
            <a:r>
              <a:rPr lang="en-GB" sz="2000" i="1" u="sng" dirty="0">
                <a:latin typeface="Tahoma" panose="020B0604030504040204" pitchFamily="34" charset="0"/>
                <a:ea typeface="Tahoma" panose="020B0604030504040204" pitchFamily="34" charset="0"/>
                <a:cs typeface="Tahoma" panose="020B0604030504040204" pitchFamily="34" charset="0"/>
              </a:rPr>
              <a:t> July 2024 to 30</a:t>
            </a:r>
            <a:r>
              <a:rPr lang="en-GB" sz="2000" i="1" u="sng" baseline="30000" dirty="0">
                <a:latin typeface="Tahoma" panose="020B0604030504040204" pitchFamily="34" charset="0"/>
                <a:ea typeface="Tahoma" panose="020B0604030504040204" pitchFamily="34" charset="0"/>
                <a:cs typeface="Tahoma" panose="020B0604030504040204" pitchFamily="34" charset="0"/>
              </a:rPr>
              <a:t>th</a:t>
            </a:r>
            <a:r>
              <a:rPr lang="en-GB" sz="2000" i="1" u="sng" dirty="0">
                <a:latin typeface="Tahoma" panose="020B0604030504040204" pitchFamily="34" charset="0"/>
                <a:ea typeface="Tahoma" panose="020B0604030504040204" pitchFamily="34" charset="0"/>
                <a:cs typeface="Tahoma" panose="020B0604030504040204" pitchFamily="34" charset="0"/>
              </a:rPr>
              <a:t> June 2025</a:t>
            </a:r>
          </a:p>
          <a:p>
            <a:pPr marL="263525" lvl="2" indent="0">
              <a:lnSpc>
                <a:spcPct val="170000"/>
              </a:lnSpc>
              <a:spcBef>
                <a:spcPts val="0"/>
              </a:spcBef>
              <a:buNone/>
            </a:pPr>
            <a:r>
              <a:rPr lang="en-GB" sz="2000" i="1" dirty="0">
                <a:latin typeface="Tahoma" panose="020B0604030504040204" pitchFamily="34" charset="0"/>
                <a:ea typeface="Tahoma" panose="020B0604030504040204" pitchFamily="34" charset="0"/>
                <a:cs typeface="Tahoma" panose="020B0604030504040204" pitchFamily="34" charset="0"/>
              </a:rPr>
              <a:t>	</a:t>
            </a:r>
            <a:r>
              <a:rPr lang="en-GB" sz="2000" dirty="0">
                <a:latin typeface="Tahoma" panose="020B0604030504040204" pitchFamily="34" charset="0"/>
                <a:ea typeface="Tahoma" panose="020B0604030504040204" pitchFamily="34" charset="0"/>
                <a:cs typeface="Tahoma" panose="020B0604030504040204" pitchFamily="34" charset="0"/>
              </a:rPr>
              <a:t>Dr Depreciation 								600,000</a:t>
            </a:r>
          </a:p>
          <a:p>
            <a:pPr marL="263525" lvl="2" indent="0">
              <a:lnSpc>
                <a:spcPct val="150000"/>
              </a:lnSpc>
              <a:spcBef>
                <a:spcPts val="0"/>
              </a:spcBef>
              <a:buNone/>
            </a:pPr>
            <a:r>
              <a:rPr lang="en-GB" sz="2000" dirty="0">
                <a:latin typeface="Tahoma" panose="020B0604030504040204" pitchFamily="34" charset="0"/>
                <a:ea typeface="Tahoma" panose="020B0604030504040204" pitchFamily="34" charset="0"/>
                <a:cs typeface="Tahoma" panose="020B0604030504040204" pitchFamily="34" charset="0"/>
              </a:rPr>
              <a:t>	Cr Accumulated Depreciation 	 </a:t>
            </a:r>
            <a:r>
              <a:rPr lang="en-GB" sz="2000" i="1" dirty="0">
                <a:latin typeface="Tahoma" panose="020B0604030504040204" pitchFamily="34" charset="0"/>
                <a:ea typeface="Tahoma" panose="020B0604030504040204" pitchFamily="34" charset="0"/>
                <a:cs typeface="Tahoma" panose="020B0604030504040204" pitchFamily="34" charset="0"/>
              </a:rPr>
              <a:t>(3,000,000/60 months*12 months)</a:t>
            </a:r>
            <a:r>
              <a:rPr lang="en-GB" sz="2000" dirty="0">
                <a:latin typeface="Tahoma" panose="020B0604030504040204" pitchFamily="34" charset="0"/>
                <a:ea typeface="Tahoma" panose="020B0604030504040204" pitchFamily="34" charset="0"/>
                <a:cs typeface="Tahoma" panose="020B0604030504040204" pitchFamily="34" charset="0"/>
              </a:rPr>
              <a:t>		600,000</a:t>
            </a:r>
          </a:p>
          <a:p>
            <a:pPr marL="263525" lvl="2" indent="0">
              <a:lnSpc>
                <a:spcPct val="100000"/>
              </a:lnSpc>
              <a:spcBef>
                <a:spcPts val="0"/>
              </a:spcBef>
              <a:buNone/>
            </a:pPr>
            <a:r>
              <a:rPr lang="en-GB" sz="2000" i="1" dirty="0">
                <a:latin typeface="Tahoma" panose="020B0604030504040204" pitchFamily="34" charset="0"/>
                <a:ea typeface="Tahoma" panose="020B0604030504040204" pitchFamily="34" charset="0"/>
                <a:cs typeface="Tahoma" panose="020B0604030504040204" pitchFamily="34" charset="0"/>
              </a:rPr>
              <a:t>NB: Furniture has a 5 year (60 months) useful life. Period of accumulated depreciation from 1/1/2023 to 1/7/2024 will be 18 months</a:t>
            </a:r>
            <a:endParaRPr lang="en-GB"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67851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B8C03377-C1C3-E86F-C766-DB71D97127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4C24EA-58FE-0374-C231-1D8956970E47}"/>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24</a:t>
            </a:fld>
            <a:endParaRPr lang="en-GB" dirty="0"/>
          </a:p>
        </p:txBody>
      </p:sp>
      <p:sp>
        <p:nvSpPr>
          <p:cNvPr id="3" name="Google Shape;570;p59">
            <a:extLst>
              <a:ext uri="{FF2B5EF4-FFF2-40B4-BE49-F238E27FC236}">
                <a16:creationId xmlns:a16="http://schemas.microsoft.com/office/drawing/2014/main" id="{C49C2F7F-DFF1-B9BE-E723-46B05E823827}"/>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sz="3400" dirty="0">
                <a:solidFill>
                  <a:srgbClr val="FF6319"/>
                </a:solidFill>
              </a:rPr>
              <a:t>Recognition of Newly Acquired Assets &amp; Depreciation</a:t>
            </a:r>
          </a:p>
        </p:txBody>
      </p:sp>
      <p:sp>
        <p:nvSpPr>
          <p:cNvPr id="4" name="Rectangle 3">
            <a:extLst>
              <a:ext uri="{FF2B5EF4-FFF2-40B4-BE49-F238E27FC236}">
                <a16:creationId xmlns:a16="http://schemas.microsoft.com/office/drawing/2014/main" id="{0E023E5C-CC69-B1E4-FD47-854685D7FA94}"/>
              </a:ext>
            </a:extLst>
          </p:cNvPr>
          <p:cNvSpPr txBox="1">
            <a:spLocks/>
          </p:cNvSpPr>
          <p:nvPr/>
        </p:nvSpPr>
        <p:spPr>
          <a:xfrm>
            <a:off x="139148" y="787086"/>
            <a:ext cx="11641860" cy="53667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3525" lvl="2" indent="0">
              <a:lnSpc>
                <a:spcPct val="170000"/>
              </a:lnSpc>
              <a:buNone/>
            </a:pPr>
            <a:r>
              <a:rPr lang="en-US" sz="2300" b="1" dirty="0">
                <a:latin typeface="Tahoma" panose="020B0604030504040204" pitchFamily="34" charset="0"/>
                <a:ea typeface="Tahoma" panose="020B0604030504040204" pitchFamily="34" charset="0"/>
                <a:cs typeface="Tahoma" panose="020B0604030504040204" pitchFamily="34" charset="0"/>
              </a:rPr>
              <a:t>Example</a:t>
            </a:r>
          </a:p>
          <a:p>
            <a:pPr marL="720725" lvl="2" indent="-457200">
              <a:lnSpc>
                <a:spcPct val="170000"/>
              </a:lnSpc>
              <a:buFont typeface="Wingdings" panose="05000000000000000000" pitchFamily="2" charset="2"/>
              <a:buChar char="Ø"/>
            </a:pPr>
            <a:r>
              <a:rPr lang="en-GB" sz="2300" dirty="0">
                <a:latin typeface="Tahoma" panose="020B0604030504040204" pitchFamily="34" charset="0"/>
                <a:ea typeface="Tahoma" panose="020B0604030504040204" pitchFamily="34" charset="0"/>
                <a:cs typeface="Tahoma" panose="020B0604030504040204" pitchFamily="34" charset="0"/>
              </a:rPr>
              <a:t>Entity acquired a computer on 28</a:t>
            </a:r>
            <a:r>
              <a:rPr lang="en-GB" sz="2300" baseline="30000" dirty="0">
                <a:latin typeface="Tahoma" panose="020B0604030504040204" pitchFamily="34" charset="0"/>
                <a:ea typeface="Tahoma" panose="020B0604030504040204" pitchFamily="34" charset="0"/>
                <a:cs typeface="Tahoma" panose="020B0604030504040204" pitchFamily="34" charset="0"/>
              </a:rPr>
              <a:t>th</a:t>
            </a:r>
            <a:r>
              <a:rPr lang="en-GB" sz="2300" dirty="0">
                <a:latin typeface="Tahoma" panose="020B0604030504040204" pitchFamily="34" charset="0"/>
                <a:ea typeface="Tahoma" panose="020B0604030504040204" pitchFamily="34" charset="0"/>
                <a:cs typeface="Tahoma" panose="020B0604030504040204" pitchFamily="34" charset="0"/>
              </a:rPr>
              <a:t> May 2025. Following accounting entries will be created in the GL for FY 2024/25 as at 30</a:t>
            </a:r>
            <a:r>
              <a:rPr lang="en-GB" sz="2300" baseline="30000" dirty="0">
                <a:latin typeface="Tahoma" panose="020B0604030504040204" pitchFamily="34" charset="0"/>
                <a:ea typeface="Tahoma" panose="020B0604030504040204" pitchFamily="34" charset="0"/>
                <a:cs typeface="Tahoma" panose="020B0604030504040204" pitchFamily="34" charset="0"/>
              </a:rPr>
              <a:t>th</a:t>
            </a:r>
            <a:r>
              <a:rPr lang="en-GB" sz="2300" dirty="0">
                <a:latin typeface="Tahoma" panose="020B0604030504040204" pitchFamily="34" charset="0"/>
                <a:ea typeface="Tahoma" panose="020B0604030504040204" pitchFamily="34" charset="0"/>
                <a:cs typeface="Tahoma" panose="020B0604030504040204" pitchFamily="34" charset="0"/>
              </a:rPr>
              <a:t> June 2025:</a:t>
            </a:r>
          </a:p>
          <a:p>
            <a:pPr marL="263525" lvl="2" indent="0">
              <a:lnSpc>
                <a:spcPct val="170000"/>
              </a:lnSpc>
              <a:buNone/>
            </a:pPr>
            <a:r>
              <a:rPr lang="en-US" sz="2400" b="1" u="sng" dirty="0">
                <a:latin typeface="Tahoma" panose="020B0604030504040204" pitchFamily="34" charset="0"/>
                <a:ea typeface="Tahoma" panose="020B0604030504040204" pitchFamily="34" charset="0"/>
                <a:cs typeface="Tahoma" panose="020B0604030504040204" pitchFamily="34" charset="0"/>
              </a:rPr>
              <a:t>	Recognition of cost/fair value of assets – date of acquisition</a:t>
            </a:r>
          </a:p>
          <a:p>
            <a:pPr marL="263525" lvl="2" indent="0">
              <a:lnSpc>
                <a:spcPct val="100000"/>
              </a:lnSpc>
              <a:spcBef>
                <a:spcPts val="0"/>
              </a:spcBef>
              <a:buNone/>
            </a:pPr>
            <a:r>
              <a:rPr lang="en-GB" sz="2300" dirty="0">
                <a:latin typeface="Tahoma" panose="020B0604030504040204" pitchFamily="34" charset="0"/>
                <a:ea typeface="Tahoma" panose="020B0604030504040204" pitchFamily="34" charset="0"/>
                <a:cs typeface="Tahoma" panose="020B0604030504040204" pitchFamily="34" charset="0"/>
              </a:rPr>
              <a:t>	Dr ICT Equipment at cost						1,000,000</a:t>
            </a:r>
          </a:p>
          <a:p>
            <a:pPr marL="263525" lvl="2" indent="0">
              <a:lnSpc>
                <a:spcPct val="100000"/>
              </a:lnSpc>
              <a:spcBef>
                <a:spcPts val="0"/>
              </a:spcBef>
              <a:buNone/>
            </a:pPr>
            <a:r>
              <a:rPr lang="en-GB" sz="2300" dirty="0">
                <a:latin typeface="Tahoma" panose="020B0604030504040204" pitchFamily="34" charset="0"/>
                <a:ea typeface="Tahoma" panose="020B0604030504040204" pitchFamily="34" charset="0"/>
                <a:cs typeface="Tahoma" panose="020B0604030504040204" pitchFamily="34" charset="0"/>
              </a:rPr>
              <a:t>	Cr Accounts Payable								1,000,000</a:t>
            </a:r>
          </a:p>
          <a:p>
            <a:pPr marL="263525" lvl="2" indent="0">
              <a:lnSpc>
                <a:spcPct val="100000"/>
              </a:lnSpc>
              <a:buNone/>
            </a:pPr>
            <a:endParaRPr lang="en-US" sz="2400" b="1" u="sng" dirty="0">
              <a:latin typeface="Tahoma" panose="020B0604030504040204" pitchFamily="34" charset="0"/>
              <a:ea typeface="Tahoma" panose="020B0604030504040204" pitchFamily="34" charset="0"/>
              <a:cs typeface="Tahoma" panose="020B0604030504040204" pitchFamily="34" charset="0"/>
            </a:endParaRPr>
          </a:p>
          <a:p>
            <a:pPr marL="263525" lvl="2" indent="0">
              <a:lnSpc>
                <a:spcPct val="170000"/>
              </a:lnSpc>
              <a:buNone/>
            </a:pPr>
            <a:r>
              <a:rPr lang="en-US" sz="2400" b="1" u="sng" dirty="0">
                <a:latin typeface="Tahoma" panose="020B0604030504040204" pitchFamily="34" charset="0"/>
                <a:ea typeface="Tahoma" panose="020B0604030504040204" pitchFamily="34" charset="0"/>
                <a:cs typeface="Tahoma" panose="020B0604030504040204" pitchFamily="34" charset="0"/>
              </a:rPr>
              <a:t>	Recognition of depreciation - monthly</a:t>
            </a:r>
          </a:p>
          <a:p>
            <a:pPr marL="263525" lvl="2" indent="0">
              <a:lnSpc>
                <a:spcPct val="100000"/>
              </a:lnSpc>
              <a:spcBef>
                <a:spcPts val="0"/>
              </a:spcBef>
              <a:buNone/>
            </a:pPr>
            <a:r>
              <a:rPr lang="en-GB" sz="2300" dirty="0">
                <a:latin typeface="Tahoma" panose="020B0604030504040204" pitchFamily="34" charset="0"/>
                <a:ea typeface="Tahoma" panose="020B0604030504040204" pitchFamily="34" charset="0"/>
                <a:cs typeface="Tahoma" panose="020B0604030504040204" pitchFamily="34" charset="0"/>
              </a:rPr>
              <a:t>	Dr Depreciation	(1,000,000/36months * 2months)		55,556</a:t>
            </a:r>
          </a:p>
          <a:p>
            <a:pPr marL="263525" lvl="2" indent="0">
              <a:lnSpc>
                <a:spcPct val="100000"/>
              </a:lnSpc>
              <a:spcBef>
                <a:spcPts val="0"/>
              </a:spcBef>
              <a:buNone/>
            </a:pPr>
            <a:r>
              <a:rPr lang="en-GB" sz="2300" dirty="0">
                <a:latin typeface="Tahoma" panose="020B0604030504040204" pitchFamily="34" charset="0"/>
                <a:ea typeface="Tahoma" panose="020B0604030504040204" pitchFamily="34" charset="0"/>
                <a:cs typeface="Tahoma" panose="020B0604030504040204" pitchFamily="34" charset="0"/>
              </a:rPr>
              <a:t>	Cr Accumulated depreciation 						55,556</a:t>
            </a:r>
            <a:endParaRPr lang="en-GB" sz="2300" i="1" dirty="0">
              <a:latin typeface="Tahoma" panose="020B0604030504040204" pitchFamily="34" charset="0"/>
              <a:ea typeface="Tahoma" panose="020B0604030504040204" pitchFamily="34" charset="0"/>
              <a:cs typeface="Tahoma" panose="020B0604030504040204" pitchFamily="34" charset="0"/>
            </a:endParaRPr>
          </a:p>
          <a:p>
            <a:pPr marL="263525" lvl="2" indent="0">
              <a:lnSpc>
                <a:spcPct val="100000"/>
              </a:lnSpc>
              <a:buNone/>
            </a:pPr>
            <a:r>
              <a:rPr lang="en-GB" sz="2300" i="1" dirty="0">
                <a:latin typeface="Tahoma" panose="020B0604030504040204" pitchFamily="34" charset="0"/>
                <a:ea typeface="Tahoma" panose="020B0604030504040204" pitchFamily="34" charset="0"/>
                <a:cs typeface="Tahoma" panose="020B0604030504040204" pitchFamily="34" charset="0"/>
              </a:rPr>
              <a:t> </a:t>
            </a:r>
          </a:p>
          <a:p>
            <a:pPr marL="263525" lvl="2" indent="0">
              <a:lnSpc>
                <a:spcPct val="100000"/>
              </a:lnSpc>
              <a:buNone/>
            </a:pPr>
            <a:r>
              <a:rPr lang="en-GB" sz="2300" i="1" dirty="0">
                <a:latin typeface="Tahoma" panose="020B0604030504040204" pitchFamily="34" charset="0"/>
                <a:ea typeface="Tahoma" panose="020B0604030504040204" pitchFamily="34" charset="0"/>
                <a:cs typeface="Tahoma" panose="020B0604030504040204" pitchFamily="34" charset="0"/>
              </a:rPr>
              <a:t>See slides practical example.</a:t>
            </a:r>
            <a:endParaRPr lang="en-GB" sz="23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71851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9F72AD7D-F2AD-F03F-497C-9AE5E159C2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7258C4-19DE-6D8B-D0F7-4F5BDC9C64D2}"/>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25</a:t>
            </a:fld>
            <a:endParaRPr lang="en-GB" dirty="0"/>
          </a:p>
        </p:txBody>
      </p:sp>
      <p:sp>
        <p:nvSpPr>
          <p:cNvPr id="3" name="Google Shape;570;p59">
            <a:extLst>
              <a:ext uri="{FF2B5EF4-FFF2-40B4-BE49-F238E27FC236}">
                <a16:creationId xmlns:a16="http://schemas.microsoft.com/office/drawing/2014/main" id="{56F54CC1-A28E-4395-0E66-C25AC6E5BC34}"/>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sz="4000" dirty="0">
                <a:solidFill>
                  <a:srgbClr val="FF6319"/>
                </a:solidFill>
              </a:rPr>
              <a:t>Fully depreciated assets</a:t>
            </a:r>
          </a:p>
        </p:txBody>
      </p:sp>
      <p:sp>
        <p:nvSpPr>
          <p:cNvPr id="6" name="Rectangle 5">
            <a:extLst>
              <a:ext uri="{FF2B5EF4-FFF2-40B4-BE49-F238E27FC236}">
                <a16:creationId xmlns:a16="http://schemas.microsoft.com/office/drawing/2014/main" id="{67E1D9FB-0895-44D5-3DEC-DFAF78A9A814}"/>
              </a:ext>
            </a:extLst>
          </p:cNvPr>
          <p:cNvSpPr/>
          <p:nvPr/>
        </p:nvSpPr>
        <p:spPr>
          <a:xfrm>
            <a:off x="538466" y="1237435"/>
            <a:ext cx="11358894" cy="4401205"/>
          </a:xfrm>
          <a:prstGeom prst="rect">
            <a:avLst/>
          </a:prstGeom>
        </p:spPr>
        <p:txBody>
          <a:bodyPr wrap="square">
            <a:spAutoFit/>
          </a:bodyPr>
          <a:lstStyle/>
          <a:p>
            <a:pPr marL="342900" lvl="0" indent="-342900">
              <a:buFont typeface="Wingdings" panose="05000000000000000000" pitchFamily="2" charset="2"/>
              <a:buChar char="Ø"/>
              <a:defRPr/>
            </a:pPr>
            <a:r>
              <a:rPr lang="en-US" sz="2800" dirty="0">
                <a:solidFill>
                  <a:prstClr val="black"/>
                </a:solidFill>
                <a:latin typeface="Times New Roman" panose="02020603050405020304" pitchFamily="18" charset="0"/>
                <a:cs typeface="Times New Roman" panose="02020603050405020304" pitchFamily="18" charset="0"/>
              </a:rPr>
              <a:t>Fully depreciated non-current assets are assets that had a carrying amount of </a:t>
            </a:r>
            <a:r>
              <a:rPr lang="en-US" sz="2800" dirty="0" err="1">
                <a:solidFill>
                  <a:prstClr val="black"/>
                </a:solidFill>
                <a:latin typeface="Times New Roman" panose="02020603050405020304" pitchFamily="18" charset="0"/>
                <a:cs typeface="Times New Roman" panose="02020603050405020304" pitchFamily="18" charset="0"/>
              </a:rPr>
              <a:t>Frw</a:t>
            </a:r>
            <a:r>
              <a:rPr lang="en-US" sz="2800" dirty="0">
                <a:solidFill>
                  <a:prstClr val="black"/>
                </a:solidFill>
                <a:latin typeface="Times New Roman" panose="02020603050405020304" pitchFamily="18" charset="0"/>
                <a:cs typeface="Times New Roman" panose="02020603050405020304" pitchFamily="18" charset="0"/>
              </a:rPr>
              <a:t> 0 as at </a:t>
            </a:r>
            <a:r>
              <a:rPr lang="en-US" sz="2800" b="1" dirty="0">
                <a:solidFill>
                  <a:prstClr val="black"/>
                </a:solidFill>
                <a:latin typeface="Times New Roman" panose="02020603050405020304" pitchFamily="18" charset="0"/>
                <a:cs typeface="Times New Roman" panose="02020603050405020304" pitchFamily="18" charset="0"/>
              </a:rPr>
              <a:t>30th June 2025. </a:t>
            </a:r>
          </a:p>
          <a:p>
            <a:pPr lvl="0">
              <a:defRPr/>
            </a:pPr>
            <a:endParaRPr lang="en-US" sz="2800" dirty="0">
              <a:solidFill>
                <a:prstClr val="black"/>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defRPr/>
            </a:pPr>
            <a:r>
              <a:rPr lang="en-US" sz="2800" dirty="0">
                <a:solidFill>
                  <a:prstClr val="black"/>
                </a:solidFill>
                <a:latin typeface="Times New Roman" panose="02020603050405020304" pitchFamily="18" charset="0"/>
                <a:cs typeface="Times New Roman" panose="02020603050405020304" pitchFamily="18" charset="0"/>
              </a:rPr>
              <a:t>Fully depreciated assets which are still in use and providing service potential and remain in good operational condition, should:</a:t>
            </a:r>
          </a:p>
          <a:p>
            <a:pPr lvl="0">
              <a:defRPr/>
            </a:pPr>
            <a:endParaRPr lang="en-US" sz="2800" dirty="0">
              <a:solidFill>
                <a:prstClr val="black"/>
              </a:solidFill>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v"/>
              <a:defRPr/>
            </a:pPr>
            <a:r>
              <a:rPr lang="en-US" sz="2800" dirty="0">
                <a:solidFill>
                  <a:prstClr val="black"/>
                </a:solidFill>
                <a:latin typeface="Times New Roman" panose="02020603050405020304" pitchFamily="18" charset="0"/>
                <a:cs typeface="Times New Roman" panose="02020603050405020304" pitchFamily="18" charset="0"/>
              </a:rPr>
              <a:t>Remain in the financial statements at a carrying amount of zero; and </a:t>
            </a:r>
          </a:p>
          <a:p>
            <a:pPr marL="1257300" lvl="2" indent="-342900">
              <a:buFont typeface="Wingdings" panose="05000000000000000000" pitchFamily="2" charset="2"/>
              <a:buChar char="v"/>
              <a:defRPr/>
            </a:pPr>
            <a:endParaRPr lang="en-US" sz="2800" dirty="0">
              <a:solidFill>
                <a:prstClr val="black"/>
              </a:solidFill>
              <a:latin typeface="Times New Roman" panose="02020603050405020304" pitchFamily="18" charset="0"/>
              <a:cs typeface="Times New Roman" panose="02020603050405020304" pitchFamily="18" charset="0"/>
            </a:endParaRPr>
          </a:p>
          <a:p>
            <a:pPr marL="1257300" lvl="2" indent="-342900">
              <a:buFont typeface="Wingdings" panose="05000000000000000000" pitchFamily="2" charset="2"/>
              <a:buChar char="v"/>
              <a:defRPr/>
            </a:pPr>
            <a:r>
              <a:rPr lang="en-US" sz="2800" dirty="0">
                <a:solidFill>
                  <a:prstClr val="black"/>
                </a:solidFill>
                <a:latin typeface="Times New Roman" panose="02020603050405020304" pitchFamily="18" charset="0"/>
                <a:cs typeface="Times New Roman" panose="02020603050405020304" pitchFamily="18" charset="0"/>
              </a:rPr>
              <a:t>Be maintained in the asset register</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spTree>
    <p:extLst>
      <p:ext uri="{BB962C8B-B14F-4D97-AF65-F5344CB8AC3E}">
        <p14:creationId xmlns:p14="http://schemas.microsoft.com/office/powerpoint/2010/main" val="2379375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3E7D90BC-CA6F-C982-F4ED-9D1528B8E7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141A04-75B8-E8CE-A45A-3FFA70EE69DC}"/>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26</a:t>
            </a:fld>
            <a:endParaRPr lang="en-GB" dirty="0"/>
          </a:p>
        </p:txBody>
      </p:sp>
      <p:sp>
        <p:nvSpPr>
          <p:cNvPr id="3" name="Google Shape;570;p59">
            <a:extLst>
              <a:ext uri="{FF2B5EF4-FFF2-40B4-BE49-F238E27FC236}">
                <a16:creationId xmlns:a16="http://schemas.microsoft.com/office/drawing/2014/main" id="{03F7A6EF-AE60-04AB-D9AD-61A2B91B12A9}"/>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Recognition of Legacy Inventory</a:t>
            </a:r>
          </a:p>
        </p:txBody>
      </p:sp>
      <p:sp>
        <p:nvSpPr>
          <p:cNvPr id="4" name="Rectangle 3">
            <a:extLst>
              <a:ext uri="{FF2B5EF4-FFF2-40B4-BE49-F238E27FC236}">
                <a16:creationId xmlns:a16="http://schemas.microsoft.com/office/drawing/2014/main" id="{DC7173A9-4C26-9882-E6B0-DF07F83AAE3B}"/>
              </a:ext>
            </a:extLst>
          </p:cNvPr>
          <p:cNvSpPr txBox="1">
            <a:spLocks/>
          </p:cNvSpPr>
          <p:nvPr/>
        </p:nvSpPr>
        <p:spPr>
          <a:xfrm>
            <a:off x="175134" y="1046347"/>
            <a:ext cx="11841732" cy="562065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20725" lvl="2" indent="-457200">
              <a:lnSpc>
                <a:spcPct val="170000"/>
              </a:lnSpc>
              <a:buFont typeface="Wingdings" panose="05000000000000000000" pitchFamily="2" charset="2"/>
              <a:buChar char="Ø"/>
            </a:pPr>
            <a:r>
              <a:rPr lang="en-US" sz="3200" b="1" dirty="0">
                <a:latin typeface="Tahoma" panose="020B0604030504040204" pitchFamily="34" charset="0"/>
                <a:ea typeface="Tahoma" panose="020B0604030504040204" pitchFamily="34" charset="0"/>
                <a:cs typeface="Tahoma" panose="020B0604030504040204" pitchFamily="34" charset="0"/>
              </a:rPr>
              <a:t>Recognition of cost/fair value of assets</a:t>
            </a:r>
          </a:p>
          <a:p>
            <a:pPr marL="1122363" lvl="2" indent="-457200">
              <a:lnSpc>
                <a:spcPct val="170000"/>
              </a:lnSpc>
            </a:pPr>
            <a:r>
              <a:rPr lang="en-US" sz="3200" dirty="0">
                <a:latin typeface="Tahoma" panose="020B0604030504040204" pitchFamily="34" charset="0"/>
                <a:ea typeface="Tahoma" panose="020B0604030504040204" pitchFamily="34" charset="0"/>
                <a:cs typeface="Tahoma" panose="020B0604030504040204" pitchFamily="34" charset="0"/>
              </a:rPr>
              <a:t>Debit: Relevant inventory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GB" sz="3200"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70000"/>
              </a:lnSpc>
            </a:pPr>
            <a:r>
              <a:rPr lang="en-US" sz="3200" dirty="0">
                <a:latin typeface="Tahoma" panose="020B0604030504040204" pitchFamily="34" charset="0"/>
                <a:ea typeface="Tahoma" panose="020B0604030504040204" pitchFamily="34" charset="0"/>
                <a:cs typeface="Tahoma" panose="020B0604030504040204" pitchFamily="34" charset="0"/>
              </a:rPr>
              <a:t>Credit: Opening </a:t>
            </a:r>
            <a:r>
              <a:rPr lang="en-US" sz="3200" dirty="0" err="1">
                <a:latin typeface="Tahoma" panose="020B0604030504040204" pitchFamily="34" charset="0"/>
                <a:ea typeface="Tahoma" panose="020B0604030504040204" pitchFamily="34" charset="0"/>
                <a:cs typeface="Tahoma" panose="020B0604030504040204" pitchFamily="34" charset="0"/>
              </a:rPr>
              <a:t>bal</a:t>
            </a:r>
            <a:r>
              <a:rPr lang="en-US" sz="3200" dirty="0">
                <a:latin typeface="Tahoma" panose="020B0604030504040204" pitchFamily="34" charset="0"/>
                <a:ea typeface="Tahoma" panose="020B0604030504040204" pitchFamily="34" charset="0"/>
                <a:cs typeface="Tahoma" panose="020B0604030504040204" pitchFamily="34" charset="0"/>
              </a:rPr>
              <a:t> reserve account of the relevant inventory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US" sz="3200" b="1" dirty="0">
              <a:latin typeface="Tahoma" panose="020B0604030504040204" pitchFamily="34" charset="0"/>
              <a:ea typeface="Tahoma" panose="020B0604030504040204" pitchFamily="34" charset="0"/>
              <a:cs typeface="Tahoma" panose="020B0604030504040204" pitchFamily="34" charset="0"/>
            </a:endParaRPr>
          </a:p>
          <a:p>
            <a:pPr marL="720725" indent="-457200">
              <a:lnSpc>
                <a:spcPct val="170000"/>
              </a:lnSpc>
              <a:buFont typeface="Wingdings" panose="05000000000000000000" pitchFamily="2" charset="2"/>
              <a:buChar char="Ø"/>
            </a:pPr>
            <a:endParaRPr lang="en-US" sz="3200" b="1" dirty="0">
              <a:latin typeface="Tahoma" panose="020B0604030504040204" pitchFamily="34" charset="0"/>
              <a:ea typeface="Tahoma" panose="020B0604030504040204" pitchFamily="34" charset="0"/>
              <a:cs typeface="Tahoma" panose="020B0604030504040204" pitchFamily="34" charset="0"/>
            </a:endParaRPr>
          </a:p>
          <a:p>
            <a:pPr marL="720725" indent="-457200">
              <a:lnSpc>
                <a:spcPct val="170000"/>
              </a:lnSpc>
              <a:buFont typeface="Wingdings" panose="05000000000000000000" pitchFamily="2" charset="2"/>
              <a:buChar char="Ø"/>
            </a:pPr>
            <a:r>
              <a:rPr lang="en-US" sz="3200" b="1" dirty="0">
                <a:latin typeface="Tahoma" panose="020B0604030504040204" pitchFamily="34" charset="0"/>
                <a:ea typeface="Tahoma" panose="020B0604030504040204" pitchFamily="34" charset="0"/>
                <a:cs typeface="Tahoma" panose="020B0604030504040204" pitchFamily="34" charset="0"/>
              </a:rPr>
              <a:t>Reversing inventory balance already expensed in FY 2024/25</a:t>
            </a:r>
          </a:p>
          <a:p>
            <a:pPr marL="1122363" indent="-457200">
              <a:lnSpc>
                <a:spcPct val="170000"/>
              </a:lnSpc>
            </a:pPr>
            <a:r>
              <a:rPr lang="en-US" sz="3200" b="1" dirty="0">
                <a:latin typeface="Tahoma" panose="020B0604030504040204" pitchFamily="34" charset="0"/>
                <a:ea typeface="Tahoma" panose="020B0604030504040204" pitchFamily="34" charset="0"/>
                <a:cs typeface="Tahoma" panose="020B0604030504040204" pitchFamily="34" charset="0"/>
              </a:rPr>
              <a:t>Debit: </a:t>
            </a:r>
            <a:r>
              <a:rPr lang="en-US" sz="3200" dirty="0">
                <a:latin typeface="Tahoma" panose="020B0604030504040204" pitchFamily="34" charset="0"/>
                <a:ea typeface="Tahoma" panose="020B0604030504040204" pitchFamily="34" charset="0"/>
                <a:cs typeface="Tahoma" panose="020B0604030504040204" pitchFamily="34" charset="0"/>
              </a:rPr>
              <a:t>Opening </a:t>
            </a:r>
            <a:r>
              <a:rPr lang="en-US" sz="3200" dirty="0" err="1">
                <a:latin typeface="Tahoma" panose="020B0604030504040204" pitchFamily="34" charset="0"/>
                <a:ea typeface="Tahoma" panose="020B0604030504040204" pitchFamily="34" charset="0"/>
                <a:cs typeface="Tahoma" panose="020B0604030504040204" pitchFamily="34" charset="0"/>
              </a:rPr>
              <a:t>bal</a:t>
            </a:r>
            <a:r>
              <a:rPr lang="en-US" sz="3200" dirty="0">
                <a:latin typeface="Tahoma" panose="020B0604030504040204" pitchFamily="34" charset="0"/>
                <a:ea typeface="Tahoma" panose="020B0604030504040204" pitchFamily="34" charset="0"/>
                <a:cs typeface="Tahoma" panose="020B0604030504040204" pitchFamily="34" charset="0"/>
              </a:rPr>
              <a:t> reserve of the relevant inventory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GB" sz="3200"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70000"/>
              </a:lnSpc>
            </a:pPr>
            <a:r>
              <a:rPr lang="en-US" sz="3200" b="1" dirty="0">
                <a:latin typeface="Tahoma" panose="020B0604030504040204" pitchFamily="34" charset="0"/>
                <a:ea typeface="Tahoma" panose="020B0604030504040204" pitchFamily="34" charset="0"/>
                <a:cs typeface="Tahoma" panose="020B0604030504040204" pitchFamily="34" charset="0"/>
              </a:rPr>
              <a:t>Credit: </a:t>
            </a:r>
            <a:r>
              <a:rPr lang="en-US" sz="3200" dirty="0">
                <a:latin typeface="Tahoma" panose="020B0604030504040204" pitchFamily="34" charset="0"/>
                <a:ea typeface="Tahoma" panose="020B0604030504040204" pitchFamily="34" charset="0"/>
                <a:cs typeface="Tahoma" panose="020B0604030504040204" pitchFamily="34" charset="0"/>
              </a:rPr>
              <a:t>Relevant expense category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GB"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06432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505613BF-518A-42DE-E72F-6B31EC30C1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A4E450-E388-E5EA-4416-DDBB61E5C51D}"/>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27</a:t>
            </a:fld>
            <a:endParaRPr lang="en-GB" dirty="0"/>
          </a:p>
        </p:txBody>
      </p:sp>
      <p:sp>
        <p:nvSpPr>
          <p:cNvPr id="3" name="Google Shape;570;p59">
            <a:extLst>
              <a:ext uri="{FF2B5EF4-FFF2-40B4-BE49-F238E27FC236}">
                <a16:creationId xmlns:a16="http://schemas.microsoft.com/office/drawing/2014/main" id="{F8E7B2E3-9B79-4455-365D-D4912D4B7540}"/>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Recognition of Legacy Inventory</a:t>
            </a:r>
          </a:p>
        </p:txBody>
      </p:sp>
      <p:sp>
        <p:nvSpPr>
          <p:cNvPr id="4" name="Rectangle 3">
            <a:extLst>
              <a:ext uri="{FF2B5EF4-FFF2-40B4-BE49-F238E27FC236}">
                <a16:creationId xmlns:a16="http://schemas.microsoft.com/office/drawing/2014/main" id="{F5745871-9C08-522E-47F8-1BFDBFA085CB}"/>
              </a:ext>
            </a:extLst>
          </p:cNvPr>
          <p:cNvSpPr txBox="1">
            <a:spLocks/>
          </p:cNvSpPr>
          <p:nvPr/>
        </p:nvSpPr>
        <p:spPr>
          <a:xfrm>
            <a:off x="175134" y="1046347"/>
            <a:ext cx="11841732" cy="562065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20725" lvl="2" indent="-457200">
              <a:lnSpc>
                <a:spcPct val="170000"/>
              </a:lnSpc>
              <a:buFont typeface="Wingdings" panose="05000000000000000000" pitchFamily="2" charset="2"/>
              <a:buChar char="Ø"/>
            </a:pPr>
            <a:r>
              <a:rPr lang="en-US" sz="3200" b="1" dirty="0">
                <a:latin typeface="Tahoma" panose="020B0604030504040204" pitchFamily="34" charset="0"/>
                <a:ea typeface="Tahoma" panose="020B0604030504040204" pitchFamily="34" charset="0"/>
                <a:cs typeface="Tahoma" panose="020B0604030504040204" pitchFamily="34" charset="0"/>
              </a:rPr>
              <a:t>Recognition of cost/fair value of assets</a:t>
            </a:r>
          </a:p>
          <a:p>
            <a:pPr marL="1122363" lvl="2" indent="-457200">
              <a:lnSpc>
                <a:spcPct val="170000"/>
              </a:lnSpc>
            </a:pPr>
            <a:r>
              <a:rPr lang="en-US" sz="3200" dirty="0">
                <a:latin typeface="Tahoma" panose="020B0604030504040204" pitchFamily="34" charset="0"/>
                <a:ea typeface="Tahoma" panose="020B0604030504040204" pitchFamily="34" charset="0"/>
                <a:cs typeface="Tahoma" panose="020B0604030504040204" pitchFamily="34" charset="0"/>
              </a:rPr>
              <a:t>Debit: Relevant inventory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GB" sz="3200"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70000"/>
              </a:lnSpc>
            </a:pPr>
            <a:r>
              <a:rPr lang="en-US" sz="3200" dirty="0">
                <a:latin typeface="Tahoma" panose="020B0604030504040204" pitchFamily="34" charset="0"/>
                <a:ea typeface="Tahoma" panose="020B0604030504040204" pitchFamily="34" charset="0"/>
                <a:cs typeface="Tahoma" panose="020B0604030504040204" pitchFamily="34" charset="0"/>
              </a:rPr>
              <a:t>Credit: Opening </a:t>
            </a:r>
            <a:r>
              <a:rPr lang="en-US" sz="3200" dirty="0" err="1">
                <a:latin typeface="Tahoma" panose="020B0604030504040204" pitchFamily="34" charset="0"/>
                <a:ea typeface="Tahoma" panose="020B0604030504040204" pitchFamily="34" charset="0"/>
                <a:cs typeface="Tahoma" panose="020B0604030504040204" pitchFamily="34" charset="0"/>
              </a:rPr>
              <a:t>bal</a:t>
            </a:r>
            <a:r>
              <a:rPr lang="en-US" sz="3200" dirty="0">
                <a:latin typeface="Tahoma" panose="020B0604030504040204" pitchFamily="34" charset="0"/>
                <a:ea typeface="Tahoma" panose="020B0604030504040204" pitchFamily="34" charset="0"/>
                <a:cs typeface="Tahoma" panose="020B0604030504040204" pitchFamily="34" charset="0"/>
              </a:rPr>
              <a:t> reserve account of the relevant inventory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US" sz="3200" b="1" dirty="0">
              <a:latin typeface="Tahoma" panose="020B0604030504040204" pitchFamily="34" charset="0"/>
              <a:ea typeface="Tahoma" panose="020B0604030504040204" pitchFamily="34" charset="0"/>
              <a:cs typeface="Tahoma" panose="020B0604030504040204" pitchFamily="34" charset="0"/>
            </a:endParaRPr>
          </a:p>
          <a:p>
            <a:pPr marL="720725" indent="-457200">
              <a:lnSpc>
                <a:spcPct val="170000"/>
              </a:lnSpc>
              <a:buFont typeface="Wingdings" panose="05000000000000000000" pitchFamily="2" charset="2"/>
              <a:buChar char="Ø"/>
            </a:pPr>
            <a:endParaRPr lang="en-US" sz="3200" b="1" dirty="0">
              <a:latin typeface="Tahoma" panose="020B0604030504040204" pitchFamily="34" charset="0"/>
              <a:ea typeface="Tahoma" panose="020B0604030504040204" pitchFamily="34" charset="0"/>
              <a:cs typeface="Tahoma" panose="020B0604030504040204" pitchFamily="34" charset="0"/>
            </a:endParaRPr>
          </a:p>
          <a:p>
            <a:pPr marL="720725" indent="-457200">
              <a:lnSpc>
                <a:spcPct val="170000"/>
              </a:lnSpc>
              <a:buFont typeface="Wingdings" panose="05000000000000000000" pitchFamily="2" charset="2"/>
              <a:buChar char="Ø"/>
            </a:pPr>
            <a:r>
              <a:rPr lang="en-US" sz="3200" b="1" dirty="0">
                <a:latin typeface="Tahoma" panose="020B0604030504040204" pitchFamily="34" charset="0"/>
                <a:ea typeface="Tahoma" panose="020B0604030504040204" pitchFamily="34" charset="0"/>
                <a:cs typeface="Tahoma" panose="020B0604030504040204" pitchFamily="34" charset="0"/>
              </a:rPr>
              <a:t>Reversing inventory balance already expensed in FY 2024/25</a:t>
            </a:r>
          </a:p>
          <a:p>
            <a:pPr marL="1122363" indent="-457200">
              <a:lnSpc>
                <a:spcPct val="170000"/>
              </a:lnSpc>
            </a:pPr>
            <a:r>
              <a:rPr lang="en-US" sz="3200" b="1" dirty="0">
                <a:latin typeface="Tahoma" panose="020B0604030504040204" pitchFamily="34" charset="0"/>
                <a:ea typeface="Tahoma" panose="020B0604030504040204" pitchFamily="34" charset="0"/>
                <a:cs typeface="Tahoma" panose="020B0604030504040204" pitchFamily="34" charset="0"/>
              </a:rPr>
              <a:t>Debit: </a:t>
            </a:r>
            <a:r>
              <a:rPr lang="en-US" sz="3200" dirty="0">
                <a:latin typeface="Tahoma" panose="020B0604030504040204" pitchFamily="34" charset="0"/>
                <a:ea typeface="Tahoma" panose="020B0604030504040204" pitchFamily="34" charset="0"/>
                <a:cs typeface="Tahoma" panose="020B0604030504040204" pitchFamily="34" charset="0"/>
              </a:rPr>
              <a:t>Opening </a:t>
            </a:r>
            <a:r>
              <a:rPr lang="en-US" sz="3200" dirty="0" err="1">
                <a:latin typeface="Tahoma" panose="020B0604030504040204" pitchFamily="34" charset="0"/>
                <a:ea typeface="Tahoma" panose="020B0604030504040204" pitchFamily="34" charset="0"/>
                <a:cs typeface="Tahoma" panose="020B0604030504040204" pitchFamily="34" charset="0"/>
              </a:rPr>
              <a:t>bal</a:t>
            </a:r>
            <a:r>
              <a:rPr lang="en-US" sz="3200" dirty="0">
                <a:latin typeface="Tahoma" panose="020B0604030504040204" pitchFamily="34" charset="0"/>
                <a:ea typeface="Tahoma" panose="020B0604030504040204" pitchFamily="34" charset="0"/>
                <a:cs typeface="Tahoma" panose="020B0604030504040204" pitchFamily="34" charset="0"/>
              </a:rPr>
              <a:t> reserve of the relevant inventory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GB" sz="3200" dirty="0">
              <a:latin typeface="Tahoma" panose="020B0604030504040204" pitchFamily="34" charset="0"/>
              <a:ea typeface="Tahoma" panose="020B0604030504040204" pitchFamily="34" charset="0"/>
              <a:cs typeface="Tahoma" panose="020B0604030504040204" pitchFamily="34" charset="0"/>
            </a:endParaRPr>
          </a:p>
          <a:p>
            <a:pPr marL="1122363" indent="-457200">
              <a:lnSpc>
                <a:spcPct val="170000"/>
              </a:lnSpc>
            </a:pPr>
            <a:r>
              <a:rPr lang="en-US" sz="3200" b="1" dirty="0">
                <a:latin typeface="Tahoma" panose="020B0604030504040204" pitchFamily="34" charset="0"/>
                <a:ea typeface="Tahoma" panose="020B0604030504040204" pitchFamily="34" charset="0"/>
                <a:cs typeface="Tahoma" panose="020B0604030504040204" pitchFamily="34" charset="0"/>
              </a:rPr>
              <a:t>Credit: </a:t>
            </a:r>
            <a:r>
              <a:rPr lang="en-US" sz="3200" dirty="0">
                <a:latin typeface="Tahoma" panose="020B0604030504040204" pitchFamily="34" charset="0"/>
                <a:ea typeface="Tahoma" panose="020B0604030504040204" pitchFamily="34" charset="0"/>
                <a:cs typeface="Tahoma" panose="020B0604030504040204" pitchFamily="34" charset="0"/>
              </a:rPr>
              <a:t>Relevant expense category					</a:t>
            </a:r>
            <a:r>
              <a:rPr lang="en-US" sz="3200" dirty="0" err="1">
                <a:latin typeface="Tahoma" panose="020B0604030504040204" pitchFamily="34" charset="0"/>
                <a:ea typeface="Tahoma" panose="020B0604030504040204" pitchFamily="34" charset="0"/>
                <a:cs typeface="Tahoma" panose="020B0604030504040204" pitchFamily="34" charset="0"/>
              </a:rPr>
              <a:t>xxxx</a:t>
            </a:r>
            <a:endParaRPr lang="en-GB"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67539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284EC809-A4D2-266C-0A6E-39DFDA34C73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0BAE95-5329-9E86-E08B-72627FA2E598}"/>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28</a:t>
            </a:fld>
            <a:endParaRPr lang="en-GB" dirty="0"/>
          </a:p>
        </p:txBody>
      </p:sp>
      <p:sp>
        <p:nvSpPr>
          <p:cNvPr id="3" name="Google Shape;570;p59">
            <a:extLst>
              <a:ext uri="{FF2B5EF4-FFF2-40B4-BE49-F238E27FC236}">
                <a16:creationId xmlns:a16="http://schemas.microsoft.com/office/drawing/2014/main" id="{7AF241C4-9E94-F290-E127-1726436D6794}"/>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Recognition of Legacy Inventory</a:t>
            </a:r>
          </a:p>
        </p:txBody>
      </p:sp>
      <p:sp>
        <p:nvSpPr>
          <p:cNvPr id="4" name="Rectangle 3">
            <a:extLst>
              <a:ext uri="{FF2B5EF4-FFF2-40B4-BE49-F238E27FC236}">
                <a16:creationId xmlns:a16="http://schemas.microsoft.com/office/drawing/2014/main" id="{2E026DD6-5D91-FC20-9B46-A33117300FC2}"/>
              </a:ext>
            </a:extLst>
          </p:cNvPr>
          <p:cNvSpPr txBox="1">
            <a:spLocks/>
          </p:cNvSpPr>
          <p:nvPr/>
        </p:nvSpPr>
        <p:spPr>
          <a:xfrm>
            <a:off x="175134" y="1304531"/>
            <a:ext cx="11507671" cy="46552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20725" lvl="2" indent="-457200">
              <a:lnSpc>
                <a:spcPct val="170000"/>
              </a:lnSpc>
              <a:buFont typeface="Wingdings" panose="05000000000000000000" pitchFamily="2" charset="2"/>
              <a:buChar char="Ø"/>
            </a:pPr>
            <a:r>
              <a:rPr lang="en-US" sz="3200" dirty="0">
                <a:latin typeface="Tahoma" panose="020B0604030504040204" pitchFamily="34" charset="0"/>
                <a:ea typeface="Tahoma" panose="020B0604030504040204" pitchFamily="34" charset="0"/>
                <a:cs typeface="Tahoma" panose="020B0604030504040204" pitchFamily="34" charset="0"/>
              </a:rPr>
              <a:t>Strategic stock was recognized in FY 2023/24.</a:t>
            </a:r>
          </a:p>
          <a:p>
            <a:pPr marL="720725" lvl="2" indent="-457200">
              <a:lnSpc>
                <a:spcPct val="170000"/>
              </a:lnSpc>
              <a:buFont typeface="Wingdings" panose="05000000000000000000" pitchFamily="2" charset="2"/>
              <a:buChar char="Ø"/>
            </a:pPr>
            <a:r>
              <a:rPr lang="en-US" sz="3200" dirty="0">
                <a:latin typeface="Tahoma" panose="020B0604030504040204" pitchFamily="34" charset="0"/>
                <a:ea typeface="Tahoma" panose="020B0604030504040204" pitchFamily="34" charset="0"/>
                <a:cs typeface="Tahoma" panose="020B0604030504040204" pitchFamily="34" charset="0"/>
              </a:rPr>
              <a:t>Legacy inventory shall be recognized under accrual basis in FY 2024/25 for the first time. Categories include Materials and Consumables.</a:t>
            </a:r>
          </a:p>
          <a:p>
            <a:pPr marL="720725" lvl="2" indent="-457200">
              <a:lnSpc>
                <a:spcPct val="170000"/>
              </a:lnSpc>
              <a:buFont typeface="Wingdings" panose="05000000000000000000" pitchFamily="2" charset="2"/>
              <a:buChar char="Ø"/>
            </a:pPr>
            <a:endParaRPr lang="en-GB" sz="3200" dirty="0">
              <a:latin typeface="Tahoma" panose="020B0604030504040204" pitchFamily="34" charset="0"/>
              <a:ea typeface="Tahoma" panose="020B0604030504040204" pitchFamily="34" charset="0"/>
              <a:cs typeface="Tahoma" panose="020B0604030504040204" pitchFamily="34" charset="0"/>
            </a:endParaRPr>
          </a:p>
          <a:p>
            <a:pPr marL="1177925" lvl="3" indent="-457200">
              <a:lnSpc>
                <a:spcPct val="170000"/>
              </a:lnSpc>
              <a:buFont typeface="Wingdings" panose="05000000000000000000" pitchFamily="2" charset="2"/>
              <a:buChar char="Ø"/>
            </a:pPr>
            <a:endParaRPr lang="en-GB" sz="3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15016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F1568F61-1F17-9EF4-6108-4B6CBB7BC57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258403-6F84-BB9F-E4E8-C97B0682C36C}"/>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29</a:t>
            </a:fld>
            <a:endParaRPr lang="en-GB" dirty="0"/>
          </a:p>
        </p:txBody>
      </p:sp>
      <p:sp>
        <p:nvSpPr>
          <p:cNvPr id="3" name="Google Shape;570;p59">
            <a:extLst>
              <a:ext uri="{FF2B5EF4-FFF2-40B4-BE49-F238E27FC236}">
                <a16:creationId xmlns:a16="http://schemas.microsoft.com/office/drawing/2014/main" id="{78B29715-1DD5-85FC-431D-E4796D1D9E80}"/>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Recognition of Legacy Inventory</a:t>
            </a:r>
          </a:p>
        </p:txBody>
      </p:sp>
      <p:sp>
        <p:nvSpPr>
          <p:cNvPr id="5" name="Rectangle 3">
            <a:extLst>
              <a:ext uri="{FF2B5EF4-FFF2-40B4-BE49-F238E27FC236}">
                <a16:creationId xmlns:a16="http://schemas.microsoft.com/office/drawing/2014/main" id="{AFA53B56-3951-1774-D190-2DA6DA05004E}"/>
              </a:ext>
            </a:extLst>
          </p:cNvPr>
          <p:cNvSpPr txBox="1">
            <a:spLocks/>
          </p:cNvSpPr>
          <p:nvPr/>
        </p:nvSpPr>
        <p:spPr>
          <a:xfrm>
            <a:off x="139148" y="655513"/>
            <a:ext cx="11641860" cy="60709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3525" lvl="2" indent="0">
              <a:lnSpc>
                <a:spcPct val="170000"/>
              </a:lnSpc>
              <a:buNone/>
            </a:pPr>
            <a:r>
              <a:rPr lang="en-US" sz="2300" b="1" dirty="0">
                <a:latin typeface="Tahoma" panose="020B0604030504040204" pitchFamily="34" charset="0"/>
                <a:ea typeface="Tahoma" panose="020B0604030504040204" pitchFamily="34" charset="0"/>
                <a:cs typeface="Tahoma" panose="020B0604030504040204" pitchFamily="34" charset="0"/>
              </a:rPr>
              <a:t>Example</a:t>
            </a:r>
          </a:p>
          <a:p>
            <a:pPr marL="263525" lvl="2" indent="0">
              <a:lnSpc>
                <a:spcPct val="170000"/>
              </a:lnSpc>
              <a:buNone/>
            </a:pPr>
            <a:endParaRPr lang="en-GB" sz="2300" dirty="0">
              <a:latin typeface="Tahoma" panose="020B0604030504040204" pitchFamily="34" charset="0"/>
              <a:ea typeface="Tahoma" panose="020B0604030504040204" pitchFamily="34" charset="0"/>
              <a:cs typeface="Tahoma" panose="020B0604030504040204" pitchFamily="34" charset="0"/>
            </a:endParaRPr>
          </a:p>
          <a:p>
            <a:pPr marL="263525" lvl="2" indent="0">
              <a:lnSpc>
                <a:spcPct val="170000"/>
              </a:lnSpc>
              <a:buNone/>
            </a:pPr>
            <a:endParaRPr lang="en-GB" sz="2300" dirty="0">
              <a:latin typeface="Tahoma" panose="020B0604030504040204" pitchFamily="34" charset="0"/>
              <a:ea typeface="Tahoma" panose="020B0604030504040204" pitchFamily="34" charset="0"/>
              <a:cs typeface="Tahoma" panose="020B0604030504040204" pitchFamily="34" charset="0"/>
            </a:endParaRPr>
          </a:p>
          <a:p>
            <a:pPr marL="263525" lvl="2" indent="0">
              <a:lnSpc>
                <a:spcPct val="170000"/>
              </a:lnSpc>
              <a:buNone/>
            </a:pPr>
            <a:endParaRPr lang="en-GB" sz="2300" dirty="0">
              <a:latin typeface="Tahoma" panose="020B0604030504040204" pitchFamily="34" charset="0"/>
              <a:ea typeface="Tahoma" panose="020B0604030504040204" pitchFamily="34" charset="0"/>
              <a:cs typeface="Tahoma" panose="020B0604030504040204" pitchFamily="34" charset="0"/>
            </a:endParaRPr>
          </a:p>
          <a:p>
            <a:pPr marL="263525" lvl="2" indent="0">
              <a:lnSpc>
                <a:spcPct val="170000"/>
              </a:lnSpc>
              <a:buNone/>
            </a:pPr>
            <a:endParaRPr lang="en-GB" sz="2300" dirty="0">
              <a:latin typeface="Tahoma" panose="020B0604030504040204" pitchFamily="34" charset="0"/>
              <a:ea typeface="Tahoma" panose="020B0604030504040204" pitchFamily="34" charset="0"/>
              <a:cs typeface="Tahoma" panose="020B0604030504040204" pitchFamily="34" charset="0"/>
            </a:endParaRPr>
          </a:p>
          <a:p>
            <a:pPr marL="263525" lvl="2" indent="0">
              <a:lnSpc>
                <a:spcPct val="100000"/>
              </a:lnSpc>
              <a:buNone/>
            </a:pPr>
            <a:r>
              <a:rPr lang="en-GB" sz="2300" u="sng" dirty="0">
                <a:latin typeface="Tahoma" panose="020B0604030504040204" pitchFamily="34" charset="0"/>
                <a:ea typeface="Tahoma" panose="020B0604030504040204" pitchFamily="34" charset="0"/>
                <a:cs typeface="Tahoma" panose="020B0604030504040204" pitchFamily="34" charset="0"/>
              </a:rPr>
              <a:t>Recognition of Legacy Inventory</a:t>
            </a:r>
          </a:p>
          <a:p>
            <a:pPr marL="263525" lvl="2" indent="0">
              <a:lnSpc>
                <a:spcPct val="100000"/>
              </a:lnSpc>
              <a:buNone/>
            </a:pPr>
            <a:r>
              <a:rPr lang="en-GB" sz="2300" dirty="0">
                <a:latin typeface="Tahoma" panose="020B0604030504040204" pitchFamily="34" charset="0"/>
                <a:ea typeface="Tahoma" panose="020B0604030504040204" pitchFamily="34" charset="0"/>
                <a:cs typeface="Tahoma" panose="020B0604030504040204" pitchFamily="34" charset="0"/>
              </a:rPr>
              <a:t>Dr: Inventory 			640</a:t>
            </a:r>
          </a:p>
          <a:p>
            <a:pPr marL="263525" lvl="2" indent="0">
              <a:lnSpc>
                <a:spcPct val="100000"/>
              </a:lnSpc>
              <a:buNone/>
            </a:pPr>
            <a:r>
              <a:rPr lang="en-GB" sz="2300" dirty="0">
                <a:latin typeface="Tahoma" panose="020B0604030504040204" pitchFamily="34" charset="0"/>
                <a:ea typeface="Tahoma" panose="020B0604030504040204" pitchFamily="34" charset="0"/>
                <a:cs typeface="Tahoma" panose="020B0604030504040204" pitchFamily="34" charset="0"/>
              </a:rPr>
              <a:t>Cr: Opening Bal Inventory 		640</a:t>
            </a:r>
          </a:p>
          <a:p>
            <a:pPr marL="263525" lvl="2" indent="0">
              <a:lnSpc>
                <a:spcPct val="170000"/>
              </a:lnSpc>
              <a:buNone/>
            </a:pPr>
            <a:r>
              <a:rPr lang="en-GB" sz="2300" u="sng" dirty="0">
                <a:latin typeface="Tahoma" panose="020B0604030504040204" pitchFamily="34" charset="0"/>
                <a:ea typeface="Tahoma" panose="020B0604030504040204" pitchFamily="34" charset="0"/>
                <a:cs typeface="Tahoma" panose="020B0604030504040204" pitchFamily="34" charset="0"/>
              </a:rPr>
              <a:t>Reversal of expensed inventory</a:t>
            </a:r>
          </a:p>
          <a:p>
            <a:pPr marL="263525" lvl="2" indent="0">
              <a:lnSpc>
                <a:spcPct val="100000"/>
              </a:lnSpc>
              <a:buNone/>
            </a:pPr>
            <a:r>
              <a:rPr lang="en-GB" sz="2300" dirty="0">
                <a:latin typeface="Tahoma" panose="020B0604030504040204" pitchFamily="34" charset="0"/>
                <a:ea typeface="Tahoma" panose="020B0604030504040204" pitchFamily="34" charset="0"/>
                <a:cs typeface="Tahoma" panose="020B0604030504040204" pitchFamily="34" charset="0"/>
              </a:rPr>
              <a:t>Dr: Opening </a:t>
            </a:r>
            <a:r>
              <a:rPr lang="en-GB" sz="2300" dirty="0" err="1">
                <a:latin typeface="Tahoma" panose="020B0604030504040204" pitchFamily="34" charset="0"/>
                <a:ea typeface="Tahoma" panose="020B0604030504040204" pitchFamily="34" charset="0"/>
                <a:cs typeface="Tahoma" panose="020B0604030504040204" pitchFamily="34" charset="0"/>
              </a:rPr>
              <a:t>bal</a:t>
            </a:r>
            <a:r>
              <a:rPr lang="en-GB" sz="2300" dirty="0">
                <a:latin typeface="Tahoma" panose="020B0604030504040204" pitchFamily="34" charset="0"/>
                <a:ea typeface="Tahoma" panose="020B0604030504040204" pitchFamily="34" charset="0"/>
                <a:cs typeface="Tahoma" panose="020B0604030504040204" pitchFamily="34" charset="0"/>
              </a:rPr>
              <a:t> inventory 	240</a:t>
            </a:r>
          </a:p>
          <a:p>
            <a:pPr marL="263525" lvl="2" indent="0">
              <a:lnSpc>
                <a:spcPct val="100000"/>
              </a:lnSpc>
              <a:buNone/>
            </a:pPr>
            <a:r>
              <a:rPr lang="en-GB" sz="2300" dirty="0">
                <a:latin typeface="Tahoma" panose="020B0604030504040204" pitchFamily="34" charset="0"/>
                <a:ea typeface="Tahoma" panose="020B0604030504040204" pitchFamily="34" charset="0"/>
                <a:cs typeface="Tahoma" panose="020B0604030504040204" pitchFamily="34" charset="0"/>
              </a:rPr>
              <a:t>CR: Relevant Expense line			240</a:t>
            </a:r>
          </a:p>
        </p:txBody>
      </p:sp>
      <p:graphicFrame>
        <p:nvGraphicFramePr>
          <p:cNvPr id="7" name="Table 6">
            <a:extLst>
              <a:ext uri="{FF2B5EF4-FFF2-40B4-BE49-F238E27FC236}">
                <a16:creationId xmlns:a16="http://schemas.microsoft.com/office/drawing/2014/main" id="{AEA84814-B91C-CF86-14F2-74652B666714}"/>
              </a:ext>
            </a:extLst>
          </p:cNvPr>
          <p:cNvGraphicFramePr>
            <a:graphicFrameLocks noGrp="1"/>
          </p:cNvGraphicFramePr>
          <p:nvPr>
            <p:extLst>
              <p:ext uri="{D42A27DB-BD31-4B8C-83A1-F6EECF244321}">
                <p14:modId xmlns:p14="http://schemas.microsoft.com/office/powerpoint/2010/main" val="2766492176"/>
              </p:ext>
            </p:extLst>
          </p:nvPr>
        </p:nvGraphicFramePr>
        <p:xfrm>
          <a:off x="410992" y="1407430"/>
          <a:ext cx="11227729" cy="2377440"/>
        </p:xfrm>
        <a:graphic>
          <a:graphicData uri="http://schemas.openxmlformats.org/drawingml/2006/table">
            <a:tbl>
              <a:tblPr/>
              <a:tblGrid>
                <a:gridCol w="3062108">
                  <a:extLst>
                    <a:ext uri="{9D8B030D-6E8A-4147-A177-3AD203B41FA5}">
                      <a16:colId xmlns:a16="http://schemas.microsoft.com/office/drawing/2014/main" val="1222642343"/>
                    </a:ext>
                  </a:extLst>
                </a:gridCol>
                <a:gridCol w="1212084">
                  <a:extLst>
                    <a:ext uri="{9D8B030D-6E8A-4147-A177-3AD203B41FA5}">
                      <a16:colId xmlns:a16="http://schemas.microsoft.com/office/drawing/2014/main" val="487901569"/>
                    </a:ext>
                  </a:extLst>
                </a:gridCol>
                <a:gridCol w="3955223">
                  <a:extLst>
                    <a:ext uri="{9D8B030D-6E8A-4147-A177-3AD203B41FA5}">
                      <a16:colId xmlns:a16="http://schemas.microsoft.com/office/drawing/2014/main" val="1596612847"/>
                    </a:ext>
                  </a:extLst>
                </a:gridCol>
                <a:gridCol w="1275878">
                  <a:extLst>
                    <a:ext uri="{9D8B030D-6E8A-4147-A177-3AD203B41FA5}">
                      <a16:colId xmlns:a16="http://schemas.microsoft.com/office/drawing/2014/main" val="467797402"/>
                    </a:ext>
                  </a:extLst>
                </a:gridCol>
                <a:gridCol w="1722436">
                  <a:extLst>
                    <a:ext uri="{9D8B030D-6E8A-4147-A177-3AD203B41FA5}">
                      <a16:colId xmlns:a16="http://schemas.microsoft.com/office/drawing/2014/main" val="4091859246"/>
                    </a:ext>
                  </a:extLst>
                </a:gridCol>
              </a:tblGrid>
              <a:tr h="297180">
                <a:tc>
                  <a:txBody>
                    <a:bodyPr/>
                    <a:lstStyle/>
                    <a:p>
                      <a:pPr algn="l" fontAlgn="b">
                        <a:buNone/>
                      </a:pPr>
                      <a:r>
                        <a:rPr lang="en-GB" sz="1800" b="1" i="0" u="none" strike="noStrike" dirty="0">
                          <a:solidFill>
                            <a:srgbClr val="000000"/>
                          </a:solidFill>
                          <a:effectLst/>
                          <a:latin typeface="Aptos Narrow" panose="020B0004020202020204" pitchFamily="34" charset="0"/>
                        </a:rPr>
                        <a:t>Stock as at 30</a:t>
                      </a:r>
                      <a:r>
                        <a:rPr lang="en-GB" sz="1800" b="1" i="0" u="none" strike="noStrike" baseline="30000" dirty="0">
                          <a:solidFill>
                            <a:srgbClr val="000000"/>
                          </a:solidFill>
                          <a:effectLst/>
                          <a:latin typeface="Aptos Narrow" panose="020B0004020202020204" pitchFamily="34" charset="0"/>
                        </a:rPr>
                        <a:t>th</a:t>
                      </a:r>
                      <a:r>
                        <a:rPr lang="en-GB" sz="1800" b="1" i="0" u="none" strike="noStrike" dirty="0">
                          <a:solidFill>
                            <a:srgbClr val="000000"/>
                          </a:solidFill>
                          <a:effectLst/>
                          <a:latin typeface="Aptos Narrow" panose="020B0004020202020204" pitchFamily="34" charset="0"/>
                        </a:rPr>
                        <a:t> June 2025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495859"/>
                  </a:ext>
                </a:extLst>
              </a:tr>
              <a:tr h="297180">
                <a:tc>
                  <a:txBody>
                    <a:bodyPr/>
                    <a:lstStyle/>
                    <a:p>
                      <a:pPr algn="l" fontAlgn="b">
                        <a:buNone/>
                      </a:pPr>
                      <a:r>
                        <a:rPr lang="en-GB" sz="1800" b="1" i="0" u="none" strike="noStrike" dirty="0">
                          <a:solidFill>
                            <a:srgbClr val="000000"/>
                          </a:solidFill>
                          <a:effectLst/>
                          <a:latin typeface="Aptos Narrow" panose="020B0004020202020204" pitchFamily="34" charset="0"/>
                        </a:rPr>
                        <a:t>Bin card name: Stapler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2144525"/>
                  </a:ext>
                </a:extLst>
              </a:tr>
              <a:tr h="297180">
                <a:tc>
                  <a:txBody>
                    <a:bodyPr/>
                    <a:lstStyle/>
                    <a:p>
                      <a:pPr algn="l" fontAlgn="b">
                        <a:buNone/>
                      </a:pPr>
                      <a:r>
                        <a:rPr lang="en-GB" sz="1800" b="1" i="0" u="none" strike="noStrike">
                          <a:solidFill>
                            <a:srgbClr val="000000"/>
                          </a:solidFill>
                          <a:effectLst/>
                          <a:latin typeface="Aptos Narrow" panose="020B0004020202020204" pitchFamily="34" charset="0"/>
                        </a:rPr>
                        <a:t>Unit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dirty="0">
                          <a:solidFill>
                            <a:srgbClr val="000000"/>
                          </a:solidFill>
                          <a:effectLst/>
                          <a:latin typeface="Aptos Narrow" panose="020B0004020202020204" pitchFamily="34" charset="0"/>
                        </a:rPr>
                        <a:t>Quantity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Aptos Narrow" panose="020B0004020202020204" pitchFamily="34" charset="0"/>
                        </a:rPr>
                        <a:t>Date of acquisition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dirty="0">
                          <a:solidFill>
                            <a:srgbClr val="000000"/>
                          </a:solidFill>
                          <a:effectLst/>
                          <a:latin typeface="Aptos Narrow" panose="020B0004020202020204" pitchFamily="34" charset="0"/>
                        </a:rPr>
                        <a:t>Unit Price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dirty="0">
                          <a:solidFill>
                            <a:srgbClr val="000000"/>
                          </a:solidFill>
                          <a:effectLst/>
                          <a:latin typeface="Aptos Narrow" panose="020B0004020202020204" pitchFamily="34" charset="0"/>
                        </a:rPr>
                        <a:t>Total Amount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2835886"/>
                  </a:ext>
                </a:extLst>
              </a:tr>
              <a:tr h="297180">
                <a:tc>
                  <a:txBody>
                    <a:bodyPr/>
                    <a:lstStyle/>
                    <a:p>
                      <a:pPr algn="l" fontAlgn="b">
                        <a:buNone/>
                      </a:pPr>
                      <a:r>
                        <a:rPr lang="en-GB" sz="1800" b="0" i="0" u="none" strike="noStrike">
                          <a:solidFill>
                            <a:srgbClr val="000000"/>
                          </a:solidFill>
                          <a:effectLst/>
                          <a:latin typeface="Aptos Narrow" panose="020B0004020202020204" pitchFamily="34" charset="0"/>
                        </a:rPr>
                        <a:t>Stapler 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0" i="0" u="none" strike="noStrike" dirty="0">
                          <a:solidFill>
                            <a:srgbClr val="000000"/>
                          </a:solidFill>
                          <a:effectLst/>
                          <a:latin typeface="Aptos Narrow" panose="020B000402020202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Aptos Narrow" panose="020B0004020202020204" pitchFamily="34" charset="0"/>
                        </a:rPr>
                        <a:t>30-Apr-24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0" i="0" u="none" strike="noStrike">
                          <a:solidFill>
                            <a:srgbClr val="000000"/>
                          </a:solidFill>
                          <a:effectLst/>
                          <a:latin typeface="Aptos Narrow" panose="020B0004020202020204" pitchFamily="34" charset="0"/>
                        </a:rPr>
                        <a:t>400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0" i="0" u="none" strike="noStrike" dirty="0">
                          <a:solidFill>
                            <a:srgbClr val="000000"/>
                          </a:solidFill>
                          <a:effectLst/>
                          <a:latin typeface="Aptos Narrow" panose="020B0004020202020204" pitchFamily="34" charset="0"/>
                        </a:rPr>
                        <a:t>                    400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4259257"/>
                  </a:ext>
                </a:extLst>
              </a:tr>
              <a:tr h="297180">
                <a:tc>
                  <a:txBody>
                    <a:bodyPr/>
                    <a:lstStyle/>
                    <a:p>
                      <a:pPr algn="l" fontAlgn="b">
                        <a:buNone/>
                      </a:pPr>
                      <a:r>
                        <a:rPr lang="en-GB" sz="1800" b="0" i="0" u="none" strike="noStrike" dirty="0">
                          <a:solidFill>
                            <a:srgbClr val="000000"/>
                          </a:solidFill>
                          <a:effectLst/>
                          <a:latin typeface="Aptos Narrow" panose="020B0004020202020204" pitchFamily="34" charset="0"/>
                        </a:rPr>
                        <a:t>Stapler 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0" i="0" u="none" strike="noStrike" dirty="0">
                          <a:solidFill>
                            <a:srgbClr val="000000"/>
                          </a:solidFill>
                          <a:effectLst/>
                          <a:latin typeface="Aptos Narrow" panose="020B000402020202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Aptos Narrow" panose="020B0004020202020204" pitchFamily="34" charset="0"/>
                        </a:rPr>
                        <a:t>20-Jun-25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0" i="0" u="none" strike="noStrike" dirty="0">
                          <a:solidFill>
                            <a:srgbClr val="000000"/>
                          </a:solidFill>
                          <a:effectLst/>
                          <a:latin typeface="Aptos Narrow" panose="020B0004020202020204" pitchFamily="34" charset="0"/>
                        </a:rPr>
                        <a:t>240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0" i="0" u="none" strike="noStrike" dirty="0">
                          <a:solidFill>
                            <a:srgbClr val="000000"/>
                          </a:solidFill>
                          <a:effectLst/>
                          <a:latin typeface="Aptos Narrow" panose="020B0004020202020204" pitchFamily="34" charset="0"/>
                        </a:rPr>
                        <a:t>                    240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33445917"/>
                  </a:ext>
                </a:extLst>
              </a:tr>
              <a:tr h="297180">
                <a:tc>
                  <a:txBody>
                    <a:bodyPr/>
                    <a:lstStyle/>
                    <a:p>
                      <a:pPr algn="l" fontAlgn="b">
                        <a:buNone/>
                      </a:pPr>
                      <a:r>
                        <a:rPr lang="en-GB" sz="1800" b="1" i="0" u="none" strike="noStrike" dirty="0">
                          <a:solidFill>
                            <a:srgbClr val="000000"/>
                          </a:solidFill>
                          <a:effectLst/>
                          <a:latin typeface="Aptos Narrow" panose="020B0004020202020204" pitchFamily="34" charset="0"/>
                        </a:rPr>
                        <a:t>Total as at 30 June 2025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dirty="0">
                          <a:solidFill>
                            <a:srgbClr val="000000"/>
                          </a:solidFill>
                          <a:effectLst/>
                          <a:latin typeface="Aptos Narrow" panose="020B000402020202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dirty="0">
                          <a:solidFill>
                            <a:srgbClr val="000000"/>
                          </a:solidFill>
                          <a:effectLst/>
                          <a:latin typeface="Aptos Narrow" panose="020B0004020202020204" pitchFamily="34" charset="0"/>
                        </a:rPr>
                        <a:t>                        640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3943638"/>
                  </a:ext>
                </a:extLst>
              </a:tr>
              <a:tr h="297180">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7775118"/>
                  </a:ext>
                </a:extLst>
              </a:tr>
              <a:tr h="297180">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Aptos Narrow" panose="020B0004020202020204" pitchFamily="34" charset="0"/>
                        </a:rPr>
                        <a:t>Weighted Average Price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GB" sz="1800" b="0" i="0" u="none" strike="noStrike" dirty="0">
                          <a:solidFill>
                            <a:srgbClr val="000000"/>
                          </a:solidFill>
                          <a:effectLst/>
                          <a:latin typeface="Aptos Narrow" panose="020B0004020202020204" pitchFamily="34" charset="0"/>
                        </a:rPr>
                        <a:t>                    320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4777673"/>
                  </a:ext>
                </a:extLst>
              </a:tr>
            </a:tbl>
          </a:graphicData>
        </a:graphic>
      </p:graphicFrame>
      <p:sp>
        <p:nvSpPr>
          <p:cNvPr id="8" name="TextBox 7">
            <a:extLst>
              <a:ext uri="{FF2B5EF4-FFF2-40B4-BE49-F238E27FC236}">
                <a16:creationId xmlns:a16="http://schemas.microsoft.com/office/drawing/2014/main" id="{2DA36C31-63A2-77B8-4D3A-002492E57532}"/>
              </a:ext>
            </a:extLst>
          </p:cNvPr>
          <p:cNvSpPr txBox="1"/>
          <p:nvPr/>
        </p:nvSpPr>
        <p:spPr>
          <a:xfrm>
            <a:off x="6233472" y="5450570"/>
            <a:ext cx="4005470" cy="1200329"/>
          </a:xfrm>
          <a:prstGeom prst="rect">
            <a:avLst/>
          </a:prstGeom>
          <a:noFill/>
          <a:ln>
            <a:solidFill>
              <a:srgbClr val="00B0F0"/>
            </a:solidFill>
          </a:ln>
        </p:spPr>
        <p:txBody>
          <a:bodyPr wrap="square" rtlCol="0">
            <a:spAutoFit/>
          </a:bodyPr>
          <a:lstStyle/>
          <a:p>
            <a:r>
              <a:rPr lang="en-GB" dirty="0"/>
              <a:t>Since Stapler 3 was already expensed in FY 2024/25 and has now been recognized as an asset (inventory), the expenditure is reversed.</a:t>
            </a:r>
          </a:p>
        </p:txBody>
      </p:sp>
    </p:spTree>
    <p:extLst>
      <p:ext uri="{BB962C8B-B14F-4D97-AF65-F5344CB8AC3E}">
        <p14:creationId xmlns:p14="http://schemas.microsoft.com/office/powerpoint/2010/main" val="2848007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F4F5C7F3-434F-5F0E-516E-CB05EEE3281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6C604C-3CDD-1234-B811-98CDBBC52ECE}"/>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30</a:t>
            </a:fld>
            <a:endParaRPr lang="en-GB" dirty="0"/>
          </a:p>
        </p:txBody>
      </p:sp>
      <p:sp>
        <p:nvSpPr>
          <p:cNvPr id="3" name="Google Shape;570;p59">
            <a:extLst>
              <a:ext uri="{FF2B5EF4-FFF2-40B4-BE49-F238E27FC236}">
                <a16:creationId xmlns:a16="http://schemas.microsoft.com/office/drawing/2014/main" id="{DEE3AF2E-8D47-1AC8-E6FD-35185FE987AC}"/>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sz="4000" dirty="0">
                <a:solidFill>
                  <a:srgbClr val="FF6319"/>
                </a:solidFill>
              </a:rPr>
              <a:t>Practical Sessions-IFMIS Demo</a:t>
            </a:r>
          </a:p>
        </p:txBody>
      </p:sp>
      <p:sp>
        <p:nvSpPr>
          <p:cNvPr id="4" name="Rectangle 3">
            <a:extLst>
              <a:ext uri="{FF2B5EF4-FFF2-40B4-BE49-F238E27FC236}">
                <a16:creationId xmlns:a16="http://schemas.microsoft.com/office/drawing/2014/main" id="{34441F79-29FB-1351-D61E-5C81D477E979}"/>
              </a:ext>
            </a:extLst>
          </p:cNvPr>
          <p:cNvSpPr txBox="1">
            <a:spLocks/>
          </p:cNvSpPr>
          <p:nvPr/>
        </p:nvSpPr>
        <p:spPr>
          <a:xfrm>
            <a:off x="625389" y="1538412"/>
            <a:ext cx="11221720" cy="5029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Helvetica bold"/>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bold"/>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bold"/>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bold"/>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76325" lvl="0" indent="-538163" algn="just">
              <a:lnSpc>
                <a:spcPct val="170000"/>
              </a:lnSpc>
              <a:buFont typeface="Wingdings" panose="05000000000000000000" pitchFamily="2" charset="2"/>
              <a:buChar char="q"/>
            </a:pPr>
            <a:r>
              <a:rPr lang="en-US" sz="3000" dirty="0">
                <a:latin typeface="Tahoma" panose="020B0604030504040204" pitchFamily="34" charset="0"/>
                <a:ea typeface="Tahoma" panose="020B0604030504040204" pitchFamily="34" charset="0"/>
                <a:cs typeface="Tahoma" panose="020B0604030504040204" pitchFamily="34" charset="0"/>
              </a:rPr>
              <a:t>Recognition of Legacy Assets in asset register</a:t>
            </a:r>
          </a:p>
          <a:p>
            <a:pPr marL="1076325" lvl="0" indent="-538163" algn="just">
              <a:lnSpc>
                <a:spcPct val="170000"/>
              </a:lnSpc>
              <a:buFont typeface="Wingdings" panose="05000000000000000000" pitchFamily="2" charset="2"/>
              <a:buChar char="q"/>
            </a:pPr>
            <a:r>
              <a:rPr lang="en-US" sz="3000" dirty="0">
                <a:latin typeface="Tahoma" panose="020B0604030504040204" pitchFamily="34" charset="0"/>
                <a:ea typeface="Tahoma" panose="020B0604030504040204" pitchFamily="34" charset="0"/>
                <a:cs typeface="Tahoma" panose="020B0604030504040204" pitchFamily="34" charset="0"/>
              </a:rPr>
              <a:t>Recognition of newly acquired non-current assets</a:t>
            </a:r>
          </a:p>
          <a:p>
            <a:pPr marL="1076325" indent="-538163" algn="just">
              <a:lnSpc>
                <a:spcPct val="170000"/>
              </a:lnSpc>
              <a:buFont typeface="Wingdings" panose="05000000000000000000" pitchFamily="2" charset="2"/>
              <a:buChar char="q"/>
            </a:pPr>
            <a:r>
              <a:rPr lang="en-US" sz="3000" dirty="0">
                <a:latin typeface="Tahoma" panose="020B0604030504040204" pitchFamily="34" charset="0"/>
                <a:ea typeface="Tahoma" panose="020B0604030504040204" pitchFamily="34" charset="0"/>
                <a:cs typeface="Tahoma" panose="020B0604030504040204" pitchFamily="34" charset="0"/>
              </a:rPr>
              <a:t>Recognition on Legacy Inventory</a:t>
            </a:r>
          </a:p>
        </p:txBody>
      </p:sp>
    </p:spTree>
    <p:extLst>
      <p:ext uri="{BB962C8B-B14F-4D97-AF65-F5344CB8AC3E}">
        <p14:creationId xmlns:p14="http://schemas.microsoft.com/office/powerpoint/2010/main" val="3210459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365EE125-57C0-99C7-282B-19D05786E1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22A4-E19E-598A-133F-A038C2F5F3D2}"/>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31</a:t>
            </a:fld>
            <a:endParaRPr lang="en-GB" dirty="0"/>
          </a:p>
        </p:txBody>
      </p:sp>
      <p:sp>
        <p:nvSpPr>
          <p:cNvPr id="3" name="Google Shape;570;p59">
            <a:extLst>
              <a:ext uri="{FF2B5EF4-FFF2-40B4-BE49-F238E27FC236}">
                <a16:creationId xmlns:a16="http://schemas.microsoft.com/office/drawing/2014/main" id="{6ABFAE38-82FD-A335-6B73-CE4381E0E4A4}"/>
              </a:ext>
            </a:extLst>
          </p:cNvPr>
          <p:cNvSpPr txBox="1">
            <a:spLocks noGrp="1"/>
          </p:cNvSpPr>
          <p:nvPr>
            <p:ph type="title"/>
          </p:nvPr>
        </p:nvSpPr>
        <p:spPr>
          <a:xfrm>
            <a:off x="1107168" y="2771299"/>
            <a:ext cx="11084832" cy="868362"/>
          </a:xfrm>
          <a:prstGeom prst="rect">
            <a:avLst/>
          </a:prstGeom>
          <a:noFill/>
          <a:ln>
            <a:noFill/>
          </a:ln>
        </p:spPr>
        <p:txBody>
          <a:bodyPr spcFirstLastPara="1" vert="horz" wrap="square" lIns="91425" tIns="45700" rIns="91425" bIns="45700" rtlCol="0" anchor="b" anchorCtr="0">
            <a:noAutofit/>
          </a:bodyPr>
          <a:lstStyle/>
          <a:p>
            <a:pPr marL="538162" algn="just">
              <a:lnSpc>
                <a:spcPct val="170000"/>
              </a:lnSpc>
            </a:pPr>
            <a:r>
              <a:rPr lang="en-US" sz="4000" dirty="0">
                <a:solidFill>
                  <a:srgbClr val="FF6319"/>
                </a:solidFill>
              </a:rPr>
              <a:t>Year end closing procedures</a:t>
            </a:r>
          </a:p>
        </p:txBody>
      </p:sp>
    </p:spTree>
    <p:extLst>
      <p:ext uri="{BB962C8B-B14F-4D97-AF65-F5344CB8AC3E}">
        <p14:creationId xmlns:p14="http://schemas.microsoft.com/office/powerpoint/2010/main" val="487876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07C92689-F65D-4E9D-3869-778B59DC7B8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64824A-0B25-9C25-5AA4-5BFEA880467A}"/>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32</a:t>
            </a:fld>
            <a:endParaRPr lang="en-GB" dirty="0"/>
          </a:p>
        </p:txBody>
      </p:sp>
      <p:sp>
        <p:nvSpPr>
          <p:cNvPr id="3" name="Google Shape;570;p59">
            <a:extLst>
              <a:ext uri="{FF2B5EF4-FFF2-40B4-BE49-F238E27FC236}">
                <a16:creationId xmlns:a16="http://schemas.microsoft.com/office/drawing/2014/main" id="{F322A1C6-1FBC-BAA9-D6CD-913EE2DD51CA}"/>
              </a:ext>
            </a:extLst>
          </p:cNvPr>
          <p:cNvSpPr txBox="1">
            <a:spLocks noGrp="1"/>
          </p:cNvSpPr>
          <p:nvPr>
            <p:ph type="title"/>
          </p:nvPr>
        </p:nvSpPr>
        <p:spPr>
          <a:xfrm>
            <a:off x="1274193" y="-81276"/>
            <a:ext cx="10623167" cy="868362"/>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2600"/>
            </a:pPr>
            <a:r>
              <a:rPr lang="en-GB" dirty="0">
                <a:solidFill>
                  <a:srgbClr val="FF6319"/>
                </a:solidFill>
              </a:rPr>
              <a:t>Overview of FY 2024/25 YECPs</a:t>
            </a:r>
          </a:p>
        </p:txBody>
      </p:sp>
      <p:sp>
        <p:nvSpPr>
          <p:cNvPr id="5" name="Block Arc 4">
            <a:extLst>
              <a:ext uri="{FF2B5EF4-FFF2-40B4-BE49-F238E27FC236}">
                <a16:creationId xmlns:a16="http://schemas.microsoft.com/office/drawing/2014/main" id="{D09CC5A7-DEA2-5DFC-44CA-16DE22A0647C}"/>
              </a:ext>
            </a:extLst>
          </p:cNvPr>
          <p:cNvSpPr/>
          <p:nvPr/>
        </p:nvSpPr>
        <p:spPr>
          <a:xfrm rot="10800000">
            <a:off x="5190532" y="0"/>
            <a:ext cx="7122831" cy="7122831"/>
          </a:xfrm>
          <a:prstGeom prst="blockArc">
            <a:avLst>
              <a:gd name="adj1" fmla="val 18900000"/>
              <a:gd name="adj2" fmla="val 2700000"/>
              <a:gd name="adj3" fmla="val 303"/>
            </a:avLst>
          </a:prstGeom>
          <a:ln>
            <a:solidFill>
              <a:schemeClr val="accent1"/>
            </a:solidFill>
          </a:ln>
        </p:spPr>
        <p:style>
          <a:lnRef idx="2">
            <a:schemeClr val="accent5">
              <a:hueOff val="0"/>
              <a:satOff val="0"/>
              <a:lumOff val="0"/>
              <a:alphaOff val="0"/>
            </a:schemeClr>
          </a:lnRef>
          <a:fillRef idx="0">
            <a:schemeClr val="accent4">
              <a:tint val="90000"/>
              <a:hueOff val="0"/>
              <a:satOff val="0"/>
              <a:lumOff val="0"/>
              <a:alphaOff val="0"/>
            </a:schemeClr>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7" name="Block Arc 6">
            <a:extLst>
              <a:ext uri="{FF2B5EF4-FFF2-40B4-BE49-F238E27FC236}">
                <a16:creationId xmlns:a16="http://schemas.microsoft.com/office/drawing/2014/main" id="{5C740B4E-E2EB-628F-DE40-DBDDAC4CEE66}"/>
              </a:ext>
            </a:extLst>
          </p:cNvPr>
          <p:cNvSpPr/>
          <p:nvPr/>
        </p:nvSpPr>
        <p:spPr>
          <a:xfrm>
            <a:off x="-289385" y="1"/>
            <a:ext cx="7122831" cy="7122831"/>
          </a:xfrm>
          <a:prstGeom prst="blockArc">
            <a:avLst>
              <a:gd name="adj1" fmla="val 18900000"/>
              <a:gd name="adj2" fmla="val 2700000"/>
              <a:gd name="adj3" fmla="val 303"/>
            </a:avLst>
          </a:prstGeom>
          <a:ln>
            <a:solidFill>
              <a:schemeClr val="accent1"/>
            </a:solidFill>
          </a:ln>
        </p:spPr>
        <p:style>
          <a:lnRef idx="2">
            <a:schemeClr val="accent5">
              <a:hueOff val="0"/>
              <a:satOff val="0"/>
              <a:lumOff val="0"/>
              <a:alphaOff val="0"/>
            </a:schemeClr>
          </a:lnRef>
          <a:fillRef idx="0">
            <a:schemeClr val="accent4">
              <a:tint val="90000"/>
              <a:hueOff val="0"/>
              <a:satOff val="0"/>
              <a:lumOff val="0"/>
              <a:alphaOff val="0"/>
            </a:schemeClr>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5" name="Oval 14">
            <a:extLst>
              <a:ext uri="{FF2B5EF4-FFF2-40B4-BE49-F238E27FC236}">
                <a16:creationId xmlns:a16="http://schemas.microsoft.com/office/drawing/2014/main" id="{AF36E89A-CF16-B952-69E5-DF4A241082CB}"/>
              </a:ext>
            </a:extLst>
          </p:cNvPr>
          <p:cNvSpPr/>
          <p:nvPr/>
        </p:nvSpPr>
        <p:spPr>
          <a:xfrm>
            <a:off x="4949633" y="1946877"/>
            <a:ext cx="827091" cy="827091"/>
          </a:xfrm>
          <a:prstGeom prst="ellipse">
            <a:avLst/>
          </a:prstGeom>
          <a:ln>
            <a:solidFill>
              <a:srgbClr val="0070C0"/>
            </a:solidFill>
          </a:ln>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7" name="Oval 16">
            <a:extLst>
              <a:ext uri="{FF2B5EF4-FFF2-40B4-BE49-F238E27FC236}">
                <a16:creationId xmlns:a16="http://schemas.microsoft.com/office/drawing/2014/main" id="{877E4DF9-C32D-AC96-7864-B0E897A5D721}"/>
              </a:ext>
            </a:extLst>
          </p:cNvPr>
          <p:cNvSpPr/>
          <p:nvPr/>
        </p:nvSpPr>
        <p:spPr>
          <a:xfrm>
            <a:off x="5559415" y="5220069"/>
            <a:ext cx="827091" cy="827091"/>
          </a:xfrm>
          <a:prstGeom prst="ellipse">
            <a:avLst/>
          </a:prstGeom>
          <a:ln>
            <a:solidFill>
              <a:srgbClr val="0070C0"/>
            </a:solidFill>
          </a:ln>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8" name="Oval 17">
            <a:extLst>
              <a:ext uri="{FF2B5EF4-FFF2-40B4-BE49-F238E27FC236}">
                <a16:creationId xmlns:a16="http://schemas.microsoft.com/office/drawing/2014/main" id="{FCFC3F6F-5485-4B38-6D8D-B50BCAA6AD78}"/>
              </a:ext>
            </a:extLst>
          </p:cNvPr>
          <p:cNvSpPr/>
          <p:nvPr/>
        </p:nvSpPr>
        <p:spPr>
          <a:xfrm>
            <a:off x="6194052" y="4421349"/>
            <a:ext cx="827091" cy="827091"/>
          </a:xfrm>
          <a:prstGeom prst="ellipse">
            <a:avLst/>
          </a:prstGeom>
          <a:ln>
            <a:solidFill>
              <a:srgbClr val="00B0F0"/>
            </a:solidFill>
          </a:ln>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9" name="Oval 18">
            <a:extLst>
              <a:ext uri="{FF2B5EF4-FFF2-40B4-BE49-F238E27FC236}">
                <a16:creationId xmlns:a16="http://schemas.microsoft.com/office/drawing/2014/main" id="{65BB0E51-894C-BF8B-6A19-3601F7991043}"/>
              </a:ext>
            </a:extLst>
          </p:cNvPr>
          <p:cNvSpPr/>
          <p:nvPr/>
        </p:nvSpPr>
        <p:spPr>
          <a:xfrm>
            <a:off x="4758765" y="3198271"/>
            <a:ext cx="827091" cy="827091"/>
          </a:xfrm>
          <a:prstGeom prst="ellipse">
            <a:avLst/>
          </a:prstGeom>
          <a:ln>
            <a:solidFill>
              <a:srgbClr val="0070C0"/>
            </a:solidFill>
          </a:ln>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20" name="Oval 19">
            <a:extLst>
              <a:ext uri="{FF2B5EF4-FFF2-40B4-BE49-F238E27FC236}">
                <a16:creationId xmlns:a16="http://schemas.microsoft.com/office/drawing/2014/main" id="{A554AB8D-55DA-9E3C-9634-D98DA9BDA39E}"/>
              </a:ext>
            </a:extLst>
          </p:cNvPr>
          <p:cNvSpPr/>
          <p:nvPr/>
        </p:nvSpPr>
        <p:spPr>
          <a:xfrm>
            <a:off x="6320917" y="2009054"/>
            <a:ext cx="827091" cy="827091"/>
          </a:xfrm>
          <a:prstGeom prst="ellipse">
            <a:avLst/>
          </a:prstGeom>
          <a:ln>
            <a:solidFill>
              <a:srgbClr val="00B0F0"/>
            </a:solidFill>
          </a:ln>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22" name="Oval 21">
            <a:extLst>
              <a:ext uri="{FF2B5EF4-FFF2-40B4-BE49-F238E27FC236}">
                <a16:creationId xmlns:a16="http://schemas.microsoft.com/office/drawing/2014/main" id="{9BCFE6E1-4249-0A4A-5663-2CA5DC4693BC}"/>
              </a:ext>
            </a:extLst>
          </p:cNvPr>
          <p:cNvSpPr/>
          <p:nvPr/>
        </p:nvSpPr>
        <p:spPr>
          <a:xfrm>
            <a:off x="6404291" y="3291765"/>
            <a:ext cx="827091" cy="827091"/>
          </a:xfrm>
          <a:prstGeom prst="ellipse">
            <a:avLst/>
          </a:prstGeom>
          <a:ln>
            <a:solidFill>
              <a:srgbClr val="00B0F0"/>
            </a:solidFill>
          </a:ln>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6" name="TextBox 5">
            <a:extLst>
              <a:ext uri="{FF2B5EF4-FFF2-40B4-BE49-F238E27FC236}">
                <a16:creationId xmlns:a16="http://schemas.microsoft.com/office/drawing/2014/main" id="{032A8C1F-6859-E764-A793-F27642426022}"/>
              </a:ext>
            </a:extLst>
          </p:cNvPr>
          <p:cNvSpPr txBox="1"/>
          <p:nvPr/>
        </p:nvSpPr>
        <p:spPr>
          <a:xfrm>
            <a:off x="5191285" y="2175756"/>
            <a:ext cx="301686" cy="369332"/>
          </a:xfrm>
          <a:prstGeom prst="rect">
            <a:avLst/>
          </a:prstGeom>
          <a:noFill/>
        </p:spPr>
        <p:txBody>
          <a:bodyPr wrap="none" rtlCol="0">
            <a:spAutoFit/>
          </a:bodyPr>
          <a:lstStyle/>
          <a:p>
            <a:r>
              <a:rPr lang="en-GB" dirty="0"/>
              <a:t>1</a:t>
            </a:r>
          </a:p>
        </p:txBody>
      </p:sp>
      <p:sp>
        <p:nvSpPr>
          <p:cNvPr id="8" name="TextBox 7">
            <a:extLst>
              <a:ext uri="{FF2B5EF4-FFF2-40B4-BE49-F238E27FC236}">
                <a16:creationId xmlns:a16="http://schemas.microsoft.com/office/drawing/2014/main" id="{77E93D4A-ADF7-79F8-1E82-34A4215FF438}"/>
              </a:ext>
            </a:extLst>
          </p:cNvPr>
          <p:cNvSpPr txBox="1"/>
          <p:nvPr/>
        </p:nvSpPr>
        <p:spPr>
          <a:xfrm>
            <a:off x="5021467" y="3427150"/>
            <a:ext cx="301686" cy="369332"/>
          </a:xfrm>
          <a:prstGeom prst="rect">
            <a:avLst/>
          </a:prstGeom>
          <a:noFill/>
        </p:spPr>
        <p:txBody>
          <a:bodyPr wrap="none" rtlCol="0">
            <a:spAutoFit/>
          </a:bodyPr>
          <a:lstStyle/>
          <a:p>
            <a:r>
              <a:rPr lang="en-GB" dirty="0"/>
              <a:t>2</a:t>
            </a:r>
          </a:p>
        </p:txBody>
      </p:sp>
      <p:sp>
        <p:nvSpPr>
          <p:cNvPr id="10" name="TextBox 9">
            <a:extLst>
              <a:ext uri="{FF2B5EF4-FFF2-40B4-BE49-F238E27FC236}">
                <a16:creationId xmlns:a16="http://schemas.microsoft.com/office/drawing/2014/main" id="{403124EA-1AD9-2BE2-F64B-8962997E977B}"/>
              </a:ext>
            </a:extLst>
          </p:cNvPr>
          <p:cNvSpPr txBox="1"/>
          <p:nvPr/>
        </p:nvSpPr>
        <p:spPr>
          <a:xfrm>
            <a:off x="5822117" y="5409149"/>
            <a:ext cx="301686" cy="369332"/>
          </a:xfrm>
          <a:prstGeom prst="rect">
            <a:avLst/>
          </a:prstGeom>
          <a:noFill/>
        </p:spPr>
        <p:txBody>
          <a:bodyPr wrap="none" rtlCol="0">
            <a:spAutoFit/>
          </a:bodyPr>
          <a:lstStyle/>
          <a:p>
            <a:r>
              <a:rPr lang="en-GB" dirty="0"/>
              <a:t>4</a:t>
            </a:r>
          </a:p>
        </p:txBody>
      </p:sp>
      <p:sp>
        <p:nvSpPr>
          <p:cNvPr id="11" name="TextBox 10">
            <a:extLst>
              <a:ext uri="{FF2B5EF4-FFF2-40B4-BE49-F238E27FC236}">
                <a16:creationId xmlns:a16="http://schemas.microsoft.com/office/drawing/2014/main" id="{8C09DE78-D60C-AD29-1F9E-A36FFBBDCDFB}"/>
              </a:ext>
            </a:extLst>
          </p:cNvPr>
          <p:cNvSpPr txBox="1"/>
          <p:nvPr/>
        </p:nvSpPr>
        <p:spPr>
          <a:xfrm>
            <a:off x="6462250" y="4625918"/>
            <a:ext cx="301686" cy="369332"/>
          </a:xfrm>
          <a:prstGeom prst="rect">
            <a:avLst/>
          </a:prstGeom>
          <a:noFill/>
        </p:spPr>
        <p:txBody>
          <a:bodyPr wrap="none" rtlCol="0">
            <a:spAutoFit/>
          </a:bodyPr>
          <a:lstStyle/>
          <a:p>
            <a:r>
              <a:rPr lang="en-GB" dirty="0"/>
              <a:t>5</a:t>
            </a:r>
          </a:p>
        </p:txBody>
      </p:sp>
      <p:sp>
        <p:nvSpPr>
          <p:cNvPr id="23" name="TextBox 22">
            <a:extLst>
              <a:ext uri="{FF2B5EF4-FFF2-40B4-BE49-F238E27FC236}">
                <a16:creationId xmlns:a16="http://schemas.microsoft.com/office/drawing/2014/main" id="{29DB9578-D25A-1EE4-ADBF-9F577C731E08}"/>
              </a:ext>
            </a:extLst>
          </p:cNvPr>
          <p:cNvSpPr txBox="1"/>
          <p:nvPr/>
        </p:nvSpPr>
        <p:spPr>
          <a:xfrm>
            <a:off x="6700825" y="3520643"/>
            <a:ext cx="301686" cy="369332"/>
          </a:xfrm>
          <a:prstGeom prst="rect">
            <a:avLst/>
          </a:prstGeom>
          <a:noFill/>
        </p:spPr>
        <p:txBody>
          <a:bodyPr wrap="none" rtlCol="0">
            <a:spAutoFit/>
          </a:bodyPr>
          <a:lstStyle/>
          <a:p>
            <a:r>
              <a:rPr lang="en-GB" dirty="0"/>
              <a:t>6</a:t>
            </a:r>
          </a:p>
        </p:txBody>
      </p:sp>
      <p:sp>
        <p:nvSpPr>
          <p:cNvPr id="24" name="TextBox 23">
            <a:extLst>
              <a:ext uri="{FF2B5EF4-FFF2-40B4-BE49-F238E27FC236}">
                <a16:creationId xmlns:a16="http://schemas.microsoft.com/office/drawing/2014/main" id="{D4D9BEFE-812A-74B3-DE2D-1412785BAC47}"/>
              </a:ext>
            </a:extLst>
          </p:cNvPr>
          <p:cNvSpPr txBox="1"/>
          <p:nvPr/>
        </p:nvSpPr>
        <p:spPr>
          <a:xfrm>
            <a:off x="6607598" y="2236117"/>
            <a:ext cx="262291" cy="369332"/>
          </a:xfrm>
          <a:prstGeom prst="rect">
            <a:avLst/>
          </a:prstGeom>
          <a:noFill/>
        </p:spPr>
        <p:txBody>
          <a:bodyPr wrap="square" rtlCol="0">
            <a:spAutoFit/>
          </a:bodyPr>
          <a:lstStyle/>
          <a:p>
            <a:r>
              <a:rPr lang="en-GB" dirty="0"/>
              <a:t>7</a:t>
            </a:r>
          </a:p>
        </p:txBody>
      </p:sp>
      <p:sp>
        <p:nvSpPr>
          <p:cNvPr id="27" name="TextBox 26">
            <a:extLst>
              <a:ext uri="{FF2B5EF4-FFF2-40B4-BE49-F238E27FC236}">
                <a16:creationId xmlns:a16="http://schemas.microsoft.com/office/drawing/2014/main" id="{4CB9112A-FF62-E22D-AD93-78705A9B4CE4}"/>
              </a:ext>
            </a:extLst>
          </p:cNvPr>
          <p:cNvSpPr txBox="1"/>
          <p:nvPr/>
        </p:nvSpPr>
        <p:spPr>
          <a:xfrm>
            <a:off x="2333199" y="2234885"/>
            <a:ext cx="1904638" cy="369332"/>
          </a:xfrm>
          <a:prstGeom prst="rect">
            <a:avLst/>
          </a:prstGeom>
          <a:noFill/>
        </p:spPr>
        <p:txBody>
          <a:bodyPr wrap="square">
            <a:spAutoFit/>
          </a:bodyPr>
          <a:lstStyle/>
          <a:p>
            <a:pPr lvl="0" algn="r"/>
            <a:r>
              <a:rPr lang="en-GB" sz="1800" dirty="0">
                <a:solidFill>
                  <a:schemeClr val="tx1"/>
                </a:solidFill>
                <a:latin typeface="Tahoma" panose="020B0604030504040204" pitchFamily="34" charset="0"/>
                <a:ea typeface="Tahoma" panose="020B0604030504040204" pitchFamily="34" charset="0"/>
                <a:cs typeface="Tahoma" panose="020B0604030504040204" pitchFamily="34" charset="0"/>
              </a:rPr>
              <a:t>Legal Basis</a:t>
            </a:r>
            <a:endParaRPr lang="en-US" sz="18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9DF2B445-2644-4D6A-D159-646BD55C82B2}"/>
              </a:ext>
            </a:extLst>
          </p:cNvPr>
          <p:cNvSpPr txBox="1"/>
          <p:nvPr/>
        </p:nvSpPr>
        <p:spPr>
          <a:xfrm>
            <a:off x="4214637" y="6239670"/>
            <a:ext cx="3160805" cy="369332"/>
          </a:xfrm>
          <a:prstGeom prst="rect">
            <a:avLst/>
          </a:prstGeom>
          <a:noFill/>
        </p:spPr>
        <p:txBody>
          <a:bodyPr wrap="square">
            <a:spAutoFit/>
          </a:bodyPr>
          <a:lstStyle/>
          <a:p>
            <a:pPr lvl="0" algn="r"/>
            <a:r>
              <a:rPr lang="en-GB" sz="1800" dirty="0">
                <a:solidFill>
                  <a:schemeClr val="tx1"/>
                </a:solidFill>
                <a:latin typeface="Tahoma" panose="020B0604030504040204" pitchFamily="34" charset="0"/>
                <a:ea typeface="Tahoma" panose="020B0604030504040204" pitchFamily="34" charset="0"/>
                <a:cs typeface="Tahoma" panose="020B0604030504040204" pitchFamily="34" charset="0"/>
              </a:rPr>
              <a:t>Critical reporting deadlines</a:t>
            </a:r>
            <a:endParaRPr lang="en-US" sz="1800" dirty="0">
              <a:solidFill>
                <a:schemeClr val="tx1"/>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D70B829-8A48-1533-9BBA-C6D85B4765EB}"/>
              </a:ext>
            </a:extLst>
          </p:cNvPr>
          <p:cNvSpPr txBox="1"/>
          <p:nvPr/>
        </p:nvSpPr>
        <p:spPr>
          <a:xfrm>
            <a:off x="-30017" y="3466747"/>
            <a:ext cx="4509488" cy="369332"/>
          </a:xfrm>
          <a:prstGeom prst="rect">
            <a:avLst/>
          </a:prstGeom>
          <a:noFill/>
        </p:spPr>
        <p:txBody>
          <a:bodyPr wrap="square">
            <a:spAutoFit/>
          </a:bodyPr>
          <a:lstStyle/>
          <a:p>
            <a:pPr algn="r"/>
            <a:r>
              <a:rPr lang="en-US" sz="1800" dirty="0">
                <a:latin typeface="Tahoma" panose="020B0604030504040204" pitchFamily="34" charset="0"/>
                <a:ea typeface="Tahoma" panose="020B0604030504040204" pitchFamily="34" charset="0"/>
                <a:cs typeface="Tahoma" panose="020B0604030504040204" pitchFamily="34" charset="0"/>
              </a:rPr>
              <a:t>Termination of expenditure commitments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33" name="TextBox 32">
            <a:extLst>
              <a:ext uri="{FF2B5EF4-FFF2-40B4-BE49-F238E27FC236}">
                <a16:creationId xmlns:a16="http://schemas.microsoft.com/office/drawing/2014/main" id="{95CB6036-25FB-F674-BC68-C3EABE041AA6}"/>
              </a:ext>
            </a:extLst>
          </p:cNvPr>
          <p:cNvSpPr txBox="1"/>
          <p:nvPr/>
        </p:nvSpPr>
        <p:spPr>
          <a:xfrm>
            <a:off x="1489224" y="4615776"/>
            <a:ext cx="3160805" cy="369332"/>
          </a:xfrm>
          <a:prstGeom prst="rect">
            <a:avLst/>
          </a:prstGeom>
          <a:noFill/>
        </p:spPr>
        <p:txBody>
          <a:bodyPr wrap="square">
            <a:spAutoFit/>
          </a:bodyPr>
          <a:lstStyle/>
          <a:p>
            <a:pPr algn="r"/>
            <a:r>
              <a:rPr lang="en-US" dirty="0">
                <a:latin typeface="Tahoma" panose="020B0604030504040204" pitchFamily="34" charset="0"/>
                <a:ea typeface="Tahoma" panose="020B0604030504040204" pitchFamily="34" charset="0"/>
                <a:cs typeface="Tahoma" panose="020B0604030504040204" pitchFamily="34" charset="0"/>
              </a:rPr>
              <a:t>Transfer of unutilized funds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35" name="TextBox 34">
            <a:extLst>
              <a:ext uri="{FF2B5EF4-FFF2-40B4-BE49-F238E27FC236}">
                <a16:creationId xmlns:a16="http://schemas.microsoft.com/office/drawing/2014/main" id="{5978B694-5DF0-B191-3097-C3901FF72A18}"/>
              </a:ext>
            </a:extLst>
          </p:cNvPr>
          <p:cNvSpPr txBox="1"/>
          <p:nvPr/>
        </p:nvSpPr>
        <p:spPr>
          <a:xfrm>
            <a:off x="7325876" y="2253380"/>
            <a:ext cx="3531272" cy="369332"/>
          </a:xfrm>
          <a:prstGeom prst="rect">
            <a:avLst/>
          </a:prstGeom>
          <a:noFill/>
        </p:spPr>
        <p:txBody>
          <a:bodyPr wrap="square">
            <a:spAutoFit/>
          </a:bodyPr>
          <a:lstStyle/>
          <a:p>
            <a:r>
              <a:rPr lang="en-GB" dirty="0">
                <a:latin typeface="Tahoma" panose="020B0604030504040204" pitchFamily="34" charset="0"/>
                <a:ea typeface="Tahoma" panose="020B0604030504040204" pitchFamily="34" charset="0"/>
                <a:cs typeface="Tahoma" panose="020B0604030504040204" pitchFamily="34" charset="0"/>
              </a:rPr>
              <a:t>Transitional FS FY 2024/25</a:t>
            </a:r>
          </a:p>
        </p:txBody>
      </p:sp>
      <p:sp>
        <p:nvSpPr>
          <p:cNvPr id="37" name="TextBox 36">
            <a:extLst>
              <a:ext uri="{FF2B5EF4-FFF2-40B4-BE49-F238E27FC236}">
                <a16:creationId xmlns:a16="http://schemas.microsoft.com/office/drawing/2014/main" id="{69C42F0D-FD54-14AD-167E-71E38B1D48A7}"/>
              </a:ext>
            </a:extLst>
          </p:cNvPr>
          <p:cNvSpPr txBox="1"/>
          <p:nvPr/>
        </p:nvSpPr>
        <p:spPr>
          <a:xfrm>
            <a:off x="7311435" y="4618688"/>
            <a:ext cx="2881023" cy="369332"/>
          </a:xfrm>
          <a:prstGeom prst="rect">
            <a:avLst/>
          </a:prstGeom>
          <a:noFill/>
        </p:spPr>
        <p:txBody>
          <a:bodyPr wrap="square">
            <a:spAutoFit/>
          </a:bodyPr>
          <a:lstStyle/>
          <a:p>
            <a:r>
              <a:rPr lang="en-US" dirty="0">
                <a:latin typeface="Tahoma" panose="020B0604030504040204" pitchFamily="34" charset="0"/>
                <a:ea typeface="Tahoma" panose="020B0604030504040204" pitchFamily="34" charset="0"/>
                <a:cs typeface="Tahoma" panose="020B0604030504040204" pitchFamily="34" charset="0"/>
              </a:rPr>
              <a:t>Opening Balances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39" name="TextBox 38">
            <a:extLst>
              <a:ext uri="{FF2B5EF4-FFF2-40B4-BE49-F238E27FC236}">
                <a16:creationId xmlns:a16="http://schemas.microsoft.com/office/drawing/2014/main" id="{BE277378-CFD1-48AC-C339-5AAAB9C64805}"/>
              </a:ext>
            </a:extLst>
          </p:cNvPr>
          <p:cNvSpPr txBox="1"/>
          <p:nvPr/>
        </p:nvSpPr>
        <p:spPr>
          <a:xfrm>
            <a:off x="7375442" y="3520643"/>
            <a:ext cx="4386390" cy="369332"/>
          </a:xfrm>
          <a:prstGeom prst="rect">
            <a:avLst/>
          </a:prstGeom>
          <a:noFill/>
        </p:spPr>
        <p:txBody>
          <a:bodyPr wrap="square">
            <a:spAutoFit/>
          </a:bodyPr>
          <a:lstStyle/>
          <a:p>
            <a:r>
              <a:rPr lang="en-US" dirty="0">
                <a:latin typeface="Tahoma" panose="020B0604030504040204" pitchFamily="34" charset="0"/>
                <a:ea typeface="Tahoma" panose="020B0604030504040204" pitchFamily="34" charset="0"/>
                <a:cs typeface="Tahoma" panose="020B0604030504040204" pitchFamily="34" charset="0"/>
              </a:rPr>
              <a:t>Inter-entity Transaction Reconciliations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Oval 3">
            <a:extLst>
              <a:ext uri="{FF2B5EF4-FFF2-40B4-BE49-F238E27FC236}">
                <a16:creationId xmlns:a16="http://schemas.microsoft.com/office/drawing/2014/main" id="{A3057BC7-4241-F2F0-B23C-D81E159F23DE}"/>
              </a:ext>
            </a:extLst>
          </p:cNvPr>
          <p:cNvSpPr/>
          <p:nvPr/>
        </p:nvSpPr>
        <p:spPr>
          <a:xfrm>
            <a:off x="4944049" y="4386898"/>
            <a:ext cx="827091" cy="827091"/>
          </a:xfrm>
          <a:prstGeom prst="ellipse">
            <a:avLst/>
          </a:prstGeom>
          <a:ln>
            <a:solidFill>
              <a:srgbClr val="0070C0"/>
            </a:solidFill>
          </a:ln>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2" name="TextBox 11">
            <a:extLst>
              <a:ext uri="{FF2B5EF4-FFF2-40B4-BE49-F238E27FC236}">
                <a16:creationId xmlns:a16="http://schemas.microsoft.com/office/drawing/2014/main" id="{8A72290B-B37F-D94E-5189-523E30EE849E}"/>
              </a:ext>
            </a:extLst>
          </p:cNvPr>
          <p:cNvSpPr txBox="1"/>
          <p:nvPr/>
        </p:nvSpPr>
        <p:spPr>
          <a:xfrm>
            <a:off x="5220503" y="4615776"/>
            <a:ext cx="301686" cy="369332"/>
          </a:xfrm>
          <a:prstGeom prst="rect">
            <a:avLst/>
          </a:prstGeom>
          <a:noFill/>
        </p:spPr>
        <p:txBody>
          <a:bodyPr wrap="none" rtlCol="0">
            <a:spAutoFit/>
          </a:bodyPr>
          <a:lstStyle/>
          <a:p>
            <a:r>
              <a:rPr lang="en-GB" dirty="0"/>
              <a:t>3</a:t>
            </a:r>
          </a:p>
        </p:txBody>
      </p:sp>
    </p:spTree>
    <p:extLst>
      <p:ext uri="{BB962C8B-B14F-4D97-AF65-F5344CB8AC3E}">
        <p14:creationId xmlns:p14="http://schemas.microsoft.com/office/powerpoint/2010/main" val="4019510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B7847E62-6736-B0EE-4319-33805DA3ED7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49EE86-FEC8-186E-DC2D-7D42A0BB02E9}"/>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33</a:t>
            </a:fld>
            <a:endParaRPr lang="en-GB" dirty="0"/>
          </a:p>
        </p:txBody>
      </p:sp>
      <p:sp>
        <p:nvSpPr>
          <p:cNvPr id="3" name="Google Shape;570;p59">
            <a:extLst>
              <a:ext uri="{FF2B5EF4-FFF2-40B4-BE49-F238E27FC236}">
                <a16:creationId xmlns:a16="http://schemas.microsoft.com/office/drawing/2014/main" id="{5BA21192-1A43-B44D-038E-0B2D51329689}"/>
              </a:ext>
            </a:extLst>
          </p:cNvPr>
          <p:cNvSpPr txBox="1">
            <a:spLocks noGrp="1"/>
          </p:cNvSpPr>
          <p:nvPr>
            <p:ph type="title"/>
          </p:nvPr>
        </p:nvSpPr>
        <p:spPr>
          <a:xfrm>
            <a:off x="906446" y="84235"/>
            <a:ext cx="10623167" cy="868362"/>
          </a:xfrm>
          <a:prstGeom prst="rect">
            <a:avLst/>
          </a:prstGeom>
          <a:noFill/>
          <a:ln>
            <a:noFill/>
          </a:ln>
        </p:spPr>
        <p:txBody>
          <a:bodyPr spcFirstLastPara="1" vert="horz" wrap="square" lIns="91425" tIns="45700" rIns="91425" bIns="45700" rtlCol="0" anchor="b" anchorCtr="0">
            <a:noAutofit/>
          </a:bodyPr>
          <a:lstStyle/>
          <a:p>
            <a:pPr marL="1076325" lvl="0" indent="-538163" algn="just">
              <a:lnSpc>
                <a:spcPct val="170000"/>
              </a:lnSpc>
              <a:buFont typeface="Wingdings" panose="05000000000000000000" pitchFamily="2" charset="2"/>
              <a:buChar char="q"/>
            </a:pPr>
            <a:r>
              <a:rPr lang="en-US" dirty="0">
                <a:solidFill>
                  <a:srgbClr val="FF6319"/>
                </a:solidFill>
              </a:rPr>
              <a:t>1. Legal Basis</a:t>
            </a:r>
          </a:p>
        </p:txBody>
      </p:sp>
      <p:sp>
        <p:nvSpPr>
          <p:cNvPr id="7" name="Content Placeholder 1">
            <a:extLst>
              <a:ext uri="{FF2B5EF4-FFF2-40B4-BE49-F238E27FC236}">
                <a16:creationId xmlns:a16="http://schemas.microsoft.com/office/drawing/2014/main" id="{036DFC7D-227B-ABDE-0226-B3533131A826}"/>
              </a:ext>
            </a:extLst>
          </p:cNvPr>
          <p:cNvSpPr txBox="1">
            <a:spLocks/>
          </p:cNvSpPr>
          <p:nvPr/>
        </p:nvSpPr>
        <p:spPr>
          <a:xfrm>
            <a:off x="675613" y="1348883"/>
            <a:ext cx="11084832" cy="550911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8163" indent="-538163" algn="just">
              <a:lnSpc>
                <a:spcPct val="170000"/>
              </a:lnSpc>
              <a:buFont typeface="Wingdings" panose="05000000000000000000" pitchFamily="2" charset="2"/>
              <a:buChar char="v"/>
            </a:pPr>
            <a:r>
              <a:rPr lang="en-GB" b="1" u="sng" dirty="0">
                <a:latin typeface="Tahoma" panose="020B0604030504040204" pitchFamily="34" charset="0"/>
                <a:ea typeface="Tahoma" panose="020B0604030504040204" pitchFamily="34" charset="0"/>
                <a:cs typeface="Tahoma" panose="020B0604030504040204" pitchFamily="34" charset="0"/>
              </a:rPr>
              <a:t>Legal basis: </a:t>
            </a:r>
            <a:r>
              <a:rPr lang="en-GB" dirty="0">
                <a:latin typeface="Tahoma" panose="020B0604030504040204" pitchFamily="34" charset="0"/>
                <a:ea typeface="Tahoma" panose="020B0604030504040204" pitchFamily="34" charset="0"/>
                <a:cs typeface="Tahoma" panose="020B0604030504040204" pitchFamily="34" charset="0"/>
              </a:rPr>
              <a:t>YECP are issued incompliance to </a:t>
            </a:r>
            <a:r>
              <a:rPr lang="en-US" dirty="0">
                <a:latin typeface="Tahoma" panose="020B0604030504040204" pitchFamily="34" charset="0"/>
                <a:ea typeface="Tahoma" panose="020B0604030504040204" pitchFamily="34" charset="0"/>
                <a:cs typeface="Tahoma" panose="020B0604030504040204" pitchFamily="34" charset="0"/>
              </a:rPr>
              <a:t>Article 76 of the Organic Law on Public Finance Management No. 002/2022.OL of 12/12/2022;</a:t>
            </a:r>
          </a:p>
          <a:p>
            <a:pPr marL="538163" indent="-538163" algn="just">
              <a:lnSpc>
                <a:spcPct val="170000"/>
              </a:lnSpc>
              <a:buFont typeface="Wingdings" panose="05000000000000000000" pitchFamily="2" charset="2"/>
              <a:buChar char="v"/>
            </a:pPr>
            <a:endParaRPr lang="en-GB" sz="2000" b="1" u="sng" dirty="0">
              <a:latin typeface="Tahoma" panose="020B0604030504040204" pitchFamily="34" charset="0"/>
              <a:ea typeface="Tahoma" panose="020B0604030504040204" pitchFamily="34" charset="0"/>
              <a:cs typeface="Tahoma" panose="020B0604030504040204" pitchFamily="34" charset="0"/>
            </a:endParaRPr>
          </a:p>
          <a:p>
            <a:pPr marL="538163" indent="-538163" algn="just">
              <a:lnSpc>
                <a:spcPct val="170000"/>
              </a:lnSpc>
              <a:buFont typeface="Wingdings" panose="05000000000000000000" pitchFamily="2" charset="2"/>
              <a:buChar char="v"/>
            </a:pPr>
            <a:r>
              <a:rPr lang="en-GB" b="1" u="sng" dirty="0">
                <a:latin typeface="Tahoma" panose="020B0604030504040204" pitchFamily="34" charset="0"/>
                <a:ea typeface="Tahoma" panose="020B0604030504040204" pitchFamily="34" charset="0"/>
                <a:cs typeface="Tahoma" panose="020B0604030504040204" pitchFamily="34" charset="0"/>
              </a:rPr>
              <a:t>Financial Year: </a:t>
            </a:r>
            <a:r>
              <a:rPr lang="en-GB" dirty="0">
                <a:latin typeface="Tahoma" panose="020B0604030504040204" pitchFamily="34" charset="0"/>
                <a:ea typeface="Tahoma" panose="020B0604030504040204" pitchFamily="34" charset="0"/>
                <a:cs typeface="Tahoma" panose="020B0604030504040204" pitchFamily="34" charset="0"/>
              </a:rPr>
              <a:t>Financial Year ends 30</a:t>
            </a:r>
            <a:r>
              <a:rPr lang="en-GB" baseline="30000" dirty="0">
                <a:latin typeface="Tahoma" panose="020B0604030504040204" pitchFamily="34" charset="0"/>
                <a:ea typeface="Tahoma" panose="020B0604030504040204" pitchFamily="34" charset="0"/>
                <a:cs typeface="Tahoma" panose="020B0604030504040204" pitchFamily="34" charset="0"/>
              </a:rPr>
              <a:t>th</a:t>
            </a:r>
            <a:r>
              <a:rPr lang="en-GB" dirty="0">
                <a:latin typeface="Tahoma" panose="020B0604030504040204" pitchFamily="34" charset="0"/>
                <a:ea typeface="Tahoma" panose="020B0604030504040204" pitchFamily="34" charset="0"/>
                <a:cs typeface="Tahoma" panose="020B0604030504040204" pitchFamily="34" charset="0"/>
              </a:rPr>
              <a:t> June 2025;</a:t>
            </a:r>
          </a:p>
          <a:p>
            <a:pPr marL="538163" indent="-538163" algn="just">
              <a:lnSpc>
                <a:spcPct val="170000"/>
              </a:lnSpc>
              <a:buFont typeface="Wingdings" panose="05000000000000000000" pitchFamily="2" charset="2"/>
              <a:buChar char="v"/>
            </a:pPr>
            <a:endParaRPr lang="en-GB" b="1" u="sng" dirty="0">
              <a:latin typeface="Tahoma" panose="020B0604030504040204" pitchFamily="34" charset="0"/>
              <a:ea typeface="Tahoma" panose="020B0604030504040204" pitchFamily="34" charset="0"/>
              <a:cs typeface="Tahoma" panose="020B0604030504040204" pitchFamily="34" charset="0"/>
            </a:endParaRPr>
          </a:p>
          <a:p>
            <a:pPr algn="just">
              <a:lnSpc>
                <a:spcPct val="170000"/>
              </a:lnSpc>
              <a:buFont typeface="Wingdings" panose="05000000000000000000" pitchFamily="2" charset="2"/>
              <a:buChar char="q"/>
            </a:pPr>
            <a:endParaRPr lang="en-ZA" sz="2000" dirty="0">
              <a:latin typeface="Tahoma" panose="020B0604030504040204" pitchFamily="34" charset="0"/>
              <a:ea typeface="Tahoma" panose="020B0604030504040204" pitchFamily="34" charset="0"/>
              <a:cs typeface="Tahoma" panose="020B0604030504040204" pitchFamily="34" charset="0"/>
            </a:endParaRPr>
          </a:p>
          <a:p>
            <a:pPr algn="just">
              <a:lnSpc>
                <a:spcPct val="170000"/>
              </a:lnSpc>
              <a:buFont typeface="Wingdings" panose="05000000000000000000" pitchFamily="2" charset="2"/>
              <a:buChar char="q"/>
            </a:pPr>
            <a:endParaRPr lang="en-ZA" sz="2000" dirty="0">
              <a:latin typeface="Tahoma" panose="020B0604030504040204" pitchFamily="34" charset="0"/>
              <a:ea typeface="Tahoma" panose="020B0604030504040204" pitchFamily="34" charset="0"/>
              <a:cs typeface="Tahoma" panose="020B0604030504040204" pitchFamily="34" charset="0"/>
            </a:endParaRPr>
          </a:p>
          <a:p>
            <a:pPr lvl="1">
              <a:buFont typeface="Wingdings" panose="05000000000000000000" pitchFamily="2" charset="2"/>
              <a:buChar char="§"/>
            </a:pPr>
            <a:endParaRPr lang="en-RW"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11696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CF9C6857-CAF5-CD1B-B55E-C605EB923D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E44948-E20A-117C-488E-A9155818CFC3}"/>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34</a:t>
            </a:fld>
            <a:endParaRPr lang="en-GB" dirty="0"/>
          </a:p>
        </p:txBody>
      </p:sp>
      <p:sp>
        <p:nvSpPr>
          <p:cNvPr id="4" name="Google Shape;570;p59">
            <a:extLst>
              <a:ext uri="{FF2B5EF4-FFF2-40B4-BE49-F238E27FC236}">
                <a16:creationId xmlns:a16="http://schemas.microsoft.com/office/drawing/2014/main" id="{1A9F4805-F853-4100-CAB3-569779797915}"/>
              </a:ext>
            </a:extLst>
          </p:cNvPr>
          <p:cNvSpPr txBox="1">
            <a:spLocks/>
          </p:cNvSpPr>
          <p:nvPr/>
        </p:nvSpPr>
        <p:spPr>
          <a:xfrm>
            <a:off x="743776" y="38769"/>
            <a:ext cx="10623167" cy="868362"/>
          </a:xfrm>
          <a:prstGeom prst="rect">
            <a:avLst/>
          </a:prstGeom>
          <a:noFill/>
          <a:ln>
            <a:noFill/>
          </a:ln>
        </p:spPr>
        <p:txBody>
          <a:bodyPr spcFirstLastPara="1" vert="horz" wrap="square" lIns="91425" tIns="45700" rIns="91425" bIns="45700" rtlCol="0" anchor="b" anchorCtr="0">
            <a:noAutofit/>
          </a:bodyPr>
          <a:lstStyle>
            <a:lvl1pPr algn="l" defTabSz="914400" rtl="0" eaLnBrk="1" latinLnBrk="0" hangingPunct="1">
              <a:lnSpc>
                <a:spcPct val="90000"/>
              </a:lnSpc>
              <a:spcBef>
                <a:spcPct val="0"/>
              </a:spcBef>
              <a:buNone/>
              <a:defRPr sz="4400" kern="1200">
                <a:solidFill>
                  <a:schemeClr val="bg2"/>
                </a:solidFill>
                <a:latin typeface="Cambria" panose="02040503050406030204" pitchFamily="18" charset="0"/>
                <a:ea typeface="+mj-ea"/>
                <a:cs typeface="+mj-cs"/>
              </a:defRPr>
            </a:lvl1pPr>
          </a:lstStyle>
          <a:p>
            <a:pPr marL="1076325" indent="-538163" algn="just">
              <a:lnSpc>
                <a:spcPct val="170000"/>
              </a:lnSpc>
              <a:buFont typeface="Wingdings" panose="05000000000000000000" pitchFamily="2" charset="2"/>
              <a:buChar char="q"/>
            </a:pPr>
            <a:r>
              <a:rPr lang="en-US" sz="3700" dirty="0">
                <a:solidFill>
                  <a:srgbClr val="FF6319"/>
                </a:solidFill>
              </a:rPr>
              <a:t>2. Termination of expenditure commitments</a:t>
            </a:r>
          </a:p>
        </p:txBody>
      </p:sp>
      <p:sp>
        <p:nvSpPr>
          <p:cNvPr id="3" name="TextBox 2">
            <a:extLst>
              <a:ext uri="{FF2B5EF4-FFF2-40B4-BE49-F238E27FC236}">
                <a16:creationId xmlns:a16="http://schemas.microsoft.com/office/drawing/2014/main" id="{1C705940-CD1E-3D03-8A4B-62013FECCCF8}"/>
              </a:ext>
            </a:extLst>
          </p:cNvPr>
          <p:cNvSpPr txBox="1"/>
          <p:nvPr/>
        </p:nvSpPr>
        <p:spPr>
          <a:xfrm>
            <a:off x="9736" y="1266869"/>
            <a:ext cx="11628986" cy="4324261"/>
          </a:xfrm>
          <a:prstGeom prst="rect">
            <a:avLst/>
          </a:prstGeom>
          <a:noFill/>
        </p:spPr>
        <p:txBody>
          <a:bodyPr wrap="square">
            <a:spAutoFit/>
          </a:bodyPr>
          <a:lstStyle/>
          <a:p>
            <a:pPr marL="1076325" lvl="0" indent="-538163" algn="just">
              <a:lnSpc>
                <a:spcPct val="100000"/>
              </a:lnSpc>
              <a:buFont typeface="Wingdings" panose="05000000000000000000" pitchFamily="2" charset="2"/>
              <a:buChar char="q"/>
            </a:pPr>
            <a:r>
              <a:rPr lang="en-US" sz="2500" b="1" u="sng" dirty="0">
                <a:latin typeface="Tahoma" panose="020B0604030504040204" pitchFamily="34" charset="0"/>
                <a:ea typeface="Tahoma" panose="020B0604030504040204" pitchFamily="34" charset="0"/>
                <a:cs typeface="Tahoma" panose="020B0604030504040204" pitchFamily="34" charset="0"/>
              </a:rPr>
              <a:t>In accordance with article 54 </a:t>
            </a:r>
            <a:r>
              <a:rPr lang="en-US" sz="2500" dirty="0">
                <a:latin typeface="Tahoma" panose="020B0604030504040204" pitchFamily="34" charset="0"/>
                <a:ea typeface="Tahoma" panose="020B0604030504040204" pitchFamily="34" charset="0"/>
                <a:cs typeface="Tahoma" panose="020B0604030504040204" pitchFamily="34" charset="0"/>
              </a:rPr>
              <a:t>of the Organic Law on </a:t>
            </a:r>
            <a:r>
              <a:rPr lang="en-GB" sz="2500" dirty="0">
                <a:latin typeface="Tahoma" panose="020B0604030504040204" pitchFamily="34" charset="0"/>
                <a:ea typeface="Tahoma" panose="020B0604030504040204" pitchFamily="34" charset="0"/>
                <a:cs typeface="Tahoma" panose="020B0604030504040204" pitchFamily="34" charset="0"/>
              </a:rPr>
              <a:t>PFM</a:t>
            </a:r>
            <a:r>
              <a:rPr lang="en-US" sz="2500" dirty="0">
                <a:latin typeface="Tahoma" panose="020B0604030504040204" pitchFamily="34" charset="0"/>
                <a:ea typeface="Tahoma" panose="020B0604030504040204" pitchFamily="34" charset="0"/>
                <a:cs typeface="Tahoma" panose="020B0604030504040204" pitchFamily="34" charset="0"/>
              </a:rPr>
              <a:t>: Any expenditure commitment ends on </a:t>
            </a:r>
            <a:r>
              <a:rPr lang="en-US" sz="2500" b="1" dirty="0">
                <a:latin typeface="Tahoma" panose="020B0604030504040204" pitchFamily="34" charset="0"/>
                <a:ea typeface="Tahoma" panose="020B0604030504040204" pitchFamily="34" charset="0"/>
                <a:cs typeface="Tahoma" panose="020B0604030504040204" pitchFamily="34" charset="0"/>
              </a:rPr>
              <a:t>30</a:t>
            </a:r>
            <a:r>
              <a:rPr lang="en-US" sz="2500" b="1" baseline="30000" dirty="0">
                <a:latin typeface="Tahoma" panose="020B0604030504040204" pitchFamily="34" charset="0"/>
                <a:ea typeface="Tahoma" panose="020B0604030504040204" pitchFamily="34" charset="0"/>
                <a:cs typeface="Tahoma" panose="020B0604030504040204" pitchFamily="34" charset="0"/>
              </a:rPr>
              <a:t>th</a:t>
            </a:r>
            <a:r>
              <a:rPr lang="en-US" sz="2500" b="1" dirty="0">
                <a:latin typeface="Tahoma" panose="020B0604030504040204" pitchFamily="34" charset="0"/>
                <a:ea typeface="Tahoma" panose="020B0604030504040204" pitchFamily="34" charset="0"/>
                <a:cs typeface="Tahoma" panose="020B0604030504040204" pitchFamily="34" charset="0"/>
              </a:rPr>
              <a:t> May </a:t>
            </a:r>
            <a:r>
              <a:rPr lang="en-US" sz="2500" dirty="0">
                <a:latin typeface="Tahoma" panose="020B0604030504040204" pitchFamily="34" charset="0"/>
                <a:ea typeface="Tahoma" panose="020B0604030504040204" pitchFamily="34" charset="0"/>
                <a:cs typeface="Tahoma" panose="020B0604030504040204" pitchFamily="34" charset="0"/>
              </a:rPr>
              <a:t>of the same fiscal year unless otherwise authorized by the Minister.</a:t>
            </a:r>
          </a:p>
          <a:p>
            <a:pPr marL="1076325" lvl="0" indent="-538163" algn="just">
              <a:lnSpc>
                <a:spcPct val="100000"/>
              </a:lnSpc>
              <a:buFont typeface="Wingdings" panose="05000000000000000000" pitchFamily="2" charset="2"/>
              <a:buChar char="q"/>
            </a:pPr>
            <a:endParaRPr lang="en-US" sz="2500" dirty="0">
              <a:latin typeface="Tahoma" panose="020B0604030504040204" pitchFamily="34" charset="0"/>
              <a:ea typeface="Tahoma" panose="020B0604030504040204" pitchFamily="34" charset="0"/>
              <a:cs typeface="Tahoma" panose="020B0604030504040204" pitchFamily="34" charset="0"/>
            </a:endParaRPr>
          </a:p>
          <a:p>
            <a:pPr marL="1076325" lvl="0" indent="-538163" algn="just">
              <a:lnSpc>
                <a:spcPct val="100000"/>
              </a:lnSpc>
              <a:buFont typeface="Wingdings" panose="05000000000000000000" pitchFamily="2" charset="2"/>
              <a:buChar char="q"/>
            </a:pPr>
            <a:r>
              <a:rPr lang="en-US" sz="2500" dirty="0">
                <a:latin typeface="Tahoma" panose="020B0604030504040204" pitchFamily="34" charset="0"/>
                <a:ea typeface="Tahoma" panose="020B0604030504040204" pitchFamily="34" charset="0"/>
                <a:cs typeface="Tahoma" panose="020B0604030504040204" pitchFamily="34" charset="0"/>
              </a:rPr>
              <a:t>Payments in respect of a commitment entered into before the date referred to in Paragraph One of this Article may be effected until 30</a:t>
            </a:r>
            <a:r>
              <a:rPr lang="en-US" sz="2500" baseline="30000" dirty="0">
                <a:latin typeface="Tahoma" panose="020B0604030504040204" pitchFamily="34" charset="0"/>
                <a:ea typeface="Tahoma" panose="020B0604030504040204" pitchFamily="34" charset="0"/>
                <a:cs typeface="Tahoma" panose="020B0604030504040204" pitchFamily="34" charset="0"/>
              </a:rPr>
              <a:t>th</a:t>
            </a:r>
            <a:r>
              <a:rPr lang="en-US" sz="2500" dirty="0">
                <a:latin typeface="Tahoma" panose="020B0604030504040204" pitchFamily="34" charset="0"/>
                <a:ea typeface="Tahoma" panose="020B0604030504040204" pitchFamily="34" charset="0"/>
                <a:cs typeface="Tahoma" panose="020B0604030504040204" pitchFamily="34" charset="0"/>
              </a:rPr>
              <a:t> June of the fiscal year.</a:t>
            </a:r>
          </a:p>
          <a:p>
            <a:pPr marL="1076325" lvl="0" indent="-538163" algn="just">
              <a:lnSpc>
                <a:spcPct val="100000"/>
              </a:lnSpc>
              <a:buFont typeface="Wingdings" panose="05000000000000000000" pitchFamily="2" charset="2"/>
              <a:buChar char="q"/>
            </a:pPr>
            <a:endParaRPr lang="en-US" sz="2500" dirty="0">
              <a:latin typeface="Tahoma" panose="020B0604030504040204" pitchFamily="34" charset="0"/>
              <a:ea typeface="Tahoma" panose="020B0604030504040204" pitchFamily="34" charset="0"/>
              <a:cs typeface="Tahoma" panose="020B0604030504040204" pitchFamily="34" charset="0"/>
            </a:endParaRPr>
          </a:p>
          <a:p>
            <a:pPr marL="1076325" lvl="0" indent="-538163" algn="just">
              <a:lnSpc>
                <a:spcPct val="100000"/>
              </a:lnSpc>
              <a:buFont typeface="Wingdings" panose="05000000000000000000" pitchFamily="2" charset="2"/>
              <a:buChar char="q"/>
            </a:pPr>
            <a:r>
              <a:rPr lang="en-US" sz="2500" dirty="0">
                <a:latin typeface="Tahoma" panose="020B0604030504040204" pitchFamily="34" charset="0"/>
                <a:ea typeface="Tahoma" panose="020B0604030504040204" pitchFamily="34" charset="0"/>
                <a:cs typeface="Tahoma" panose="020B0604030504040204" pitchFamily="34" charset="0"/>
              </a:rPr>
              <a:t>At the end of the last working day of each fiscal year, budget appropriations and all other expenditure authorizations immediately lapse.</a:t>
            </a:r>
            <a:r>
              <a:rPr lang="en-ZA" sz="2500" dirty="0">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2644031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C32E7AD5-E5C8-6D26-BD5A-C7094C7C9B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79B721-0826-9F44-FF33-DBC267EBD42C}"/>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35</a:t>
            </a:fld>
            <a:endParaRPr lang="en-GB" dirty="0"/>
          </a:p>
        </p:txBody>
      </p:sp>
      <p:sp>
        <p:nvSpPr>
          <p:cNvPr id="5" name="TextBox 4">
            <a:extLst>
              <a:ext uri="{FF2B5EF4-FFF2-40B4-BE49-F238E27FC236}">
                <a16:creationId xmlns:a16="http://schemas.microsoft.com/office/drawing/2014/main" id="{482D5C60-4944-C7F9-50A2-DFE063B97F76}"/>
              </a:ext>
            </a:extLst>
          </p:cNvPr>
          <p:cNvSpPr txBox="1"/>
          <p:nvPr/>
        </p:nvSpPr>
        <p:spPr>
          <a:xfrm>
            <a:off x="538480" y="981323"/>
            <a:ext cx="11115040" cy="5093702"/>
          </a:xfrm>
          <a:prstGeom prst="rect">
            <a:avLst/>
          </a:prstGeom>
          <a:noFill/>
        </p:spPr>
        <p:txBody>
          <a:bodyPr wrap="square">
            <a:spAutoFit/>
          </a:bodyPr>
          <a:lstStyle/>
          <a:p>
            <a:pPr marL="1076325" lvl="0" indent="-538163" algn="just">
              <a:lnSpc>
                <a:spcPct val="100000"/>
              </a:lnSpc>
              <a:buFont typeface="Wingdings" panose="05000000000000000000" pitchFamily="2" charset="2"/>
              <a:buChar char="v"/>
            </a:pPr>
            <a:r>
              <a:rPr lang="en-US" sz="2500" dirty="0">
                <a:latin typeface="Tahoma" panose="020B0604030504040204" pitchFamily="34" charset="0"/>
                <a:ea typeface="Tahoma" panose="020B0604030504040204" pitchFamily="34" charset="0"/>
                <a:cs typeface="Tahoma" panose="020B0604030504040204" pitchFamily="34" charset="0"/>
              </a:rPr>
              <a:t>Any funds that will remain unutilized by the end of the fiscal year for Ministries and Agencies’ zero balances bank accounts shall be transferred back to the OTR ZERO BALANCE ACCOUNT that has the 311302 as GL Code and 1000007575 as bank account. </a:t>
            </a:r>
          </a:p>
          <a:p>
            <a:pPr marL="1076325" lvl="0" indent="-538163" algn="just">
              <a:lnSpc>
                <a:spcPct val="100000"/>
              </a:lnSpc>
              <a:buFont typeface="Wingdings" panose="05000000000000000000" pitchFamily="2" charset="2"/>
              <a:buChar char="v"/>
            </a:pPr>
            <a:endParaRPr lang="en-US" sz="2500" dirty="0">
              <a:latin typeface="Tahoma" panose="020B0604030504040204" pitchFamily="34" charset="0"/>
              <a:ea typeface="Tahoma" panose="020B0604030504040204" pitchFamily="34" charset="0"/>
              <a:cs typeface="Tahoma" panose="020B0604030504040204" pitchFamily="34" charset="0"/>
            </a:endParaRPr>
          </a:p>
          <a:p>
            <a:pPr marL="1076325" lvl="0" indent="-538163" algn="just">
              <a:lnSpc>
                <a:spcPct val="100000"/>
              </a:lnSpc>
              <a:buFont typeface="Wingdings" panose="05000000000000000000" pitchFamily="2" charset="2"/>
              <a:buChar char="v"/>
            </a:pPr>
            <a:r>
              <a:rPr lang="en-US" sz="2500" dirty="0">
                <a:latin typeface="Tahoma" panose="020B0604030504040204" pitchFamily="34" charset="0"/>
                <a:ea typeface="Tahoma" panose="020B0604030504040204" pitchFamily="34" charset="0"/>
                <a:cs typeface="Tahoma" panose="020B0604030504040204" pitchFamily="34" charset="0"/>
              </a:rPr>
              <a:t>An IFMIS Functionality ‘Funds transfer transaction' shall be used for the transfer of the unutilized bank balances back to the OTR ZERO BALANCE ACCOUNT and the following cash journal entries shall be generated by the IFMIS in the books of Accounts of the concerned entities:</a:t>
            </a:r>
          </a:p>
          <a:p>
            <a:pPr marL="1076325" lvl="0" indent="-538163" algn="just">
              <a:lnSpc>
                <a:spcPct val="100000"/>
              </a:lnSpc>
              <a:buFont typeface="Wingdings" panose="05000000000000000000" pitchFamily="2" charset="2"/>
              <a:buChar char="v"/>
            </a:pPr>
            <a:endParaRPr lang="en-US" sz="2500" dirty="0">
              <a:latin typeface="Tahoma" panose="020B0604030504040204" pitchFamily="34" charset="0"/>
              <a:ea typeface="Tahoma" panose="020B0604030504040204" pitchFamily="34" charset="0"/>
              <a:cs typeface="Tahoma" panose="020B0604030504040204" pitchFamily="34" charset="0"/>
            </a:endParaRPr>
          </a:p>
          <a:p>
            <a:pPr marL="538162" lvl="0" algn="just">
              <a:lnSpc>
                <a:spcPct val="100000"/>
              </a:lnSpc>
            </a:pPr>
            <a:r>
              <a:rPr lang="en-US" sz="2500" dirty="0">
                <a:latin typeface="Tahoma" panose="020B0604030504040204" pitchFamily="34" charset="0"/>
                <a:ea typeface="Tahoma" panose="020B0604030504040204" pitchFamily="34" charset="0"/>
                <a:cs typeface="Tahoma" panose="020B0604030504040204" pitchFamily="34" charset="0"/>
              </a:rPr>
              <a:t>		Debit: Direct Cash Transfers 			xxx</a:t>
            </a:r>
          </a:p>
          <a:p>
            <a:pPr marL="538162" lvl="0" algn="just">
              <a:lnSpc>
                <a:spcPct val="100000"/>
              </a:lnSpc>
            </a:pPr>
            <a:r>
              <a:rPr lang="en-US" sz="2500" dirty="0">
                <a:latin typeface="Tahoma" panose="020B0604030504040204" pitchFamily="34" charset="0"/>
                <a:ea typeface="Tahoma" panose="020B0604030504040204" pitchFamily="34" charset="0"/>
                <a:cs typeface="Tahoma" panose="020B0604030504040204" pitchFamily="34" charset="0"/>
              </a:rPr>
              <a:t>		Credit: Zero balances bank Account</a:t>
            </a:r>
            <a:r>
              <a:rPr lang="en-ZA" sz="2500" dirty="0">
                <a:latin typeface="Tahoma" panose="020B0604030504040204" pitchFamily="34" charset="0"/>
                <a:ea typeface="Tahoma" panose="020B0604030504040204" pitchFamily="34" charset="0"/>
                <a:cs typeface="Tahoma" panose="020B0604030504040204" pitchFamily="34" charset="0"/>
              </a:rPr>
              <a:t>			xxx</a:t>
            </a:r>
          </a:p>
        </p:txBody>
      </p:sp>
      <p:sp>
        <p:nvSpPr>
          <p:cNvPr id="4" name="Google Shape;570;p59">
            <a:extLst>
              <a:ext uri="{FF2B5EF4-FFF2-40B4-BE49-F238E27FC236}">
                <a16:creationId xmlns:a16="http://schemas.microsoft.com/office/drawing/2014/main" id="{27475B54-0885-775F-929E-1A1C83A62D22}"/>
              </a:ext>
            </a:extLst>
          </p:cNvPr>
          <p:cNvSpPr txBox="1">
            <a:spLocks/>
          </p:cNvSpPr>
          <p:nvPr/>
        </p:nvSpPr>
        <p:spPr>
          <a:xfrm>
            <a:off x="1130628" y="38769"/>
            <a:ext cx="10623167" cy="868362"/>
          </a:xfrm>
          <a:prstGeom prst="rect">
            <a:avLst/>
          </a:prstGeom>
          <a:noFill/>
          <a:ln>
            <a:noFill/>
          </a:ln>
        </p:spPr>
        <p:txBody>
          <a:bodyPr spcFirstLastPara="1" vert="horz" wrap="square" lIns="91425" tIns="45700" rIns="91425" bIns="45700" rtlCol="0" anchor="b" anchorCtr="0">
            <a:noAutofit/>
          </a:bodyPr>
          <a:lstStyle>
            <a:lvl1pPr algn="l" defTabSz="914400" rtl="0" eaLnBrk="1" latinLnBrk="0" hangingPunct="1">
              <a:lnSpc>
                <a:spcPct val="90000"/>
              </a:lnSpc>
              <a:spcBef>
                <a:spcPct val="0"/>
              </a:spcBef>
              <a:buNone/>
              <a:defRPr sz="4400" kern="1200">
                <a:solidFill>
                  <a:schemeClr val="bg2"/>
                </a:solidFill>
                <a:latin typeface="Cambria" panose="02040503050406030204" pitchFamily="18" charset="0"/>
                <a:ea typeface="+mj-ea"/>
                <a:cs typeface="+mj-cs"/>
              </a:defRPr>
            </a:lvl1pPr>
          </a:lstStyle>
          <a:p>
            <a:pPr marL="1076325" indent="-538163" algn="just">
              <a:lnSpc>
                <a:spcPct val="170000"/>
              </a:lnSpc>
              <a:buFont typeface="Wingdings" panose="05000000000000000000" pitchFamily="2" charset="2"/>
              <a:buChar char="q"/>
            </a:pPr>
            <a:r>
              <a:rPr lang="en-US" dirty="0">
                <a:solidFill>
                  <a:srgbClr val="FF6319"/>
                </a:solidFill>
              </a:rPr>
              <a:t>3. Transfer of unutilized funds</a:t>
            </a:r>
          </a:p>
        </p:txBody>
      </p:sp>
    </p:spTree>
    <p:extLst>
      <p:ext uri="{BB962C8B-B14F-4D97-AF65-F5344CB8AC3E}">
        <p14:creationId xmlns:p14="http://schemas.microsoft.com/office/powerpoint/2010/main" val="1363580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3D528520-A59F-9634-8CF4-2191D540FB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BBE746-FD05-C68C-EA7F-4E96DCB781FB}"/>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36</a:t>
            </a:fld>
            <a:endParaRPr lang="en-GB" dirty="0"/>
          </a:p>
        </p:txBody>
      </p:sp>
      <p:sp>
        <p:nvSpPr>
          <p:cNvPr id="4" name="Google Shape;570;p59">
            <a:extLst>
              <a:ext uri="{FF2B5EF4-FFF2-40B4-BE49-F238E27FC236}">
                <a16:creationId xmlns:a16="http://schemas.microsoft.com/office/drawing/2014/main" id="{EA32A977-3782-CA8F-3F2D-30082D7D0210}"/>
              </a:ext>
            </a:extLst>
          </p:cNvPr>
          <p:cNvSpPr txBox="1">
            <a:spLocks/>
          </p:cNvSpPr>
          <p:nvPr/>
        </p:nvSpPr>
        <p:spPr>
          <a:xfrm>
            <a:off x="1130628" y="38769"/>
            <a:ext cx="10623167" cy="868362"/>
          </a:xfrm>
          <a:prstGeom prst="rect">
            <a:avLst/>
          </a:prstGeom>
          <a:noFill/>
          <a:ln>
            <a:noFill/>
          </a:ln>
        </p:spPr>
        <p:txBody>
          <a:bodyPr spcFirstLastPara="1" vert="horz" wrap="square" lIns="91425" tIns="45700" rIns="91425" bIns="45700" rtlCol="0" anchor="b" anchorCtr="0">
            <a:noAutofit/>
          </a:bodyPr>
          <a:lstStyle>
            <a:lvl1pPr algn="l" defTabSz="914400" rtl="0" eaLnBrk="1" latinLnBrk="0" hangingPunct="1">
              <a:lnSpc>
                <a:spcPct val="90000"/>
              </a:lnSpc>
              <a:spcBef>
                <a:spcPct val="0"/>
              </a:spcBef>
              <a:buNone/>
              <a:defRPr sz="4400" kern="1200">
                <a:solidFill>
                  <a:schemeClr val="bg2"/>
                </a:solidFill>
                <a:latin typeface="Cambria" panose="02040503050406030204" pitchFamily="18" charset="0"/>
                <a:ea typeface="+mj-ea"/>
                <a:cs typeface="+mj-cs"/>
              </a:defRPr>
            </a:lvl1pPr>
          </a:lstStyle>
          <a:p>
            <a:pPr marL="1076325" indent="-538163" algn="just">
              <a:lnSpc>
                <a:spcPct val="170000"/>
              </a:lnSpc>
              <a:buFont typeface="Wingdings" panose="05000000000000000000" pitchFamily="2" charset="2"/>
              <a:buChar char="q"/>
            </a:pPr>
            <a:r>
              <a:rPr lang="en-US" dirty="0">
                <a:solidFill>
                  <a:srgbClr val="FF6319"/>
                </a:solidFill>
              </a:rPr>
              <a:t>3. Transfer of unutilized funds</a:t>
            </a:r>
          </a:p>
        </p:txBody>
      </p:sp>
      <p:sp>
        <p:nvSpPr>
          <p:cNvPr id="3" name="TextBox 2">
            <a:extLst>
              <a:ext uri="{FF2B5EF4-FFF2-40B4-BE49-F238E27FC236}">
                <a16:creationId xmlns:a16="http://schemas.microsoft.com/office/drawing/2014/main" id="{0EE43C39-05B6-CBDC-8C37-14CA6412D177}"/>
              </a:ext>
            </a:extLst>
          </p:cNvPr>
          <p:cNvSpPr txBox="1"/>
          <p:nvPr/>
        </p:nvSpPr>
        <p:spPr>
          <a:xfrm>
            <a:off x="398449" y="1070775"/>
            <a:ext cx="11115040" cy="5207644"/>
          </a:xfrm>
          <a:prstGeom prst="rect">
            <a:avLst/>
          </a:prstGeom>
          <a:noFill/>
        </p:spPr>
        <p:txBody>
          <a:bodyPr wrap="square">
            <a:spAutoFit/>
          </a:bodyPr>
          <a:lstStyle/>
          <a:p>
            <a:pPr marL="1076325" lvl="0" indent="-538163" algn="just">
              <a:lnSpc>
                <a:spcPct val="150000"/>
              </a:lnSpc>
              <a:buFont typeface="Wingdings" panose="05000000000000000000" pitchFamily="2" charset="2"/>
              <a:buChar char="v"/>
            </a:pPr>
            <a:r>
              <a:rPr lang="en-US" sz="2500" dirty="0">
                <a:latin typeface="Tahoma" panose="020B0604030504040204" pitchFamily="34" charset="0"/>
                <a:ea typeface="Tahoma" panose="020B0604030504040204" pitchFamily="34" charset="0"/>
                <a:cs typeface="Tahoma" panose="020B0604030504040204" pitchFamily="34" charset="0"/>
              </a:rPr>
              <a:t>Any cheques/Ops or instruction for payment processed and submitted to BNR before 30th June 2025 but remained unpaid (in transit at the National Bank of Rwanda) while funds have been swept back in TSA, Treasury will be able to refund such funds when the entity present to Treasury the request to refund the amount with a copy of the proof of payment as well as a duly certified bank reconciliation. </a:t>
            </a:r>
          </a:p>
          <a:p>
            <a:pPr marL="1076325" lvl="0" indent="-538163" algn="just">
              <a:lnSpc>
                <a:spcPct val="150000"/>
              </a:lnSpc>
              <a:buFont typeface="Wingdings" panose="05000000000000000000" pitchFamily="2" charset="2"/>
              <a:buChar char="v"/>
            </a:pPr>
            <a:endParaRPr lang="en-US" sz="2500" dirty="0">
              <a:latin typeface="Tahoma" panose="020B0604030504040204" pitchFamily="34" charset="0"/>
              <a:ea typeface="Tahoma" panose="020B0604030504040204" pitchFamily="34" charset="0"/>
              <a:cs typeface="Tahoma" panose="020B0604030504040204" pitchFamily="34" charset="0"/>
            </a:endParaRPr>
          </a:p>
          <a:p>
            <a:pPr marL="1076325" lvl="0" indent="-538163" algn="just">
              <a:lnSpc>
                <a:spcPct val="150000"/>
              </a:lnSpc>
              <a:buFont typeface="Wingdings" panose="05000000000000000000" pitchFamily="2" charset="2"/>
              <a:buChar char="v"/>
            </a:pPr>
            <a:r>
              <a:rPr lang="en-US" sz="2500" dirty="0">
                <a:latin typeface="Tahoma" panose="020B0604030504040204" pitchFamily="34" charset="0"/>
                <a:ea typeface="Tahoma" panose="020B0604030504040204" pitchFamily="34" charset="0"/>
                <a:cs typeface="Tahoma" panose="020B0604030504040204" pitchFamily="34" charset="0"/>
              </a:rPr>
              <a:t>The refund requests should be submitted to Treasury not later than 31st  July 2025.</a:t>
            </a:r>
            <a:r>
              <a:rPr lang="en-ZA" sz="2500" dirty="0">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2344988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32773496-2276-B20A-FDCC-4A7BEB0857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D8F90A-C8AF-5536-DA88-1E34AD629CAE}"/>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37</a:t>
            </a:fld>
            <a:endParaRPr lang="en-GB" dirty="0"/>
          </a:p>
        </p:txBody>
      </p:sp>
      <p:sp>
        <p:nvSpPr>
          <p:cNvPr id="3" name="Google Shape;570;p59">
            <a:extLst>
              <a:ext uri="{FF2B5EF4-FFF2-40B4-BE49-F238E27FC236}">
                <a16:creationId xmlns:a16="http://schemas.microsoft.com/office/drawing/2014/main" id="{42CC1326-6F9F-376D-B29C-DADBDCE7D943}"/>
              </a:ext>
            </a:extLst>
          </p:cNvPr>
          <p:cNvSpPr txBox="1">
            <a:spLocks noGrp="1"/>
          </p:cNvSpPr>
          <p:nvPr>
            <p:ph type="title"/>
          </p:nvPr>
        </p:nvSpPr>
        <p:spPr>
          <a:xfrm>
            <a:off x="906446" y="84235"/>
            <a:ext cx="10623167" cy="868362"/>
          </a:xfrm>
          <a:prstGeom prst="rect">
            <a:avLst/>
          </a:prstGeom>
          <a:noFill/>
          <a:ln>
            <a:noFill/>
          </a:ln>
        </p:spPr>
        <p:txBody>
          <a:bodyPr spcFirstLastPara="1" vert="horz" wrap="square" lIns="91425" tIns="45700" rIns="91425" bIns="45700" rtlCol="0" anchor="b" anchorCtr="0">
            <a:noAutofit/>
          </a:bodyPr>
          <a:lstStyle/>
          <a:p>
            <a:pPr marL="1076325" lvl="0" indent="-538163" algn="just">
              <a:lnSpc>
                <a:spcPct val="170000"/>
              </a:lnSpc>
              <a:buFont typeface="Wingdings" panose="05000000000000000000" pitchFamily="2" charset="2"/>
              <a:buChar char="q"/>
            </a:pPr>
            <a:r>
              <a:rPr lang="en-US" dirty="0">
                <a:solidFill>
                  <a:srgbClr val="FF6319"/>
                </a:solidFill>
              </a:rPr>
              <a:t>4. Reporting Requirements</a:t>
            </a:r>
          </a:p>
        </p:txBody>
      </p:sp>
      <p:graphicFrame>
        <p:nvGraphicFramePr>
          <p:cNvPr id="4" name="Table 3">
            <a:extLst>
              <a:ext uri="{FF2B5EF4-FFF2-40B4-BE49-F238E27FC236}">
                <a16:creationId xmlns:a16="http://schemas.microsoft.com/office/drawing/2014/main" id="{52F0A928-348F-27EC-284A-D9E51F3FB3C1}"/>
              </a:ext>
            </a:extLst>
          </p:cNvPr>
          <p:cNvGraphicFramePr>
            <a:graphicFrameLocks noGrp="1"/>
          </p:cNvGraphicFramePr>
          <p:nvPr/>
        </p:nvGraphicFramePr>
        <p:xfrm>
          <a:off x="583484" y="1211690"/>
          <a:ext cx="11025031" cy="5018259"/>
        </p:xfrm>
        <a:graphic>
          <a:graphicData uri="http://schemas.openxmlformats.org/drawingml/2006/table">
            <a:tbl>
              <a:tblPr firstRow="1" firstCol="1" lastRow="1" lastCol="1" bandRow="1" bandCol="1"/>
              <a:tblGrid>
                <a:gridCol w="1028737">
                  <a:extLst>
                    <a:ext uri="{9D8B030D-6E8A-4147-A177-3AD203B41FA5}">
                      <a16:colId xmlns:a16="http://schemas.microsoft.com/office/drawing/2014/main" val="184022779"/>
                    </a:ext>
                  </a:extLst>
                </a:gridCol>
                <a:gridCol w="3075603">
                  <a:extLst>
                    <a:ext uri="{9D8B030D-6E8A-4147-A177-3AD203B41FA5}">
                      <a16:colId xmlns:a16="http://schemas.microsoft.com/office/drawing/2014/main" val="2223718623"/>
                    </a:ext>
                  </a:extLst>
                </a:gridCol>
                <a:gridCol w="2015047">
                  <a:extLst>
                    <a:ext uri="{9D8B030D-6E8A-4147-A177-3AD203B41FA5}">
                      <a16:colId xmlns:a16="http://schemas.microsoft.com/office/drawing/2014/main" val="1062349737"/>
                    </a:ext>
                  </a:extLst>
                </a:gridCol>
                <a:gridCol w="2360319">
                  <a:extLst>
                    <a:ext uri="{9D8B030D-6E8A-4147-A177-3AD203B41FA5}">
                      <a16:colId xmlns:a16="http://schemas.microsoft.com/office/drawing/2014/main" val="2439071463"/>
                    </a:ext>
                  </a:extLst>
                </a:gridCol>
                <a:gridCol w="2545325">
                  <a:extLst>
                    <a:ext uri="{9D8B030D-6E8A-4147-A177-3AD203B41FA5}">
                      <a16:colId xmlns:a16="http://schemas.microsoft.com/office/drawing/2014/main" val="3642272515"/>
                    </a:ext>
                  </a:extLst>
                </a:gridCol>
              </a:tblGrid>
              <a:tr h="1716259">
                <a:tc>
                  <a:txBody>
                    <a:bodyPr/>
                    <a:lstStyle/>
                    <a:p>
                      <a:pPr algn="just">
                        <a:buNone/>
                      </a:pPr>
                      <a:r>
                        <a:rPr lang="en-US" sz="18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Ref no.</a:t>
                      </a:r>
                      <a:endParaRPr lang="en-GB" sz="1800" dirty="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EAAAA"/>
                    </a:solidFill>
                  </a:tcPr>
                </a:tc>
                <a:tc>
                  <a:txBody>
                    <a:bodyPr/>
                    <a:lstStyle/>
                    <a:p>
                      <a:pPr algn="just">
                        <a:buNone/>
                      </a:pPr>
                      <a:r>
                        <a:rPr lang="en-US" sz="18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Description</a:t>
                      </a:r>
                      <a:endParaRPr lang="en-GB" sz="1800" dirty="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EAAAA"/>
                    </a:solidFill>
                  </a:tcPr>
                </a:tc>
                <a:tc>
                  <a:txBody>
                    <a:bodyPr/>
                    <a:lstStyle/>
                    <a:p>
                      <a:pPr algn="just">
                        <a:buNone/>
                      </a:pPr>
                      <a:r>
                        <a:rPr lang="en-US" sz="1800" b="1">
                          <a:solidFill>
                            <a:srgbClr val="000000"/>
                          </a:solidFill>
                          <a:effectLst/>
                          <a:latin typeface="Tahoma" panose="020B0604030504040204" pitchFamily="34" charset="0"/>
                          <a:ea typeface="Tahoma" panose="020B0604030504040204" pitchFamily="34" charset="0"/>
                          <a:cs typeface="Tahoma" panose="020B0604030504040204" pitchFamily="34" charset="0"/>
                        </a:rPr>
                        <a:t>Date</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EAAAA"/>
                    </a:solidFill>
                  </a:tcPr>
                </a:tc>
                <a:tc>
                  <a:txBody>
                    <a:bodyPr/>
                    <a:lstStyle/>
                    <a:p>
                      <a:pPr algn="just">
                        <a:buNone/>
                      </a:pPr>
                      <a:r>
                        <a:rPr lang="en-GB" sz="1800" b="1">
                          <a:solidFill>
                            <a:srgbClr val="000000"/>
                          </a:solidFill>
                          <a:effectLst/>
                          <a:latin typeface="Tahoma" panose="020B0604030504040204" pitchFamily="34" charset="0"/>
                          <a:ea typeface="Tahoma" panose="020B0604030504040204" pitchFamily="34" charset="0"/>
                          <a:cs typeface="Tahoma" panose="020B0604030504040204" pitchFamily="34" charset="0"/>
                        </a:rPr>
                        <a:t>Article of </a:t>
                      </a:r>
                      <a:endParaRPr lang="en-GB" sz="1800">
                        <a:effectLst/>
                        <a:latin typeface="Tahoma" panose="020B0604030504040204" pitchFamily="34" charset="0"/>
                        <a:ea typeface="Tahoma" panose="020B0604030504040204" pitchFamily="34" charset="0"/>
                        <a:cs typeface="Tahoma" panose="020B0604030504040204" pitchFamily="34" charset="0"/>
                      </a:endParaRPr>
                    </a:p>
                    <a:p>
                      <a:pPr algn="just">
                        <a:buNone/>
                      </a:pPr>
                      <a:r>
                        <a:rPr lang="en-GB" sz="1800" b="1">
                          <a:solidFill>
                            <a:srgbClr val="000000"/>
                          </a:solidFill>
                          <a:effectLst/>
                          <a:latin typeface="Tahoma" panose="020B0604030504040204" pitchFamily="34" charset="0"/>
                          <a:ea typeface="Tahoma" panose="020B0604030504040204" pitchFamily="34" charset="0"/>
                          <a:cs typeface="Tahoma" panose="020B0604030504040204" pitchFamily="34" charset="0"/>
                        </a:rPr>
                        <a:t> Organic Law on public finance management  </a:t>
                      </a:r>
                      <a:endParaRPr lang="en-GB" sz="1800">
                        <a:effectLst/>
                        <a:latin typeface="Tahoma" panose="020B0604030504040204" pitchFamily="34" charset="0"/>
                        <a:ea typeface="Tahoma" panose="020B0604030504040204" pitchFamily="34" charset="0"/>
                        <a:cs typeface="Tahoma" panose="020B0604030504040204" pitchFamily="34" charset="0"/>
                      </a:endParaRPr>
                    </a:p>
                    <a:p>
                      <a:pPr algn="just">
                        <a:buNone/>
                      </a:pPr>
                      <a:r>
                        <a:rPr lang="en-GB" sz="1800" b="1">
                          <a:solidFill>
                            <a:srgbClr val="000000"/>
                          </a:solidFill>
                          <a:effectLst/>
                          <a:latin typeface="Tahoma" panose="020B0604030504040204" pitchFamily="34" charset="0"/>
                          <a:ea typeface="Tahoma" panose="020B0604030504040204" pitchFamily="34" charset="0"/>
                          <a:cs typeface="Tahoma" panose="020B0604030504040204" pitchFamily="34" charset="0"/>
                        </a:rPr>
                        <a:t>N° 002/2022.OL of 12/12/2022  </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EAAAA"/>
                    </a:solidFill>
                  </a:tcPr>
                </a:tc>
                <a:tc>
                  <a:txBody>
                    <a:bodyPr/>
                    <a:lstStyle/>
                    <a:p>
                      <a:pPr algn="just">
                        <a:buNone/>
                      </a:pPr>
                      <a:r>
                        <a:rPr lang="en-US" sz="1800" b="1">
                          <a:solidFill>
                            <a:srgbClr val="000000"/>
                          </a:solidFill>
                          <a:effectLst/>
                          <a:latin typeface="Tahoma" panose="020B0604030504040204" pitchFamily="34" charset="0"/>
                          <a:ea typeface="Tahoma" panose="020B0604030504040204" pitchFamily="34" charset="0"/>
                          <a:cs typeface="Tahoma" panose="020B0604030504040204" pitchFamily="34" charset="0"/>
                        </a:rPr>
                        <a:t>Responsibility</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EAAAA"/>
                    </a:solidFill>
                  </a:tcPr>
                </a:tc>
                <a:extLst>
                  <a:ext uri="{0D108BD9-81ED-4DB2-BD59-A6C34878D82A}">
                    <a16:rowId xmlns:a16="http://schemas.microsoft.com/office/drawing/2014/main" val="3773191662"/>
                  </a:ext>
                </a:extLst>
              </a:tr>
              <a:tr h="572086">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1</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Monthly reports </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20</a:t>
                      </a:r>
                      <a:r>
                        <a:rPr lang="en-US" sz="1800" baseline="30000">
                          <a:effectLst/>
                          <a:latin typeface="Tahoma" panose="020B0604030504040204" pitchFamily="34" charset="0"/>
                          <a:ea typeface="Tahoma" panose="020B0604030504040204" pitchFamily="34" charset="0"/>
                          <a:cs typeface="Tahoma" panose="020B0604030504040204" pitchFamily="34" charset="0"/>
                        </a:rPr>
                        <a:t>th</a:t>
                      </a:r>
                      <a:r>
                        <a:rPr lang="en-US" sz="1800">
                          <a:effectLst/>
                          <a:latin typeface="Tahoma" panose="020B0604030504040204" pitchFamily="34" charset="0"/>
                          <a:ea typeface="Tahoma" panose="020B0604030504040204" pitchFamily="34" charset="0"/>
                          <a:cs typeface="Tahoma" panose="020B0604030504040204" pitchFamily="34" charset="0"/>
                        </a:rPr>
                        <a:t> of the following month </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Article 78</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Chief Budget Manager</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93993473"/>
                  </a:ext>
                </a:extLst>
              </a:tr>
              <a:tr h="762783">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2</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Submission of Final annual financial statement to MINECOFIN </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15</a:t>
                      </a:r>
                      <a:r>
                        <a:rPr lang="en-US" sz="1800" baseline="30000">
                          <a:effectLst/>
                          <a:latin typeface="Tahoma" panose="020B0604030504040204" pitchFamily="34" charset="0"/>
                          <a:ea typeface="Tahoma" panose="020B0604030504040204" pitchFamily="34" charset="0"/>
                          <a:cs typeface="Tahoma" panose="020B0604030504040204" pitchFamily="34" charset="0"/>
                        </a:rPr>
                        <a:t>th</a:t>
                      </a:r>
                      <a:r>
                        <a:rPr lang="en-US" sz="1800">
                          <a:effectLst/>
                          <a:latin typeface="Tahoma" panose="020B0604030504040204" pitchFamily="34" charset="0"/>
                          <a:ea typeface="Tahoma" panose="020B0604030504040204" pitchFamily="34" charset="0"/>
                          <a:cs typeface="Tahoma" panose="020B0604030504040204" pitchFamily="34" charset="0"/>
                        </a:rPr>
                        <a:t> August 2025</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Article 78</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Chief Budget Manager</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3437887"/>
                  </a:ext>
                </a:extLst>
              </a:tr>
              <a:tr h="953477">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3</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Submission of Final annual financial statements to Auditor General</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15</a:t>
                      </a:r>
                      <a:r>
                        <a:rPr lang="en-US" sz="1800" baseline="30000">
                          <a:effectLst/>
                          <a:latin typeface="Tahoma" panose="020B0604030504040204" pitchFamily="34" charset="0"/>
                          <a:ea typeface="Tahoma" panose="020B0604030504040204" pitchFamily="34" charset="0"/>
                          <a:cs typeface="Tahoma" panose="020B0604030504040204" pitchFamily="34" charset="0"/>
                        </a:rPr>
                        <a:t>th</a:t>
                      </a:r>
                      <a:r>
                        <a:rPr lang="en-US" sz="1800">
                          <a:effectLst/>
                          <a:latin typeface="Tahoma" panose="020B0604030504040204" pitchFamily="34" charset="0"/>
                          <a:ea typeface="Tahoma" panose="020B0604030504040204" pitchFamily="34" charset="0"/>
                          <a:cs typeface="Tahoma" panose="020B0604030504040204" pitchFamily="34" charset="0"/>
                        </a:rPr>
                        <a:t> August 2025 </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Article 78</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Chief Budget Manager</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2982121"/>
                  </a:ext>
                </a:extLst>
              </a:tr>
              <a:tr h="953477">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4</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Submission of consolidated </a:t>
                      </a:r>
                      <a:endParaRPr lang="en-GB" sz="1800">
                        <a:effectLst/>
                        <a:latin typeface="Tahoma" panose="020B0604030504040204" pitchFamily="34" charset="0"/>
                        <a:ea typeface="Tahoma" panose="020B0604030504040204" pitchFamily="34" charset="0"/>
                        <a:cs typeface="Tahoma" panose="020B0604030504040204" pitchFamily="34" charset="0"/>
                      </a:endParaRPr>
                    </a:p>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financial statements to Auditor General</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30</a:t>
                      </a:r>
                      <a:r>
                        <a:rPr lang="en-US" sz="1800" baseline="30000">
                          <a:effectLst/>
                          <a:latin typeface="Tahoma" panose="020B0604030504040204" pitchFamily="34" charset="0"/>
                          <a:ea typeface="Tahoma" panose="020B0604030504040204" pitchFamily="34" charset="0"/>
                          <a:cs typeface="Tahoma" panose="020B0604030504040204" pitchFamily="34" charset="0"/>
                        </a:rPr>
                        <a:t>th</a:t>
                      </a:r>
                      <a:r>
                        <a:rPr lang="en-US" sz="1800">
                          <a:effectLst/>
                          <a:latin typeface="Tahoma" panose="020B0604030504040204" pitchFamily="34" charset="0"/>
                          <a:ea typeface="Tahoma" panose="020B0604030504040204" pitchFamily="34" charset="0"/>
                          <a:cs typeface="Tahoma" panose="020B0604030504040204" pitchFamily="34" charset="0"/>
                        </a:rPr>
                        <a:t> September 2025</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a:effectLst/>
                          <a:latin typeface="Tahoma" panose="020B0604030504040204" pitchFamily="34" charset="0"/>
                          <a:ea typeface="Tahoma" panose="020B0604030504040204" pitchFamily="34" charset="0"/>
                          <a:cs typeface="Tahoma" panose="020B0604030504040204" pitchFamily="34" charset="0"/>
                        </a:rPr>
                        <a:t>Article 79</a:t>
                      </a:r>
                      <a:endParaRPr lang="en-GB" sz="180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n-US" sz="1800" dirty="0">
                          <a:effectLst/>
                          <a:latin typeface="Tahoma" panose="020B0604030504040204" pitchFamily="34" charset="0"/>
                          <a:ea typeface="Tahoma" panose="020B0604030504040204" pitchFamily="34" charset="0"/>
                          <a:cs typeface="Tahoma" panose="020B0604030504040204" pitchFamily="34" charset="0"/>
                        </a:rPr>
                        <a:t>Minister</a:t>
                      </a:r>
                      <a:endParaRPr lang="en-GB" sz="1800" dirty="0">
                        <a:effectLst/>
                        <a:latin typeface="Tahoma" panose="020B0604030504040204" pitchFamily="34" charset="0"/>
                        <a:ea typeface="Tahoma" panose="020B0604030504040204" pitchFamily="34" charset="0"/>
                        <a:cs typeface="Tahoma" panose="020B0604030504040204" pitchFamily="34" charset="0"/>
                      </a:endParaRPr>
                    </a:p>
                    <a:p>
                      <a:pPr algn="just">
                        <a:buNone/>
                      </a:pPr>
                      <a:r>
                        <a:rPr lang="en-US" sz="1800" dirty="0">
                          <a:effectLst/>
                          <a:latin typeface="Tahoma" panose="020B0604030504040204" pitchFamily="34" charset="0"/>
                          <a:ea typeface="Tahoma" panose="020B0604030504040204" pitchFamily="34" charset="0"/>
                          <a:cs typeface="Tahoma" panose="020B0604030504040204" pitchFamily="34" charset="0"/>
                        </a:rPr>
                        <a:t> </a:t>
                      </a:r>
                      <a:endParaRPr lang="en-GB" sz="1800" dirty="0">
                        <a:effectLst/>
                        <a:latin typeface="Tahoma" panose="020B0604030504040204" pitchFamily="34" charset="0"/>
                        <a:ea typeface="Tahoma" panose="020B0604030504040204" pitchFamily="34" charset="0"/>
                        <a:cs typeface="Tahoma" panose="020B0604030504040204" pitchFamily="34" charset="0"/>
                      </a:endParaRPr>
                    </a:p>
                  </a:txBody>
                  <a:tcPr marL="62760" marR="6276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5010378"/>
                  </a:ext>
                </a:extLst>
              </a:tr>
            </a:tbl>
          </a:graphicData>
        </a:graphic>
      </p:graphicFrame>
    </p:spTree>
    <p:extLst>
      <p:ext uri="{BB962C8B-B14F-4D97-AF65-F5344CB8AC3E}">
        <p14:creationId xmlns:p14="http://schemas.microsoft.com/office/powerpoint/2010/main" val="1030470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1CB1751B-432E-98A5-8376-2E85E37AAFC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845BE8-9A04-2626-52B0-9645EA0E99FA}"/>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38</a:t>
            </a:fld>
            <a:endParaRPr lang="en-GB" dirty="0"/>
          </a:p>
        </p:txBody>
      </p:sp>
      <p:sp>
        <p:nvSpPr>
          <p:cNvPr id="3" name="Google Shape;570;p59">
            <a:extLst>
              <a:ext uri="{FF2B5EF4-FFF2-40B4-BE49-F238E27FC236}">
                <a16:creationId xmlns:a16="http://schemas.microsoft.com/office/drawing/2014/main" id="{6677B681-4A73-0A99-6D44-B9C1591BBD69}"/>
              </a:ext>
            </a:extLst>
          </p:cNvPr>
          <p:cNvSpPr txBox="1">
            <a:spLocks noGrp="1"/>
          </p:cNvSpPr>
          <p:nvPr>
            <p:ph type="title"/>
          </p:nvPr>
        </p:nvSpPr>
        <p:spPr>
          <a:xfrm>
            <a:off x="906446" y="84235"/>
            <a:ext cx="10623167" cy="868362"/>
          </a:xfrm>
          <a:prstGeom prst="rect">
            <a:avLst/>
          </a:prstGeom>
          <a:noFill/>
          <a:ln>
            <a:noFill/>
          </a:ln>
        </p:spPr>
        <p:txBody>
          <a:bodyPr spcFirstLastPara="1" vert="horz" wrap="square" lIns="91425" tIns="45700" rIns="91425" bIns="45700" rtlCol="0" anchor="b" anchorCtr="0">
            <a:noAutofit/>
          </a:bodyPr>
          <a:lstStyle/>
          <a:p>
            <a:pPr marL="1076325" lvl="0" indent="-538163" algn="just">
              <a:lnSpc>
                <a:spcPct val="170000"/>
              </a:lnSpc>
              <a:buFont typeface="Wingdings" panose="05000000000000000000" pitchFamily="2" charset="2"/>
              <a:buChar char="q"/>
            </a:pPr>
            <a:r>
              <a:rPr lang="en-US" dirty="0">
                <a:solidFill>
                  <a:srgbClr val="FF6319"/>
                </a:solidFill>
              </a:rPr>
              <a:t>5. Opening Balances</a:t>
            </a:r>
          </a:p>
        </p:txBody>
      </p:sp>
      <p:sp>
        <p:nvSpPr>
          <p:cNvPr id="6" name="TextBox 5">
            <a:extLst>
              <a:ext uri="{FF2B5EF4-FFF2-40B4-BE49-F238E27FC236}">
                <a16:creationId xmlns:a16="http://schemas.microsoft.com/office/drawing/2014/main" id="{D92EB7F4-B79A-B635-8612-118F899DB227}"/>
              </a:ext>
            </a:extLst>
          </p:cNvPr>
          <p:cNvSpPr txBox="1"/>
          <p:nvPr/>
        </p:nvSpPr>
        <p:spPr>
          <a:xfrm>
            <a:off x="315543" y="1350861"/>
            <a:ext cx="11214070" cy="4572855"/>
          </a:xfrm>
          <a:prstGeom prst="rect">
            <a:avLst/>
          </a:prstGeom>
          <a:noFill/>
        </p:spPr>
        <p:txBody>
          <a:bodyPr wrap="square">
            <a:spAutoFit/>
          </a:bodyPr>
          <a:lstStyle/>
          <a:p>
            <a:pPr marL="881062" lvl="0" indent="-342900" algn="just">
              <a:lnSpc>
                <a:spcPct val="170000"/>
              </a:lnSpc>
              <a:buFont typeface="Wingdings" panose="05000000000000000000" pitchFamily="2" charset="2"/>
              <a:buChar char="Ø"/>
            </a:pPr>
            <a:r>
              <a:rPr lang="en-US" sz="2500" dirty="0">
                <a:latin typeface="Tahoma" panose="020B0604030504040204" pitchFamily="34" charset="0"/>
                <a:ea typeface="Tahoma" panose="020B0604030504040204" pitchFamily="34" charset="0"/>
                <a:cs typeface="Tahoma" panose="020B0604030504040204" pitchFamily="34" charset="0"/>
              </a:rPr>
              <a:t>The opening balances for current financial year  shall be those that correspond to the closing balances included in the financial statements for the previous FY ended as was submitted to MINECOFIN and Office of Auditor General.</a:t>
            </a:r>
          </a:p>
          <a:p>
            <a:pPr marL="881062" lvl="0" indent="-342900" algn="just">
              <a:lnSpc>
                <a:spcPct val="170000"/>
              </a:lnSpc>
              <a:buFont typeface="Wingdings" panose="05000000000000000000" pitchFamily="2" charset="2"/>
              <a:buChar char="Ø"/>
            </a:pPr>
            <a:endParaRPr lang="en-US" sz="2500" dirty="0">
              <a:latin typeface="Tahoma" panose="020B0604030504040204" pitchFamily="34" charset="0"/>
              <a:ea typeface="Tahoma" panose="020B0604030504040204" pitchFamily="34" charset="0"/>
              <a:cs typeface="Tahoma" panose="020B0604030504040204" pitchFamily="34" charset="0"/>
            </a:endParaRPr>
          </a:p>
          <a:p>
            <a:pPr marL="881062" lvl="0" indent="-342900" algn="just">
              <a:lnSpc>
                <a:spcPct val="170000"/>
              </a:lnSpc>
              <a:buFont typeface="Wingdings" panose="05000000000000000000" pitchFamily="2" charset="2"/>
              <a:buChar char="Ø"/>
            </a:pPr>
            <a:r>
              <a:rPr lang="en-US" sz="2500" dirty="0">
                <a:latin typeface="Tahoma" panose="020B0604030504040204" pitchFamily="34" charset="0"/>
                <a:ea typeface="Tahoma" panose="020B0604030504040204" pitchFamily="34" charset="0"/>
                <a:cs typeface="Tahoma" panose="020B0604030504040204" pitchFamily="34" charset="0"/>
              </a:rPr>
              <a:t>Any changes to the opening balances shall be duly authorized by the Chief Budget Manager and well supported for future reference</a:t>
            </a:r>
          </a:p>
        </p:txBody>
      </p:sp>
    </p:spTree>
    <p:extLst>
      <p:ext uri="{BB962C8B-B14F-4D97-AF65-F5344CB8AC3E}">
        <p14:creationId xmlns:p14="http://schemas.microsoft.com/office/powerpoint/2010/main" val="171311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9A7E3442-4E44-C033-CF69-5E7C6FCEE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A8DF0E-876B-496F-334E-48E030EEE2A1}"/>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39</a:t>
            </a:fld>
            <a:endParaRPr lang="en-GB" dirty="0"/>
          </a:p>
        </p:txBody>
      </p:sp>
      <p:sp>
        <p:nvSpPr>
          <p:cNvPr id="3" name="Google Shape;570;p59">
            <a:extLst>
              <a:ext uri="{FF2B5EF4-FFF2-40B4-BE49-F238E27FC236}">
                <a16:creationId xmlns:a16="http://schemas.microsoft.com/office/drawing/2014/main" id="{FB86603C-C3BC-3584-3A54-B932EFB40650}"/>
              </a:ext>
            </a:extLst>
          </p:cNvPr>
          <p:cNvSpPr txBox="1">
            <a:spLocks noGrp="1"/>
          </p:cNvSpPr>
          <p:nvPr>
            <p:ph type="title"/>
          </p:nvPr>
        </p:nvSpPr>
        <p:spPr>
          <a:xfrm>
            <a:off x="906446" y="84235"/>
            <a:ext cx="10623167" cy="868362"/>
          </a:xfrm>
          <a:prstGeom prst="rect">
            <a:avLst/>
          </a:prstGeom>
          <a:noFill/>
          <a:ln>
            <a:noFill/>
          </a:ln>
        </p:spPr>
        <p:txBody>
          <a:bodyPr spcFirstLastPara="1" vert="horz" wrap="square" lIns="91425" tIns="45700" rIns="91425" bIns="45700" rtlCol="0" anchor="b" anchorCtr="0">
            <a:noAutofit/>
          </a:bodyPr>
          <a:lstStyle/>
          <a:p>
            <a:pPr marL="1076325" lvl="0" indent="-538163" algn="just">
              <a:lnSpc>
                <a:spcPct val="170000"/>
              </a:lnSpc>
              <a:buFont typeface="Wingdings" panose="05000000000000000000" pitchFamily="2" charset="2"/>
              <a:buChar char="q"/>
            </a:pPr>
            <a:r>
              <a:rPr lang="en-US" dirty="0">
                <a:solidFill>
                  <a:srgbClr val="FF6319"/>
                </a:solidFill>
              </a:rPr>
              <a:t>6. Inter-entity Reconciliations</a:t>
            </a:r>
          </a:p>
        </p:txBody>
      </p:sp>
      <p:sp>
        <p:nvSpPr>
          <p:cNvPr id="5" name="TextBox 4">
            <a:extLst>
              <a:ext uri="{FF2B5EF4-FFF2-40B4-BE49-F238E27FC236}">
                <a16:creationId xmlns:a16="http://schemas.microsoft.com/office/drawing/2014/main" id="{9A82EA21-F41F-A6BB-A26A-258F628A7AE7}"/>
              </a:ext>
            </a:extLst>
          </p:cNvPr>
          <p:cNvSpPr txBox="1"/>
          <p:nvPr/>
        </p:nvSpPr>
        <p:spPr>
          <a:xfrm>
            <a:off x="203200" y="952597"/>
            <a:ext cx="11578711" cy="3274423"/>
          </a:xfrm>
          <a:prstGeom prst="rect">
            <a:avLst/>
          </a:prstGeom>
          <a:noFill/>
        </p:spPr>
        <p:txBody>
          <a:bodyPr wrap="square">
            <a:spAutoFit/>
          </a:bodyPr>
          <a:lstStyle/>
          <a:p>
            <a:pPr marL="881062" lvl="0" indent="-342900" algn="just">
              <a:lnSpc>
                <a:spcPct val="120000"/>
              </a:lnSpc>
              <a:buFont typeface="Wingdings" panose="05000000000000000000" pitchFamily="2" charset="2"/>
              <a:buChar char="Ø"/>
            </a:pPr>
            <a:r>
              <a:rPr lang="en-US" sz="2500" dirty="0">
                <a:latin typeface="Tahoma" panose="020B0604030504040204" pitchFamily="34" charset="0"/>
                <a:ea typeface="Tahoma" panose="020B0604030504040204" pitchFamily="34" charset="0"/>
                <a:cs typeface="Tahoma" panose="020B0604030504040204" pitchFamily="34" charset="0"/>
              </a:rPr>
              <a:t>Public entities have to carry out direct confirmations from the receiving and sending entity to ensure that both parties have treated the amounts as inter-entity transactions and that the amounts are equal.</a:t>
            </a:r>
          </a:p>
          <a:p>
            <a:pPr marL="881062" lvl="0" indent="-342900" algn="just">
              <a:lnSpc>
                <a:spcPct val="120000"/>
              </a:lnSpc>
              <a:buFont typeface="Wingdings" panose="05000000000000000000" pitchFamily="2" charset="2"/>
              <a:buChar char="Ø"/>
            </a:pPr>
            <a:endParaRPr lang="en-US" sz="2500" dirty="0">
              <a:latin typeface="Tahoma" panose="020B0604030504040204" pitchFamily="34" charset="0"/>
              <a:ea typeface="Tahoma" panose="020B0604030504040204" pitchFamily="34" charset="0"/>
              <a:cs typeface="Tahoma" panose="020B0604030504040204" pitchFamily="34" charset="0"/>
            </a:endParaRPr>
          </a:p>
          <a:p>
            <a:pPr marL="881062" lvl="0" indent="-342900" algn="just">
              <a:lnSpc>
                <a:spcPct val="120000"/>
              </a:lnSpc>
              <a:buFont typeface="Wingdings" panose="05000000000000000000" pitchFamily="2" charset="2"/>
              <a:buChar char="Ø"/>
            </a:pPr>
            <a:r>
              <a:rPr lang="en-US" sz="2500" dirty="0">
                <a:latin typeface="Tahoma" panose="020B0604030504040204" pitchFamily="34" charset="0"/>
                <a:ea typeface="Tahoma" panose="020B0604030504040204" pitchFamily="34" charset="0"/>
                <a:cs typeface="Tahoma" panose="020B0604030504040204" pitchFamily="34" charset="0"/>
              </a:rPr>
              <a:t>At the central/local Government level, the sub-consolidating entities shall ensure that the intra-transfer transactions between the parent and subsidiaries  are fully eliminated. </a:t>
            </a:r>
            <a:endParaRPr lang="en-RW" sz="25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625323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A2A49EE5-0FD1-4616-69DD-074F69F056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F3F7BE-81D2-7B08-DBB7-0C86F69F6D0F}"/>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40</a:t>
            </a:fld>
            <a:endParaRPr lang="en-GB" dirty="0"/>
          </a:p>
        </p:txBody>
      </p:sp>
      <p:sp>
        <p:nvSpPr>
          <p:cNvPr id="3" name="Google Shape;570;p59">
            <a:extLst>
              <a:ext uri="{FF2B5EF4-FFF2-40B4-BE49-F238E27FC236}">
                <a16:creationId xmlns:a16="http://schemas.microsoft.com/office/drawing/2014/main" id="{E77B3657-A86C-82F9-4EB5-430C2BC02E2A}"/>
              </a:ext>
            </a:extLst>
          </p:cNvPr>
          <p:cNvSpPr txBox="1">
            <a:spLocks noGrp="1"/>
          </p:cNvSpPr>
          <p:nvPr>
            <p:ph type="title"/>
          </p:nvPr>
        </p:nvSpPr>
        <p:spPr>
          <a:xfrm>
            <a:off x="906446" y="84235"/>
            <a:ext cx="10623167" cy="868362"/>
          </a:xfrm>
          <a:prstGeom prst="rect">
            <a:avLst/>
          </a:prstGeom>
          <a:noFill/>
          <a:ln>
            <a:noFill/>
          </a:ln>
        </p:spPr>
        <p:txBody>
          <a:bodyPr spcFirstLastPara="1" vert="horz" wrap="square" lIns="91425" tIns="45700" rIns="91425" bIns="45700" rtlCol="0" anchor="b" anchorCtr="0">
            <a:noAutofit/>
          </a:bodyPr>
          <a:lstStyle/>
          <a:p>
            <a:pPr marL="1076325" lvl="0" indent="-538163" algn="just">
              <a:lnSpc>
                <a:spcPct val="170000"/>
              </a:lnSpc>
              <a:buFont typeface="Wingdings" panose="05000000000000000000" pitchFamily="2" charset="2"/>
              <a:buChar char="q"/>
            </a:pPr>
            <a:r>
              <a:rPr lang="en-US" dirty="0">
                <a:solidFill>
                  <a:srgbClr val="FF6319"/>
                </a:solidFill>
              </a:rPr>
              <a:t>7. Accounts Receivables and Payables</a:t>
            </a:r>
          </a:p>
        </p:txBody>
      </p:sp>
      <p:sp>
        <p:nvSpPr>
          <p:cNvPr id="4" name="TextBox 3">
            <a:extLst>
              <a:ext uri="{FF2B5EF4-FFF2-40B4-BE49-F238E27FC236}">
                <a16:creationId xmlns:a16="http://schemas.microsoft.com/office/drawing/2014/main" id="{544B8B9A-5117-D2A6-4426-79B3E160B6E8}"/>
              </a:ext>
            </a:extLst>
          </p:cNvPr>
          <p:cNvSpPr txBox="1"/>
          <p:nvPr/>
        </p:nvSpPr>
        <p:spPr>
          <a:xfrm>
            <a:off x="0" y="737444"/>
            <a:ext cx="11691355" cy="6494085"/>
          </a:xfrm>
          <a:prstGeom prst="rect">
            <a:avLst/>
          </a:prstGeom>
          <a:noFill/>
        </p:spPr>
        <p:txBody>
          <a:bodyPr wrap="square">
            <a:spAutoFit/>
          </a:bodyPr>
          <a:lstStyle/>
          <a:p>
            <a:pPr marL="881062" indent="-342900" algn="just">
              <a:lnSpc>
                <a:spcPct val="100000"/>
              </a:lnSpc>
              <a:buFont typeface="Wingdings" panose="05000000000000000000" pitchFamily="2" charset="2"/>
              <a:buChar char="Ø"/>
            </a:pPr>
            <a:endParaRPr lang="en-US" sz="2400" dirty="0">
              <a:latin typeface="Tahoma" panose="020B0604030504040204" pitchFamily="34" charset="0"/>
              <a:ea typeface="Tahoma" panose="020B0604030504040204" pitchFamily="34" charset="0"/>
              <a:cs typeface="Tahoma" panose="020B0604030504040204" pitchFamily="34" charset="0"/>
            </a:endParaRPr>
          </a:p>
          <a:p>
            <a:pPr marL="881062" indent="-342900" algn="just">
              <a:lnSpc>
                <a:spcPct val="100000"/>
              </a:lnSpc>
              <a:buFont typeface="Wingdings" panose="05000000000000000000" pitchFamily="2" charset="2"/>
              <a:buChar char="Ø"/>
            </a:pPr>
            <a:r>
              <a:rPr lang="en-US" sz="2400" dirty="0">
                <a:latin typeface="Tahoma" panose="020B0604030504040204" pitchFamily="34" charset="0"/>
                <a:ea typeface="Tahoma" panose="020B0604030504040204" pitchFamily="34" charset="0"/>
                <a:cs typeface="Tahoma" panose="020B0604030504040204" pitchFamily="34" charset="0"/>
              </a:rPr>
              <a:t>Irrecoverable receivables and payables whose payment is confirmed to be impossible (those last for more than two years in the books of accounts) should be written off. (Ref. to art.105 of M.O and section 11.3 of Public Finance Management Manual).</a:t>
            </a:r>
          </a:p>
          <a:p>
            <a:pPr marL="881062" indent="-342900" algn="just">
              <a:lnSpc>
                <a:spcPct val="100000"/>
              </a:lnSpc>
              <a:buFont typeface="Wingdings" panose="05000000000000000000" pitchFamily="2" charset="2"/>
              <a:buChar char="Ø"/>
            </a:pPr>
            <a:endParaRPr lang="en-US" sz="2400" dirty="0">
              <a:latin typeface="Tahoma" panose="020B0604030504040204" pitchFamily="34" charset="0"/>
              <a:ea typeface="Tahoma" panose="020B0604030504040204" pitchFamily="34" charset="0"/>
              <a:cs typeface="Tahoma" panose="020B0604030504040204" pitchFamily="34" charset="0"/>
            </a:endParaRPr>
          </a:p>
          <a:p>
            <a:pPr marL="538162" algn="just">
              <a:lnSpc>
                <a:spcPct val="100000"/>
              </a:lnSpc>
            </a:pPr>
            <a:r>
              <a:rPr lang="en-GB" sz="2400" i="1" dirty="0"/>
              <a:t>Debts should be considered for write-off if any of the following conditions apply:</a:t>
            </a:r>
          </a:p>
          <a:p>
            <a:pPr marL="538162" algn="just">
              <a:lnSpc>
                <a:spcPct val="100000"/>
              </a:lnSpc>
            </a:pPr>
            <a:endParaRPr lang="en-GB" sz="2000" i="1" dirty="0"/>
          </a:p>
          <a:p>
            <a:pPr marL="1052512" indent="-514350" algn="just">
              <a:lnSpc>
                <a:spcPct val="100000"/>
              </a:lnSpc>
              <a:buFont typeface="+mj-lt"/>
              <a:buAutoNum type="romanLcPeriod"/>
            </a:pPr>
            <a:r>
              <a:rPr lang="en-GB" sz="2000" i="1" dirty="0"/>
              <a:t> The debtor has died leaving no known estate; </a:t>
            </a:r>
          </a:p>
          <a:p>
            <a:pPr marL="1052512" indent="-514350" algn="just">
              <a:lnSpc>
                <a:spcPct val="100000"/>
              </a:lnSpc>
              <a:buFont typeface="+mj-lt"/>
              <a:buAutoNum type="romanLcPeriod"/>
            </a:pPr>
            <a:r>
              <a:rPr lang="en-GB" sz="2000" i="1" dirty="0"/>
              <a:t>The debtor cannot be located; </a:t>
            </a:r>
          </a:p>
          <a:p>
            <a:pPr marL="1052512" indent="-514350" algn="just">
              <a:lnSpc>
                <a:spcPct val="100000"/>
              </a:lnSpc>
              <a:buFont typeface="+mj-lt"/>
              <a:buAutoNum type="romanLcPeriod"/>
            </a:pPr>
            <a:r>
              <a:rPr lang="en-GB" sz="2000" i="1" dirty="0"/>
              <a:t>The debtor is not resident in Rwanda and there are no means of collection or indication that the debtor has family or business ties that might encourage him to return to Rwanda; </a:t>
            </a:r>
          </a:p>
          <a:p>
            <a:pPr marL="1052512" indent="-514350" algn="just">
              <a:lnSpc>
                <a:spcPct val="100000"/>
              </a:lnSpc>
              <a:buFont typeface="+mj-lt"/>
              <a:buAutoNum type="romanLcPeriod"/>
            </a:pPr>
            <a:r>
              <a:rPr lang="en-GB" sz="2000" i="1" dirty="0"/>
              <a:t>The debtor has disputed liability and the success in collecting is unlikely; v. The debtor is a company that has ceased to operate and has no assets; or </a:t>
            </a:r>
          </a:p>
          <a:p>
            <a:pPr marL="1052512" indent="-514350" algn="just">
              <a:lnSpc>
                <a:spcPct val="100000"/>
              </a:lnSpc>
              <a:buFont typeface="+mj-lt"/>
              <a:buAutoNum type="romanLcPeriod"/>
            </a:pPr>
            <a:r>
              <a:rPr lang="en-GB" sz="2000" i="1" dirty="0"/>
              <a:t>The court has ruled in favour of the debtor to the effect that he/she does not owe the budget entity</a:t>
            </a:r>
          </a:p>
          <a:p>
            <a:pPr marL="1052512" indent="-514350" algn="just">
              <a:lnSpc>
                <a:spcPct val="100000"/>
              </a:lnSpc>
              <a:buFont typeface="+mj-lt"/>
              <a:buAutoNum type="romanLcPeriod"/>
            </a:pPr>
            <a:r>
              <a:rPr lang="en-GB" sz="2000" i="1" dirty="0"/>
              <a:t>It has been proved that the cost of collecting the outstanding debt is more than the amount to be received;</a:t>
            </a:r>
            <a:endParaRPr lang="en-US" sz="2000" i="1" dirty="0"/>
          </a:p>
          <a:p>
            <a:pPr marL="881062" indent="-342900" algn="just">
              <a:buFont typeface="Wingdings" panose="05000000000000000000" pitchFamily="2" charset="2"/>
              <a:buChar char="Ø"/>
            </a:pPr>
            <a:endParaRPr lang="en-US" sz="2400" dirty="0">
              <a:latin typeface="Tahoma" panose="020B0604030504040204" pitchFamily="34" charset="0"/>
              <a:ea typeface="Tahoma" panose="020B0604030504040204" pitchFamily="34" charset="0"/>
              <a:cs typeface="Tahoma" panose="020B0604030504040204" pitchFamily="34" charset="0"/>
            </a:endParaRPr>
          </a:p>
          <a:p>
            <a:pPr marL="881062" indent="-342900" algn="just">
              <a:lnSpc>
                <a:spcPct val="100000"/>
              </a:lnSpc>
              <a:buFont typeface="Wingdings" panose="05000000000000000000" pitchFamily="2" charset="2"/>
              <a:buChar char="Ø"/>
            </a:pP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69874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6BD8006C-5CF9-5F5B-A281-7AAAAA43C0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30AB54-92C5-01BF-BB9F-ECAE2F5BB1E6}"/>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41</a:t>
            </a:fld>
            <a:endParaRPr lang="en-GB" dirty="0"/>
          </a:p>
        </p:txBody>
      </p:sp>
      <p:sp>
        <p:nvSpPr>
          <p:cNvPr id="4" name="Rectangle 3">
            <a:extLst>
              <a:ext uri="{FF2B5EF4-FFF2-40B4-BE49-F238E27FC236}">
                <a16:creationId xmlns:a16="http://schemas.microsoft.com/office/drawing/2014/main" id="{30660D7A-0269-7FDE-30F7-BC1BC48ED532}"/>
              </a:ext>
            </a:extLst>
          </p:cNvPr>
          <p:cNvSpPr/>
          <p:nvPr/>
        </p:nvSpPr>
        <p:spPr>
          <a:xfrm>
            <a:off x="156466" y="1156132"/>
            <a:ext cx="11373147" cy="5093702"/>
          </a:xfrm>
          <a:prstGeom prst="rect">
            <a:avLst/>
          </a:prstGeom>
        </p:spPr>
        <p:txBody>
          <a:bodyPr wrap="square">
            <a:spAutoFit/>
          </a:bodyPr>
          <a:lstStyle/>
          <a:p>
            <a:pPr marL="457200" indent="-457200" algn="just">
              <a:buFont typeface="Wingdings" panose="05000000000000000000" pitchFamily="2" charset="2"/>
              <a:buChar char="v"/>
            </a:pPr>
            <a:r>
              <a:rPr lang="en-US" sz="250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 financial statements for the financial year 2024/25 will be the first transitional financial statements prepared under the accrual basis complying with International Public Sector Accounting Standards (IPSASs) framework. </a:t>
            </a:r>
          </a:p>
          <a:p>
            <a:pPr marL="457200" indent="-457200" algn="just">
              <a:buFont typeface="Wingdings" panose="05000000000000000000" pitchFamily="2" charset="2"/>
              <a:buChar char="v"/>
            </a:pPr>
            <a:endParaRPr lang="en-US" sz="250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457200" indent="-457200" algn="just">
              <a:buFont typeface="Wingdings" panose="05000000000000000000" pitchFamily="2" charset="2"/>
              <a:buChar char="v"/>
            </a:pPr>
            <a:r>
              <a:rPr lang="en-US" sz="250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These statements incorporate selected transitional exemptions in accordance with IPSAS 33 – First-time Adoption of Accrual Basis IPSAS, which allow for the phased recognition and measurement of specific classes of assets and liabilities over a three-year transition period. </a:t>
            </a:r>
          </a:p>
          <a:p>
            <a:pPr marL="457200" indent="-457200" algn="just">
              <a:buFont typeface="Wingdings" panose="05000000000000000000" pitchFamily="2" charset="2"/>
              <a:buChar char="v"/>
            </a:pPr>
            <a:endParaRPr lang="en-US" sz="250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457200" indent="-457200" algn="just">
              <a:buFont typeface="Wingdings" panose="05000000000000000000" pitchFamily="2" charset="2"/>
              <a:buChar char="v"/>
            </a:pPr>
            <a:r>
              <a:rPr lang="en-US" sz="250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This marks a significant milestone in the journey toward full compliance with accrual IPSAS by the end of the permitted transition period in the financial year 2026/27. </a:t>
            </a:r>
          </a:p>
          <a:p>
            <a:pPr algn="just"/>
            <a:endParaRPr lang="en-US" sz="2500" dirty="0">
              <a:latin typeface="Tahoma" panose="020B0604030504040204" pitchFamily="34" charset="0"/>
              <a:ea typeface="Tahoma" panose="020B0604030504040204" pitchFamily="34" charset="0"/>
              <a:cs typeface="Tahoma" panose="020B0604030504040204" pitchFamily="34" charset="0"/>
            </a:endParaRPr>
          </a:p>
        </p:txBody>
      </p:sp>
      <p:sp>
        <p:nvSpPr>
          <p:cNvPr id="7" name="Google Shape;570;p59">
            <a:extLst>
              <a:ext uri="{FF2B5EF4-FFF2-40B4-BE49-F238E27FC236}">
                <a16:creationId xmlns:a16="http://schemas.microsoft.com/office/drawing/2014/main" id="{DED35EEA-D0E3-13FE-F68C-135AA9ED5BDA}"/>
              </a:ext>
            </a:extLst>
          </p:cNvPr>
          <p:cNvSpPr txBox="1">
            <a:spLocks noGrp="1"/>
          </p:cNvSpPr>
          <p:nvPr>
            <p:ph type="title"/>
          </p:nvPr>
        </p:nvSpPr>
        <p:spPr>
          <a:xfrm>
            <a:off x="906446" y="84235"/>
            <a:ext cx="10623167" cy="868362"/>
          </a:xfrm>
          <a:prstGeom prst="rect">
            <a:avLst/>
          </a:prstGeom>
          <a:noFill/>
          <a:ln>
            <a:noFill/>
          </a:ln>
        </p:spPr>
        <p:txBody>
          <a:bodyPr spcFirstLastPara="1" vert="horz" wrap="square" lIns="91425" tIns="45700" rIns="91425" bIns="45700" rtlCol="0" anchor="b" anchorCtr="0">
            <a:noAutofit/>
          </a:bodyPr>
          <a:lstStyle/>
          <a:p>
            <a:pPr marL="1076325" lvl="0" indent="-538163" algn="just">
              <a:lnSpc>
                <a:spcPct val="170000"/>
              </a:lnSpc>
              <a:buFont typeface="Wingdings" panose="05000000000000000000" pitchFamily="2" charset="2"/>
              <a:buChar char="q"/>
            </a:pPr>
            <a:r>
              <a:rPr lang="en-US" dirty="0">
                <a:solidFill>
                  <a:srgbClr val="FF6319"/>
                </a:solidFill>
              </a:rPr>
              <a:t>8. </a:t>
            </a:r>
            <a:r>
              <a:rPr lang="en-GB" dirty="0">
                <a:solidFill>
                  <a:srgbClr val="FF6319"/>
                </a:solidFill>
              </a:rPr>
              <a:t>Transitional FS FY 2024/25</a:t>
            </a:r>
            <a:endParaRPr lang="en-US" dirty="0">
              <a:solidFill>
                <a:srgbClr val="FF6319"/>
              </a:solidFill>
            </a:endParaRPr>
          </a:p>
        </p:txBody>
      </p:sp>
    </p:spTree>
    <p:extLst>
      <p:ext uri="{BB962C8B-B14F-4D97-AF65-F5344CB8AC3E}">
        <p14:creationId xmlns:p14="http://schemas.microsoft.com/office/powerpoint/2010/main" val="3917628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28962137-6CE1-B01A-6641-95C2C0C116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4647F5-70CC-C02C-10A7-B3B7A202B3F2}"/>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42</a:t>
            </a:fld>
            <a:endParaRPr lang="en-GB" dirty="0"/>
          </a:p>
        </p:txBody>
      </p:sp>
      <p:pic>
        <p:nvPicPr>
          <p:cNvPr id="3" name="Picture 2">
            <a:extLst>
              <a:ext uri="{FF2B5EF4-FFF2-40B4-BE49-F238E27FC236}">
                <a16:creationId xmlns:a16="http://schemas.microsoft.com/office/drawing/2014/main" id="{B2597372-26AA-410A-E09F-D2F85E301F51}"/>
              </a:ext>
            </a:extLst>
          </p:cNvPr>
          <p:cNvPicPr>
            <a:picLocks noChangeAspect="1"/>
          </p:cNvPicPr>
          <p:nvPr/>
        </p:nvPicPr>
        <p:blipFill>
          <a:blip r:embed="rId3"/>
          <a:stretch>
            <a:fillRect/>
          </a:stretch>
        </p:blipFill>
        <p:spPr>
          <a:xfrm>
            <a:off x="1055533" y="158064"/>
            <a:ext cx="9258864" cy="6491214"/>
          </a:xfrm>
          <a:prstGeom prst="rect">
            <a:avLst/>
          </a:prstGeom>
        </p:spPr>
      </p:pic>
    </p:spTree>
    <p:extLst>
      <p:ext uri="{BB962C8B-B14F-4D97-AF65-F5344CB8AC3E}">
        <p14:creationId xmlns:p14="http://schemas.microsoft.com/office/powerpoint/2010/main" val="8282220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21EE758D-EF04-6ED3-8B93-1BD43C29634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242FF9-42F3-8DE6-772A-A57F3DBABA29}"/>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43</a:t>
            </a:fld>
            <a:endParaRPr lang="en-GB" dirty="0"/>
          </a:p>
        </p:txBody>
      </p:sp>
      <p:sp>
        <p:nvSpPr>
          <p:cNvPr id="4" name="Content Placeholder 2">
            <a:extLst>
              <a:ext uri="{FF2B5EF4-FFF2-40B4-BE49-F238E27FC236}">
                <a16:creationId xmlns:a16="http://schemas.microsoft.com/office/drawing/2014/main" id="{8E7FB50B-1264-D591-6032-C2940C115EFC}"/>
              </a:ext>
            </a:extLst>
          </p:cNvPr>
          <p:cNvSpPr txBox="1">
            <a:spLocks/>
          </p:cNvSpPr>
          <p:nvPr/>
        </p:nvSpPr>
        <p:spPr>
          <a:xfrm>
            <a:off x="317562" y="1187932"/>
            <a:ext cx="11490125" cy="490475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SzPts val="1200"/>
              <a:buNone/>
            </a:pPr>
            <a:r>
              <a:rPr lang="en-US" sz="2000" dirty="0">
                <a:solidFill>
                  <a:srgbClr val="000000"/>
                </a:solidFill>
                <a:latin typeface="Times New Roman" panose="02020603050405020304" pitchFamily="18" charset="0"/>
                <a:ea typeface="Tahoma" panose="020B0604030504040204" pitchFamily="34" charset="0"/>
              </a:rPr>
              <a:t>In accordance with Article 99 and 107 of the Ministerial Order on Financial Regulations, a standard financial reporting template to be used by Public entities shall include the following:</a:t>
            </a:r>
            <a:r>
              <a:rPr lang="en-US" sz="2000" dirty="0">
                <a:latin typeface="Times New Roman" panose="02020603050405020304" pitchFamily="18" charset="0"/>
                <a:ea typeface="Tahoma" panose="020B0604030504040204" pitchFamily="34" charset="0"/>
              </a:rPr>
              <a:t> </a:t>
            </a:r>
          </a:p>
          <a:p>
            <a:pPr marL="625475" indent="-446088" algn="just">
              <a:lnSpc>
                <a:spcPct val="100000"/>
              </a:lnSpc>
              <a:buFont typeface="+mj-lt"/>
              <a:buAutoNum type="alphaLcParenBoth"/>
            </a:pPr>
            <a:r>
              <a:rPr lang="en-US" sz="2000" dirty="0">
                <a:latin typeface="Times New Roman" panose="02020603050405020304" pitchFamily="18" charset="0"/>
                <a:ea typeface="Tahoma" panose="020B0604030504040204" pitchFamily="34" charset="0"/>
              </a:rPr>
              <a:t>Statement of Financial </a:t>
            </a:r>
            <a:r>
              <a:rPr lang="en-US" sz="20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Performance </a:t>
            </a:r>
            <a:r>
              <a:rPr lang="en-US" sz="2000" dirty="0">
                <a:latin typeface="Times New Roman" panose="02020603050405020304" pitchFamily="18" charset="0"/>
                <a:ea typeface="Tahoma" panose="020B0604030504040204" pitchFamily="34" charset="0"/>
              </a:rPr>
              <a:t>showing revenues and expenditures </a:t>
            </a:r>
            <a:r>
              <a:rPr lang="en-US" sz="1500" i="1" dirty="0">
                <a:latin typeface="Times New Roman" panose="02020603050405020304" pitchFamily="18" charset="0"/>
                <a:ea typeface="Tahoma" panose="020B0604030504040204" pitchFamily="34" charset="0"/>
              </a:rPr>
              <a:t>(From Note 01 up to Note 33)</a:t>
            </a:r>
            <a:r>
              <a:rPr lang="en-US" sz="2000" dirty="0">
                <a:latin typeface="Times New Roman" panose="02020603050405020304" pitchFamily="18" charset="0"/>
                <a:ea typeface="Tahoma" panose="020B0604030504040204" pitchFamily="34" charset="0"/>
              </a:rPr>
              <a:t>;</a:t>
            </a:r>
          </a:p>
          <a:p>
            <a:pPr marL="625475" indent="-446088" algn="just">
              <a:lnSpc>
                <a:spcPct val="100000"/>
              </a:lnSpc>
              <a:buFont typeface="+mj-lt"/>
              <a:buAutoNum type="alphaLcParenBoth"/>
            </a:pPr>
            <a:r>
              <a:rPr lang="en-US" sz="2000" dirty="0">
                <a:latin typeface="Times New Roman" panose="02020603050405020304" pitchFamily="18" charset="0"/>
                <a:ea typeface="Tahoma" panose="020B0604030504040204" pitchFamily="34" charset="0"/>
              </a:rPr>
              <a:t>Statement of Financial </a:t>
            </a:r>
            <a:r>
              <a:rPr lang="en-US" sz="2000" b="1"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Position</a:t>
            </a:r>
            <a:r>
              <a:rPr lang="en-US" sz="2000" dirty="0">
                <a:latin typeface="Times New Roman" panose="02020603050405020304" pitchFamily="18" charset="0"/>
                <a:ea typeface="Tahoma" panose="020B0604030504040204" pitchFamily="34" charset="0"/>
              </a:rPr>
              <a:t> showing assets and liabilities </a:t>
            </a:r>
            <a:r>
              <a:rPr lang="en-US" sz="1500" i="1" dirty="0">
                <a:latin typeface="Times New Roman" panose="02020603050405020304" pitchFamily="18" charset="0"/>
                <a:ea typeface="Tahoma" panose="020B0604030504040204" pitchFamily="34" charset="0"/>
              </a:rPr>
              <a:t>(From Note 34 up to 76)</a:t>
            </a:r>
            <a:r>
              <a:rPr lang="en-US" sz="2000" dirty="0">
                <a:latin typeface="Times New Roman" panose="02020603050405020304" pitchFamily="18" charset="0"/>
                <a:ea typeface="Tahoma" panose="020B0604030504040204" pitchFamily="34" charset="0"/>
              </a:rPr>
              <a:t>;</a:t>
            </a:r>
          </a:p>
          <a:p>
            <a:pPr marL="625475" indent="-446088" algn="just">
              <a:lnSpc>
                <a:spcPct val="100000"/>
              </a:lnSpc>
              <a:buFont typeface="+mj-lt"/>
              <a:buAutoNum type="alphaLcParenBoth"/>
            </a:pPr>
            <a:r>
              <a:rPr lang="en-US" sz="2000" dirty="0">
                <a:latin typeface="Times New Roman" panose="02020603050405020304" pitchFamily="18" charset="0"/>
                <a:ea typeface="Tahoma" panose="020B0604030504040204" pitchFamily="34" charset="0"/>
              </a:rPr>
              <a:t>Statement of Changes in Net Assets; </a:t>
            </a:r>
          </a:p>
          <a:p>
            <a:pPr marL="625475" indent="-446088" algn="just">
              <a:lnSpc>
                <a:spcPct val="100000"/>
              </a:lnSpc>
              <a:buFont typeface="+mj-lt"/>
              <a:buAutoNum type="alphaLcParenBoth"/>
            </a:pPr>
            <a:r>
              <a:rPr lang="en-US" sz="2000" dirty="0">
                <a:latin typeface="Times New Roman" panose="02020603050405020304" pitchFamily="18" charset="0"/>
                <a:ea typeface="Tahoma" panose="020B0604030504040204" pitchFamily="34" charset="0"/>
              </a:rPr>
              <a:t>Statement of Cash Flows;</a:t>
            </a:r>
          </a:p>
          <a:p>
            <a:pPr marL="625475" indent="-446088" algn="just">
              <a:lnSpc>
                <a:spcPct val="100000"/>
              </a:lnSpc>
              <a:buFont typeface="+mj-lt"/>
              <a:buAutoNum type="alphaLcParenBoth"/>
            </a:pPr>
            <a:r>
              <a:rPr lang="en-US" sz="2000" dirty="0">
                <a:latin typeface="Times New Roman" panose="02020603050405020304" pitchFamily="18" charset="0"/>
                <a:ea typeface="Tahoma" panose="020B0604030504040204" pitchFamily="34" charset="0"/>
              </a:rPr>
              <a:t>Statement of Appropriation comparing Budget against Actual out-turn; </a:t>
            </a:r>
          </a:p>
          <a:p>
            <a:pPr marL="625475" indent="-446088" algn="just">
              <a:lnSpc>
                <a:spcPct val="100000"/>
              </a:lnSpc>
              <a:buFont typeface="+mj-lt"/>
              <a:buAutoNum type="alphaLcParenBoth"/>
            </a:pPr>
            <a:r>
              <a:rPr lang="en-US" sz="2000" dirty="0">
                <a:latin typeface="Times New Roman" panose="02020603050405020304" pitchFamily="18" charset="0"/>
                <a:ea typeface="Tahoma" panose="020B0604030504040204" pitchFamily="34" charset="0"/>
              </a:rPr>
              <a:t>Statement of Accounting Policies applied in preparing and presenting the financial statements; </a:t>
            </a:r>
          </a:p>
          <a:p>
            <a:pPr marL="625475" indent="-446088" algn="just">
              <a:lnSpc>
                <a:spcPct val="100000"/>
              </a:lnSpc>
              <a:buFont typeface="+mj-lt"/>
              <a:buAutoNum type="alphaLcParenBoth"/>
            </a:pPr>
            <a:r>
              <a:rPr lang="en-US" sz="2000" dirty="0">
                <a:latin typeface="Times New Roman" panose="02020603050405020304" pitchFamily="18" charset="0"/>
                <a:ea typeface="Tahoma" panose="020B0604030504040204" pitchFamily="34" charset="0"/>
              </a:rPr>
              <a:t>Notes to the Financial Statements and schedules relevant to enhancing fair presentation and understandability of the statements</a:t>
            </a:r>
            <a:r>
              <a:rPr lang="en-US" sz="1500" i="1" dirty="0">
                <a:latin typeface="Times New Roman" panose="02020603050405020304" pitchFamily="18" charset="0"/>
                <a:ea typeface="Tahoma" panose="020B0604030504040204" pitchFamily="34" charset="0"/>
              </a:rPr>
              <a:t> </a:t>
            </a:r>
            <a:r>
              <a:rPr lang="en-US" sz="1500" i="1" dirty="0">
                <a:latin typeface="Times New Roman" panose="02020603050405020304" pitchFamily="18" charset="0"/>
                <a:ea typeface="Tahoma" panose="020B0604030504040204" pitchFamily="34" charset="0"/>
                <a:cs typeface="Times New Roman" panose="02020603050405020304" pitchFamily="18" charset="0"/>
              </a:rPr>
              <a:t>(</a:t>
            </a:r>
            <a:r>
              <a:rPr lang="en-US" sz="1500" i="1" dirty="0">
                <a:solidFill>
                  <a:prstClr val="black"/>
                </a:solidFill>
                <a:latin typeface="Times New Roman" panose="02020603050405020304" pitchFamily="18" charset="0"/>
                <a:cs typeface="Times New Roman" panose="02020603050405020304" pitchFamily="18" charset="0"/>
              </a:rPr>
              <a:t>Notes number increased to 76)</a:t>
            </a:r>
            <a:r>
              <a:rPr lang="en-US" sz="1500" i="1" dirty="0">
                <a:latin typeface="Times New Roman" panose="02020603050405020304" pitchFamily="18" charset="0"/>
                <a:ea typeface="Tahoma" panose="020B0604030504040204" pitchFamily="34" charset="0"/>
                <a:cs typeface="Times New Roman" panose="02020603050405020304" pitchFamily="18" charset="0"/>
              </a:rPr>
              <a:t>; </a:t>
            </a:r>
            <a:r>
              <a:rPr lang="en-US" sz="2000" dirty="0">
                <a:latin typeface="Times New Roman" panose="02020603050405020304" pitchFamily="18" charset="0"/>
                <a:ea typeface="Tahoma" panose="020B0604030504040204" pitchFamily="34" charset="0"/>
              </a:rPr>
              <a:t>and</a:t>
            </a:r>
          </a:p>
          <a:p>
            <a:pPr marL="625475" indent="-446088" algn="just">
              <a:lnSpc>
                <a:spcPct val="100000"/>
              </a:lnSpc>
              <a:buFont typeface="Arial" panose="020B0604020202020204" pitchFamily="34" charset="0"/>
              <a:buNone/>
            </a:pPr>
            <a:r>
              <a:rPr lang="en-US" sz="2000" dirty="0">
                <a:latin typeface="Times New Roman" panose="02020603050405020304" pitchFamily="18" charset="0"/>
                <a:ea typeface="Tahoma" panose="020B0604030504040204" pitchFamily="34" charset="0"/>
              </a:rPr>
              <a:t>(f)  Appropriate disclosures(</a:t>
            </a:r>
            <a:r>
              <a:rPr lang="en-US" sz="2000" b="1" dirty="0">
                <a:solidFill>
                  <a:prstClr val="black"/>
                </a:solidFill>
                <a:latin typeface="Trebuchet MS" panose="020B0603020202020204"/>
              </a:rPr>
              <a:t>Reduced</a:t>
            </a:r>
            <a:r>
              <a:rPr lang="en-US" sz="2000" dirty="0">
                <a:latin typeface="Times New Roman" panose="02020603050405020304" pitchFamily="18" charset="0"/>
                <a:ea typeface="Tahoma" panose="020B0604030504040204" pitchFamily="34" charset="0"/>
              </a:rPr>
              <a:t>): </a:t>
            </a:r>
            <a:r>
              <a:rPr lang="en-US" sz="1500" i="1" dirty="0">
                <a:latin typeface="Times New Roman" panose="02020603050405020304" pitchFamily="18" charset="0"/>
                <a:ea typeface="Tahoma" panose="020B0604030504040204" pitchFamily="34" charset="0"/>
              </a:rPr>
              <a:t>A list of disclosures on the full report and another list of disclosures which are not part of the full report but maintained into the system for further reference.</a:t>
            </a:r>
            <a:endParaRPr lang="en-US" sz="1500" b="1" i="1" dirty="0"/>
          </a:p>
        </p:txBody>
      </p:sp>
      <p:sp>
        <p:nvSpPr>
          <p:cNvPr id="5" name="Google Shape;570;p59">
            <a:extLst>
              <a:ext uri="{FF2B5EF4-FFF2-40B4-BE49-F238E27FC236}">
                <a16:creationId xmlns:a16="http://schemas.microsoft.com/office/drawing/2014/main" id="{2B26D036-1662-6AA9-A47C-4E350AE8F0D2}"/>
              </a:ext>
            </a:extLst>
          </p:cNvPr>
          <p:cNvSpPr txBox="1">
            <a:spLocks noGrp="1"/>
          </p:cNvSpPr>
          <p:nvPr>
            <p:ph type="title"/>
          </p:nvPr>
        </p:nvSpPr>
        <p:spPr>
          <a:xfrm>
            <a:off x="906446" y="84235"/>
            <a:ext cx="10623167" cy="868362"/>
          </a:xfrm>
          <a:prstGeom prst="rect">
            <a:avLst/>
          </a:prstGeom>
          <a:noFill/>
          <a:ln>
            <a:noFill/>
          </a:ln>
        </p:spPr>
        <p:txBody>
          <a:bodyPr spcFirstLastPara="1" vert="horz" wrap="square" lIns="91425" tIns="45700" rIns="91425" bIns="45700" rtlCol="0" anchor="b" anchorCtr="0">
            <a:noAutofit/>
          </a:bodyPr>
          <a:lstStyle/>
          <a:p>
            <a:pPr marL="1076325" lvl="0" indent="-538163" algn="just">
              <a:lnSpc>
                <a:spcPct val="170000"/>
              </a:lnSpc>
              <a:buFont typeface="Wingdings" panose="05000000000000000000" pitchFamily="2" charset="2"/>
              <a:buChar char="q"/>
            </a:pPr>
            <a:r>
              <a:rPr lang="en-US" dirty="0">
                <a:solidFill>
                  <a:srgbClr val="FF6319"/>
                </a:solidFill>
              </a:rPr>
              <a:t> Set of Financial Statements </a:t>
            </a:r>
          </a:p>
        </p:txBody>
      </p:sp>
    </p:spTree>
    <p:extLst>
      <p:ext uri="{BB962C8B-B14F-4D97-AF65-F5344CB8AC3E}">
        <p14:creationId xmlns:p14="http://schemas.microsoft.com/office/powerpoint/2010/main" val="41676382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69">
          <a:extLst>
            <a:ext uri="{FF2B5EF4-FFF2-40B4-BE49-F238E27FC236}">
              <a16:creationId xmlns:a16="http://schemas.microsoft.com/office/drawing/2014/main" id="{D6FE5C28-5A72-235B-F5BD-768AE0F6705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AED91E-D2AC-6F1E-2407-6F5C12D452D7}"/>
              </a:ext>
            </a:extLst>
          </p:cNvPr>
          <p:cNvSpPr>
            <a:spLocks noGrp="1"/>
          </p:cNvSpPr>
          <p:nvPr>
            <p:ph type="sldNum" sz="quarter" idx="12"/>
          </p:nvPr>
        </p:nvSpPr>
        <p:spPr>
          <a:xfrm>
            <a:off x="9736" y="290388"/>
            <a:ext cx="615653" cy="365125"/>
          </a:xfrm>
        </p:spPr>
        <p:txBody>
          <a:bodyPr/>
          <a:lstStyle/>
          <a:p>
            <a:fld id="{74617368-41BA-4894-91AF-0AE86004FFB9}" type="slidenum">
              <a:rPr lang="en-GB" smtClean="0"/>
              <a:pPr/>
              <a:t>44</a:t>
            </a:fld>
            <a:endParaRPr lang="en-GB" dirty="0"/>
          </a:p>
        </p:txBody>
      </p:sp>
      <p:pic>
        <p:nvPicPr>
          <p:cNvPr id="7" name="Content Placeholder 6">
            <a:extLst>
              <a:ext uri="{FF2B5EF4-FFF2-40B4-BE49-F238E27FC236}">
                <a16:creationId xmlns:a16="http://schemas.microsoft.com/office/drawing/2014/main" id="{26D5FFBD-2D8E-8409-6CA1-B73134251189}"/>
              </a:ext>
            </a:extLst>
          </p:cNvPr>
          <p:cNvPicPr>
            <a:picLocks noChangeAspect="1"/>
          </p:cNvPicPr>
          <p:nvPr/>
        </p:nvPicPr>
        <p:blipFill rotWithShape="1">
          <a:blip r:embed="rId3"/>
          <a:srcRect l="-2160" t="-614" r="2160" b="-311"/>
          <a:stretch/>
        </p:blipFill>
        <p:spPr>
          <a:xfrm>
            <a:off x="1645994" y="1606561"/>
            <a:ext cx="9880084" cy="4211417"/>
          </a:xfrm>
          <a:prstGeom prst="rect">
            <a:avLst/>
          </a:prstGeom>
        </p:spPr>
      </p:pic>
    </p:spTree>
    <p:extLst>
      <p:ext uri="{BB962C8B-B14F-4D97-AF65-F5344CB8AC3E}">
        <p14:creationId xmlns:p14="http://schemas.microsoft.com/office/powerpoint/2010/main" val="631398789"/>
      </p:ext>
    </p:extLst>
  </p:cSld>
  <p:clrMapOvr>
    <a:masterClrMapping/>
  </p:clrMapOvr>
</p:sld>
</file>

<file path=ppt/theme/theme1.xml><?xml version="1.0" encoding="utf-8"?>
<a:theme xmlns:a="http://schemas.openxmlformats.org/drawingml/2006/main" name="Office Theme">
  <a:themeElements>
    <a:clrScheme name="Custom 116">
      <a:dk1>
        <a:sysClr val="windowText" lastClr="000000"/>
      </a:dk1>
      <a:lt1>
        <a:sysClr val="window" lastClr="FFFFFF"/>
      </a:lt1>
      <a:dk2>
        <a:srgbClr val="FFFFFF"/>
      </a:dk2>
      <a:lt2>
        <a:srgbClr val="000000"/>
      </a:lt2>
      <a:accent1>
        <a:srgbClr val="E10A05"/>
      </a:accent1>
      <a:accent2>
        <a:srgbClr val="0B2B41"/>
      </a:accent2>
      <a:accent3>
        <a:srgbClr val="17709D"/>
      </a:accent3>
      <a:accent4>
        <a:srgbClr val="2C2C2C"/>
      </a:accent4>
      <a:accent5>
        <a:srgbClr val="434343"/>
      </a:accent5>
      <a:accent6>
        <a:srgbClr val="9A9A9A"/>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23302</TotalTime>
  <Words>4127</Words>
  <Application>Microsoft Office PowerPoint</Application>
  <PresentationFormat>Widescreen</PresentationFormat>
  <Paragraphs>754</Paragraphs>
  <Slides>44</Slides>
  <Notes>42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44</vt:i4>
      </vt:variant>
    </vt:vector>
  </HeadingPairs>
  <TitlesOfParts>
    <vt:vector size="59" baseType="lpstr">
      <vt:lpstr>Aptos</vt:lpstr>
      <vt:lpstr>Aptos Narrow</vt:lpstr>
      <vt:lpstr>Arial</vt:lpstr>
      <vt:lpstr>Calibri</vt:lpstr>
      <vt:lpstr>Cambria</vt:lpstr>
      <vt:lpstr>Georgia Pro Cond</vt:lpstr>
      <vt:lpstr>Georgia Pro Light</vt:lpstr>
      <vt:lpstr>Lora</vt:lpstr>
      <vt:lpstr>Montserrat</vt:lpstr>
      <vt:lpstr>Segoe UI</vt:lpstr>
      <vt:lpstr>Tahoma</vt:lpstr>
      <vt:lpstr>Times New Roman</vt:lpstr>
      <vt:lpstr>Trebuchet MS</vt:lpstr>
      <vt:lpstr>Wingdings</vt:lpstr>
      <vt:lpstr>Office Theme</vt:lpstr>
      <vt:lpstr> OAG training on Journey of IPSAS implementation for GoR </vt:lpstr>
      <vt:lpstr>International Public Sector Accounting Standard (IPSAS) </vt:lpstr>
      <vt:lpstr>PowerPoint Presentation</vt:lpstr>
      <vt:lpstr>PowerPoint Presentation</vt:lpstr>
      <vt:lpstr>Journey of IPSAS implementation for GoR</vt:lpstr>
      <vt:lpstr>The GoR IPSAS Accrual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Accounting for NCA and Inventory</vt:lpstr>
      <vt:lpstr>Topics</vt:lpstr>
      <vt:lpstr>Recognition of Legacy Non-Current Assets</vt:lpstr>
      <vt:lpstr>Recognition of Legacy Non-Current Assets</vt:lpstr>
      <vt:lpstr>Recognition of Legacy Non-Current Assets</vt:lpstr>
      <vt:lpstr>Newly acquired NCA transactions for financial year 2024/25 </vt:lpstr>
      <vt:lpstr>Recognition of Newly Acquired Assets &amp; Depreciation</vt:lpstr>
      <vt:lpstr>Recognition of Newly Acquired Assets &amp; Depreciation</vt:lpstr>
      <vt:lpstr>Depreciation</vt:lpstr>
      <vt:lpstr>Current year depreciation of legacy NCA</vt:lpstr>
      <vt:lpstr>Recognition of Newly Acquired Assets &amp; Depreciation</vt:lpstr>
      <vt:lpstr>Fully depreciated assets</vt:lpstr>
      <vt:lpstr>Recognition of Legacy Inventory</vt:lpstr>
      <vt:lpstr>Recognition of Legacy Inventory</vt:lpstr>
      <vt:lpstr>Recognition of Legacy Inventory</vt:lpstr>
      <vt:lpstr>Recognition of Legacy Inventory</vt:lpstr>
      <vt:lpstr>Practical Sessions-IFMIS Demo</vt:lpstr>
      <vt:lpstr>Year end closing procedures</vt:lpstr>
      <vt:lpstr>Overview of FY 2024/25 YECPs</vt:lpstr>
      <vt:lpstr>1. Legal Basis</vt:lpstr>
      <vt:lpstr>PowerPoint Presentation</vt:lpstr>
      <vt:lpstr>PowerPoint Presentation</vt:lpstr>
      <vt:lpstr>PowerPoint Presentation</vt:lpstr>
      <vt:lpstr>4. Reporting Requirements</vt:lpstr>
      <vt:lpstr>5. Opening Balances</vt:lpstr>
      <vt:lpstr>6. Inter-entity Reconciliations</vt:lpstr>
      <vt:lpstr>7. Accounts Receivables and Payables</vt:lpstr>
      <vt:lpstr>8. Transitional FS FY 2024/25</vt:lpstr>
      <vt:lpstr>PowerPoint Presentation</vt:lpstr>
      <vt:lpstr> Set of Financial Statements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node45</dc:creator>
  <cp:lastModifiedBy>Etienne  Kayitare</cp:lastModifiedBy>
  <cp:revision>64</cp:revision>
  <dcterms:created xsi:type="dcterms:W3CDTF">2018-02-06T08:22:35Z</dcterms:created>
  <dcterms:modified xsi:type="dcterms:W3CDTF">2026-10-08T18:31:05Z</dcterms:modified>
</cp:coreProperties>
</file>